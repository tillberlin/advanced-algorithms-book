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63" r:id="rId2"/>
  </p:sldMasterIdLst>
  <p:notesMasterIdLst>
    <p:notesMasterId r:id="rId144"/>
  </p:notesMasterIdLst>
  <p:sldIdLst>
    <p:sldId id="262" r:id="rId3"/>
    <p:sldId id="496" r:id="rId4"/>
    <p:sldId id="263" r:id="rId5"/>
    <p:sldId id="413" r:id="rId6"/>
    <p:sldId id="306" r:id="rId7"/>
    <p:sldId id="258" r:id="rId8"/>
    <p:sldId id="260" r:id="rId9"/>
    <p:sldId id="259" r:id="rId10"/>
    <p:sldId id="434" r:id="rId11"/>
    <p:sldId id="322" r:id="rId12"/>
    <p:sldId id="414" r:id="rId13"/>
    <p:sldId id="265" r:id="rId14"/>
    <p:sldId id="323" r:id="rId15"/>
    <p:sldId id="324" r:id="rId16"/>
    <p:sldId id="415" r:id="rId17"/>
    <p:sldId id="261" r:id="rId18"/>
    <p:sldId id="315" r:id="rId19"/>
    <p:sldId id="304" r:id="rId20"/>
    <p:sldId id="302" r:id="rId21"/>
    <p:sldId id="305" r:id="rId22"/>
    <p:sldId id="292" r:id="rId23"/>
    <p:sldId id="317" r:id="rId24"/>
    <p:sldId id="318" r:id="rId25"/>
    <p:sldId id="319" r:id="rId26"/>
    <p:sldId id="417" r:id="rId27"/>
    <p:sldId id="418" r:id="rId28"/>
    <p:sldId id="420" r:id="rId29"/>
    <p:sldId id="425" r:id="rId30"/>
    <p:sldId id="426" r:id="rId31"/>
    <p:sldId id="299" r:id="rId32"/>
    <p:sldId id="454" r:id="rId33"/>
    <p:sldId id="455" r:id="rId34"/>
    <p:sldId id="320" r:id="rId35"/>
    <p:sldId id="321" r:id="rId36"/>
    <p:sldId id="424" r:id="rId37"/>
    <p:sldId id="266" r:id="rId38"/>
    <p:sldId id="267" r:id="rId39"/>
    <p:sldId id="271" r:id="rId40"/>
    <p:sldId id="274" r:id="rId41"/>
    <p:sldId id="422" r:id="rId42"/>
    <p:sldId id="268" r:id="rId43"/>
    <p:sldId id="270" r:id="rId44"/>
    <p:sldId id="272" r:id="rId45"/>
    <p:sldId id="275" r:id="rId46"/>
    <p:sldId id="277" r:id="rId47"/>
    <p:sldId id="278" r:id="rId48"/>
    <p:sldId id="279" r:id="rId49"/>
    <p:sldId id="430" r:id="rId50"/>
    <p:sldId id="316" r:id="rId51"/>
    <p:sldId id="469" r:id="rId52"/>
    <p:sldId id="289" r:id="rId53"/>
    <p:sldId id="471" r:id="rId54"/>
    <p:sldId id="427" r:id="rId55"/>
    <p:sldId id="473" r:id="rId56"/>
    <p:sldId id="294" r:id="rId57"/>
    <p:sldId id="474" r:id="rId58"/>
    <p:sldId id="428" r:id="rId59"/>
    <p:sldId id="476" r:id="rId60"/>
    <p:sldId id="431" r:id="rId61"/>
    <p:sldId id="327" r:id="rId62"/>
    <p:sldId id="329" r:id="rId63"/>
    <p:sldId id="330" r:id="rId64"/>
    <p:sldId id="331" r:id="rId65"/>
    <p:sldId id="477" r:id="rId66"/>
    <p:sldId id="332" r:id="rId67"/>
    <p:sldId id="333" r:id="rId68"/>
    <p:sldId id="334" r:id="rId69"/>
    <p:sldId id="478" r:id="rId70"/>
    <p:sldId id="416" r:id="rId71"/>
    <p:sldId id="480" r:id="rId72"/>
    <p:sldId id="481" r:id="rId73"/>
    <p:sldId id="296" r:id="rId74"/>
    <p:sldId id="433" r:id="rId75"/>
    <p:sldId id="340" r:id="rId76"/>
    <p:sldId id="342" r:id="rId77"/>
    <p:sldId id="432" r:id="rId78"/>
    <p:sldId id="343" r:id="rId79"/>
    <p:sldId id="344" r:id="rId80"/>
    <p:sldId id="345" r:id="rId81"/>
    <p:sldId id="437" r:id="rId82"/>
    <p:sldId id="347" r:id="rId83"/>
    <p:sldId id="349" r:id="rId84"/>
    <p:sldId id="350" r:id="rId85"/>
    <p:sldId id="440" r:id="rId86"/>
    <p:sldId id="497" r:id="rId87"/>
    <p:sldId id="367" r:id="rId88"/>
    <p:sldId id="368" r:id="rId89"/>
    <p:sldId id="370" r:id="rId90"/>
    <p:sldId id="498" r:id="rId91"/>
    <p:sldId id="351" r:id="rId92"/>
    <p:sldId id="486" r:id="rId93"/>
    <p:sldId id="463" r:id="rId94"/>
    <p:sldId id="484" r:id="rId95"/>
    <p:sldId id="439" r:id="rId96"/>
    <p:sldId id="355" r:id="rId97"/>
    <p:sldId id="356" r:id="rId98"/>
    <p:sldId id="357" r:id="rId99"/>
    <p:sldId id="358" r:id="rId100"/>
    <p:sldId id="359" r:id="rId101"/>
    <p:sldId id="361" r:id="rId102"/>
    <p:sldId id="487" r:id="rId103"/>
    <p:sldId id="362" r:id="rId104"/>
    <p:sldId id="364" r:id="rId105"/>
    <p:sldId id="441" r:id="rId106"/>
    <p:sldId id="373" r:id="rId107"/>
    <p:sldId id="369" r:id="rId108"/>
    <p:sldId id="372" r:id="rId109"/>
    <p:sldId id="376" r:id="rId110"/>
    <p:sldId id="491" r:id="rId111"/>
    <p:sldId id="379" r:id="rId112"/>
    <p:sldId id="377" r:id="rId113"/>
    <p:sldId id="378" r:id="rId114"/>
    <p:sldId id="492" r:id="rId115"/>
    <p:sldId id="494" r:id="rId116"/>
    <p:sldId id="380" r:id="rId117"/>
    <p:sldId id="381" r:id="rId118"/>
    <p:sldId id="382" r:id="rId119"/>
    <p:sldId id="442" r:id="rId120"/>
    <p:sldId id="384" r:id="rId121"/>
    <p:sldId id="385" r:id="rId122"/>
    <p:sldId id="445" r:id="rId123"/>
    <p:sldId id="386" r:id="rId124"/>
    <p:sldId id="446" r:id="rId125"/>
    <p:sldId id="388" r:id="rId126"/>
    <p:sldId id="389" r:id="rId127"/>
    <p:sldId id="489" r:id="rId128"/>
    <p:sldId id="391" r:id="rId129"/>
    <p:sldId id="393" r:id="rId130"/>
    <p:sldId id="394" r:id="rId131"/>
    <p:sldId id="395" r:id="rId132"/>
    <p:sldId id="396" r:id="rId133"/>
    <p:sldId id="448" r:id="rId134"/>
    <p:sldId id="398" r:id="rId135"/>
    <p:sldId id="399" r:id="rId136"/>
    <p:sldId id="400" r:id="rId137"/>
    <p:sldId id="495" r:id="rId138"/>
    <p:sldId id="401" r:id="rId139"/>
    <p:sldId id="404" r:id="rId140"/>
    <p:sldId id="410" r:id="rId141"/>
    <p:sldId id="411" r:id="rId142"/>
    <p:sldId id="490" r:id="rId143"/>
  </p:sldIdLst>
  <p:sldSz cx="9144000" cy="6858000" type="screen4x3"/>
  <p:notesSz cx="6805613" cy="9944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1" id="{6F3A77DE-26D9-42AE-ADA1-6711FAF31254}">
          <p14:sldIdLst>
            <p14:sldId id="262"/>
            <p14:sldId id="496"/>
            <p14:sldId id="263"/>
            <p14:sldId id="413"/>
            <p14:sldId id="306"/>
            <p14:sldId id="258"/>
            <p14:sldId id="260"/>
            <p14:sldId id="259"/>
            <p14:sldId id="434"/>
            <p14:sldId id="322"/>
            <p14:sldId id="414"/>
            <p14:sldId id="265"/>
            <p14:sldId id="323"/>
            <p14:sldId id="324"/>
            <p14:sldId id="415"/>
            <p14:sldId id="261"/>
            <p14:sldId id="315"/>
            <p14:sldId id="304"/>
            <p14:sldId id="302"/>
            <p14:sldId id="305"/>
            <p14:sldId id="292"/>
            <p14:sldId id="317"/>
            <p14:sldId id="318"/>
            <p14:sldId id="319"/>
            <p14:sldId id="417"/>
            <p14:sldId id="418"/>
            <p14:sldId id="420"/>
            <p14:sldId id="425"/>
            <p14:sldId id="426"/>
            <p14:sldId id="299"/>
            <p14:sldId id="454"/>
            <p14:sldId id="455"/>
            <p14:sldId id="320"/>
            <p14:sldId id="321"/>
            <p14:sldId id="424"/>
            <p14:sldId id="266"/>
            <p14:sldId id="267"/>
            <p14:sldId id="271"/>
            <p14:sldId id="274"/>
            <p14:sldId id="422"/>
            <p14:sldId id="268"/>
            <p14:sldId id="270"/>
            <p14:sldId id="272"/>
            <p14:sldId id="275"/>
            <p14:sldId id="277"/>
            <p14:sldId id="278"/>
            <p14:sldId id="279"/>
            <p14:sldId id="430"/>
            <p14:sldId id="316"/>
            <p14:sldId id="469"/>
            <p14:sldId id="289"/>
            <p14:sldId id="471"/>
            <p14:sldId id="427"/>
            <p14:sldId id="473"/>
            <p14:sldId id="294"/>
            <p14:sldId id="474"/>
          </p14:sldIdLst>
        </p14:section>
        <p14:section name="Lecture 2: min cost flow" id="{FDB4EA58-8039-44E3-B467-8CCECC0F12C9}">
          <p14:sldIdLst>
            <p14:sldId id="428"/>
            <p14:sldId id="476"/>
            <p14:sldId id="431"/>
            <p14:sldId id="327"/>
            <p14:sldId id="329"/>
            <p14:sldId id="330"/>
            <p14:sldId id="331"/>
            <p14:sldId id="477"/>
            <p14:sldId id="332"/>
            <p14:sldId id="333"/>
            <p14:sldId id="334"/>
            <p14:sldId id="478"/>
            <p14:sldId id="416"/>
            <p14:sldId id="480"/>
            <p14:sldId id="481"/>
            <p14:sldId id="296"/>
            <p14:sldId id="433"/>
            <p14:sldId id="340"/>
            <p14:sldId id="342"/>
            <p14:sldId id="432"/>
            <p14:sldId id="343"/>
            <p14:sldId id="344"/>
            <p14:sldId id="345"/>
            <p14:sldId id="437"/>
            <p14:sldId id="347"/>
            <p14:sldId id="349"/>
            <p14:sldId id="350"/>
            <p14:sldId id="440"/>
            <p14:sldId id="497"/>
            <p14:sldId id="367"/>
            <p14:sldId id="368"/>
            <p14:sldId id="370"/>
            <p14:sldId id="498"/>
            <p14:sldId id="351"/>
            <p14:sldId id="486"/>
          </p14:sldIdLst>
        </p14:section>
        <p14:section name="Lecture 3: Matching" id="{1D280A90-DFD4-41D8-AD16-DF3A469C325E}">
          <p14:sldIdLst>
            <p14:sldId id="463"/>
            <p14:sldId id="484"/>
            <p14:sldId id="439"/>
            <p14:sldId id="355"/>
            <p14:sldId id="356"/>
            <p14:sldId id="357"/>
            <p14:sldId id="358"/>
            <p14:sldId id="359"/>
            <p14:sldId id="361"/>
            <p14:sldId id="487"/>
            <p14:sldId id="362"/>
            <p14:sldId id="364"/>
            <p14:sldId id="441"/>
            <p14:sldId id="373"/>
            <p14:sldId id="369"/>
            <p14:sldId id="372"/>
            <p14:sldId id="376"/>
            <p14:sldId id="491"/>
            <p14:sldId id="379"/>
            <p14:sldId id="377"/>
            <p14:sldId id="378"/>
            <p14:sldId id="492"/>
            <p14:sldId id="494"/>
            <p14:sldId id="380"/>
            <p14:sldId id="381"/>
            <p14:sldId id="382"/>
            <p14:sldId id="442"/>
            <p14:sldId id="384"/>
            <p14:sldId id="385"/>
            <p14:sldId id="445"/>
            <p14:sldId id="386"/>
            <p14:sldId id="446"/>
            <p14:sldId id="388"/>
            <p14:sldId id="389"/>
            <p14:sldId id="489"/>
            <p14:sldId id="391"/>
            <p14:sldId id="393"/>
            <p14:sldId id="394"/>
            <p14:sldId id="395"/>
            <p14:sldId id="396"/>
            <p14:sldId id="448"/>
            <p14:sldId id="398"/>
            <p14:sldId id="399"/>
            <p14:sldId id="400"/>
            <p14:sldId id="495"/>
            <p14:sldId id="401"/>
            <p14:sldId id="404"/>
            <p14:sldId id="410"/>
            <p14:sldId id="411"/>
            <p14:sldId id="4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DED"/>
    <a:srgbClr val="F3B927"/>
    <a:srgbClr val="65016B"/>
    <a:srgbClr val="6C0000"/>
    <a:srgbClr val="7F7F7F"/>
    <a:srgbClr val="008C6B"/>
    <a:srgbClr val="FFFFFF"/>
    <a:srgbClr val="89014C"/>
    <a:srgbClr val="0B4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0" autoAdjust="0"/>
    <p:restoredTop sz="86441" autoAdjust="0"/>
  </p:normalViewPr>
  <p:slideViewPr>
    <p:cSldViewPr>
      <p:cViewPr varScale="1">
        <p:scale>
          <a:sx n="94" d="100"/>
          <a:sy n="94" d="100"/>
        </p:scale>
        <p:origin x="12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0FC019-7263-4CC1-AD58-F3BAEC60ED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2F94B6D-1ACE-49DB-994D-A3F29322E4E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6514" y="0"/>
            <a:ext cx="2949099" cy="497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65359C2A-5FAC-4BFA-ADAD-C79051D1F6F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2A00B0BE-3DB6-4E4C-BB75-BA72FD15E8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415" y="4723448"/>
            <a:ext cx="4990783" cy="4474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L" noProof="0"/>
              <a:t>Click to edit Master text styles</a:t>
            </a:r>
          </a:p>
          <a:p>
            <a:pPr lvl="1"/>
            <a:r>
              <a:rPr lang="en-US" altLang="en-NL" noProof="0"/>
              <a:t>Second level</a:t>
            </a:r>
          </a:p>
          <a:p>
            <a:pPr lvl="2"/>
            <a:r>
              <a:rPr lang="en-US" altLang="en-NL" noProof="0"/>
              <a:t>Third level</a:t>
            </a:r>
          </a:p>
          <a:p>
            <a:pPr lvl="3"/>
            <a:r>
              <a:rPr lang="en-US" altLang="en-NL" noProof="0"/>
              <a:t>Fourth level</a:t>
            </a:r>
          </a:p>
          <a:p>
            <a:pPr lvl="4"/>
            <a:r>
              <a:rPr lang="en-US" altLang="en-NL" noProof="0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25FA620F-A29C-488C-BD0B-66ACDCE562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6895"/>
            <a:ext cx="2949099" cy="497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D4EF9B4A-711A-48CD-8FE0-206F24BBB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514" y="9446895"/>
            <a:ext cx="2949099" cy="497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AC96256-8939-4ED6-A041-3B8CCED017A7}" type="slidenum">
              <a:rPr lang="en-US" altLang="en-NL"/>
              <a:pPr>
                <a:defRPr/>
              </a:pPr>
              <a:t>‹#›</a:t>
            </a:fld>
            <a:endParaRPr lang="en-US" altLang="en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224319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Algoritmicus</a:t>
            </a:r>
            <a:r>
              <a:rPr lang="nl-NL" dirty="0"/>
              <a:t>.</a:t>
            </a:r>
          </a:p>
          <a:p>
            <a:r>
              <a:rPr lang="nl-NL" dirty="0"/>
              <a:t>Iets vertellen over</a:t>
            </a:r>
            <a:r>
              <a:rPr lang="nl-NL" baseline="0" dirty="0"/>
              <a:t> projecten bij CQM (</a:t>
            </a:r>
            <a:r>
              <a:rPr lang="nl-NL" baseline="0" dirty="0" err="1"/>
              <a:t>VolkerRail</a:t>
            </a:r>
            <a:r>
              <a:rPr lang="nl-NL" baseline="0" dirty="0"/>
              <a:t>, </a:t>
            </a:r>
            <a:r>
              <a:rPr lang="nl-NL" baseline="0" dirty="0" err="1"/>
              <a:t>Transvision</a:t>
            </a:r>
            <a:r>
              <a:rPr lang="nl-NL" baseline="0" dirty="0"/>
              <a:t>), VIQTOR DAVIS (Thomas </a:t>
            </a:r>
            <a:r>
              <a:rPr lang="nl-NL" baseline="0" dirty="0" err="1"/>
              <a:t>Regout</a:t>
            </a:r>
            <a:r>
              <a:rPr lang="nl-NL" baseline="0" dirty="0"/>
              <a:t>).</a:t>
            </a:r>
          </a:p>
          <a:p>
            <a:r>
              <a:rPr lang="nl-NL" baseline="0" dirty="0"/>
              <a:t>Zit nu in een scrum team bij de NS.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D1433-87E0-4314-A2EF-5E7E72BD1B2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08CD9D-D946-407C-81B8-A9C481548544}" type="slidenum">
              <a:rPr lang="nl-NL" smtClean="0"/>
              <a:pPr>
                <a:defRPr/>
              </a:pPr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3929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Why is the last in P?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7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32838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08CD9D-D946-407C-81B8-A9C481548544}" type="slidenum">
              <a:rPr lang="nl-NL" smtClean="0"/>
              <a:pPr>
                <a:defRPr/>
              </a:pPr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7798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multiple arcs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9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308371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gives a maximum flow because….?</a:t>
            </a:r>
          </a:p>
          <a:p>
            <a:endParaRPr lang="en-US" dirty="0"/>
          </a:p>
          <a:p>
            <a:r>
              <a:rPr lang="en-US" dirty="0"/>
              <a:t>If non-maximum flow, then exists an augmenting path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303624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integer capacities the number of iterations is bounded by Max Flow value.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11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204662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bullet: value(f) = flow-over-cut(S,T) – flow-over-cut(T,S), i.e., value(f) &lt;= flow-over-cut(S,T), and thus value(f) &lt;= capacity(S,T)</a:t>
            </a:r>
          </a:p>
          <a:p>
            <a:endParaRPr lang="en-US" dirty="0"/>
          </a:p>
          <a:p>
            <a:r>
              <a:rPr lang="en-US" dirty="0"/>
              <a:t>Third bullet: cut defined because t cannot be reachable from s. Equality, because value(f) is amount of capacity removed in </a:t>
            </a:r>
            <a:r>
              <a:rPr lang="en-US" dirty="0" err="1"/>
              <a:t>G_f</a:t>
            </a:r>
            <a:r>
              <a:rPr lang="en-US" dirty="0"/>
              <a:t>, if capacity(S,T) bigger, then a path would remain.</a:t>
            </a:r>
          </a:p>
          <a:p>
            <a:endParaRPr lang="en-US" dirty="0"/>
          </a:p>
          <a:p>
            <a:r>
              <a:rPr lang="en-US" dirty="0"/>
              <a:t>Ford-Fulkerson correct: no augmenting path =&gt; value(f) = capacity(S,T), which is maximum by the first bullet.</a:t>
            </a:r>
          </a:p>
          <a:p>
            <a:endParaRPr lang="en-US" dirty="0"/>
          </a:p>
          <a:p>
            <a:r>
              <a:rPr lang="en-US" dirty="0"/>
              <a:t>This also proves…. Since Ford-Fulkerson guarantees there is no augmenting path: value(f) = capacity(S,T) thus maximum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12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70466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capacity of original arcs very large, of vertex-arcs one: then we select only vertex-arcs.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14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056142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Slight abuse of notation: f(</a:t>
            </a:r>
            <a:r>
              <a:rPr lang="en-US" dirty="0" err="1"/>
              <a:t>t,s</a:t>
            </a:r>
            <a:r>
              <a:rPr lang="en-US" dirty="0"/>
              <a:t>) is the flow over the new arc.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19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300881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Aftappen</a:t>
            </a:r>
            <a:r>
              <a:rPr lang="en-US" dirty="0"/>
              <a:t> (draining) </a:t>
            </a:r>
            <a:r>
              <a:rPr lang="en-US" dirty="0" err="1"/>
              <a:t>en</a:t>
            </a:r>
            <a:r>
              <a:rPr lang="en-US" dirty="0"/>
              <a:t> er </a:t>
            </a:r>
            <a:r>
              <a:rPr lang="en-US" dirty="0" err="1"/>
              <a:t>na</a:t>
            </a:r>
            <a:r>
              <a:rPr lang="en-US" dirty="0"/>
              <a:t> de arc </a:t>
            </a:r>
            <a:r>
              <a:rPr lang="en-US" dirty="0" err="1"/>
              <a:t>weer</a:t>
            </a:r>
            <a:r>
              <a:rPr lang="en-US" dirty="0"/>
              <a:t> </a:t>
            </a:r>
            <a:r>
              <a:rPr lang="en-US" dirty="0" err="1"/>
              <a:t>bijplussen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Note: later we do a maximum flow from s’ to t’ </a:t>
            </a:r>
          </a:p>
          <a:p>
            <a:r>
              <a:rPr lang="en-US" dirty="0"/>
              <a:t>– if we can reach enough flow to fully saturate the s’-&gt;v edges and v-&gt;t’ edges </a:t>
            </a:r>
          </a:p>
          <a:p>
            <a:r>
              <a:rPr lang="en-US" dirty="0"/>
              <a:t>– then we can add the ‘lower bound’ back to the edge to obtain an admissible circulation.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20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996840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Important </a:t>
            </a:r>
            <a:r>
              <a:rPr lang="nl-NL" dirty="0" err="1"/>
              <a:t>note</a:t>
            </a:r>
            <a:r>
              <a:rPr lang="nl-NL" dirty="0"/>
              <a:t>: </a:t>
            </a:r>
            <a:r>
              <a:rPr lang="nl-NL" dirty="0" err="1"/>
              <a:t>this</a:t>
            </a:r>
            <a:r>
              <a:rPr lang="nl-NL" dirty="0"/>
              <a:t> is a </a:t>
            </a:r>
            <a:r>
              <a:rPr lang="nl-NL" dirty="0" err="1"/>
              <a:t>feasible</a:t>
            </a:r>
            <a:r>
              <a:rPr lang="nl-NL" dirty="0"/>
              <a:t> </a:t>
            </a:r>
            <a:r>
              <a:rPr lang="nl-NL" dirty="0" err="1"/>
              <a:t>instance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flow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lower</a:t>
            </a:r>
            <a:r>
              <a:rPr lang="nl-NL" dirty="0"/>
              <a:t> </a:t>
            </a:r>
            <a:r>
              <a:rPr lang="nl-NL" dirty="0" err="1"/>
              <a:t>bounds</a:t>
            </a:r>
            <a:r>
              <a:rPr lang="nl-NL" dirty="0"/>
              <a:t> –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arcs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source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sink</a:t>
            </a:r>
            <a:r>
              <a:rPr lang="nl-NL" dirty="0"/>
              <a:t> are </a:t>
            </a:r>
            <a:r>
              <a:rPr lang="nl-NL" dirty="0" err="1"/>
              <a:t>saturated</a:t>
            </a:r>
            <a:r>
              <a:rPr lang="nl-N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08CD9D-D946-407C-81B8-A9C481548544}" type="slidenum">
              <a:rPr lang="nl-NL" smtClean="0"/>
              <a:pPr>
                <a:defRPr/>
              </a:pPr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6023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nl-NL" dirty="0"/>
                  <a:t>If both 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(</a:t>
                </a:r>
                <a:r>
                  <a:rPr lang="en-US" altLang="nl-NL" i="0" dirty="0" err="1">
                    <a:latin typeface="Cambria Math" panose="02040503050406030204" pitchFamily="18" charset="0"/>
                  </a:rPr>
                  <a:t>𝑢,𝑣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)</a:t>
                </a:r>
                <a:r>
                  <a:rPr lang="en-US" altLang="nl-NL" dirty="0"/>
                  <a:t> and 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(</a:t>
                </a:r>
                <a:r>
                  <a:rPr lang="en-US" altLang="nl-NL" i="0" dirty="0" err="1">
                    <a:latin typeface="Cambria Math" panose="02040503050406030204" pitchFamily="18" charset="0"/>
                  </a:rPr>
                  <a:t>𝑣,𝑢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)</a:t>
                </a:r>
                <a:r>
                  <a:rPr lang="en-US" altLang="nl-NL" dirty="0"/>
                  <a:t> exists…. (details omitted)</a:t>
                </a:r>
              </a:p>
              <a:p>
                <a:endParaRPr lang="en-US" dirty="0"/>
              </a:p>
              <a:p>
                <a:r>
                  <a:rPr lang="en-US" dirty="0"/>
                  <a:t>If both exist, we can assume a lower bound in one direction: otherwise any flow can go back and forth to fulfil the lower bound.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25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983328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nl-NL" dirty="0"/>
                  <a:t>New flow: can use excess capacity on lower bounded edge, or send flow back, but never enough to invalidate the lower bound.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nl-NL" dirty="0"/>
                  <a:t>New flow: can use excess capacity on lower bounded edge, or send flow back, but never enough to invalidate the lower bound.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nl-NL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nl-NL" dirty="0"/>
                  <a:t>If both 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(</a:t>
                </a:r>
                <a:r>
                  <a:rPr lang="en-US" altLang="nl-NL" i="0" dirty="0" err="1">
                    <a:latin typeface="Cambria Math" panose="02040503050406030204" pitchFamily="18" charset="0"/>
                  </a:rPr>
                  <a:t>𝑢,𝑣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)</a:t>
                </a:r>
                <a:r>
                  <a:rPr lang="en-US" altLang="nl-NL" dirty="0"/>
                  <a:t> and 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(</a:t>
                </a:r>
                <a:r>
                  <a:rPr lang="en-US" altLang="nl-NL" i="0" dirty="0" err="1">
                    <a:latin typeface="Cambria Math" panose="02040503050406030204" pitchFamily="18" charset="0"/>
                  </a:rPr>
                  <a:t>𝑣,𝑢</a:t>
                </a:r>
                <a:r>
                  <a:rPr lang="en-US" altLang="nl-NL" i="0" dirty="0">
                    <a:latin typeface="Cambria Math" panose="02040503050406030204" pitchFamily="18" charset="0"/>
                  </a:rPr>
                  <a:t>)</a:t>
                </a:r>
                <a:r>
                  <a:rPr lang="en-US" altLang="nl-NL" dirty="0"/>
                  <a:t> exists…. (details omitted)</a:t>
                </a:r>
              </a:p>
              <a:p>
                <a:r>
                  <a:rPr lang="en-US" dirty="0"/>
                  <a:t>If both exist, we can assume a lower bound in one direction: otherwise any flow can go back and forth to fulfil the lower bound.</a:t>
                </a:r>
              </a:p>
              <a:p>
                <a:r>
                  <a:rPr lang="en-US" dirty="0"/>
                  <a:t>Similar for capacity: if capacity exists in opposite direction of lower bound, we can cycle the flow removing the lower bound (or the capacity in opposite direction, whichever is lower)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26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081891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28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39498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Container repositioning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30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6676140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any? Integer flow gives integer solution.</a:t>
            </a:r>
          </a:p>
          <a:p>
            <a:endParaRPr lang="en-US" dirty="0"/>
          </a:p>
          <a:p>
            <a:r>
              <a:rPr lang="en-US" dirty="0"/>
              <a:t>Note that the original matrix entries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would give a feasible non-integer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34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937019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36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1755373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37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807806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39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9053893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08CD9D-D946-407C-81B8-A9C481548544}" type="slidenum">
              <a:rPr lang="nl-NL" smtClean="0"/>
              <a:pPr>
                <a:defRPr/>
              </a:pPr>
              <a:t>49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01900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08CD9D-D946-407C-81B8-A9C481548544}" type="slidenum">
              <a:rPr lang="nl-NL" smtClean="0"/>
              <a:pPr>
                <a:defRPr/>
              </a:pPr>
              <a:t>50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3728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Lifts are phases here: between two lifts O(n) non-saturating pushes. Why? Only push down and the source will stop overflowing: so no repetitions of the same vertex.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51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993475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58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42898313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Thus, no lower bounds anymore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60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677196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Unbounded s-t path is allowed due to the fixed </a:t>
            </a:r>
            <a:r>
              <a:rPr lang="en-US"/>
              <a:t>flow value.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61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8458135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</a:t>
            </a:r>
            <a:r>
              <a:rPr lang="en-US" dirty="0" err="1"/>
              <a:t>supersource</a:t>
            </a:r>
            <a:r>
              <a:rPr lang="en-US" dirty="0"/>
              <a:t>/</a:t>
            </a:r>
            <a:r>
              <a:rPr lang="en-US" dirty="0" err="1"/>
              <a:t>supersink</a:t>
            </a:r>
            <a:r>
              <a:rPr lang="en-US" dirty="0"/>
              <a:t> to enforce the c flow over the path.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63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579934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Ventricle: </a:t>
            </a:r>
            <a:r>
              <a:rPr lang="en-US" dirty="0" err="1"/>
              <a:t>hartkamer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65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216315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next slide for graph after full transformation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66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8153693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also see many algorithms use linear combinations of flows.</a:t>
            </a:r>
          </a:p>
          <a:p>
            <a:r>
              <a:rPr lang="en-US" dirty="0"/>
              <a:t>We add and subtract flows from each other.</a:t>
            </a:r>
          </a:p>
          <a:p>
            <a:r>
              <a:rPr lang="en-US" dirty="0"/>
              <a:t>These are all primal algorithms, and you can also define dual algorithms.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69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5519023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also see many algorithms use linear combinations of flows.</a:t>
            </a:r>
          </a:p>
          <a:p>
            <a:r>
              <a:rPr lang="en-US" dirty="0"/>
              <a:t>We add and subtract flows from each other.</a:t>
            </a:r>
          </a:p>
          <a:p>
            <a:r>
              <a:rPr lang="en-US" dirty="0"/>
              <a:t>These are all primal algorithms, and you can also define dual algorithms.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70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6576936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multiple arcs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74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4708931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altLang="en-US" i="0" dirty="0">
                    <a:latin typeface="Cambria Math" panose="02040503050406030204" pitchFamily="18" charset="0"/>
                  </a:rPr>
                  <a:t>𝑓’ – 𝑓</a:t>
                </a:r>
                <a:r>
                  <a:rPr lang="en-US" dirty="0"/>
                  <a:t> defines as coordinate</a:t>
                </a:r>
                <a:r>
                  <a:rPr lang="en-US" baseline="0" dirty="0"/>
                  <a:t>-wise subtraction, where coordinates are arc-reverse-residual-arc pairs (with inverted cost)</a:t>
                </a:r>
              </a:p>
              <a:p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76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8667149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baseline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GB" altLang="en-US" i="0" dirty="0">
                    <a:latin typeface="Cambria Math" panose="02040503050406030204" pitchFamily="18" charset="0"/>
                  </a:rPr>
                  <a:t>𝑓’ – 𝑓</a:t>
                </a:r>
                <a:r>
                  <a:rPr lang="en-US" dirty="0"/>
                  <a:t> defines as coordinate</a:t>
                </a:r>
                <a:r>
                  <a:rPr lang="en-US" baseline="0" dirty="0"/>
                  <a:t>-wise subtraction, where coordinates are arc-reverse-residual-arc pairs (with inverted cost)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77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569808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defTabSz="9302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302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302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302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302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CB08BEC-7D9A-4206-AB32-1C913A957348}" type="slidenum">
              <a:rPr lang="nl-NL" altLang="en-US" smtClean="0"/>
              <a:pPr algn="r" eaLnBrk="1" hangingPunct="1">
                <a:spcBef>
                  <a:spcPct val="0"/>
                </a:spcBef>
              </a:pPr>
              <a:t>79</a:t>
            </a:fld>
            <a:endParaRPr lang="nl-NL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Uses algorithm from exercise set.</a:t>
            </a:r>
            <a:endParaRPr lang="nl-NL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 Remember the ‘Recall’ on the previous slide – correctness of cycle cancelling algorithm?</a:t>
            </a:r>
          </a:p>
          <a:p>
            <a:endParaRPr lang="en-US" dirty="0"/>
          </a:p>
          <a:p>
            <a:r>
              <a:rPr lang="en-US" dirty="0"/>
              <a:t>4.3 cost(f’- f) </a:t>
            </a:r>
            <a:r>
              <a:rPr lang="en-US"/>
              <a:t>is cost(P).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83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3834613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86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5323992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986CC8-6A4B-40C8-9BAB-E515E4DD04B3}" type="slidenum">
              <a:rPr lang="nl-NL" altLang="en-US"/>
              <a:pPr/>
              <a:t>88</a:t>
            </a:fld>
            <a:endParaRPr lang="nl-NL" altLang="en-US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literature often gives harder, but constructive proofs.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93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7865568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Vraag</a:t>
            </a:r>
            <a:r>
              <a:rPr lang="en-US" dirty="0"/>
              <a:t> </a:t>
            </a:r>
            <a:r>
              <a:rPr lang="en-US" dirty="0" err="1"/>
              <a:t>studenten</a:t>
            </a:r>
            <a:r>
              <a:rPr lang="en-US" dirty="0"/>
              <a:t>: </a:t>
            </a:r>
            <a:r>
              <a:rPr lang="en-US" dirty="0" err="1"/>
              <a:t>stel</a:t>
            </a:r>
            <a:r>
              <a:rPr lang="en-US" dirty="0"/>
              <a:t> we </a:t>
            </a:r>
            <a:r>
              <a:rPr lang="en-US" dirty="0" err="1"/>
              <a:t>kunnen</a:t>
            </a:r>
            <a:r>
              <a:rPr lang="en-US" dirty="0"/>
              <a:t> ‘perfect matching with minimum/maximum cost’, hoe dan ‘maximum weight matching’?</a:t>
            </a:r>
          </a:p>
          <a:p>
            <a:endParaRPr lang="en-US" dirty="0"/>
          </a:p>
          <a:p>
            <a:r>
              <a:rPr lang="en-US" dirty="0" err="1"/>
              <a:t>Oplossing</a:t>
            </a:r>
            <a:r>
              <a:rPr lang="en-US" dirty="0"/>
              <a:t>: </a:t>
            </a:r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alle </a:t>
            </a:r>
            <a:r>
              <a:rPr lang="en-US" dirty="0" err="1"/>
              <a:t>knopen</a:t>
            </a:r>
            <a:r>
              <a:rPr lang="en-US" dirty="0"/>
              <a:t> kosten-0 edges toe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geen</a:t>
            </a:r>
            <a:r>
              <a:rPr lang="en-US" dirty="0"/>
              <a:t> edge </a:t>
            </a:r>
            <a:r>
              <a:rPr lang="en-US" dirty="0" err="1"/>
              <a:t>tussen</a:t>
            </a:r>
            <a:r>
              <a:rPr lang="en-US" dirty="0"/>
              <a:t> is.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het </a:t>
            </a:r>
            <a:r>
              <a:rPr lang="en-US" dirty="0" err="1"/>
              <a:t>aantal</a:t>
            </a:r>
            <a:r>
              <a:rPr lang="en-US" dirty="0"/>
              <a:t> </a:t>
            </a:r>
            <a:r>
              <a:rPr lang="en-US" dirty="0" err="1"/>
              <a:t>knopen</a:t>
            </a:r>
            <a:r>
              <a:rPr lang="en-US" dirty="0"/>
              <a:t> </a:t>
            </a:r>
            <a:r>
              <a:rPr lang="en-US" dirty="0" err="1"/>
              <a:t>oneven</a:t>
            </a:r>
            <a:r>
              <a:rPr lang="en-US" dirty="0"/>
              <a:t> </a:t>
            </a:r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extra </a:t>
            </a:r>
            <a:r>
              <a:rPr lang="en-US" dirty="0" err="1"/>
              <a:t>knoop</a:t>
            </a:r>
            <a:r>
              <a:rPr lang="en-US" dirty="0"/>
              <a:t> to met </a:t>
            </a:r>
            <a:r>
              <a:rPr lang="en-US" dirty="0" err="1"/>
              <a:t>kosten</a:t>
            </a:r>
            <a:r>
              <a:rPr lang="en-US" dirty="0"/>
              <a:t> 0-edges </a:t>
            </a:r>
            <a:r>
              <a:rPr lang="en-US" dirty="0" err="1"/>
              <a:t>naar</a:t>
            </a:r>
            <a:r>
              <a:rPr lang="en-US" dirty="0"/>
              <a:t> alle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knopen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Vraag</a:t>
            </a:r>
            <a:r>
              <a:rPr lang="en-US" dirty="0"/>
              <a:t> </a:t>
            </a:r>
            <a:r>
              <a:rPr lang="en-US" dirty="0" err="1"/>
              <a:t>studenten</a:t>
            </a:r>
            <a:r>
              <a:rPr lang="en-US" dirty="0"/>
              <a:t>: </a:t>
            </a:r>
            <a:r>
              <a:rPr lang="en-US" dirty="0" err="1"/>
              <a:t>stel</a:t>
            </a:r>
            <a:r>
              <a:rPr lang="en-US" dirty="0"/>
              <a:t> we </a:t>
            </a:r>
            <a:r>
              <a:rPr lang="en-US" dirty="0" err="1"/>
              <a:t>kunnen</a:t>
            </a:r>
            <a:r>
              <a:rPr lang="en-US" dirty="0"/>
              <a:t> ‘perfect matching with minimum/maximum  cost’, hoe dan ‘minimum weight maximum matching’?</a:t>
            </a:r>
          </a:p>
          <a:p>
            <a:endParaRPr lang="en-US" dirty="0"/>
          </a:p>
          <a:p>
            <a:r>
              <a:rPr lang="en-US" dirty="0" err="1"/>
              <a:t>Oplossing</a:t>
            </a:r>
            <a:r>
              <a:rPr lang="en-US" dirty="0"/>
              <a:t>: </a:t>
            </a:r>
            <a:r>
              <a:rPr lang="en-US" dirty="0" err="1"/>
              <a:t>bereken</a:t>
            </a:r>
            <a:r>
              <a:rPr lang="en-US" dirty="0"/>
              <a:t> maximum matching om </a:t>
            </a:r>
            <a:r>
              <a:rPr lang="en-US" dirty="0" err="1"/>
              <a:t>formaat</a:t>
            </a:r>
            <a:r>
              <a:rPr lang="en-US" dirty="0"/>
              <a:t> </a:t>
            </a:r>
            <a:r>
              <a:rPr lang="en-US" dirty="0" err="1"/>
              <a:t>achterhalen</a:t>
            </a:r>
            <a:r>
              <a:rPr lang="en-US" dirty="0"/>
              <a:t>. </a:t>
            </a:r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alle </a:t>
            </a:r>
            <a:r>
              <a:rPr lang="en-US" dirty="0" err="1"/>
              <a:t>knopen</a:t>
            </a:r>
            <a:r>
              <a:rPr lang="en-US" dirty="0"/>
              <a:t> kosten-0 edges toe 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geen</a:t>
            </a:r>
            <a:r>
              <a:rPr lang="en-US" dirty="0"/>
              <a:t> edge </a:t>
            </a:r>
            <a:r>
              <a:rPr lang="en-US" dirty="0" err="1"/>
              <a:t>tussen</a:t>
            </a:r>
            <a:r>
              <a:rPr lang="en-US" dirty="0"/>
              <a:t> is.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het </a:t>
            </a:r>
            <a:r>
              <a:rPr lang="en-US" dirty="0" err="1"/>
              <a:t>aantal</a:t>
            </a:r>
            <a:r>
              <a:rPr lang="en-US" dirty="0"/>
              <a:t> </a:t>
            </a:r>
            <a:r>
              <a:rPr lang="en-US" dirty="0" err="1"/>
              <a:t>knopen</a:t>
            </a:r>
            <a:r>
              <a:rPr lang="en-US" dirty="0"/>
              <a:t> </a:t>
            </a:r>
            <a:r>
              <a:rPr lang="en-US" dirty="0" err="1"/>
              <a:t>oneven</a:t>
            </a:r>
            <a:r>
              <a:rPr lang="en-US" dirty="0"/>
              <a:t> </a:t>
            </a:r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extra </a:t>
            </a:r>
            <a:r>
              <a:rPr lang="en-US" dirty="0" err="1"/>
              <a:t>knoop</a:t>
            </a:r>
            <a:r>
              <a:rPr lang="en-US" dirty="0"/>
              <a:t> to met </a:t>
            </a:r>
            <a:r>
              <a:rPr lang="en-US" dirty="0" err="1"/>
              <a:t>kosten</a:t>
            </a:r>
            <a:r>
              <a:rPr lang="en-US" dirty="0"/>
              <a:t> 0-edges </a:t>
            </a:r>
            <a:r>
              <a:rPr lang="en-US" dirty="0" err="1"/>
              <a:t>naar</a:t>
            </a:r>
            <a:r>
              <a:rPr lang="en-US" dirty="0"/>
              <a:t> alle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knopen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100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8567988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103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7885810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2 slides to translate the example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106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7859652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we have a method to either find an M-augmenting path or an M-flower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112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42396615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we have a method to either find an M-augmenting path or an M-flower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113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406999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next slide! (then we go the other way around the blossom)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117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2248105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If the flower has a matching edge to outside the flower, then it must be taken since it is the only one.</a:t>
            </a:r>
          </a:p>
          <a:p>
            <a:r>
              <a:rPr lang="en-US" dirty="0"/>
              <a:t>But there can be no matching edge to outside the flower – then there is also no matching edge incident to the shrunken flower and it must be the beginning/end of the path…. next slide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118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7039363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This occurs if blossom in G was found starting from blossom vertex with two unmatched blossom edges (that normally connects to the stem).</a:t>
            </a:r>
          </a:p>
          <a:p>
            <a:r>
              <a:rPr lang="en-US" dirty="0"/>
              <a:t>Now there is no stem.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119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175781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122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913583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proof: flow model. 1/d flow over each edge of the bipartite graph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127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359040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the weight changing destroys cycles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the weight changing destroys cycles in </a:t>
                </a:r>
                <a:r>
                  <a:rPr lang="en-US" altLang="en-US" i="0" dirty="0">
                    <a:latin typeface="Cambria Math" panose="02040503050406030204" pitchFamily="18" charset="0"/>
                  </a:rPr>
                  <a:t>𝐺</a:t>
                </a:r>
                <a:r>
                  <a:rPr lang="en-US" altLang="en-US" i="0" dirty="0" err="1">
                    <a:latin typeface="Cambria Math" panose="02040503050406030204" pitchFamily="18" charset="0"/>
                  </a:rPr>
                  <a:t>𝑤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128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32983853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130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716801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and M are two halves of the cycle.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131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6886012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timeslots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134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1706795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C96256-8939-4ED6-A041-3B8CCED017A7}" type="slidenum">
              <a:rPr lang="en-US" altLang="en-NL" smtClean="0"/>
              <a:pPr>
                <a:defRPr/>
              </a:pPr>
              <a:t>140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62685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6">
            <a:extLst>
              <a:ext uri="{FF2B5EF4-FFF2-40B4-BE49-F238E27FC236}">
                <a16:creationId xmlns:a16="http://schemas.microsoft.com/office/drawing/2014/main" id="{C8AC9C07-6C8F-405E-AF63-58E0FB705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477000"/>
            <a:ext cx="53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1E17DE37-6C1E-417B-B9A4-38DA74EAC3CF}" type="slidenum">
              <a:rPr lang="en-US" altLang="en-NL" sz="1200">
                <a:latin typeface="Verdana" panose="020B0604030504040204" pitchFamily="34" charset="0"/>
              </a:rPr>
              <a:pPr algn="r"/>
              <a:t>‹#›</a:t>
            </a:fld>
            <a:endParaRPr lang="en-US" altLang="en-NL" sz="1400">
              <a:latin typeface="Verdana" panose="020B0604030504040204" pitchFamily="34" charset="0"/>
            </a:endParaRPr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058DD9CE-8D4A-4F95-A36C-E3DC868AE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2057400"/>
            <a:ext cx="7010400" cy="1676400"/>
          </a:xfrm>
        </p:spPr>
        <p:txBody>
          <a:bodyPr/>
          <a:lstStyle>
            <a:lvl1pPr algn="r">
              <a:lnSpc>
                <a:spcPts val="4400"/>
              </a:lnSpc>
              <a:spcAft>
                <a:spcPts val="300"/>
              </a:spcAft>
              <a:defRPr sz="2800"/>
            </a:lvl1pPr>
          </a:lstStyle>
          <a:p>
            <a:pPr lvl="0"/>
            <a:r>
              <a:rPr lang="en-US" altLang="en-NL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3962400"/>
            <a:ext cx="6400800" cy="1752600"/>
          </a:xfrm>
        </p:spPr>
        <p:txBody>
          <a:bodyPr/>
          <a:lstStyle>
            <a:lvl1pPr marL="0" indent="0" algn="r">
              <a:buFont typeface="Webdings" panose="05030102010509060703" pitchFamily="18" charset="2"/>
              <a:buNone/>
              <a:defRPr sz="2000"/>
            </a:lvl1pPr>
          </a:lstStyle>
          <a:p>
            <a:pPr lvl="0"/>
            <a:r>
              <a:rPr lang="en-US" altLang="en-NL" noProof="0"/>
              <a:t>Click to edit Master subtitle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05F52-8E53-4BF0-B05D-CF3F7DAC06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362200" y="6248400"/>
            <a:ext cx="3657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  <a:endParaRPr lang="en-US" altLang="en-NL" sz="1400"/>
          </a:p>
        </p:txBody>
      </p:sp>
    </p:spTree>
    <p:extLst>
      <p:ext uri="{BB962C8B-B14F-4D97-AF65-F5344CB8AC3E}">
        <p14:creationId xmlns:p14="http://schemas.microsoft.com/office/powerpoint/2010/main" val="247174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6289B155-97FB-4813-BE5C-5DD02F8231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DCAAA2BD-205A-4853-91AD-C7C9419BAF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40228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819400"/>
            <a:ext cx="7886700" cy="1743075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4000" b="1"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7C05C189-C86D-4BA4-843F-02F908C044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C10D941F-2640-4454-9550-C5DEF57737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60347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9152D35-76FA-425B-9051-14D0B34F83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CE7185B5-661A-4316-A573-82D8691986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26819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CE750C6B-7DB4-403E-A563-6B226216AF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1FD7691-6C60-42C7-84F0-1985FA153C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97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672428B5-EF93-462D-A087-5C59DD195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71B60EB6-2A08-4816-88AA-EF301B15EB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9576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4042A371-FFCF-430F-B0B1-5E6194C35B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29254BE5-6782-40A8-9F06-DDC10D557C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59243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02D616D-BF18-4718-A36D-B5B7598A84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305C105-B1EE-4EC7-B951-F2B54B8DC2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412954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EB3FBB8E-EA23-4E32-93D7-927EBCDA90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23AB0CDA-8F5D-4718-9DD6-986FB444DC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7086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89167966-92F8-49CA-A973-A5BA048095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5A8EF5A2-A0B9-4788-904D-E257EF61F5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571391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04800"/>
            <a:ext cx="18478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3911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F59EEBC5-E209-4D6E-9894-8902F3A47B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F8D103A-4DF3-4827-99B5-1A29D7B4E0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773001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3DDE77A2-D00E-41A4-937E-CB790249B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A0AC9EB-B1CD-4A62-B5C0-1A69AC9993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917138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r>
              <a:rPr lang="en-US" noProof="0"/>
              <a:t>Click icon to add SmartArt graphic</a:t>
            </a:r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22A608D6-AFDB-46BA-8A5E-BB432C321A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4EC5CD7C-8EA0-4752-962B-452F4A87B5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644409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EB56B735-936F-4198-A2A7-FC01268DA3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C2089EF2-9177-4B4C-8F50-A3F368822B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400592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altLang="en-US"/>
              <a:t>Algorithms and Networks: Minimum Cost Flow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8C2F1-6F54-4018-ABE1-0C1B85562A25}" type="slidenum">
              <a:rPr lang="nl-NL" altLang="en-US"/>
              <a:pPr>
                <a:defRPr/>
              </a:pPr>
              <a:t>‹#›</a:t>
            </a:fld>
            <a:endParaRPr lang="nl-NL" altLang="en-US"/>
          </a:p>
        </p:txBody>
      </p:sp>
    </p:spTree>
    <p:extLst>
      <p:ext uri="{BB962C8B-B14F-4D97-AF65-F5344CB8AC3E}">
        <p14:creationId xmlns:p14="http://schemas.microsoft.com/office/powerpoint/2010/main" val="962078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8DD77663-492A-42CE-88B0-1BEB544CD4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F95969EF-B1E9-4789-B459-B9B114D93B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585708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819400"/>
            <a:ext cx="7886700" cy="1743075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  <a:endParaRPr lang="en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4000" b="1"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2B62E36C-C323-4F99-9364-CB16AEFD1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34227BB0-58EE-4A07-BCE5-EE53EB63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068172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19755E01-4FA7-4CAA-98C8-81CC487114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D79E0C0D-9FBD-4DD7-A9A5-694B1EF198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566076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6E234CD3-42C1-402D-95C6-C94DC5D796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4E25DC7E-3D2C-4C6F-A486-83EBFD177F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6205415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1E9F88AF-C4C9-4C04-A0AE-DF6F85FFB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D93B35E2-4956-4B18-8410-BA7248C3AB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9506058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DE27917A-0E49-44DD-946F-8CFE5B65BA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21C1A3F1-40B4-41E3-82F6-158479C48F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42714685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861109AF-FA73-4FD8-93B0-66CFF96457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0958C13-E2E8-4FC2-8315-1409A1FD03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8460870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1C7845AA-E71F-4200-99CC-9076B4744C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B33D7E67-C19E-4BED-BB8B-C4E410C4B4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709907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2D49C7AA-446B-438C-A6C4-956D792F26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C0B601CF-D4C8-4CEE-9BC8-19C9EABAB5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3845086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04800"/>
            <a:ext cx="18478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3911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F08B0BF9-0592-40CD-ACB8-61EAC7A1E4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F0634F3-7D72-49AE-9B2C-5C331068FC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3306567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55544A2D-F7E6-4542-803B-44987B8AD7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3B5BAD5D-DA58-4FF6-A7B7-CF093E8E1C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0907849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DC300130-805D-4B50-8D1E-7BEFCD3B8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F964C436-4065-4AC2-8A8C-F48BE90113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6354174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641DF600-E105-4E53-9EDC-50F30553AC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415130C-BD45-41E9-9FE7-B10A929AF8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97112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9">
            <a:extLst>
              <a:ext uri="{FF2B5EF4-FFF2-40B4-BE49-F238E27FC236}">
                <a16:creationId xmlns:a16="http://schemas.microsoft.com/office/drawing/2014/main" id="{992FA9B2-63F7-4A48-BBD5-1B57DC4A3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4">
            <a:extLst>
              <a:ext uri="{FF2B5EF4-FFF2-40B4-BE49-F238E27FC236}">
                <a16:creationId xmlns:a16="http://schemas.microsoft.com/office/drawing/2014/main" id="{4E26105D-D685-4517-BB32-118C89B51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C0D63C53-F5D4-484F-8DCD-5E3BAAC31C11}" type="slidenum">
              <a:rPr lang="en-US" altLang="en-NL" sz="1200">
                <a:latin typeface="Verdana" panose="020B0604030504040204" pitchFamily="34" charset="0"/>
              </a:rPr>
              <a:pPr algn="r"/>
              <a:t>‹#›</a:t>
            </a:fld>
            <a:endParaRPr lang="en-US" altLang="en-NL" sz="1400">
              <a:latin typeface="Verdana" panose="020B0604030504040204" pitchFamily="34" charset="0"/>
            </a:endParaRPr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2A50222C-DE1F-45D8-A14C-C36DC6FDC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39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L"/>
              <a:t>Click to edit Master title style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A69D3334-B4BE-467B-A6D4-F3B4031CB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828800"/>
            <a:ext cx="7391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L"/>
              <a:t>Click to edit Master text styles</a:t>
            </a:r>
          </a:p>
          <a:p>
            <a:pPr lvl="1"/>
            <a:r>
              <a:rPr lang="en-US" altLang="en-NL"/>
              <a:t>Second level</a:t>
            </a:r>
          </a:p>
          <a:p>
            <a:pPr lvl="2"/>
            <a:r>
              <a:rPr lang="en-US" altLang="en-NL"/>
              <a:t>Third level</a:t>
            </a:r>
          </a:p>
          <a:p>
            <a:pPr lvl="3"/>
            <a:r>
              <a:rPr lang="en-US" altLang="en-NL"/>
              <a:t>Fourth level</a:t>
            </a:r>
          </a:p>
          <a:p>
            <a:pPr lvl="4"/>
            <a:r>
              <a:rPr lang="en-US" altLang="en-NL"/>
              <a:t>Fifth level</a:t>
            </a:r>
          </a:p>
        </p:txBody>
      </p:sp>
      <p:sp>
        <p:nvSpPr>
          <p:cNvPr id="1042" name="Rectangle 18">
            <a:extLst>
              <a:ext uri="{FF2B5EF4-FFF2-40B4-BE49-F238E27FC236}">
                <a16:creationId xmlns:a16="http://schemas.microsoft.com/office/drawing/2014/main" id="{6B6BA7EB-3ACD-49EC-8141-6B0F38EBD2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4770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043" name="Rectangle 19">
            <a:extLst>
              <a:ext uri="{FF2B5EF4-FFF2-40B4-BE49-F238E27FC236}">
                <a16:creationId xmlns:a16="http://schemas.microsoft.com/office/drawing/2014/main" id="{321374C1-A4F9-49BE-B587-45F4EBFB31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477000"/>
            <a:ext cx="28956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706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ebdings" panose="05030102010509060703" pitchFamily="18" charset="2"/>
        <a:buChar char="g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ebdings" panose="05030102010509060703" pitchFamily="18" charset="2"/>
        <a:buChar char="g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9">
            <a:extLst>
              <a:ext uri="{FF2B5EF4-FFF2-40B4-BE49-F238E27FC236}">
                <a16:creationId xmlns:a16="http://schemas.microsoft.com/office/drawing/2014/main" id="{80872908-BC3C-4FDA-AF4F-D70F7A509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7701EAC9-1378-492D-AC50-EBEB87A08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2F491FAE-05B2-42FE-9664-8CE8ECD965EE}" type="slidenum">
              <a:rPr lang="en-US" altLang="en-NL" sz="1200">
                <a:latin typeface="Verdana" panose="020B0604030504040204" pitchFamily="34" charset="0"/>
              </a:rPr>
              <a:pPr algn="r"/>
              <a:t>‹#›</a:t>
            </a:fld>
            <a:endParaRPr lang="en-US" altLang="en-NL" sz="1400">
              <a:latin typeface="Verdana" panose="020B0604030504040204" pitchFamily="34" charset="0"/>
            </a:endParaRPr>
          </a:p>
        </p:txBody>
      </p:sp>
      <p:sp>
        <p:nvSpPr>
          <p:cNvPr id="2052" name="Rectangle 2">
            <a:extLst>
              <a:ext uri="{FF2B5EF4-FFF2-40B4-BE49-F238E27FC236}">
                <a16:creationId xmlns:a16="http://schemas.microsoft.com/office/drawing/2014/main" id="{946E819B-5532-4490-ACD4-B7DC31E4F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39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L"/>
              <a:t>Click to edit Master title style</a:t>
            </a:r>
          </a:p>
        </p:txBody>
      </p:sp>
      <p:sp>
        <p:nvSpPr>
          <p:cNvPr id="2053" name="Rectangle 3">
            <a:extLst>
              <a:ext uri="{FF2B5EF4-FFF2-40B4-BE49-F238E27FC236}">
                <a16:creationId xmlns:a16="http://schemas.microsoft.com/office/drawing/2014/main" id="{1E4E355A-DF82-44EA-A20F-57130C758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828800"/>
            <a:ext cx="7391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L"/>
              <a:t>Click to edit Master text styles</a:t>
            </a:r>
          </a:p>
          <a:p>
            <a:pPr lvl="1"/>
            <a:r>
              <a:rPr lang="en-US" altLang="en-NL"/>
              <a:t>Second level</a:t>
            </a:r>
          </a:p>
          <a:p>
            <a:pPr lvl="2"/>
            <a:r>
              <a:rPr lang="en-US" altLang="en-NL"/>
              <a:t>Third level</a:t>
            </a:r>
          </a:p>
          <a:p>
            <a:pPr lvl="3"/>
            <a:r>
              <a:rPr lang="en-US" altLang="en-NL"/>
              <a:t>Fourth level</a:t>
            </a:r>
          </a:p>
          <a:p>
            <a:pPr lvl="4"/>
            <a:r>
              <a:rPr lang="en-US" altLang="en-NL"/>
              <a:t>Fifth level</a:t>
            </a:r>
          </a:p>
        </p:txBody>
      </p:sp>
      <p:sp>
        <p:nvSpPr>
          <p:cNvPr id="1042" name="Rectangle 18">
            <a:extLst>
              <a:ext uri="{FF2B5EF4-FFF2-40B4-BE49-F238E27FC236}">
                <a16:creationId xmlns:a16="http://schemas.microsoft.com/office/drawing/2014/main" id="{BB6E3035-90FB-4886-BC70-AF80633AAE8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4770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043" name="Rectangle 19">
            <a:extLst>
              <a:ext uri="{FF2B5EF4-FFF2-40B4-BE49-F238E27FC236}">
                <a16:creationId xmlns:a16="http://schemas.microsoft.com/office/drawing/2014/main" id="{F5F0C2C1-057D-4A2E-8CD6-A95AB16D460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477000"/>
            <a:ext cx="28956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ebdings" panose="05030102010509060703" pitchFamily="18" charset="2"/>
        <a:buChar char="g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ebdings" panose="05030102010509060703" pitchFamily="18" charset="2"/>
        <a:buChar char="g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eg"/><Relationship Id="rId4" Type="http://schemas.openxmlformats.org/officeDocument/2006/relationships/image" Target="../media/image46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70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6.png"/><Relationship Id="rId10" Type="http://schemas.openxmlformats.org/officeDocument/2006/relationships/image" Target="../media/image92.png"/><Relationship Id="rId4" Type="http://schemas.openxmlformats.org/officeDocument/2006/relationships/image" Target="../media/image85.png"/><Relationship Id="rId9" Type="http://schemas.openxmlformats.org/officeDocument/2006/relationships/image" Target="../media/image91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8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1.png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16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image" Target="../media/image14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8.png"/><Relationship Id="rId4" Type="http://schemas.openxmlformats.org/officeDocument/2006/relationships/image" Target="../media/image156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7.png"/><Relationship Id="rId4" Type="http://schemas.openxmlformats.org/officeDocument/2006/relationships/image" Target="../media/image164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1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5.wmf"/><Relationship Id="rId4" Type="http://schemas.openxmlformats.org/officeDocument/2006/relationships/image" Target="../media/image1280.png"/><Relationship Id="rId9" Type="http://schemas.openxmlformats.org/officeDocument/2006/relationships/oleObject" Target="../embeddings/oleObject3.bin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25E0AC-F748-462A-8F97-A5861139F5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Flows and Matchings 1: </a:t>
            </a:r>
            <a:br>
              <a:rPr lang="en-US" dirty="0"/>
            </a:br>
            <a:r>
              <a:rPr lang="en-GB" altLang="en-NL" dirty="0"/>
              <a:t>Maximum Flow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7C11B61-9934-471B-BAF9-2C1AE5A87F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nl-NL" dirty="0"/>
              <a:t>Advanced Algorithms 2025/2026</a:t>
            </a:r>
          </a:p>
          <a:p>
            <a:r>
              <a:rPr lang="en-US" altLang="nl-NL" dirty="0"/>
              <a:t>Johan M. M. van Rooij</a:t>
            </a:r>
          </a:p>
          <a:p>
            <a:r>
              <a:rPr lang="en-US" altLang="nl-NL" dirty="0"/>
              <a:t>Til Miltzow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teacher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828800"/>
            <a:ext cx="4968552" cy="3938244"/>
          </a:xfrm>
        </p:spPr>
        <p:txBody>
          <a:bodyPr/>
          <a:lstStyle/>
          <a:p>
            <a:r>
              <a:rPr lang="en-GB" dirty="0">
                <a:ea typeface="+mn-ea"/>
                <a:cs typeface="+mn-cs"/>
              </a:rPr>
              <a:t>Assistant Professor @ UU (Tuesdays)</a:t>
            </a:r>
          </a:p>
          <a:p>
            <a:pPr lvl="1"/>
            <a:r>
              <a:rPr lang="nl-NL" dirty="0">
                <a:ea typeface="+mn-ea"/>
                <a:cs typeface="+mn-cs"/>
              </a:rPr>
              <a:t>Software Project</a:t>
            </a:r>
          </a:p>
          <a:p>
            <a:pPr lvl="1"/>
            <a:r>
              <a:rPr lang="nl-NL" dirty="0">
                <a:ea typeface="+mn-ea"/>
                <a:cs typeface="+mn-cs"/>
              </a:rPr>
              <a:t>Advanced </a:t>
            </a:r>
            <a:r>
              <a:rPr lang="nl-NL" dirty="0" err="1">
                <a:ea typeface="+mn-ea"/>
                <a:cs typeface="+mn-cs"/>
              </a:rPr>
              <a:t>Algorithms</a:t>
            </a:r>
            <a:endParaRPr lang="nl-NL" dirty="0">
              <a:ea typeface="+mn-ea"/>
              <a:cs typeface="+mn-cs"/>
            </a:endParaRPr>
          </a:p>
          <a:p>
            <a:pPr lvl="1"/>
            <a:r>
              <a:rPr lang="en-GB" dirty="0">
                <a:ea typeface="+mn-ea"/>
                <a:cs typeface="+mn-cs"/>
              </a:rPr>
              <a:t>Master Thesis Supervision</a:t>
            </a:r>
            <a:endParaRPr lang="nl-NL" dirty="0">
              <a:ea typeface="+mn-ea"/>
              <a:cs typeface="+mn-cs"/>
            </a:endParaRPr>
          </a:p>
          <a:p>
            <a:pPr marL="457200" lvl="1" indent="0">
              <a:buNone/>
            </a:pPr>
            <a:endParaRPr lang="nl-NL" dirty="0">
              <a:ea typeface="+mn-ea"/>
              <a:cs typeface="+mn-cs"/>
            </a:endParaRPr>
          </a:p>
          <a:p>
            <a:r>
              <a:rPr lang="nl-NL" dirty="0"/>
              <a:t>Head of Data Science NL a.i. @ </a:t>
            </a:r>
            <a:r>
              <a:rPr lang="nl-NL" dirty="0" err="1"/>
              <a:t>Valcon</a:t>
            </a:r>
            <a:endParaRPr lang="nl-NL" dirty="0"/>
          </a:p>
          <a:p>
            <a:pPr lvl="1"/>
            <a:r>
              <a:rPr lang="en-GB" dirty="0"/>
              <a:t>7 years CQM</a:t>
            </a:r>
          </a:p>
          <a:p>
            <a:pPr lvl="1"/>
            <a:r>
              <a:rPr lang="en-GB" dirty="0"/>
              <a:t>1.5 years lead Data Science at Valid</a:t>
            </a:r>
          </a:p>
          <a:p>
            <a:pPr lvl="1"/>
            <a:r>
              <a:rPr lang="en-GB" dirty="0"/>
              <a:t>6 years at </a:t>
            </a:r>
            <a:r>
              <a:rPr lang="en-GB" dirty="0" err="1"/>
              <a:t>Valcon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FED24-90AF-419A-B5D2-4F4801769696}"/>
              </a:ext>
            </a:extLst>
          </p:cNvPr>
          <p:cNvSpPr txBox="1"/>
          <p:nvPr/>
        </p:nvSpPr>
        <p:spPr>
          <a:xfrm>
            <a:off x="6217102" y="4341003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b="1" dirty="0">
                <a:solidFill>
                  <a:srgbClr val="C00000"/>
                </a:solidFill>
                <a:latin typeface="Calibri" pitchFamily="34" charset="0"/>
              </a:rPr>
              <a:t>Johan van Rooij</a:t>
            </a:r>
          </a:p>
        </p:txBody>
      </p:sp>
      <p:pic>
        <p:nvPicPr>
          <p:cNvPr id="9" name="Picture 8" descr="A person wearing glasses and a white shirt&#10;&#10;Description automatically generated">
            <a:extLst>
              <a:ext uri="{FF2B5EF4-FFF2-40B4-BE49-F238E27FC236}">
                <a16:creationId xmlns:a16="http://schemas.microsoft.com/office/drawing/2014/main" id="{53EFCE42-C4F9-CC01-5F9E-3F79FDDA22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9" r="17878"/>
          <a:stretch/>
        </p:blipFill>
        <p:spPr>
          <a:xfrm>
            <a:off x="6409604" y="1828800"/>
            <a:ext cx="2592288" cy="254418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CC9CBB-5745-DB35-E108-CFBAB28C2B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97" r="8992"/>
          <a:stretch/>
        </p:blipFill>
        <p:spPr>
          <a:xfrm>
            <a:off x="402362" y="5085184"/>
            <a:ext cx="2225696" cy="71390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34E8E2C-51A1-7580-AEEC-1AC7D50AFA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1" t="36345" r="21825" b="34578"/>
          <a:stretch/>
        </p:blipFill>
        <p:spPr>
          <a:xfrm>
            <a:off x="3229133" y="5824000"/>
            <a:ext cx="2685734" cy="8057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FEF2E6-AFC3-3E95-AAB8-3A595CD13E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-19895"/>
          <a:stretch/>
        </p:blipFill>
        <p:spPr>
          <a:xfrm>
            <a:off x="3022428" y="5085184"/>
            <a:ext cx="3133748" cy="71375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1905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B88E03A4-59EA-8CC3-142F-3BC7D1261BB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5118648"/>
            <a:ext cx="2446319" cy="16227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CAA-AB58-456A-89BC-F23B764F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flows and matchings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269D-190F-43A7-B454-E237446B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7361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Three topics:</a:t>
            </a:r>
          </a:p>
          <a:p>
            <a:pPr>
              <a:buFont typeface="+mj-lt"/>
              <a:buAutoNum type="arabicPeriod"/>
            </a:pPr>
            <a:r>
              <a:rPr lang="en-US" dirty="0"/>
              <a:t>Maximum flow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563362-DF3A-437C-BB91-DAE70DFE97D5}"/>
              </a:ext>
            </a:extLst>
          </p:cNvPr>
          <p:cNvSpPr txBox="1">
            <a:spLocks/>
          </p:cNvSpPr>
          <p:nvPr/>
        </p:nvSpPr>
        <p:spPr bwMode="auto">
          <a:xfrm>
            <a:off x="1371600" y="2492896"/>
            <a:ext cx="7391400" cy="3298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2"/>
            </a:pPr>
            <a:r>
              <a:rPr lang="en-US" sz="1800" dirty="0"/>
              <a:t>Minimum cost flow</a:t>
            </a:r>
          </a:p>
          <a:p>
            <a:pPr>
              <a:buFont typeface="+mj-lt"/>
              <a:buAutoNum type="arabicPeriod" startAt="2"/>
            </a:pPr>
            <a:r>
              <a:rPr lang="en-US" sz="1800" dirty="0"/>
              <a:t>Matching</a:t>
            </a:r>
            <a:endParaRPr lang="en-NL" sz="1800" dirty="0"/>
          </a:p>
        </p:txBody>
      </p:sp>
    </p:spTree>
    <p:extLst>
      <p:ext uri="{BB962C8B-B14F-4D97-AF65-F5344CB8AC3E}">
        <p14:creationId xmlns:p14="http://schemas.microsoft.com/office/powerpoint/2010/main" val="274041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CAA-AB58-456A-89BC-F23B764F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maximum flow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269D-190F-43A7-B454-E237446B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7361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Three topics:</a:t>
            </a:r>
          </a:p>
          <a:p>
            <a:pPr>
              <a:buFont typeface="+mj-lt"/>
              <a:buAutoNum type="arabicPeriod"/>
            </a:pPr>
            <a:r>
              <a:rPr lang="en-US" dirty="0"/>
              <a:t>Maximum flow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563362-DF3A-437C-BB91-DAE70DFE97D5}"/>
              </a:ext>
            </a:extLst>
          </p:cNvPr>
          <p:cNvSpPr txBox="1">
            <a:spLocks/>
          </p:cNvSpPr>
          <p:nvPr/>
        </p:nvSpPr>
        <p:spPr bwMode="auto">
          <a:xfrm>
            <a:off x="1371600" y="3958456"/>
            <a:ext cx="7391400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2"/>
            </a:pPr>
            <a:r>
              <a:rPr lang="en-US" sz="1800" dirty="0"/>
              <a:t>Minimum cost flow</a:t>
            </a:r>
          </a:p>
          <a:p>
            <a:pPr>
              <a:buFont typeface="+mj-lt"/>
              <a:buAutoNum type="arabicPeriod" startAt="2"/>
            </a:pPr>
            <a:r>
              <a:rPr lang="en-US" sz="1800" dirty="0"/>
              <a:t>Matching</a:t>
            </a:r>
            <a:endParaRPr lang="en-NL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9D1F3D-B9BC-443C-A9FA-2AC858C3E07A}"/>
              </a:ext>
            </a:extLst>
          </p:cNvPr>
          <p:cNvSpPr txBox="1">
            <a:spLocks/>
          </p:cNvSpPr>
          <p:nvPr/>
        </p:nvSpPr>
        <p:spPr bwMode="auto">
          <a:xfrm>
            <a:off x="1371600" y="2492896"/>
            <a:ext cx="7391400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+mj-lt"/>
              <a:buAutoNum type="arabicPeriod"/>
            </a:pPr>
            <a:r>
              <a:rPr lang="en-US" dirty="0"/>
              <a:t>Definitions &amp; recap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Lower bounds and circulations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Applications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Preflow-push algorithms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Goldberg’s algorithm</a:t>
            </a:r>
          </a:p>
        </p:txBody>
      </p:sp>
    </p:spTree>
    <p:extLst>
      <p:ext uri="{BB962C8B-B14F-4D97-AF65-F5344CB8AC3E}">
        <p14:creationId xmlns:p14="http://schemas.microsoft.com/office/powerpoint/2010/main" val="3963934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Flows and Matchings – Advanced Algorithms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MAX FLOW: </a:t>
            </a:r>
            <a:br>
              <a:rPr lang="en-US" altLang="nl-NL" dirty="0"/>
            </a:br>
            <a:r>
              <a:rPr lang="en-US" altLang="nl-NL" dirty="0"/>
              <a:t>DEFINITIONS &amp; RECAP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The maximum flow problem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US" altLang="nl-NL" dirty="0"/>
                  <a:t>Given:</a:t>
                </a:r>
              </a:p>
              <a:p>
                <a:pPr lvl="1"/>
                <a:r>
                  <a:rPr lang="en-US" altLang="nl-NL" dirty="0"/>
                  <a:t>Directed graph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Source</a:t>
                </a:r>
                <a:r>
                  <a:rPr lang="en-US" altLang="nl-NL" dirty="0"/>
                  <a:t>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nl-NL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nl-NL" dirty="0"/>
                  <a:t>and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sink</a:t>
                </a:r>
                <a:r>
                  <a:rPr lang="en-US" altLang="nl-NL" dirty="0"/>
                  <a:t>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nl-NL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nl-NL" dirty="0"/>
                  <a:t>vertices</a:t>
                </a:r>
              </a:p>
              <a:p>
                <a:pPr lvl="1"/>
                <a:r>
                  <a:rPr lang="en-US" altLang="nl-NL" dirty="0"/>
                  <a:t>Capacity on the edges/arcs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nl-NL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nl-NL" i="1" dirty="0"/>
              </a:p>
              <a:p>
                <a:r>
                  <a:rPr lang="en-US" altLang="nl-NL" dirty="0"/>
                  <a:t>A </a:t>
                </a:r>
                <a:r>
                  <a:rPr lang="en-US" altLang="nl-NL" i="1" u="sng" dirty="0"/>
                  <a:t>flow function</a:t>
                </a:r>
                <a:r>
                  <a:rPr lang="en-US" altLang="nl-NL" dirty="0"/>
                  <a:t> is a function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nl-NL" dirty="0"/>
                  <a:t>with:</a:t>
                </a:r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Flow conservation</a:t>
                </a:r>
                <a:r>
                  <a:rPr lang="en-US" altLang="nl-NL" b="1" dirty="0"/>
                  <a:t>: </a:t>
                </a:r>
                <a:r>
                  <a:rPr lang="en-US" altLang="nl-NL" dirty="0"/>
                  <a:t>For every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}:</m:t>
                    </m:r>
                  </m:oMath>
                </a14:m>
                <a:endParaRPr lang="en-US" altLang="nl-NL" i="1" dirty="0">
                  <a:ea typeface="Cambria Math" panose="02040503050406030204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nl-NL" sz="1600" dirty="0"/>
                  <a:t>Flow into </a:t>
                </a:r>
                <a14:m>
                  <m:oMath xmlns:m="http://schemas.openxmlformats.org/officeDocument/2006/math">
                    <m:r>
                      <a:rPr lang="en-US" altLang="nl-NL" sz="1600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sz="1600" dirty="0"/>
                  <a:t> equals flow out of </a:t>
                </a:r>
                <a14:m>
                  <m:oMath xmlns:m="http://schemas.openxmlformats.org/officeDocument/2006/math">
                    <m:r>
                      <a:rPr lang="en-US" altLang="nl-NL" sz="1600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nl-NL" sz="1600" dirty="0"/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Capacities</a:t>
                </a:r>
                <a:r>
                  <a:rPr lang="en-US" altLang="nl-NL" b="1" dirty="0"/>
                  <a:t>:</a:t>
                </a:r>
                <a:r>
                  <a:rPr lang="en-US" altLang="nl-NL" dirty="0"/>
                  <a:t> For every arc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i="1" dirty="0"/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Direction</a:t>
                </a:r>
                <a:r>
                  <a:rPr lang="en-US" altLang="nl-NL" b="1" dirty="0"/>
                  <a:t>:</a:t>
                </a:r>
                <a:r>
                  <a:rPr lang="en-US" altLang="nl-NL" dirty="0"/>
                  <a:t> Only flow out of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and into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nl-NL" dirty="0">
                  <a:ea typeface="Cambria Math" panose="02040503050406030204" pitchFamily="18" charset="0"/>
                </a:endParaRPr>
              </a:p>
              <a:p>
                <a:r>
                  <a:rPr lang="en-US" altLang="nl-NL" i="1" u="sng" dirty="0"/>
                  <a:t>Flow value</a:t>
                </a:r>
                <a:r>
                  <a:rPr lang="en-US" altLang="nl-NL" i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nl-NL" dirty="0">
                    <a:solidFill>
                      <a:schemeClr val="tx1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nl-NL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>
                    <a:solidFill>
                      <a:schemeClr val="tx1"/>
                    </a:solidFill>
                  </a:rPr>
                  <a:t>: </a:t>
                </a:r>
                <a:r>
                  <a:rPr lang="en-US" altLang="nl-NL" dirty="0"/>
                  <a:t>flow out of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(or flow into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)</a:t>
                </a:r>
              </a:p>
              <a:p>
                <a:pPr marL="0" indent="0">
                  <a:buNone/>
                </a:pPr>
                <a:endParaRPr lang="en-US" altLang="nl-NL" sz="1050" b="1" dirty="0"/>
              </a:p>
              <a:p>
                <a:pPr marL="0" indent="0">
                  <a:buNone/>
                </a:pPr>
                <a:r>
                  <a:rPr lang="en-US" altLang="nl-NL" b="1" dirty="0"/>
                  <a:t>Maximum flow problem</a:t>
                </a:r>
              </a:p>
              <a:p>
                <a:r>
                  <a:rPr lang="en-US" altLang="nl-NL" u="sng" dirty="0"/>
                  <a:t>Input</a:t>
                </a:r>
                <a:r>
                  <a:rPr lang="en-US" altLang="nl-NL" dirty="0"/>
                  <a:t>: directed graph with source, sink and capacities</a:t>
                </a:r>
                <a:endParaRPr lang="en-US" altLang="nl-NL" b="1" dirty="0"/>
              </a:p>
              <a:p>
                <a:r>
                  <a:rPr lang="en-US" altLang="nl-NL" u="sng" dirty="0"/>
                  <a:t>Question</a:t>
                </a:r>
                <a:r>
                  <a:rPr lang="en-US" altLang="nl-NL" dirty="0"/>
                  <a:t>: find a flow with maximum flow value?</a:t>
                </a:r>
              </a:p>
              <a:p>
                <a:pPr marL="457200" lvl="1" indent="0">
                  <a:buNone/>
                </a:pPr>
                <a:endParaRPr lang="en-US" altLang="nl-NL" dirty="0"/>
              </a:p>
            </p:txBody>
          </p:sp>
        </mc:Choice>
        <mc:Fallback xmlns="">
          <p:sp>
            <p:nvSpPr>
              <p:cNvPr id="614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3"/>
                <a:stretch>
                  <a:fillRect l="-648" t="-769" b="-984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50" name="Text Box 4"/>
              <p:cNvSpPr txBox="1">
                <a:spLocks noChangeArrowheads="1"/>
              </p:cNvSpPr>
              <p:nvPr/>
            </p:nvSpPr>
            <p:spPr bwMode="auto">
              <a:xfrm>
                <a:off x="6444208" y="1467941"/>
                <a:ext cx="2584003" cy="138499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nl-NL" sz="1400" i="1" u="sng" dirty="0">
                    <a:solidFill>
                      <a:schemeClr val="tx1"/>
                    </a:solidFill>
                    <a:latin typeface="+mn-lt"/>
                  </a:rPr>
                  <a:t>Note</a:t>
                </a:r>
                <a:r>
                  <a:rPr lang="en-GB" altLang="nl-NL" sz="1400" dirty="0">
                    <a:solidFill>
                      <a:schemeClr val="tx1"/>
                    </a:solidFill>
                    <a:latin typeface="+mn-lt"/>
                  </a:rPr>
                  <a:t>: in the literature variants in notation exist. E.g.: </a:t>
                </a:r>
                <a14:m>
                  <m:oMath xmlns:m="http://schemas.openxmlformats.org/officeDocument/2006/math">
                    <m:r>
                      <a:rPr lang="en-GB" altLang="nl-NL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altLang="nl-NL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GB" altLang="nl-NL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GB" altLang="nl-NL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nl-NL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GB" altLang="nl-NL" sz="1400" dirty="0">
                  <a:solidFill>
                    <a:schemeClr val="tx1"/>
                  </a:solidFill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nl-NL" sz="1400" dirty="0">
                    <a:solidFill>
                      <a:schemeClr val="tx1"/>
                    </a:solidFill>
                    <a:latin typeface="+mn-lt"/>
                  </a:rPr>
                  <a:t>Capacities can be integer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GB" alt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GB" altLang="nl-NL" sz="1400" dirty="0">
                    <a:solidFill>
                      <a:schemeClr val="tx1"/>
                    </a:solidFill>
                    <a:latin typeface="+mn-lt"/>
                  </a:rPr>
                  <a:t>) or real-valued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GB" alt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GB" altLang="nl-NL" sz="1400" dirty="0">
                    <a:solidFill>
                      <a:schemeClr val="tx1"/>
                    </a:solidFill>
                    <a:latin typeface="+mn-lt"/>
                  </a:rPr>
                  <a:t>) </a:t>
                </a:r>
              </a:p>
            </p:txBody>
          </p:sp>
        </mc:Choice>
        <mc:Fallback xmlns="">
          <p:sp>
            <p:nvSpPr>
              <p:cNvPr id="615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4208" y="1467941"/>
                <a:ext cx="2584003" cy="1384995"/>
              </a:xfrm>
              <a:prstGeom prst="rect">
                <a:avLst/>
              </a:prstGeom>
              <a:blipFill>
                <a:blip r:embed="rId4"/>
                <a:stretch>
                  <a:fillRect t="-877" r="-471" b="-307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F37852-6AA1-4C3E-8151-D1FBC294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or more sources and sinks?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371599" y="1828800"/>
                <a:ext cx="4699229" cy="3962400"/>
              </a:xfrm>
            </p:spPr>
            <p:txBody>
              <a:bodyPr/>
              <a:lstStyle/>
              <a:p>
                <a:r>
                  <a:rPr lang="en-US" altLang="nl-NL" dirty="0"/>
                  <a:t>Multiple sources &amp; sinks:</a:t>
                </a:r>
              </a:p>
              <a:p>
                <a:pPr lvl="1"/>
                <a:r>
                  <a:rPr lang="en-US" altLang="nl-NL" dirty="0"/>
                  <a:t>Transform into standard maximum flow using a single super source and super sink</a:t>
                </a:r>
              </a:p>
              <a:p>
                <a:r>
                  <a:rPr lang="en-US" altLang="nl-NL" dirty="0"/>
                  <a:t>With multiple types of flows (multi-commodity flow): </a:t>
                </a:r>
                <a:r>
                  <a:rPr lang="en-US" altLang="nl-NL" b="1" dirty="0">
                    <a:solidFill>
                      <a:srgbClr val="C00000"/>
                    </a:solidFill>
                  </a:rPr>
                  <a:t>NP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-Complete!</a:t>
                </a:r>
              </a:p>
              <a:p>
                <a:pPr lvl="1"/>
                <a:r>
                  <a:rPr lang="en-US" altLang="nl-NL" dirty="0"/>
                  <a:t>E.g., Flow out of certain sources or into some sinks but not all</a:t>
                </a:r>
              </a:p>
              <a:p>
                <a:pPr lvl="1"/>
                <a:r>
                  <a:rPr lang="en-US" altLang="nl-NL" dirty="0"/>
                  <a:t>E.g., Edge disjoint paths with different start/end points</a:t>
                </a:r>
              </a:p>
              <a:p>
                <a:r>
                  <a:rPr lang="en-US" altLang="nl-NL" dirty="0"/>
                  <a:t>However, max edge disjoint paths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 is in </a:t>
                </a:r>
                <a:r>
                  <a:rPr lang="en-US" altLang="nl-NL" b="1" dirty="0"/>
                  <a:t>P</a:t>
                </a:r>
              </a:p>
            </p:txBody>
          </p:sp>
        </mc:Choice>
        <mc:Fallback xmlns="">
          <p:sp>
            <p:nvSpPr>
              <p:cNvPr id="922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828800"/>
                <a:ext cx="4699229" cy="3962400"/>
              </a:xfrm>
              <a:blipFill>
                <a:blip r:embed="rId3"/>
                <a:stretch>
                  <a:fillRect l="-259" t="-769" r="-11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44F1EC9-F540-4BC0-9FA4-8C519D3FB7B9}"/>
              </a:ext>
            </a:extLst>
          </p:cNvPr>
          <p:cNvGrpSpPr/>
          <p:nvPr/>
        </p:nvGrpSpPr>
        <p:grpSpPr>
          <a:xfrm>
            <a:off x="6156176" y="1196752"/>
            <a:ext cx="2743200" cy="4781128"/>
            <a:chOff x="6015880" y="1052736"/>
            <a:chExt cx="2743200" cy="4781128"/>
          </a:xfrm>
        </p:grpSpPr>
        <p:sp>
          <p:nvSpPr>
            <p:cNvPr id="9222" name="Rectangle 4"/>
            <p:cNvSpPr>
              <a:spLocks noChangeArrowheads="1"/>
            </p:cNvSpPr>
            <p:nvPr/>
          </p:nvSpPr>
          <p:spPr bwMode="auto">
            <a:xfrm rot="5400000">
              <a:off x="6112928" y="1870088"/>
              <a:ext cx="2549103" cy="27432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vert270"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b="1" dirty="0">
                  <a:solidFill>
                    <a:schemeClr val="bg1"/>
                  </a:solidFill>
                </a:rPr>
                <a:t>G</a:t>
              </a:r>
              <a:endParaRPr lang="nl-NL" altLang="nl-NL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246" name="Line 29"/>
            <p:cNvSpPr>
              <a:spLocks noChangeShapeType="1"/>
            </p:cNvSpPr>
            <p:nvPr/>
          </p:nvSpPr>
          <p:spPr bwMode="auto">
            <a:xfrm rot="5400000" flipV="1">
              <a:off x="6409809" y="4500364"/>
              <a:ext cx="12192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223" name="Oval 6"/>
            <p:cNvSpPr>
              <a:spLocks noChangeArrowheads="1"/>
            </p:cNvSpPr>
            <p:nvPr/>
          </p:nvSpPr>
          <p:spPr bwMode="auto">
            <a:xfrm rot="5400000">
              <a:off x="81494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24" name="Oval 7"/>
            <p:cNvSpPr>
              <a:spLocks noChangeArrowheads="1"/>
            </p:cNvSpPr>
            <p:nvPr/>
          </p:nvSpPr>
          <p:spPr bwMode="auto">
            <a:xfrm rot="5400000">
              <a:off x="76160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25" name="Oval 8"/>
            <p:cNvSpPr>
              <a:spLocks noChangeArrowheads="1"/>
            </p:cNvSpPr>
            <p:nvPr/>
          </p:nvSpPr>
          <p:spPr bwMode="auto">
            <a:xfrm rot="5400000">
              <a:off x="70826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26" name="Oval 9"/>
            <p:cNvSpPr>
              <a:spLocks noChangeArrowheads="1"/>
            </p:cNvSpPr>
            <p:nvPr/>
          </p:nvSpPr>
          <p:spPr bwMode="auto">
            <a:xfrm rot="5400000">
              <a:off x="65492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27" name="Text Box 10"/>
            <p:cNvSpPr txBox="1">
              <a:spLocks noChangeArrowheads="1"/>
            </p:cNvSpPr>
            <p:nvPr/>
          </p:nvSpPr>
          <p:spPr bwMode="auto">
            <a:xfrm rot="5400000">
              <a:off x="6157981" y="2304699"/>
              <a:ext cx="553998" cy="315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>
                  <a:solidFill>
                    <a:schemeClr val="bg1"/>
                  </a:solidFill>
                </a:rPr>
                <a:t>s</a:t>
              </a:r>
              <a:r>
                <a:rPr lang="en-US" altLang="nl-NL" sz="2400" i="0" baseline="-25000" dirty="0">
                  <a:solidFill>
                    <a:schemeClr val="bg1"/>
                  </a:solidFill>
                </a:rPr>
                <a:t>1</a:t>
              </a:r>
              <a:endParaRPr lang="nl-NL" altLang="nl-NL" sz="2400" i="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9228" name="Text Box 11"/>
            <p:cNvSpPr txBox="1">
              <a:spLocks noChangeArrowheads="1"/>
            </p:cNvSpPr>
            <p:nvPr/>
          </p:nvSpPr>
          <p:spPr bwMode="auto">
            <a:xfrm rot="5400000">
              <a:off x="8202223" y="2391360"/>
              <a:ext cx="553998" cy="315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 err="1">
                  <a:solidFill>
                    <a:schemeClr val="bg1"/>
                  </a:solidFill>
                </a:rPr>
                <a:t>s</a:t>
              </a:r>
              <a:r>
                <a:rPr lang="en-US" altLang="nl-NL" sz="2400" baseline="-25000" dirty="0" err="1">
                  <a:solidFill>
                    <a:schemeClr val="bg1"/>
                  </a:solidFill>
                </a:rPr>
                <a:t>k</a:t>
              </a:r>
              <a:endParaRPr lang="nl-NL" altLang="nl-NL" sz="240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9229" name="Oval 13"/>
            <p:cNvSpPr>
              <a:spLocks noChangeArrowheads="1"/>
            </p:cNvSpPr>
            <p:nvPr/>
          </p:nvSpPr>
          <p:spPr bwMode="auto">
            <a:xfrm rot="5400000">
              <a:off x="78446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30" name="Oval 14"/>
            <p:cNvSpPr>
              <a:spLocks noChangeArrowheads="1"/>
            </p:cNvSpPr>
            <p:nvPr/>
          </p:nvSpPr>
          <p:spPr bwMode="auto">
            <a:xfrm rot="5400000">
              <a:off x="74255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31" name="Oval 15"/>
            <p:cNvSpPr>
              <a:spLocks noChangeArrowheads="1"/>
            </p:cNvSpPr>
            <p:nvPr/>
          </p:nvSpPr>
          <p:spPr bwMode="auto">
            <a:xfrm rot="5400000">
              <a:off x="70064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32" name="Oval 16"/>
            <p:cNvSpPr>
              <a:spLocks noChangeArrowheads="1"/>
            </p:cNvSpPr>
            <p:nvPr/>
          </p:nvSpPr>
          <p:spPr bwMode="auto">
            <a:xfrm rot="5400000">
              <a:off x="65873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233" name="Text Box 17"/>
            <p:cNvSpPr txBox="1">
              <a:spLocks noChangeArrowheads="1"/>
            </p:cNvSpPr>
            <p:nvPr/>
          </p:nvSpPr>
          <p:spPr bwMode="auto">
            <a:xfrm rot="5400000">
              <a:off x="6170438" y="3729590"/>
              <a:ext cx="553998" cy="27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>
                  <a:solidFill>
                    <a:schemeClr val="bg1"/>
                  </a:solidFill>
                </a:rPr>
                <a:t>t</a:t>
              </a:r>
              <a:r>
                <a:rPr lang="en-US" altLang="nl-NL" sz="2400" i="0" baseline="-25000" dirty="0">
                  <a:solidFill>
                    <a:schemeClr val="bg1"/>
                  </a:solidFill>
                </a:rPr>
                <a:t>1</a:t>
              </a:r>
              <a:endParaRPr lang="nl-NL" altLang="nl-NL" sz="2400" i="0" dirty="0">
                <a:solidFill>
                  <a:schemeClr val="bg1"/>
                </a:solidFill>
              </a:endParaRPr>
            </a:p>
          </p:txBody>
        </p:sp>
        <p:sp>
          <p:nvSpPr>
            <p:cNvPr id="9234" name="Text Box 18"/>
            <p:cNvSpPr txBox="1">
              <a:spLocks noChangeArrowheads="1"/>
            </p:cNvSpPr>
            <p:nvPr/>
          </p:nvSpPr>
          <p:spPr bwMode="auto">
            <a:xfrm rot="5400000">
              <a:off x="8325333" y="3761919"/>
              <a:ext cx="55399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>
                  <a:solidFill>
                    <a:schemeClr val="bg1"/>
                  </a:solidFill>
                </a:rPr>
                <a:t>t</a:t>
              </a:r>
              <a:r>
                <a:rPr lang="en-US" altLang="nl-NL" sz="2400" baseline="-25000" dirty="0">
                  <a:solidFill>
                    <a:schemeClr val="bg1"/>
                  </a:solidFill>
                </a:rPr>
                <a:t>r</a:t>
              </a:r>
              <a:endParaRPr lang="nl-NL" altLang="nl-NL" sz="2400" dirty="0">
                <a:solidFill>
                  <a:schemeClr val="bg1"/>
                </a:solidFill>
              </a:endParaRPr>
            </a:p>
          </p:txBody>
        </p:sp>
        <p:sp>
          <p:nvSpPr>
            <p:cNvPr id="9235" name="Line 20"/>
            <p:cNvSpPr>
              <a:spLocks noChangeShapeType="1"/>
            </p:cNvSpPr>
            <p:nvPr/>
          </p:nvSpPr>
          <p:spPr bwMode="auto">
            <a:xfrm rot="5400000" flipV="1">
              <a:off x="7406530" y="1452786"/>
              <a:ext cx="838200" cy="800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Line 21"/>
            <p:cNvSpPr>
              <a:spLocks noChangeShapeType="1"/>
            </p:cNvSpPr>
            <p:nvPr/>
          </p:nvSpPr>
          <p:spPr bwMode="auto">
            <a:xfrm rot="5400000" flipV="1">
              <a:off x="7082680" y="1738536"/>
              <a:ext cx="762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Line 22"/>
            <p:cNvSpPr>
              <a:spLocks noChangeShapeType="1"/>
            </p:cNvSpPr>
            <p:nvPr/>
          </p:nvSpPr>
          <p:spPr bwMode="auto">
            <a:xfrm rot="5400000">
              <a:off x="6777880" y="1814736"/>
              <a:ext cx="838200" cy="76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Line 23"/>
            <p:cNvSpPr>
              <a:spLocks noChangeShapeType="1"/>
            </p:cNvSpPr>
            <p:nvPr/>
          </p:nvSpPr>
          <p:spPr bwMode="auto">
            <a:xfrm rot="5400000">
              <a:off x="6473080" y="1586136"/>
              <a:ext cx="8382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Oval 24"/>
            <p:cNvSpPr>
              <a:spLocks noChangeArrowheads="1"/>
            </p:cNvSpPr>
            <p:nvPr/>
          </p:nvSpPr>
          <p:spPr bwMode="auto">
            <a:xfrm rot="5400000">
              <a:off x="7235080" y="5376664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vert270"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nl-NL" sz="2400" dirty="0">
                  <a:solidFill>
                    <a:schemeClr val="bg1"/>
                  </a:solidFill>
                </a:rPr>
                <a:t>t</a:t>
              </a:r>
              <a:endParaRPr lang="nl-NL" altLang="nl-NL" sz="2400" dirty="0">
                <a:solidFill>
                  <a:schemeClr val="bg1"/>
                </a:solidFill>
              </a:endParaRPr>
            </a:p>
          </p:txBody>
        </p:sp>
        <p:sp>
          <p:nvSpPr>
            <p:cNvPr id="9242" name="Line 25"/>
            <p:cNvSpPr>
              <a:spLocks noChangeShapeType="1"/>
            </p:cNvSpPr>
            <p:nvPr/>
          </p:nvSpPr>
          <p:spPr bwMode="auto">
            <a:xfrm rot="5400000">
              <a:off x="7387480" y="4386064"/>
              <a:ext cx="12192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Line 26"/>
            <p:cNvSpPr>
              <a:spLocks noChangeShapeType="1"/>
            </p:cNvSpPr>
            <p:nvPr/>
          </p:nvSpPr>
          <p:spPr bwMode="auto">
            <a:xfrm rot="5400000">
              <a:off x="7158880" y="4614664"/>
              <a:ext cx="1143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4" name="Line 27"/>
            <p:cNvSpPr>
              <a:spLocks noChangeShapeType="1"/>
            </p:cNvSpPr>
            <p:nvPr/>
          </p:nvSpPr>
          <p:spPr bwMode="auto">
            <a:xfrm rot="5400000">
              <a:off x="6892180" y="4805164"/>
              <a:ext cx="114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Line 28"/>
            <p:cNvSpPr>
              <a:spLocks noChangeShapeType="1"/>
            </p:cNvSpPr>
            <p:nvPr/>
          </p:nvSpPr>
          <p:spPr bwMode="auto">
            <a:xfrm rot="5400000" flipV="1">
              <a:off x="6701680" y="4690864"/>
              <a:ext cx="11430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Line 30"/>
            <p:cNvSpPr>
              <a:spLocks noChangeShapeType="1"/>
            </p:cNvSpPr>
            <p:nvPr/>
          </p:nvSpPr>
          <p:spPr bwMode="auto">
            <a:xfrm rot="5400000">
              <a:off x="7387480" y="2986100"/>
              <a:ext cx="10668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8" name="Line 31"/>
            <p:cNvSpPr>
              <a:spLocks noChangeShapeType="1"/>
            </p:cNvSpPr>
            <p:nvPr/>
          </p:nvSpPr>
          <p:spPr bwMode="auto">
            <a:xfrm rot="5400000" flipV="1">
              <a:off x="6449441" y="3162300"/>
              <a:ext cx="881063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9" name="Oval 12"/>
            <p:cNvSpPr>
              <a:spLocks noChangeArrowheads="1"/>
            </p:cNvSpPr>
            <p:nvPr/>
          </p:nvSpPr>
          <p:spPr bwMode="auto">
            <a:xfrm rot="5400000">
              <a:off x="82637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2" name="Oval 19"/>
            <p:cNvSpPr>
              <a:spLocks noChangeArrowheads="1"/>
            </p:cNvSpPr>
            <p:nvPr/>
          </p:nvSpPr>
          <p:spPr bwMode="auto">
            <a:xfrm rot="5400000">
              <a:off x="7078447" y="1052736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vert270"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nl-NL" sz="2400" dirty="0">
                  <a:solidFill>
                    <a:schemeClr val="bg1"/>
                  </a:solidFill>
                </a:rPr>
                <a:t>s</a:t>
              </a:r>
              <a:endParaRPr lang="nl-NL" altLang="nl-NL" sz="2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A short recap on what we teach in the Bachelor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4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nl-NL" b="1" dirty="0"/>
                  <a:t>Algorithms course (Bachelor):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Residual networks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Ford-Fulkerson method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nl-NL" dirty="0"/>
                  <a:t>Possibly (not likely) exponential time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nl-NL" dirty="0"/>
                  <a:t>Edmonds-Karp version: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𝑛𝑚</m:t>
                        </m:r>
                        <m:r>
                          <a:rPr lang="en-US" altLang="nl-NL" i="1" baseline="300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nl-NL" dirty="0"/>
              </a:p>
              <a:p>
                <a:pPr lvl="2">
                  <a:lnSpc>
                    <a:spcPct val="90000"/>
                  </a:lnSpc>
                </a:pPr>
                <a:r>
                  <a:rPr lang="en-US" altLang="nl-NL" dirty="0"/>
                  <a:t>Augment flow over the shortest path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nl-NL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Max-flow min-cut theorem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Integral solution exists when using integral capacities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nl-NL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nl-NL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nl-NL" dirty="0"/>
                  <a:t>It’s okay if you didn’t follow this course in the bachelor – we do a very short recap (except Edmonds-Karp)</a:t>
                </a:r>
              </a:p>
            </p:txBody>
          </p:sp>
        </mc:Choice>
        <mc:Fallback xmlns="">
          <p:sp>
            <p:nvSpPr>
              <p:cNvPr id="717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60" t="-13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Residual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Rectangle 2051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1785460"/>
              </a:xfrm>
            </p:spPr>
            <p:txBody>
              <a:bodyPr/>
              <a:lstStyle/>
              <a:p>
                <a:pPr eaLnBrk="1" hangingPunct="1"/>
                <a:r>
                  <a:rPr lang="en-GB" altLang="en-US" dirty="0"/>
                  <a:t>Define the residual network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alt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of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with a flow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:</a:t>
                </a:r>
              </a:p>
              <a:p>
                <a:pPr lvl="1" eaLnBrk="1" hangingPunct="1"/>
                <a:r>
                  <a:rPr lang="en-US" altLang="en-US" dirty="0"/>
                  <a:t>Capacity of used flow is removed</a:t>
                </a:r>
              </a:p>
              <a:p>
                <a:pPr lvl="1" eaLnBrk="1" hangingPunct="1"/>
                <a:r>
                  <a:rPr lang="en-US" altLang="en-US" dirty="0"/>
                  <a:t>Capacity in reverse direction is added</a:t>
                </a:r>
              </a:p>
              <a:p>
                <a:pPr lvl="1" eaLnBrk="1" hangingPunct="1"/>
                <a:r>
                  <a:rPr lang="en-US" altLang="en-US" dirty="0"/>
                  <a:t>This means new arcs can be introduced in reverse direction of existing arcs</a:t>
                </a:r>
                <a:endParaRPr lang="en-GB" altLang="en-US" dirty="0"/>
              </a:p>
            </p:txBody>
          </p:sp>
        </mc:Choice>
        <mc:Fallback xmlns="">
          <p:sp>
            <p:nvSpPr>
              <p:cNvPr id="16389" name="Rectangle 20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1785460"/>
              </a:xfrm>
              <a:blipFill>
                <a:blip r:embed="rId3"/>
                <a:stretch>
                  <a:fillRect l="-165" t="-170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C41186B-EBE3-4E4E-8F8C-50D4B941EFDA}"/>
              </a:ext>
            </a:extLst>
          </p:cNvPr>
          <p:cNvGrpSpPr/>
          <p:nvPr/>
        </p:nvGrpSpPr>
        <p:grpSpPr>
          <a:xfrm>
            <a:off x="1343423" y="3917950"/>
            <a:ext cx="1981200" cy="2014954"/>
            <a:chOff x="1219200" y="1752600"/>
            <a:chExt cx="1981200" cy="2014954"/>
          </a:xfrm>
        </p:grpSpPr>
        <p:sp>
          <p:nvSpPr>
            <p:cNvPr id="7" name="Freeform 2054">
              <a:extLst>
                <a:ext uri="{FF2B5EF4-FFF2-40B4-BE49-F238E27FC236}">
                  <a16:creationId xmlns:a16="http://schemas.microsoft.com/office/drawing/2014/main" id="{F480BC7A-29E2-404C-ADD1-B6F4A2C25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500" y="2108200"/>
              <a:ext cx="1485900" cy="571500"/>
            </a:xfrm>
            <a:custGeom>
              <a:avLst/>
              <a:gdLst>
                <a:gd name="T0" fmla="*/ 2147483647 w 936"/>
                <a:gd name="T1" fmla="*/ 2147483647 h 360"/>
                <a:gd name="T2" fmla="*/ 2147483647 w 936"/>
                <a:gd name="T3" fmla="*/ 2147483647 h 360"/>
                <a:gd name="T4" fmla="*/ 2147483647 w 936"/>
                <a:gd name="T5" fmla="*/ 2147483647 h 360"/>
                <a:gd name="T6" fmla="*/ 2147483647 w 936"/>
                <a:gd name="T7" fmla="*/ 2147483647 h 3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6" h="360">
                  <a:moveTo>
                    <a:pt x="72" y="352"/>
                  </a:moveTo>
                  <a:cubicBezTo>
                    <a:pt x="36" y="356"/>
                    <a:pt x="0" y="360"/>
                    <a:pt x="72" y="304"/>
                  </a:cubicBezTo>
                  <a:cubicBezTo>
                    <a:pt x="144" y="248"/>
                    <a:pt x="360" y="32"/>
                    <a:pt x="504" y="16"/>
                  </a:cubicBezTo>
                  <a:cubicBezTo>
                    <a:pt x="648" y="0"/>
                    <a:pt x="792" y="104"/>
                    <a:pt x="936" y="208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2055">
              <a:extLst>
                <a:ext uri="{FF2B5EF4-FFF2-40B4-BE49-F238E27FC236}">
                  <a16:creationId xmlns:a16="http://schemas.microsoft.com/office/drawing/2014/main" id="{FF21BDA6-1B7F-4F5F-8694-C6E681B7C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200" y="2743200"/>
              <a:ext cx="1447800" cy="635000"/>
            </a:xfrm>
            <a:custGeom>
              <a:avLst/>
              <a:gdLst>
                <a:gd name="T0" fmla="*/ 2147483647 w 912"/>
                <a:gd name="T1" fmla="*/ 0 h 400"/>
                <a:gd name="T2" fmla="*/ 2147483647 w 912"/>
                <a:gd name="T3" fmla="*/ 2147483647 h 400"/>
                <a:gd name="T4" fmla="*/ 0 w 912"/>
                <a:gd name="T5" fmla="*/ 2147483647 h 4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2" h="400">
                  <a:moveTo>
                    <a:pt x="912" y="0"/>
                  </a:moveTo>
                  <a:cubicBezTo>
                    <a:pt x="772" y="184"/>
                    <a:pt x="632" y="368"/>
                    <a:pt x="480" y="384"/>
                  </a:cubicBezTo>
                  <a:cubicBezTo>
                    <a:pt x="328" y="400"/>
                    <a:pt x="164" y="248"/>
                    <a:pt x="0" y="96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2052">
              <a:extLst>
                <a:ext uri="{FF2B5EF4-FFF2-40B4-BE49-F238E27FC236}">
                  <a16:creationId xmlns:a16="http://schemas.microsoft.com/office/drawing/2014/main" id="{15195081-9778-4B52-BDD5-87FF49F47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2438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u</a:t>
              </a:r>
              <a:endParaRPr lang="nl-NL" altLang="en-US" sz="2400" i="1" dirty="0"/>
            </a:p>
          </p:txBody>
        </p:sp>
        <p:sp>
          <p:nvSpPr>
            <p:cNvPr id="10" name="Oval 2053">
              <a:extLst>
                <a:ext uri="{FF2B5EF4-FFF2-40B4-BE49-F238E27FC236}">
                  <a16:creationId xmlns:a16="http://schemas.microsoft.com/office/drawing/2014/main" id="{64E32D3D-A912-4649-B3A5-08B8D9CAF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2438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v</a:t>
              </a:r>
              <a:endParaRPr lang="nl-NL" altLang="en-US" sz="2400" i="1" dirty="0"/>
            </a:p>
          </p:txBody>
        </p:sp>
        <p:sp>
          <p:nvSpPr>
            <p:cNvPr id="11" name="Text Box 2056">
              <a:extLst>
                <a:ext uri="{FF2B5EF4-FFF2-40B4-BE49-F238E27FC236}">
                  <a16:creationId xmlns:a16="http://schemas.microsoft.com/office/drawing/2014/main" id="{146F626A-A08F-4AD0-B7E6-B291FFDE28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583" y="1752600"/>
              <a:ext cx="126887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n-lt"/>
                </a:rPr>
                <a:t>Capacity 5</a:t>
              </a:r>
              <a:endParaRPr lang="nl-NL" altLang="en-US" sz="1600" dirty="0">
                <a:latin typeface="+mn-lt"/>
              </a:endParaRPr>
            </a:p>
          </p:txBody>
        </p:sp>
        <p:sp>
          <p:nvSpPr>
            <p:cNvPr id="12" name="Text Box 2057">
              <a:extLst>
                <a:ext uri="{FF2B5EF4-FFF2-40B4-BE49-F238E27FC236}">
                  <a16:creationId xmlns:a16="http://schemas.microsoft.com/office/drawing/2014/main" id="{814607B5-C77B-4CF5-8F9A-E05AA21F4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183" y="3429000"/>
              <a:ext cx="126887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j-lt"/>
                </a:rPr>
                <a:t>Capacity 2</a:t>
              </a:r>
              <a:endParaRPr lang="nl-NL" altLang="en-US" sz="1600" dirty="0">
                <a:latin typeface="+mj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058">
                <a:extLst>
                  <a:ext uri="{FF2B5EF4-FFF2-40B4-BE49-F238E27FC236}">
                    <a16:creationId xmlns:a16="http://schemas.microsoft.com/office/drawing/2014/main" id="{0C474F1C-AF3D-4D63-B769-2721E7F897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6490" y="4222829"/>
                <a:ext cx="2441694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+mj-lt"/>
                  </a:rPr>
                  <a:t>Suppose we send 1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+mj-lt"/>
                  </a:rPr>
                  <a:t>flow from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en-US" sz="1800" dirty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nl-NL" altLang="en-US" sz="18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 Box 2058">
                <a:extLst>
                  <a:ext uri="{FF2B5EF4-FFF2-40B4-BE49-F238E27FC236}">
                    <a16:creationId xmlns:a16="http://schemas.microsoft.com/office/drawing/2014/main" id="{0C474F1C-AF3D-4D63-B769-2721E7F89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6490" y="4222829"/>
                <a:ext cx="2441694" cy="646331"/>
              </a:xfrm>
              <a:prstGeom prst="rect">
                <a:avLst/>
              </a:prstGeom>
              <a:blipFill>
                <a:blip r:embed="rId4"/>
                <a:stretch>
                  <a:fillRect l="-1746" t="-5660" r="-1496" b="-141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A7B208C-3F1F-4C8F-B4B1-4020F27D1D41}"/>
              </a:ext>
            </a:extLst>
          </p:cNvPr>
          <p:cNvGrpSpPr/>
          <p:nvPr/>
        </p:nvGrpSpPr>
        <p:grpSpPr>
          <a:xfrm>
            <a:off x="6572639" y="3917950"/>
            <a:ext cx="2158437" cy="2020258"/>
            <a:chOff x="4724400" y="3276600"/>
            <a:chExt cx="2158437" cy="2020258"/>
          </a:xfrm>
        </p:grpSpPr>
        <p:sp>
          <p:nvSpPr>
            <p:cNvPr id="15" name="Freeform 2059">
              <a:extLst>
                <a:ext uri="{FF2B5EF4-FFF2-40B4-BE49-F238E27FC236}">
                  <a16:creationId xmlns:a16="http://schemas.microsoft.com/office/drawing/2014/main" id="{649E89BF-C805-4B58-9458-68AC11EDA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8700" y="3632200"/>
              <a:ext cx="1485900" cy="571500"/>
            </a:xfrm>
            <a:custGeom>
              <a:avLst/>
              <a:gdLst>
                <a:gd name="T0" fmla="*/ 2147483647 w 936"/>
                <a:gd name="T1" fmla="*/ 2147483647 h 360"/>
                <a:gd name="T2" fmla="*/ 2147483647 w 936"/>
                <a:gd name="T3" fmla="*/ 2147483647 h 360"/>
                <a:gd name="T4" fmla="*/ 2147483647 w 936"/>
                <a:gd name="T5" fmla="*/ 2147483647 h 360"/>
                <a:gd name="T6" fmla="*/ 2147483647 w 936"/>
                <a:gd name="T7" fmla="*/ 2147483647 h 3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6" h="360">
                  <a:moveTo>
                    <a:pt x="72" y="352"/>
                  </a:moveTo>
                  <a:cubicBezTo>
                    <a:pt x="36" y="356"/>
                    <a:pt x="0" y="360"/>
                    <a:pt x="72" y="304"/>
                  </a:cubicBezTo>
                  <a:cubicBezTo>
                    <a:pt x="144" y="248"/>
                    <a:pt x="360" y="32"/>
                    <a:pt x="504" y="16"/>
                  </a:cubicBezTo>
                  <a:cubicBezTo>
                    <a:pt x="648" y="0"/>
                    <a:pt x="792" y="104"/>
                    <a:pt x="936" y="208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2060">
              <a:extLst>
                <a:ext uri="{FF2B5EF4-FFF2-40B4-BE49-F238E27FC236}">
                  <a16:creationId xmlns:a16="http://schemas.microsoft.com/office/drawing/2014/main" id="{68C8D350-3FFB-4E75-85EC-1DBA5AF9D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464" y="4305172"/>
              <a:ext cx="1447800" cy="635000"/>
            </a:xfrm>
            <a:custGeom>
              <a:avLst/>
              <a:gdLst>
                <a:gd name="T0" fmla="*/ 2147483647 w 912"/>
                <a:gd name="T1" fmla="*/ 0 h 400"/>
                <a:gd name="T2" fmla="*/ 2147483647 w 912"/>
                <a:gd name="T3" fmla="*/ 2147483647 h 400"/>
                <a:gd name="T4" fmla="*/ 0 w 912"/>
                <a:gd name="T5" fmla="*/ 2147483647 h 4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2" h="400">
                  <a:moveTo>
                    <a:pt x="912" y="0"/>
                  </a:moveTo>
                  <a:cubicBezTo>
                    <a:pt x="772" y="184"/>
                    <a:pt x="632" y="368"/>
                    <a:pt x="480" y="384"/>
                  </a:cubicBezTo>
                  <a:cubicBezTo>
                    <a:pt x="328" y="400"/>
                    <a:pt x="164" y="248"/>
                    <a:pt x="0" y="96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061">
              <a:extLst>
                <a:ext uri="{FF2B5EF4-FFF2-40B4-BE49-F238E27FC236}">
                  <a16:creationId xmlns:a16="http://schemas.microsoft.com/office/drawing/2014/main" id="{D1876632-FF78-45E0-A8B1-E1D38122A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962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u</a:t>
              </a:r>
              <a:endParaRPr lang="nl-NL" altLang="en-US" sz="2400" i="1" dirty="0"/>
            </a:p>
          </p:txBody>
        </p:sp>
        <p:sp>
          <p:nvSpPr>
            <p:cNvPr id="18" name="Text Box 2063">
              <a:extLst>
                <a:ext uri="{FF2B5EF4-FFF2-40B4-BE49-F238E27FC236}">
                  <a16:creationId xmlns:a16="http://schemas.microsoft.com/office/drawing/2014/main" id="{4B159EBC-5C8F-4D7C-83EB-E05B2BE8E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2783" y="3276600"/>
              <a:ext cx="126887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j-lt"/>
                </a:rPr>
                <a:t>Capacity 4</a:t>
              </a:r>
              <a:endParaRPr lang="nl-NL" altLang="en-US" sz="1600" dirty="0">
                <a:latin typeface="+mj-lt"/>
              </a:endParaRPr>
            </a:p>
          </p:txBody>
        </p:sp>
        <p:sp>
          <p:nvSpPr>
            <p:cNvPr id="19" name="Text Box 2064">
              <a:extLst>
                <a:ext uri="{FF2B5EF4-FFF2-40B4-BE49-F238E27FC236}">
                  <a16:creationId xmlns:a16="http://schemas.microsoft.com/office/drawing/2014/main" id="{22655D19-09C0-4866-9856-959305AA6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3963" y="4958304"/>
              <a:ext cx="126887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j-lt"/>
                </a:rPr>
                <a:t>Capacity 3</a:t>
              </a:r>
              <a:endParaRPr lang="nl-NL" altLang="en-US" sz="1600" dirty="0">
                <a:latin typeface="+mj-lt"/>
              </a:endParaRPr>
            </a:p>
          </p:txBody>
        </p:sp>
        <p:sp>
          <p:nvSpPr>
            <p:cNvPr id="22" name="Oval 2062">
              <a:extLst>
                <a:ext uri="{FF2B5EF4-FFF2-40B4-BE49-F238E27FC236}">
                  <a16:creationId xmlns:a16="http://schemas.microsoft.com/office/drawing/2014/main" id="{4CF4DE10-B316-46B7-AA55-FF21199DB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3962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v</a:t>
              </a:r>
              <a:endParaRPr lang="nl-NL" altLang="en-US" sz="2400" i="1" dirty="0"/>
            </a:p>
          </p:txBody>
        </p:sp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61591FC-F630-40D7-9BB7-A962E21B4AC2}"/>
              </a:ext>
            </a:extLst>
          </p:cNvPr>
          <p:cNvSpPr/>
          <p:nvPr/>
        </p:nvSpPr>
        <p:spPr bwMode="auto">
          <a:xfrm>
            <a:off x="3885982" y="4629208"/>
            <a:ext cx="2514818" cy="824384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0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Ford-Fulkerson method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42644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altLang="nl-NL" b="1" dirty="0"/>
                  <a:t>Algorithm:</a:t>
                </a:r>
              </a:p>
              <a:p>
                <a:r>
                  <a:rPr lang="en-GB" altLang="nl-NL" dirty="0"/>
                  <a:t>Start with zero flow: </a:t>
                </a:r>
                <a14:m>
                  <m:oMath xmlns:m="http://schemas.openxmlformats.org/officeDocument/2006/math">
                    <m:r>
                      <a:rPr lang="en-GB" alt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altLang="nl-NL" i="1" dirty="0"/>
              </a:p>
              <a:p>
                <a:pPr eaLnBrk="1" hangingPunct="1"/>
                <a:r>
                  <a:rPr lang="en-GB" altLang="nl-NL" b="1" dirty="0"/>
                  <a:t>Do:</a:t>
                </a:r>
              </a:p>
              <a:p>
                <a:pPr lvl="1"/>
                <a:r>
                  <a:rPr lang="en-GB" altLang="nl-NL" dirty="0"/>
                  <a:t>Compute residual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GB" altLang="nl-NL" dirty="0"/>
              </a:p>
              <a:p>
                <a:pPr lvl="1" eaLnBrk="1" hangingPunct="1"/>
                <a:r>
                  <a:rPr lang="en-GB" altLang="nl-NL" dirty="0"/>
                  <a:t>Find a path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nl-NL" dirty="0"/>
                  <a:t> from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altLang="nl-NL" dirty="0"/>
                  <a:t> to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altLang="nl-NL" dirty="0"/>
                  <a:t> in the residual network</a:t>
                </a:r>
              </a:p>
              <a:p>
                <a:pPr lvl="1"/>
                <a:r>
                  <a:rPr lang="en-GB" altLang="nl-NL" dirty="0"/>
                  <a:t>Augment flow </a:t>
                </a:r>
                <a14:m>
                  <m:oMath xmlns:m="http://schemas.openxmlformats.org/officeDocument/2006/math"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nl-NL" dirty="0"/>
                  <a:t> across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altLang="nl-NL" dirty="0"/>
              </a:p>
              <a:p>
                <a:r>
                  <a:rPr lang="en-GB" altLang="nl-NL" b="1" dirty="0"/>
                  <a:t>Repeat</a:t>
                </a:r>
                <a:r>
                  <a:rPr lang="en-GB" altLang="nl-NL" dirty="0"/>
                  <a:t> until no such path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nl-NL" dirty="0"/>
                  <a:t> exists</a:t>
                </a:r>
              </a:p>
              <a:p>
                <a:pPr marL="0" indent="0">
                  <a:buNone/>
                </a:pPr>
                <a:endParaRPr lang="en-GB" altLang="nl-NL" dirty="0"/>
              </a:p>
              <a:p>
                <a:pPr marL="0" indent="0">
                  <a:buNone/>
                </a:pPr>
                <a:r>
                  <a:rPr lang="en-GB" altLang="nl-NL" u="sng" dirty="0"/>
                  <a:t>Augment flow across path </a:t>
                </a:r>
                <a14:m>
                  <m:oMath xmlns:m="http://schemas.openxmlformats.org/officeDocument/2006/math">
                    <m:r>
                      <a:rPr lang="en-GB" altLang="nl-NL" i="1" u="sng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nl-NL" u="sng" dirty="0"/>
                  <a:t>:</a:t>
                </a:r>
              </a:p>
              <a:p>
                <a:r>
                  <a:rPr lang="en-GB" altLang="nl-NL" dirty="0"/>
                  <a:t>Add the maximum flow over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nl-NL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nl-NL" dirty="0"/>
                  <a:t> to the current flow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GB" altLang="nl-NL" dirty="0"/>
              </a:p>
            </p:txBody>
          </p:sp>
        </mc:Choice>
        <mc:Fallback xmlns="">
          <p:sp>
            <p:nvSpPr>
              <p:cNvPr id="2765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4264496"/>
              </a:xfrm>
              <a:blipFill>
                <a:blip r:embed="rId3"/>
                <a:stretch>
                  <a:fillRect l="-642" t="-71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">
            <a:extLst>
              <a:ext uri="{FF2B5EF4-FFF2-40B4-BE49-F238E27FC236}">
                <a16:creationId xmlns:a16="http://schemas.microsoft.com/office/drawing/2014/main" id="{8898BB28-B047-4BB1-96F8-C1D62F6FD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256" y="1700808"/>
            <a:ext cx="2088232" cy="116955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nl-NL" sz="1400" i="1" u="sng" dirty="0">
                <a:latin typeface="+mj-lt"/>
              </a:rPr>
              <a:t>Note</a:t>
            </a:r>
            <a:r>
              <a:rPr lang="en-GB" altLang="nl-NL" sz="1400" dirty="0">
                <a:latin typeface="+mj-lt"/>
              </a:rPr>
              <a:t>: correctness of the algorithm implies that integer flows exist when capacities are integer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AFE7-5A81-4CF1-B9CC-3AED4A46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time…</a:t>
            </a:r>
            <a:br>
              <a:rPr lang="en-US" dirty="0"/>
            </a:br>
            <a:r>
              <a:rPr lang="en-US" sz="1100" dirty="0"/>
              <a:t>images from Wikipedia</a:t>
            </a:r>
            <a:endParaRPr lang="en-NL" dirty="0"/>
          </a:p>
        </p:txBody>
      </p:sp>
      <p:pic>
        <p:nvPicPr>
          <p:cNvPr id="5" name="Picture 4" descr="A picture containing ball&#10;&#10;Description automatically generated">
            <a:extLst>
              <a:ext uri="{FF2B5EF4-FFF2-40B4-BE49-F238E27FC236}">
                <a16:creationId xmlns:a16="http://schemas.microsoft.com/office/drawing/2014/main" id="{9D8F9B8A-7DD9-4BB1-AB4D-774EE1C45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14" y="1416767"/>
            <a:ext cx="2857500" cy="2038350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A036CA5D-D20D-4007-B3BB-580A9D1CD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993" y="1409318"/>
            <a:ext cx="2857500" cy="2038350"/>
          </a:xfrm>
          <a:prstGeom prst="rect">
            <a:avLst/>
          </a:prstGeom>
        </p:spPr>
      </p:pic>
      <p:pic>
        <p:nvPicPr>
          <p:cNvPr id="9" name="Picture 8" descr="Diagram, schematic&#10;&#10;Description automatically generated">
            <a:extLst>
              <a:ext uri="{FF2B5EF4-FFF2-40B4-BE49-F238E27FC236}">
                <a16:creationId xmlns:a16="http://schemas.microsoft.com/office/drawing/2014/main" id="{211F9F3E-36D7-4F20-A947-F082EF4F74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72" y="1416767"/>
            <a:ext cx="2857500" cy="2038350"/>
          </a:xfrm>
          <a:prstGeom prst="rect">
            <a:avLst/>
          </a:prstGeom>
        </p:spPr>
      </p:pic>
      <p:pic>
        <p:nvPicPr>
          <p:cNvPr id="11" name="Picture 10" descr="Diagram, schematic&#10;&#10;Description automatically generated">
            <a:extLst>
              <a:ext uri="{FF2B5EF4-FFF2-40B4-BE49-F238E27FC236}">
                <a16:creationId xmlns:a16="http://schemas.microsoft.com/office/drawing/2014/main" id="{B2E62C4B-99A9-4DF5-9856-69A3D0B66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112" y="3645024"/>
            <a:ext cx="2857500" cy="2038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D91D65-3B2B-45B6-960F-10E4DFCE9E4A}"/>
              </a:ext>
            </a:extLst>
          </p:cNvPr>
          <p:cNvSpPr txBox="1"/>
          <p:nvPr/>
        </p:nvSpPr>
        <p:spPr>
          <a:xfrm>
            <a:off x="1835696" y="4437112"/>
            <a:ext cx="3347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After 2000 steps:</a:t>
            </a:r>
            <a:endParaRPr lang="en-NL" b="1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17EE1-4547-4EC8-B8EF-11BCB57D4DBD}"/>
              </a:ext>
            </a:extLst>
          </p:cNvPr>
          <p:cNvSpPr txBox="1"/>
          <p:nvPr/>
        </p:nvSpPr>
        <p:spPr>
          <a:xfrm>
            <a:off x="1835696" y="4912604"/>
            <a:ext cx="3347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j-lt"/>
              </a:rPr>
              <a:t>With real weights this can even go on indefinitely…</a:t>
            </a:r>
            <a:endParaRPr lang="en-NL" sz="18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B3C2B8-B02F-4D47-AE4A-C944F957D2F2}"/>
              </a:ext>
            </a:extLst>
          </p:cNvPr>
          <p:cNvSpPr txBox="1"/>
          <p:nvPr/>
        </p:nvSpPr>
        <p:spPr>
          <a:xfrm>
            <a:off x="1259632" y="3313239"/>
            <a:ext cx="724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j-lt"/>
              </a:rPr>
              <a:t>What you see here is the input graph, not a residual network</a:t>
            </a:r>
            <a:endParaRPr lang="en-NL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060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Max-flow min-cut theorem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4264496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nl-NL" b="1" dirty="0">
                    <a:latin typeface="+mj-lt"/>
                  </a:rPr>
                  <a:t>Terminology: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An</a:t>
                </a:r>
                <a:r>
                  <a:rPr lang="en-US" altLang="nl-NL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>
                    <a:solidFill>
                      <a:srgbClr val="C00000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>
                    <a:solidFill>
                      <a:srgbClr val="C00000"/>
                    </a:solidFill>
                  </a:rPr>
                  <a:t>-cut</a:t>
                </a:r>
                <a:r>
                  <a:rPr lang="en-US" altLang="nl-NL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nl-NL" dirty="0"/>
                  <a:t>: a partition of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nl-NL" dirty="0"/>
                  <a:t> in sets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nl-NL" dirty="0"/>
                  <a:t>,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nl-NL" dirty="0"/>
                  <a:t> with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nl-NL" dirty="0"/>
                  <a:t>,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nl-NL" dirty="0"/>
              </a:p>
              <a:p>
                <a:pPr>
                  <a:lnSpc>
                    <a:spcPct val="90000"/>
                  </a:lnSpc>
                </a:pPr>
                <a:r>
                  <a:rPr lang="en-US" altLang="nl-NL" dirty="0">
                    <a:solidFill>
                      <a:srgbClr val="C00000"/>
                    </a:solidFill>
                  </a:rPr>
                  <a:t>Capacity</a:t>
                </a:r>
                <a:r>
                  <a:rPr lang="en-US" altLang="nl-NL" dirty="0"/>
                  <a:t> of an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>
                    <a:solidFill>
                      <a:srgbClr val="C00000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>
                    <a:solidFill>
                      <a:srgbClr val="C00000"/>
                    </a:solidFill>
                  </a:rPr>
                  <a:t>-cut</a:t>
                </a:r>
                <a:r>
                  <a:rPr lang="en-US" altLang="nl-NL" dirty="0"/>
                  <a:t>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nl-NL" dirty="0"/>
                  <a:t>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The sum of the capacities of the edges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nl-NL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nl-NL" sz="12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b="1" dirty="0"/>
                  <a:t>Theorem</a:t>
                </a:r>
                <a:r>
                  <a:rPr lang="en-US" altLang="nl-NL" dirty="0"/>
                  <a:t>: The minimum capacity of an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-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-cut equals the maximum flow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nl-NL" dirty="0"/>
              </a:p>
              <a:p>
                <a:pPr marL="800100"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nl-NL" dirty="0"/>
                  <a:t>For any flow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and cut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the flow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nl-NL" dirty="0"/>
                  <a:t> minus the flow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nl-NL" dirty="0"/>
                  <a:t> equals the flow value of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nl-NL" dirty="0"/>
                  <a:t>(by flow conservation)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altLang="nl-NL" dirty="0"/>
                  <a:t>Hence: for any flow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and cut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d>
                      <m:d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𝑐𝑎𝑝𝑎𝑐𝑖𝑡𝑦</m:t>
                    </m:r>
                    <m:d>
                      <m:dPr>
                        <m:ctrlP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altLang="nl-NL" b="0" dirty="0"/>
              </a:p>
              <a:p>
                <a:pPr marL="800100"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nl-NL" dirty="0"/>
                  <a:t>If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is a maximum flow, then there is no augmenting path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nl-NL" dirty="0"/>
                  <a:t> (otherwise we can augment the flow)</a:t>
                </a:r>
              </a:p>
              <a:p>
                <a:pPr marL="800100"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nl-NL" dirty="0"/>
                  <a:t>Let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nl-NL" dirty="0"/>
                  <a:t> be all vertices reachable from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nl-NL" b="0" dirty="0"/>
                  <a:t>, let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nl-NL" b="0" i="1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altLang="nl-NL" b="0" dirty="0"/>
              </a:p>
              <a:p>
                <a:pPr lvl="2">
                  <a:lnSpc>
                    <a:spcPct val="90000"/>
                  </a:lnSpc>
                </a:pPr>
                <a:r>
                  <a:rPr lang="en-US" altLang="nl-NL" dirty="0"/>
                  <a:t>For this cut: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d>
                      <m:d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𝑐𝑎𝑝𝑎𝑐𝑖𝑡𝑦</m:t>
                    </m:r>
                    <m:d>
                      <m:dPr>
                        <m:ctrlP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altLang="nl-NL" dirty="0"/>
                  <a:t> in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nl-NL" dirty="0"/>
              </a:p>
              <a:p>
                <a:pPr>
                  <a:lnSpc>
                    <a:spcPct val="90000"/>
                  </a:lnSpc>
                </a:pPr>
                <a:r>
                  <a:rPr lang="en-US" altLang="nl-NL" dirty="0"/>
                  <a:t>This also proves that Ford-Fulkerson computes a max flow</a:t>
                </a:r>
              </a:p>
            </p:txBody>
          </p:sp>
        </mc:Choice>
        <mc:Fallback xmlns="">
          <p:sp>
            <p:nvSpPr>
              <p:cNvPr id="2867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4264496"/>
              </a:xfrm>
              <a:blipFill>
                <a:blip r:embed="rId3"/>
                <a:stretch>
                  <a:fillRect l="-648" t="-1286" r="-89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6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6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4E2D-97C1-423A-8160-1F410035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minimum cuts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E8277-0242-44B6-B019-2932DD94E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Minimum cuts in graphs</a:t>
                </a:r>
                <a:r>
                  <a:rPr lang="en-US" dirty="0"/>
                  <a:t> (not flow networks)</a:t>
                </a:r>
              </a:p>
              <a:p>
                <a:r>
                  <a:rPr lang="en-US" u="sng" dirty="0"/>
                  <a:t>Input</a:t>
                </a:r>
                <a:r>
                  <a:rPr lang="en-US" dirty="0"/>
                  <a:t>: Directed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(no capacities on edges)</a:t>
                </a:r>
              </a:p>
              <a:p>
                <a:r>
                  <a:rPr lang="en-US" u="sng" dirty="0"/>
                  <a:t>Question</a:t>
                </a:r>
                <a:r>
                  <a:rPr lang="en-US" dirty="0"/>
                  <a:t>: What is the minimum number of arcs to be removed such that there is no path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Solution: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Find maximum flow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in the graph using unit capacities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Minimum cut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the set of all vertices reachable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the residual network</a:t>
                </a:r>
              </a:p>
              <a:p>
                <a:pPr lvl="1"/>
                <a:r>
                  <a:rPr lang="en-US" dirty="0"/>
                  <a:t>As in the proof of the max-flow min-cut theorem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Works also for undirected graphs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E8277-0242-44B6-B019-2932DD94E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0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49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243D-BA82-440A-9BD7-2183E578B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small vertex separators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CF77-3F4B-42AD-84A2-5B8C0A3BE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17789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we want to remove the minimum number of </a:t>
            </a:r>
            <a:r>
              <a:rPr lang="en-US" dirty="0">
                <a:solidFill>
                  <a:srgbClr val="C00000"/>
                </a:solidFill>
              </a:rPr>
              <a:t>vertices</a:t>
            </a:r>
            <a:r>
              <a:rPr lang="en-US" dirty="0"/>
              <a:t> instead of edges:</a:t>
            </a:r>
          </a:p>
          <a:p>
            <a:pPr>
              <a:buFont typeface="+mj-lt"/>
              <a:buAutoNum type="arabicPeriod"/>
            </a:pPr>
            <a:r>
              <a:rPr lang="en-US" dirty="0"/>
              <a:t>Replace a vertex by two vertices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unit flow edge (representing the removal of the vertex)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flow algorithm</a:t>
            </a:r>
            <a:endParaRPr lang="nl-NL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E393FE4-E61C-4C8D-8B6A-339D002107BA}"/>
              </a:ext>
            </a:extLst>
          </p:cNvPr>
          <p:cNvGrpSpPr/>
          <p:nvPr/>
        </p:nvGrpSpPr>
        <p:grpSpPr>
          <a:xfrm>
            <a:off x="2039266" y="4252967"/>
            <a:ext cx="1512168" cy="1080120"/>
            <a:chOff x="1187624" y="3645024"/>
            <a:chExt cx="1512168" cy="108012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1C3D830-A097-48CD-9233-D96703D0BE2D}"/>
                </a:ext>
              </a:extLst>
            </p:cNvPr>
            <p:cNvSpPr/>
            <p:nvPr/>
          </p:nvSpPr>
          <p:spPr bwMode="auto">
            <a:xfrm>
              <a:off x="1475656" y="3933056"/>
              <a:ext cx="504056" cy="504056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v</a:t>
              </a:r>
              <a:endParaRPr kumimoji="0" lang="nl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BB02574-10F1-44FF-A20C-CA0D6E3BFDC4}"/>
                </a:ext>
              </a:extLst>
            </p:cNvPr>
            <p:cNvCxnSpPr>
              <a:endCxn id="6" idx="1"/>
            </p:cNvCxnSpPr>
            <p:nvPr/>
          </p:nvCxnSpPr>
          <p:spPr bwMode="auto">
            <a:xfrm>
              <a:off x="1187624" y="3645024"/>
              <a:ext cx="361849" cy="361849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3B30BB3-EED3-4F12-BF7B-A8764E50B0B1}"/>
                </a:ext>
              </a:extLst>
            </p:cNvPr>
            <p:cNvCxnSpPr/>
            <p:nvPr/>
          </p:nvCxnSpPr>
          <p:spPr bwMode="auto">
            <a:xfrm flipV="1">
              <a:off x="1187624" y="4294905"/>
              <a:ext cx="288032" cy="370807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6320B38-5F84-4734-AB46-4818C4A57641}"/>
                </a:ext>
              </a:extLst>
            </p:cNvPr>
            <p:cNvCxnSpPr>
              <a:stCxn id="6" idx="7"/>
            </p:cNvCxnSpPr>
            <p:nvPr/>
          </p:nvCxnSpPr>
          <p:spPr bwMode="auto">
            <a:xfrm flipV="1">
              <a:off x="1905895" y="3704456"/>
              <a:ext cx="793897" cy="302417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600B9A2-6337-4939-BF3D-D7DD11A732C4}"/>
                </a:ext>
              </a:extLst>
            </p:cNvPr>
            <p:cNvCxnSpPr>
              <a:cxnSpLocks/>
              <a:stCxn id="6" idx="5"/>
            </p:cNvCxnSpPr>
            <p:nvPr/>
          </p:nvCxnSpPr>
          <p:spPr bwMode="auto">
            <a:xfrm>
              <a:off x="1905895" y="4363295"/>
              <a:ext cx="793897" cy="361849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F70C38-AD95-468A-B6E4-637AA0BEF331}"/>
              </a:ext>
            </a:extLst>
          </p:cNvPr>
          <p:cNvGrpSpPr/>
          <p:nvPr/>
        </p:nvGrpSpPr>
        <p:grpSpPr>
          <a:xfrm>
            <a:off x="5565124" y="4258350"/>
            <a:ext cx="2527637" cy="1110138"/>
            <a:chOff x="3814800" y="3607722"/>
            <a:chExt cx="2527637" cy="11101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646617D-EE10-452E-A5B7-BB174B4E1AF0}"/>
                </a:ext>
              </a:extLst>
            </p:cNvPr>
            <p:cNvSpPr/>
            <p:nvPr/>
          </p:nvSpPr>
          <p:spPr bwMode="auto">
            <a:xfrm>
              <a:off x="4102832" y="3895754"/>
              <a:ext cx="504056" cy="504056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v</a:t>
              </a:r>
              <a:r>
                <a:rPr kumimoji="0" lang="en-US" sz="2400" b="0" i="1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in</a:t>
              </a:r>
              <a:endParaRPr kumimoji="0" lang="nl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5613002-5E1B-4996-B39D-FF8D497686E2}"/>
                </a:ext>
              </a:extLst>
            </p:cNvPr>
            <p:cNvCxnSpPr>
              <a:endCxn id="18" idx="1"/>
            </p:cNvCxnSpPr>
            <p:nvPr/>
          </p:nvCxnSpPr>
          <p:spPr bwMode="auto">
            <a:xfrm>
              <a:off x="3814800" y="3607722"/>
              <a:ext cx="361849" cy="361849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62E6239-E1B1-4154-AD07-6746EC4591F2}"/>
                </a:ext>
              </a:extLst>
            </p:cNvPr>
            <p:cNvCxnSpPr/>
            <p:nvPr/>
          </p:nvCxnSpPr>
          <p:spPr bwMode="auto">
            <a:xfrm flipV="1">
              <a:off x="3814800" y="4257603"/>
              <a:ext cx="288032" cy="370807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E851BE6-120E-4967-80A2-8DCC0CA040B9}"/>
                </a:ext>
              </a:extLst>
            </p:cNvPr>
            <p:cNvSpPr/>
            <p:nvPr/>
          </p:nvSpPr>
          <p:spPr bwMode="auto">
            <a:xfrm>
              <a:off x="5118301" y="3925772"/>
              <a:ext cx="504056" cy="504056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v</a:t>
              </a:r>
              <a:r>
                <a:rPr kumimoji="0" lang="en-US" sz="2400" b="0" i="1" u="none" strike="noStrike" cap="none" normalizeH="0" baseline="-25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out</a:t>
              </a:r>
              <a:endParaRPr kumimoji="0" lang="nl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24A7DB2-DE69-43FC-8C70-1943B59C0AE0}"/>
                </a:ext>
              </a:extLst>
            </p:cNvPr>
            <p:cNvCxnSpPr>
              <a:stCxn id="28" idx="7"/>
            </p:cNvCxnSpPr>
            <p:nvPr/>
          </p:nvCxnSpPr>
          <p:spPr bwMode="auto">
            <a:xfrm flipV="1">
              <a:off x="5548540" y="3697172"/>
              <a:ext cx="793897" cy="302417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161F7E-81EE-4E07-8727-5566E8217045}"/>
                </a:ext>
              </a:extLst>
            </p:cNvPr>
            <p:cNvCxnSpPr>
              <a:cxnSpLocks/>
              <a:stCxn id="28" idx="5"/>
            </p:cNvCxnSpPr>
            <p:nvPr/>
          </p:nvCxnSpPr>
          <p:spPr bwMode="auto">
            <a:xfrm>
              <a:off x="5548540" y="4356011"/>
              <a:ext cx="793897" cy="361849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2FDB14F-FA62-4C96-BE80-6E4367A7850E}"/>
                </a:ext>
              </a:extLst>
            </p:cNvPr>
            <p:cNvCxnSpPr>
              <a:stCxn id="18" idx="6"/>
              <a:endCxn id="28" idx="2"/>
            </p:cNvCxnSpPr>
            <p:nvPr/>
          </p:nvCxnSpPr>
          <p:spPr bwMode="auto">
            <a:xfrm>
              <a:off x="4606888" y="4147782"/>
              <a:ext cx="511413" cy="30018"/>
            </a:xfrm>
            <a:prstGeom prst="straightConnector1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668F28A-9240-4A17-9EC1-8DCD743F4C77}"/>
              </a:ext>
            </a:extLst>
          </p:cNvPr>
          <p:cNvSpPr/>
          <p:nvPr/>
        </p:nvSpPr>
        <p:spPr bwMode="auto">
          <a:xfrm>
            <a:off x="4030071" y="4433891"/>
            <a:ext cx="1137140" cy="600393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74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Flows and Matchings – Advanced Algorithms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LOWER BOUNDS AND CIRCULATIONS</a:t>
            </a:r>
          </a:p>
        </p:txBody>
      </p:sp>
    </p:spTree>
    <p:extLst>
      <p:ext uri="{BB962C8B-B14F-4D97-AF65-F5344CB8AC3E}">
        <p14:creationId xmlns:p14="http://schemas.microsoft.com/office/powerpoint/2010/main" val="3423712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Maximum flow with lower bounds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4120480"/>
              </a:xfrm>
            </p:spPr>
            <p:txBody>
              <a:bodyPr/>
              <a:lstStyle/>
              <a:p>
                <a:r>
                  <a:rPr lang="en-US" altLang="nl-NL" dirty="0"/>
                  <a:t>Flow function with lower bounds is a function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altLang="nl-NL" dirty="0"/>
                  <a:t> </a:t>
                </a:r>
                <a:r>
                  <a:rPr lang="en-US" altLang="nl-NL" dirty="0" err="1"/>
                  <a:t>s.t.</a:t>
                </a:r>
                <a:r>
                  <a:rPr lang="en-US" altLang="nl-NL" dirty="0"/>
                  <a:t>:</a:t>
                </a:r>
              </a:p>
              <a:p>
                <a:pPr lvl="1"/>
                <a:r>
                  <a:rPr lang="en-US" altLang="nl-NL" dirty="0"/>
                  <a:t>Flow conservation</a:t>
                </a:r>
                <a:r>
                  <a:rPr lang="en-US" altLang="nl-NL" b="1" dirty="0"/>
                  <a:t>: </a:t>
                </a:r>
                <a:r>
                  <a:rPr lang="en-US" altLang="nl-NL" dirty="0"/>
                  <a:t>For every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}:</m:t>
                    </m:r>
                  </m:oMath>
                </a14:m>
                <a:endParaRPr lang="en-US" altLang="nl-NL" i="1" dirty="0">
                  <a:ea typeface="Cambria Math" panose="02040503050406030204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nl-NL" sz="1600" dirty="0"/>
                  <a:t>Flow into </a:t>
                </a:r>
                <a14:m>
                  <m:oMath xmlns:m="http://schemas.openxmlformats.org/officeDocument/2006/math">
                    <m:r>
                      <a:rPr lang="en-US" altLang="nl-NL" sz="1600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sz="1600" dirty="0"/>
                  <a:t> equals flow out of </a:t>
                </a:r>
                <a14:m>
                  <m:oMath xmlns:m="http://schemas.openxmlformats.org/officeDocument/2006/math">
                    <m:r>
                      <a:rPr lang="en-US" altLang="nl-NL" sz="1600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nl-NL" sz="1600" dirty="0"/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Capacities &amp; lower bounds</a:t>
                </a:r>
                <a:r>
                  <a:rPr lang="en-US" altLang="nl-NL" b="1" dirty="0"/>
                  <a:t>:</a:t>
                </a:r>
                <a:r>
                  <a:rPr lang="en-US" altLang="nl-NL" dirty="0"/>
                  <a:t> For every arc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nl-NL" i="1" dirty="0"/>
                  <a:t>: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Direction</a:t>
                </a:r>
                <a:r>
                  <a:rPr lang="en-US" altLang="nl-NL" b="1" dirty="0"/>
                  <a:t>:</a:t>
                </a:r>
                <a:r>
                  <a:rPr lang="en-US" altLang="nl-NL" dirty="0"/>
                  <a:t> Only flow out of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and into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nl-NL" b="1" dirty="0"/>
              </a:p>
              <a:p>
                <a:pPr marL="0" indent="0">
                  <a:buNone/>
                </a:pPr>
                <a:endParaRPr lang="en-US" altLang="nl-NL" b="1" dirty="0"/>
              </a:p>
              <a:p>
                <a:pPr marL="0" indent="0">
                  <a:buNone/>
                </a:pPr>
                <a:r>
                  <a:rPr lang="en-US" altLang="nl-NL" b="1" dirty="0"/>
                  <a:t>Problem statement</a:t>
                </a:r>
              </a:p>
              <a:p>
                <a:r>
                  <a:rPr lang="en-US" altLang="nl-NL" u="sng" dirty="0"/>
                  <a:t>Input</a:t>
                </a:r>
                <a:r>
                  <a:rPr lang="en-US" altLang="nl-NL" dirty="0"/>
                  <a:t>:</a:t>
                </a:r>
              </a:p>
              <a:p>
                <a:pPr lvl="1"/>
                <a:r>
                  <a:rPr lang="en-US" altLang="nl-NL" dirty="0"/>
                  <a:t>Directed graph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Source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nl-NL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nl-NL" dirty="0"/>
                  <a:t>and sink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nl-NL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nl-NL" dirty="0"/>
                  <a:t>vertices</a:t>
                </a:r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Capacity</a:t>
                </a:r>
                <a:r>
                  <a:rPr lang="en-US" altLang="nl-NL" dirty="0"/>
                  <a:t> on the edges/arcs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nl-NL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Minimum amount of flow </a:t>
                </a:r>
                <a:r>
                  <a:rPr lang="en-US" altLang="nl-NL" dirty="0"/>
                  <a:t>over the edges/arcs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nl-NL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nl-NL" dirty="0"/>
              </a:p>
              <a:p>
                <a:r>
                  <a:rPr lang="en-US" altLang="nl-NL" u="sng" dirty="0"/>
                  <a:t>Question</a:t>
                </a:r>
                <a:r>
                  <a:rPr lang="en-US" altLang="nl-NL" dirty="0"/>
                  <a:t>: find a flow with maximum flow value</a:t>
                </a:r>
              </a:p>
              <a:p>
                <a:pPr lvl="1"/>
                <a:r>
                  <a:rPr lang="en-US" altLang="nl-NL" dirty="0">
                    <a:solidFill>
                      <a:schemeClr val="tx1"/>
                    </a:solidFill>
                  </a:rPr>
                  <a:t>Flow value: flow out of </a:t>
                </a:r>
                <a14:m>
                  <m:oMath xmlns:m="http://schemas.openxmlformats.org/officeDocument/2006/math">
                    <m:r>
                      <a:rPr lang="en-US" altLang="nl-NL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>
                    <a:solidFill>
                      <a:schemeClr val="tx1"/>
                    </a:solidFill>
                  </a:rPr>
                  <a:t> (or flow into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024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4120480"/>
              </a:xfrm>
              <a:blipFill>
                <a:blip r:embed="rId2"/>
                <a:stretch>
                  <a:fillRect l="-636" t="-740" b="-665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88EC933-786C-4141-B31C-AF291A2D80C1}"/>
              </a:ext>
            </a:extLst>
          </p:cNvPr>
          <p:cNvGrpSpPr/>
          <p:nvPr/>
        </p:nvGrpSpPr>
        <p:grpSpPr>
          <a:xfrm>
            <a:off x="6585048" y="3789040"/>
            <a:ext cx="2134363" cy="953790"/>
            <a:chOff x="1432048" y="3851275"/>
            <a:chExt cx="2134363" cy="953790"/>
          </a:xfrm>
        </p:grpSpPr>
        <p:sp>
          <p:nvSpPr>
            <p:cNvPr id="10246" name="Oval 4"/>
            <p:cNvSpPr>
              <a:spLocks noChangeArrowheads="1"/>
            </p:cNvSpPr>
            <p:nvPr/>
          </p:nvSpPr>
          <p:spPr bwMode="auto">
            <a:xfrm>
              <a:off x="1432048" y="4146612"/>
              <a:ext cx="393576" cy="393576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10247" name="Oval 5"/>
            <p:cNvSpPr>
              <a:spLocks noChangeArrowheads="1"/>
            </p:cNvSpPr>
            <p:nvPr/>
          </p:nvSpPr>
          <p:spPr bwMode="auto">
            <a:xfrm>
              <a:off x="3166547" y="4146612"/>
              <a:ext cx="399864" cy="399864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10248" name="Line 6"/>
            <p:cNvSpPr>
              <a:spLocks noChangeShapeType="1"/>
            </p:cNvSpPr>
            <p:nvPr/>
          </p:nvSpPr>
          <p:spPr bwMode="auto">
            <a:xfrm>
              <a:off x="1828800" y="4343400"/>
              <a:ext cx="1371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4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961467" y="3851275"/>
                  <a:ext cx="80464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10249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1467" y="3851275"/>
                  <a:ext cx="804643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515"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089050" y="4343400"/>
                  <a:ext cx="84792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10250" name="Text 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9050" y="4343400"/>
                  <a:ext cx="84792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Finding flows with lower bounds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Approach in the next slides:</a:t>
                </a:r>
              </a:p>
              <a:p>
                <a:r>
                  <a:rPr lang="en-US" altLang="en-US" dirty="0"/>
                  <a:t>Twice use an algorithm for maximum flow…</a:t>
                </a:r>
              </a:p>
              <a:p>
                <a:pPr lvl="1"/>
                <a:r>
                  <a:rPr lang="en-US" altLang="en-US" dirty="0"/>
                  <a:t>Flow without lower bounds, or lower bounds 0</a:t>
                </a:r>
              </a:p>
              <a:p>
                <a:r>
                  <a:rPr lang="en-US" altLang="en-US" dirty="0"/>
                  <a:t>…to construct an algorithm for max flow with lower bounds</a:t>
                </a:r>
              </a:p>
              <a:p>
                <a:pPr lvl="1"/>
                <a:r>
                  <a:rPr lang="en-US" altLang="en-US" dirty="0"/>
                  <a:t>I.e., f</a:t>
                </a:r>
                <a:r>
                  <a:rPr lang="en-US" altLang="nl-NL" dirty="0"/>
                  <a:t>or every arc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nl-NL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b="1" dirty="0"/>
                  <a:t>Two phases: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Find an admissible flow with lower bounds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Augment it to a maximum flow</a:t>
                </a:r>
              </a:p>
              <a:p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u="sng" dirty="0"/>
                  <a:t>Admissible flow: </a:t>
                </a:r>
              </a:p>
              <a:p>
                <a:r>
                  <a:rPr lang="en-US" altLang="nl-NL" dirty="0"/>
                  <a:t>Any (non-maximum) flow, with flow conservation, lower and upper capacity constrains fulfilled, and the proper direction</a:t>
                </a:r>
              </a:p>
            </p:txBody>
          </p:sp>
        </mc:Choice>
        <mc:Fallback xmlns="">
          <p:sp>
            <p:nvSpPr>
              <p:cNvPr id="1126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2"/>
                <a:stretch>
                  <a:fillRect l="-627" t="-769" b="-81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Finding an admissible flow: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nl-NL" b="1" dirty="0"/>
                  <a:t>Two phases: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Find an admissible flow with lower bounds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altLang="nl-NL" dirty="0"/>
                  <a:t>Transform problem to: find an admissible circulation (with </a:t>
                </a:r>
                <a:r>
                  <a:rPr lang="en-US" altLang="nl-NL" dirty="0" err="1"/>
                  <a:t>lb</a:t>
                </a:r>
                <a:r>
                  <a:rPr lang="en-US" altLang="nl-NL" dirty="0"/>
                  <a:t>)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altLang="nl-NL" dirty="0"/>
                  <a:t>Transform admissible circulation problem to: find a maximum flow in network with new source and new sink (without </a:t>
                </a:r>
                <a:r>
                  <a:rPr lang="en-US" altLang="nl-NL" dirty="0" err="1"/>
                  <a:t>lb</a:t>
                </a:r>
                <a:r>
                  <a:rPr lang="en-US" altLang="nl-NL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Augment it to a maximum flow</a:t>
                </a:r>
              </a:p>
              <a:p>
                <a:pPr marL="0" indent="0" eaLnBrk="1" hangingPunct="1">
                  <a:buNone/>
                </a:pPr>
                <a:endParaRPr lang="en-US" altLang="nl-NL" dirty="0"/>
              </a:p>
              <a:p>
                <a:pPr marL="0" indent="0" eaLnBrk="1" hangingPunct="1">
                  <a:buNone/>
                </a:pPr>
                <a:r>
                  <a:rPr lang="en-US" altLang="nl-NL" u="sng" dirty="0"/>
                  <a:t>Admissible Circulation:</a:t>
                </a:r>
                <a:r>
                  <a:rPr lang="en-US" altLang="nl-NL" dirty="0"/>
                  <a:t> (no sources and sinks)</a:t>
                </a:r>
              </a:p>
              <a:p>
                <a:r>
                  <a:rPr lang="en-US" altLang="nl-NL" dirty="0"/>
                  <a:t>In a directed graph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nl-NL" dirty="0"/>
                  <a:t> with capacities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nl-NL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nl-NL" dirty="0"/>
                  <a:t>and lower bounds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nl-NL" dirty="0"/>
                  <a:t> on arcs, an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admissible circulation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altLang="nl-NL" dirty="0"/>
                  <a:t> is a flow function that satisfies:</a:t>
                </a:r>
              </a:p>
              <a:p>
                <a:pPr lvl="1"/>
                <a:r>
                  <a:rPr lang="en-US" altLang="nl-NL" dirty="0"/>
                  <a:t>Flow conservation</a:t>
                </a:r>
                <a:r>
                  <a:rPr lang="en-US" altLang="nl-NL" b="1" dirty="0"/>
                  <a:t>: </a:t>
                </a:r>
                <a:r>
                  <a:rPr lang="en-US" altLang="nl-NL" dirty="0"/>
                  <a:t>For </a:t>
                </a:r>
                <a:r>
                  <a:rPr lang="en-US" altLang="nl-NL" b="1" dirty="0">
                    <a:solidFill>
                      <a:srgbClr val="C00000"/>
                    </a:solidFill>
                  </a:rPr>
                  <a:t>all</a:t>
                </a:r>
                <a:r>
                  <a:rPr lang="en-US" altLang="nl-NL" dirty="0"/>
                  <a:t>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nl-NL" dirty="0">
                    <a:ea typeface="Cambria Math" panose="02040503050406030204" pitchFamily="18" charset="0"/>
                  </a:rPr>
                  <a:t> f</a:t>
                </a:r>
                <a:r>
                  <a:rPr lang="en-US" altLang="nl-NL" dirty="0"/>
                  <a:t>low into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equals flow out of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Capacities &amp; lower bounds</a:t>
                </a:r>
                <a:r>
                  <a:rPr lang="en-US" altLang="nl-NL" b="1" dirty="0"/>
                  <a:t>:</a:t>
                </a:r>
                <a:r>
                  <a:rPr lang="en-US" altLang="nl-NL" dirty="0"/>
                  <a:t> For every arc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marL="0" indent="0" eaLnBrk="1" hangingPunct="1">
                  <a:buNone/>
                </a:pPr>
                <a:endParaRPr lang="en-US" altLang="nl-NL" dirty="0"/>
              </a:p>
            </p:txBody>
          </p:sp>
        </mc:Choice>
        <mc:Fallback xmlns="">
          <p:sp>
            <p:nvSpPr>
              <p:cNvPr id="1331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2"/>
                <a:stretch>
                  <a:fillRect l="-627" t="-769" r="-471" b="-230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 to circulation and back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371600" y="1828800"/>
                <a:ext cx="7664896" cy="3962400"/>
              </a:xfrm>
            </p:spPr>
            <p:txBody>
              <a:bodyPr/>
              <a:lstStyle/>
              <a:p>
                <a:r>
                  <a:rPr lang="en-US" altLang="nl-NL" dirty="0"/>
                  <a:t>Finding an admissible flow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nl-NL" dirty="0"/>
                  <a:t> finding an admissible circulation</a:t>
                </a:r>
              </a:p>
              <a:p>
                <a:pPr lvl="1"/>
                <a:r>
                  <a:rPr lang="en-US" altLang="nl-NL" dirty="0"/>
                  <a:t>Add new edge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nl-NL" dirty="0"/>
                  <a:t>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with infinite capacity (or equal to the sum of all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) and a lower bound of zero.</a:t>
                </a:r>
              </a:p>
              <a:p>
                <a:endParaRPr lang="en-US" altLang="nl-NL" dirty="0"/>
              </a:p>
              <a:p>
                <a:endParaRPr lang="en-US" altLang="nl-NL" dirty="0"/>
              </a:p>
              <a:p>
                <a:endParaRPr lang="en-US" altLang="nl-NL" dirty="0"/>
              </a:p>
              <a:p>
                <a:endParaRPr lang="en-US" altLang="nl-NL" dirty="0"/>
              </a:p>
              <a:p>
                <a:endParaRPr lang="en-US" altLang="nl-NL" dirty="0"/>
              </a:p>
              <a:p>
                <a:endParaRPr lang="en-US" altLang="nl-NL" sz="900" dirty="0"/>
              </a:p>
              <a:p>
                <a:r>
                  <a:rPr lang="en-US" altLang="nl-NL" dirty="0"/>
                  <a:t>Any circulation in the new graph can be transformed back to a flow in the original graph</a:t>
                </a:r>
              </a:p>
              <a:p>
                <a:pPr lvl="1"/>
                <a:r>
                  <a:rPr lang="en-US" altLang="nl-NL" dirty="0"/>
                  <a:t>Flow value of the flow equals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in the circulation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altLang="nl-NL" dirty="0"/>
              </a:p>
              <a:p>
                <a:r>
                  <a:rPr lang="en-US" altLang="nl-NL" dirty="0"/>
                  <a:t>So given an admissible circulation, we can construct an admissible flow</a:t>
                </a:r>
              </a:p>
            </p:txBody>
          </p:sp>
        </mc:Choice>
        <mc:Fallback xmlns="">
          <p:sp>
            <p:nvSpPr>
              <p:cNvPr id="153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664896" cy="3962400"/>
              </a:xfrm>
              <a:blipFill>
                <a:blip r:embed="rId3"/>
                <a:stretch>
                  <a:fillRect l="-159" t="-769" r="-80" b="-8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AC2D52-6881-4038-9D3C-B67CEFC2C40C}"/>
              </a:ext>
            </a:extLst>
          </p:cNvPr>
          <p:cNvGrpSpPr/>
          <p:nvPr/>
        </p:nvGrpSpPr>
        <p:grpSpPr>
          <a:xfrm>
            <a:off x="1763688" y="3069481"/>
            <a:ext cx="2230437" cy="1079500"/>
            <a:chOff x="5364163" y="2276475"/>
            <a:chExt cx="2230437" cy="1079500"/>
          </a:xfrm>
        </p:grpSpPr>
        <p:sp>
          <p:nvSpPr>
            <p:cNvPr id="15365" name="Freeform 7"/>
            <p:cNvSpPr>
              <a:spLocks/>
            </p:cNvSpPr>
            <p:nvPr/>
          </p:nvSpPr>
          <p:spPr bwMode="auto">
            <a:xfrm>
              <a:off x="5580063" y="2276475"/>
              <a:ext cx="1871662" cy="1079500"/>
            </a:xfrm>
            <a:custGeom>
              <a:avLst/>
              <a:gdLst>
                <a:gd name="T0" fmla="*/ 0 w 1179"/>
                <a:gd name="T1" fmla="*/ 2147483647 h 680"/>
                <a:gd name="T2" fmla="*/ 2147483647 w 1179"/>
                <a:gd name="T3" fmla="*/ 2147483647 h 680"/>
                <a:gd name="T4" fmla="*/ 2147483647 w 1179"/>
                <a:gd name="T5" fmla="*/ 2147483647 h 680"/>
                <a:gd name="T6" fmla="*/ 2147483647 w 1179"/>
                <a:gd name="T7" fmla="*/ 2147483647 h 680"/>
                <a:gd name="T8" fmla="*/ 2147483647 w 1179"/>
                <a:gd name="T9" fmla="*/ 2147483647 h 680"/>
                <a:gd name="T10" fmla="*/ 2147483647 w 1179"/>
                <a:gd name="T11" fmla="*/ 2147483647 h 680"/>
                <a:gd name="T12" fmla="*/ 2147483647 w 1179"/>
                <a:gd name="T13" fmla="*/ 0 h 680"/>
                <a:gd name="T14" fmla="*/ 0 w 1179"/>
                <a:gd name="T15" fmla="*/ 2147483647 h 6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9"/>
                <a:gd name="T25" fmla="*/ 0 h 680"/>
                <a:gd name="T26" fmla="*/ 1179 w 1179"/>
                <a:gd name="T27" fmla="*/ 680 h 6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9" h="680">
                  <a:moveTo>
                    <a:pt x="0" y="408"/>
                  </a:moveTo>
                  <a:lnTo>
                    <a:pt x="317" y="680"/>
                  </a:lnTo>
                  <a:lnTo>
                    <a:pt x="816" y="635"/>
                  </a:lnTo>
                  <a:lnTo>
                    <a:pt x="1179" y="408"/>
                  </a:lnTo>
                  <a:lnTo>
                    <a:pt x="907" y="45"/>
                  </a:lnTo>
                  <a:lnTo>
                    <a:pt x="544" y="90"/>
                  </a:lnTo>
                  <a:lnTo>
                    <a:pt x="136" y="0"/>
                  </a:lnTo>
                  <a:lnTo>
                    <a:pt x="0" y="363"/>
                  </a:lnTo>
                </a:path>
              </a:pathLst>
            </a:custGeom>
            <a:solidFill>
              <a:srgbClr val="FFCCFF"/>
            </a:solidFill>
            <a:ln w="9525" cap="flat" cmpd="sng">
              <a:noFill/>
              <a:prstDash val="solid"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8" name="Oval 5"/>
            <p:cNvSpPr>
              <a:spLocks noChangeArrowheads="1"/>
            </p:cNvSpPr>
            <p:nvPr/>
          </p:nvSpPr>
          <p:spPr bwMode="auto">
            <a:xfrm>
              <a:off x="5364163" y="2708275"/>
              <a:ext cx="358775" cy="360363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/>
                <a:t>s</a:t>
              </a:r>
            </a:p>
          </p:txBody>
        </p:sp>
        <p:sp>
          <p:nvSpPr>
            <p:cNvPr id="15369" name="Oval 6"/>
            <p:cNvSpPr>
              <a:spLocks noChangeArrowheads="1"/>
            </p:cNvSpPr>
            <p:nvPr/>
          </p:nvSpPr>
          <p:spPr bwMode="auto">
            <a:xfrm>
              <a:off x="7235825" y="2708275"/>
              <a:ext cx="358775" cy="360363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/>
                <a:t>t</a:t>
              </a:r>
            </a:p>
          </p:txBody>
        </p:sp>
        <p:sp>
          <p:nvSpPr>
            <p:cNvPr id="15374" name="Text Box 13"/>
            <p:cNvSpPr txBox="1">
              <a:spLocks noChangeArrowheads="1"/>
            </p:cNvSpPr>
            <p:nvPr/>
          </p:nvSpPr>
          <p:spPr bwMode="auto">
            <a:xfrm>
              <a:off x="5883275" y="2657475"/>
              <a:ext cx="404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/>
                <a:t>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55864-5BF7-4AAE-B57F-D941BDE2C539}"/>
              </a:ext>
            </a:extLst>
          </p:cNvPr>
          <p:cNvGrpSpPr/>
          <p:nvPr/>
        </p:nvGrpSpPr>
        <p:grpSpPr>
          <a:xfrm>
            <a:off x="5581675" y="2781349"/>
            <a:ext cx="3359150" cy="1655763"/>
            <a:chOff x="4787900" y="3860800"/>
            <a:chExt cx="3359150" cy="1655763"/>
          </a:xfrm>
        </p:grpSpPr>
        <p:sp>
          <p:nvSpPr>
            <p:cNvPr id="15364" name="Freeform 11"/>
            <p:cNvSpPr>
              <a:spLocks/>
            </p:cNvSpPr>
            <p:nvPr/>
          </p:nvSpPr>
          <p:spPr bwMode="auto">
            <a:xfrm>
              <a:off x="4787900" y="3860800"/>
              <a:ext cx="3359150" cy="1150938"/>
            </a:xfrm>
            <a:custGeom>
              <a:avLst/>
              <a:gdLst>
                <a:gd name="T0" fmla="*/ 2147483647 w 2116"/>
                <a:gd name="T1" fmla="*/ 2147483647 h 725"/>
                <a:gd name="T2" fmla="*/ 2147483647 w 2116"/>
                <a:gd name="T3" fmla="*/ 2147483647 h 725"/>
                <a:gd name="T4" fmla="*/ 2147483647 w 2116"/>
                <a:gd name="T5" fmla="*/ 2147483647 h 725"/>
                <a:gd name="T6" fmla="*/ 2147483647 w 2116"/>
                <a:gd name="T7" fmla="*/ 2147483647 h 725"/>
                <a:gd name="T8" fmla="*/ 0 w 2116"/>
                <a:gd name="T9" fmla="*/ 2147483647 h 725"/>
                <a:gd name="T10" fmla="*/ 2147483647 w 2116"/>
                <a:gd name="T11" fmla="*/ 2147483647 h 7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16"/>
                <a:gd name="T19" fmla="*/ 0 h 725"/>
                <a:gd name="T20" fmla="*/ 2116 w 2116"/>
                <a:gd name="T21" fmla="*/ 725 h 7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16" h="725">
                  <a:moveTo>
                    <a:pt x="1678" y="725"/>
                  </a:moveTo>
                  <a:cubicBezTo>
                    <a:pt x="1897" y="600"/>
                    <a:pt x="2116" y="475"/>
                    <a:pt x="2086" y="362"/>
                  </a:cubicBezTo>
                  <a:cubicBezTo>
                    <a:pt x="2056" y="249"/>
                    <a:pt x="1784" y="90"/>
                    <a:pt x="1497" y="45"/>
                  </a:cubicBezTo>
                  <a:cubicBezTo>
                    <a:pt x="1210" y="0"/>
                    <a:pt x="612" y="22"/>
                    <a:pt x="363" y="90"/>
                  </a:cubicBezTo>
                  <a:cubicBezTo>
                    <a:pt x="114" y="158"/>
                    <a:pt x="0" y="347"/>
                    <a:pt x="0" y="453"/>
                  </a:cubicBezTo>
                  <a:cubicBezTo>
                    <a:pt x="0" y="559"/>
                    <a:pt x="181" y="642"/>
                    <a:pt x="363" y="72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0" name="Freeform 8"/>
            <p:cNvSpPr>
              <a:spLocks/>
            </p:cNvSpPr>
            <p:nvPr/>
          </p:nvSpPr>
          <p:spPr bwMode="auto">
            <a:xfrm>
              <a:off x="5580063" y="4437063"/>
              <a:ext cx="1871662" cy="1079500"/>
            </a:xfrm>
            <a:custGeom>
              <a:avLst/>
              <a:gdLst>
                <a:gd name="T0" fmla="*/ 0 w 1179"/>
                <a:gd name="T1" fmla="*/ 2147483647 h 680"/>
                <a:gd name="T2" fmla="*/ 2147483647 w 1179"/>
                <a:gd name="T3" fmla="*/ 2147483647 h 680"/>
                <a:gd name="T4" fmla="*/ 2147483647 w 1179"/>
                <a:gd name="T5" fmla="*/ 2147483647 h 680"/>
                <a:gd name="T6" fmla="*/ 2147483647 w 1179"/>
                <a:gd name="T7" fmla="*/ 2147483647 h 680"/>
                <a:gd name="T8" fmla="*/ 2147483647 w 1179"/>
                <a:gd name="T9" fmla="*/ 2147483647 h 680"/>
                <a:gd name="T10" fmla="*/ 2147483647 w 1179"/>
                <a:gd name="T11" fmla="*/ 2147483647 h 680"/>
                <a:gd name="T12" fmla="*/ 2147483647 w 1179"/>
                <a:gd name="T13" fmla="*/ 0 h 680"/>
                <a:gd name="T14" fmla="*/ 0 w 1179"/>
                <a:gd name="T15" fmla="*/ 2147483647 h 6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9"/>
                <a:gd name="T25" fmla="*/ 0 h 680"/>
                <a:gd name="T26" fmla="*/ 1179 w 1179"/>
                <a:gd name="T27" fmla="*/ 680 h 6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9" h="680">
                  <a:moveTo>
                    <a:pt x="0" y="408"/>
                  </a:moveTo>
                  <a:lnTo>
                    <a:pt x="317" y="680"/>
                  </a:lnTo>
                  <a:lnTo>
                    <a:pt x="816" y="635"/>
                  </a:lnTo>
                  <a:lnTo>
                    <a:pt x="1179" y="408"/>
                  </a:lnTo>
                  <a:lnTo>
                    <a:pt x="907" y="45"/>
                  </a:lnTo>
                  <a:lnTo>
                    <a:pt x="544" y="90"/>
                  </a:lnTo>
                  <a:lnTo>
                    <a:pt x="136" y="0"/>
                  </a:lnTo>
                  <a:lnTo>
                    <a:pt x="0" y="363"/>
                  </a:lnTo>
                </a:path>
              </a:pathLst>
            </a:custGeom>
            <a:solidFill>
              <a:srgbClr val="FFCCFF"/>
            </a:solidFill>
            <a:ln w="9525" cap="flat" cmpd="sng">
              <a:noFill/>
              <a:prstDash val="solid"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1" name="Oval 9"/>
            <p:cNvSpPr>
              <a:spLocks noChangeArrowheads="1"/>
            </p:cNvSpPr>
            <p:nvPr/>
          </p:nvSpPr>
          <p:spPr bwMode="auto">
            <a:xfrm>
              <a:off x="5364163" y="4868863"/>
              <a:ext cx="358775" cy="360362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/>
                <a:t>s</a:t>
              </a:r>
            </a:p>
          </p:txBody>
        </p:sp>
        <p:sp>
          <p:nvSpPr>
            <p:cNvPr id="15372" name="Oval 10"/>
            <p:cNvSpPr>
              <a:spLocks noChangeArrowheads="1"/>
            </p:cNvSpPr>
            <p:nvPr/>
          </p:nvSpPr>
          <p:spPr bwMode="auto">
            <a:xfrm>
              <a:off x="7235825" y="4868863"/>
              <a:ext cx="358775" cy="360362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/>
                <a:t>t</a:t>
              </a:r>
            </a:p>
          </p:txBody>
        </p:sp>
        <p:sp>
          <p:nvSpPr>
            <p:cNvPr id="15375" name="Text Box 14"/>
            <p:cNvSpPr txBox="1">
              <a:spLocks noChangeArrowheads="1"/>
            </p:cNvSpPr>
            <p:nvPr/>
          </p:nvSpPr>
          <p:spPr bwMode="auto">
            <a:xfrm>
              <a:off x="5867400" y="4797425"/>
              <a:ext cx="404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/>
                <a:t>G</a:t>
              </a:r>
            </a:p>
          </p:txBody>
        </p: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27FD71A-10E8-4468-95AB-C04CC0AE9622}"/>
              </a:ext>
            </a:extLst>
          </p:cNvPr>
          <p:cNvSpPr/>
          <p:nvPr/>
        </p:nvSpPr>
        <p:spPr bwMode="auto">
          <a:xfrm>
            <a:off x="4219330" y="3261251"/>
            <a:ext cx="1137140" cy="600393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3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Circulation with lower bounds to maximum flow without lower bounds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Finding a circulation with lower bounds is transformed to finding a maximum flow in a new network</a:t>
            </a:r>
          </a:p>
          <a:p>
            <a:pPr lvl="1" eaLnBrk="1" hangingPunct="1"/>
            <a:r>
              <a:rPr lang="en-US" altLang="nl-NL" dirty="0"/>
              <a:t>Create a new source </a:t>
            </a:r>
          </a:p>
          <a:p>
            <a:pPr lvl="1" eaLnBrk="1" hangingPunct="1"/>
            <a:r>
              <a:rPr lang="en-US" altLang="nl-NL" dirty="0"/>
              <a:t>Create a new sink</a:t>
            </a:r>
          </a:p>
          <a:p>
            <a:pPr lvl="1" eaLnBrk="1" hangingPunct="1"/>
            <a:r>
              <a:rPr lang="en-US" altLang="nl-NL" dirty="0"/>
              <a:t>Replace each arc by three arcs as follows…</a:t>
            </a:r>
          </a:p>
          <a:p>
            <a:pPr lvl="1" eaLnBrk="1" hangingPunct="1"/>
            <a:r>
              <a:rPr lang="en-US" altLang="nl-NL" dirty="0"/>
              <a:t>All new arcs have no flow lower bound</a:t>
            </a:r>
          </a:p>
          <a:p>
            <a:pPr lvl="1" eaLnBrk="1" hangingPunct="1"/>
            <a:r>
              <a:rPr lang="en-US" altLang="nl-NL" dirty="0"/>
              <a:t>Only a capacity / flow upper bound</a:t>
            </a:r>
          </a:p>
          <a:p>
            <a:pPr eaLnBrk="1" hangingPunct="1"/>
            <a:endParaRPr lang="en-US" alt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8AA23A-D894-469C-9CFF-24567FC6B441}"/>
              </a:ext>
            </a:extLst>
          </p:cNvPr>
          <p:cNvGrpSpPr/>
          <p:nvPr/>
        </p:nvGrpSpPr>
        <p:grpSpPr>
          <a:xfrm>
            <a:off x="632101" y="4108103"/>
            <a:ext cx="2286000" cy="1147465"/>
            <a:chOff x="3046413" y="1676400"/>
            <a:chExt cx="2286000" cy="1147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11">
                  <a:extLst>
                    <a:ext uri="{FF2B5EF4-FFF2-40B4-BE49-F238E27FC236}">
                      <a16:creationId xmlns:a16="http://schemas.microsoft.com/office/drawing/2014/main" id="{4B40D3A6-B09A-401C-9AE9-03B487D9F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6413" y="2016125"/>
                  <a:ext cx="533400" cy="53340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26" name="Oval 11">
                  <a:extLst>
                    <a:ext uri="{FF2B5EF4-FFF2-40B4-BE49-F238E27FC236}">
                      <a16:creationId xmlns:a16="http://schemas.microsoft.com/office/drawing/2014/main" id="{4B40D3A6-B09A-401C-9AE9-03B487D9FD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46413" y="2016125"/>
                  <a:ext cx="533400" cy="533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12">
                  <a:extLst>
                    <a:ext uri="{FF2B5EF4-FFF2-40B4-BE49-F238E27FC236}">
                      <a16:creationId xmlns:a16="http://schemas.microsoft.com/office/drawing/2014/main" id="{99E72CF5-9B06-4921-AC0B-CC409C0435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9013" y="2016125"/>
                  <a:ext cx="533400" cy="53340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27" name="Oval 12">
                  <a:extLst>
                    <a:ext uri="{FF2B5EF4-FFF2-40B4-BE49-F238E27FC236}">
                      <a16:creationId xmlns:a16="http://schemas.microsoft.com/office/drawing/2014/main" id="{99E72CF5-9B06-4921-AC0B-CC409C0435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99013" y="2016125"/>
                  <a:ext cx="533400" cy="5334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13">
              <a:extLst>
                <a:ext uri="{FF2B5EF4-FFF2-40B4-BE49-F238E27FC236}">
                  <a16:creationId xmlns:a16="http://schemas.microsoft.com/office/drawing/2014/main" id="{1C22CD97-762D-494A-982F-CC9EB6279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9813" y="2276872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4">
                  <a:extLst>
                    <a:ext uri="{FF2B5EF4-FFF2-40B4-BE49-F238E27FC236}">
                      <a16:creationId xmlns:a16="http://schemas.microsoft.com/office/drawing/2014/main" id="{597954B1-EE78-4CA5-B366-3B8B00DF3A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83880" y="1676400"/>
                  <a:ext cx="80464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29" name="Text Box 14">
                  <a:extLst>
                    <a:ext uri="{FF2B5EF4-FFF2-40B4-BE49-F238E27FC236}">
                      <a16:creationId xmlns:a16="http://schemas.microsoft.com/office/drawing/2014/main" id="{597954B1-EE78-4CA5-B366-3B8B00DF3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83880" y="1676400"/>
                  <a:ext cx="80464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515"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5">
                  <a:extLst>
                    <a:ext uri="{FF2B5EF4-FFF2-40B4-BE49-F238E27FC236}">
                      <a16:creationId xmlns:a16="http://schemas.microsoft.com/office/drawing/2014/main" id="{0EC36C48-F7B1-459E-BE6C-3BF5A1E9B0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14639" y="2362200"/>
                  <a:ext cx="84792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2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30" name="Text Box 15">
                  <a:extLst>
                    <a:ext uri="{FF2B5EF4-FFF2-40B4-BE49-F238E27FC236}">
                      <a16:creationId xmlns:a16="http://schemas.microsoft.com/office/drawing/2014/main" id="{0EC36C48-F7B1-459E-BE6C-3BF5A1E9B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14639" y="2362200"/>
                  <a:ext cx="84792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C39E0E-1F9C-4128-A1B9-9DEAFAE1C63B}"/>
              </a:ext>
            </a:extLst>
          </p:cNvPr>
          <p:cNvGrpSpPr/>
          <p:nvPr/>
        </p:nvGrpSpPr>
        <p:grpSpPr>
          <a:xfrm>
            <a:off x="4720172" y="3076278"/>
            <a:ext cx="3421733" cy="3646979"/>
            <a:chOff x="2809669" y="3085803"/>
            <a:chExt cx="3421733" cy="3646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5">
                  <a:extLst>
                    <a:ext uri="{FF2B5EF4-FFF2-40B4-BE49-F238E27FC236}">
                      <a16:creationId xmlns:a16="http://schemas.microsoft.com/office/drawing/2014/main" id="{9BDF4B5B-29C2-4B95-A013-6EC464597C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15126" y="3085803"/>
                  <a:ext cx="516276" cy="505368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nl-NL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nl-NL" altLang="nl-NL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Oval 5">
                  <a:extLst>
                    <a:ext uri="{FF2B5EF4-FFF2-40B4-BE49-F238E27FC236}">
                      <a16:creationId xmlns:a16="http://schemas.microsoft.com/office/drawing/2014/main" id="{9BDF4B5B-29C2-4B95-A013-6EC464597C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15126" y="3085803"/>
                  <a:ext cx="516276" cy="505368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6">
                  <a:extLst>
                    <a:ext uri="{FF2B5EF4-FFF2-40B4-BE49-F238E27FC236}">
                      <a16:creationId xmlns:a16="http://schemas.microsoft.com/office/drawing/2014/main" id="{F6C5EF4B-7CFD-482A-A767-439D55B84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24200" y="4572000"/>
                  <a:ext cx="533400" cy="53340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33" name="Oval 6">
                  <a:extLst>
                    <a:ext uri="{FF2B5EF4-FFF2-40B4-BE49-F238E27FC236}">
                      <a16:creationId xmlns:a16="http://schemas.microsoft.com/office/drawing/2014/main" id="{F6C5EF4B-7CFD-482A-A767-439D55B845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24200" y="4572000"/>
                  <a:ext cx="533400" cy="5334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7">
                  <a:extLst>
                    <a:ext uri="{FF2B5EF4-FFF2-40B4-BE49-F238E27FC236}">
                      <a16:creationId xmlns:a16="http://schemas.microsoft.com/office/drawing/2014/main" id="{A711D286-62D0-40A7-8603-755885D7A3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76800" y="4572000"/>
                  <a:ext cx="533400" cy="53340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nl-NL" altLang="nl-NL" sz="2400" dirty="0"/>
                </a:p>
              </p:txBody>
            </p:sp>
          </mc:Choice>
          <mc:Fallback xmlns="">
            <p:sp>
              <p:nvSpPr>
                <p:cNvPr id="34" name="Oval 7">
                  <a:extLst>
                    <a:ext uri="{FF2B5EF4-FFF2-40B4-BE49-F238E27FC236}">
                      <a16:creationId xmlns:a16="http://schemas.microsoft.com/office/drawing/2014/main" id="{A711D286-62D0-40A7-8603-755885D7A3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76800" y="4572000"/>
                  <a:ext cx="533400" cy="5334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Line 8">
              <a:extLst>
                <a:ext uri="{FF2B5EF4-FFF2-40B4-BE49-F238E27FC236}">
                  <a16:creationId xmlns:a16="http://schemas.microsoft.com/office/drawing/2014/main" id="{12AF5D68-0F6E-477A-A4CB-EBF9A6E25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4876800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10">
                  <a:extLst>
                    <a:ext uri="{FF2B5EF4-FFF2-40B4-BE49-F238E27FC236}">
                      <a16:creationId xmlns:a16="http://schemas.microsoft.com/office/drawing/2014/main" id="{10A34334-EDC8-4287-B0E7-0A0EC913EC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3034" y="4897428"/>
                  <a:ext cx="1363129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36" name="Text Box 10">
                  <a:extLst>
                    <a:ext uri="{FF2B5EF4-FFF2-40B4-BE49-F238E27FC236}">
                      <a16:creationId xmlns:a16="http://schemas.microsoft.com/office/drawing/2014/main" id="{10A34334-EDC8-4287-B0E7-0A0EC913E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23034" y="4897428"/>
                  <a:ext cx="1363129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5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Line 17">
              <a:extLst>
                <a:ext uri="{FF2B5EF4-FFF2-40B4-BE49-F238E27FC236}">
                  <a16:creationId xmlns:a16="http://schemas.microsoft.com/office/drawing/2014/main" id="{976E535B-B6AD-4904-BF72-8788D3C05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7195" y="5053879"/>
              <a:ext cx="1686131" cy="12134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18">
              <a:extLst>
                <a:ext uri="{FF2B5EF4-FFF2-40B4-BE49-F238E27FC236}">
                  <a16:creationId xmlns:a16="http://schemas.microsoft.com/office/drawing/2014/main" id="{BE0ACCB3-1F3F-42A3-90AA-ED8903D05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1400" y="3429000"/>
              <a:ext cx="2192802" cy="1219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19">
                  <a:extLst>
                    <a:ext uri="{FF2B5EF4-FFF2-40B4-BE49-F238E27FC236}">
                      <a16:creationId xmlns:a16="http://schemas.microsoft.com/office/drawing/2014/main" id="{64E58B82-4FBB-4913-8BDB-E9DECBF5EE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3788" y="3438525"/>
                  <a:ext cx="64806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39" name="Text Box 19">
                  <a:extLst>
                    <a:ext uri="{FF2B5EF4-FFF2-40B4-BE49-F238E27FC236}">
                      <a16:creationId xmlns:a16="http://schemas.microsoft.com/office/drawing/2014/main" id="{64E58B82-4FBB-4913-8BDB-E9DECBF5E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3788" y="3438525"/>
                  <a:ext cx="64806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5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20">
                  <a:extLst>
                    <a:ext uri="{FF2B5EF4-FFF2-40B4-BE49-F238E27FC236}">
                      <a16:creationId xmlns:a16="http://schemas.microsoft.com/office/drawing/2014/main" id="{B22189D4-2721-48A3-8A44-B3BA23996C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9688" y="5929460"/>
                  <a:ext cx="64806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40" name="Text Box 20">
                  <a:extLst>
                    <a:ext uri="{FF2B5EF4-FFF2-40B4-BE49-F238E27FC236}">
                      <a16:creationId xmlns:a16="http://schemas.microsoft.com/office/drawing/2014/main" id="{B22189D4-2721-48A3-8A44-B3BA23996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49688" y="5929460"/>
                  <a:ext cx="64806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val 4">
                  <a:extLst>
                    <a:ext uri="{FF2B5EF4-FFF2-40B4-BE49-F238E27FC236}">
                      <a16:creationId xmlns:a16="http://schemas.microsoft.com/office/drawing/2014/main" id="{42BBC43E-29A9-4091-B28E-BC18BAA93B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9669" y="6199382"/>
                  <a:ext cx="533400" cy="533400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nl-NL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nl-NL" altLang="nl-NL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Oval 4">
                  <a:extLst>
                    <a:ext uri="{FF2B5EF4-FFF2-40B4-BE49-F238E27FC236}">
                      <a16:creationId xmlns:a16="http://schemas.microsoft.com/office/drawing/2014/main" id="{42BBC43E-29A9-4091-B28E-BC18BAA93B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669" y="6199382"/>
                  <a:ext cx="533400" cy="533400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BAE203F-156C-4424-9BA8-4187C189F38E}"/>
              </a:ext>
            </a:extLst>
          </p:cNvPr>
          <p:cNvSpPr/>
          <p:nvPr/>
        </p:nvSpPr>
        <p:spPr bwMode="auto">
          <a:xfrm>
            <a:off x="3481036" y="4339684"/>
            <a:ext cx="1137140" cy="600393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45" name="Text Box 22">
            <a:extLst>
              <a:ext uri="{FF2B5EF4-FFF2-40B4-BE49-F238E27FC236}">
                <a16:creationId xmlns:a16="http://schemas.microsoft.com/office/drawing/2014/main" id="{B0BE2EF7-A260-4AC4-9FFF-7798F2A73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1403" y="6436834"/>
            <a:ext cx="1380506" cy="3385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600" dirty="0">
                <a:solidFill>
                  <a:schemeClr val="bg1"/>
                </a:solidFill>
                <a:latin typeface="+mn-lt"/>
              </a:rPr>
              <a:t>New source</a:t>
            </a:r>
            <a:endParaRPr lang="nl-NL" altLang="nl-NL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CD9C16B8-13BB-4CD9-A26D-765626957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711" y="3665804"/>
            <a:ext cx="1116011" cy="3385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600" dirty="0">
                <a:solidFill>
                  <a:schemeClr val="bg1"/>
                </a:solidFill>
                <a:latin typeface="+mn-lt"/>
              </a:rPr>
              <a:t>New sink</a:t>
            </a:r>
            <a:endParaRPr lang="nl-NL" altLang="nl-NL" sz="16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Circulation with lower bounds to maximum flow and back again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altLang="nl-NL" dirty="0"/>
                  <a:t>Find maximum flow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nl-NL" dirty="0"/>
                  <a:t> from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nl-NL" dirty="0"/>
                  <a:t> to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GB" altLang="nl-NL" dirty="0"/>
              </a:p>
              <a:p>
                <a:r>
                  <a:rPr lang="en-GB" altLang="nl-NL" dirty="0"/>
                  <a:t>If all arcs from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nl-NL" dirty="0"/>
                  <a:t> (and hence all arcs to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nl-NL" dirty="0"/>
                  <a:t>) use full capacity, then we have admissible circulation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nl-NL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nl-NL" dirty="0"/>
                  <a:t> for all arcs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altLang="nl-NL" dirty="0"/>
              </a:p>
              <a:p>
                <a:pPr lvl="1"/>
                <a:r>
                  <a:rPr lang="en-GB" altLang="nl-NL" dirty="0"/>
                  <a:t>Construction ensures that this circulation is admissible.</a:t>
                </a:r>
              </a:p>
              <a:p>
                <a:pPr lvl="2"/>
                <a:r>
                  <a:rPr lang="en-GB" altLang="nl-NL" dirty="0"/>
                  <a:t>Capacity on the arc is reserved (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nl-NL" dirty="0"/>
                  <a:t>)</a:t>
                </a:r>
              </a:p>
              <a:p>
                <a:pPr lvl="2"/>
                <a:r>
                  <a:rPr lang="en-GB" altLang="nl-NL" dirty="0"/>
                  <a:t>Flow into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 is present (and sent to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nl-NL" dirty="0"/>
                  <a:t>)</a:t>
                </a:r>
              </a:p>
              <a:p>
                <a:pPr lvl="2"/>
                <a:r>
                  <a:rPr lang="en-GB" altLang="nl-NL" dirty="0"/>
                  <a:t>Flow out of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altLang="nl-NL" dirty="0"/>
                  <a:t> is present </a:t>
                </a:r>
                <a:br>
                  <a:rPr lang="en-GB" altLang="nl-NL" dirty="0"/>
                </a:br>
                <a:r>
                  <a:rPr lang="en-GB" altLang="nl-NL" dirty="0"/>
                  <a:t>(and comes from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nl-NL" dirty="0"/>
                  <a:t>)</a:t>
                </a:r>
                <a:endParaRPr lang="en-GB" altLang="nl-NL" sz="800" dirty="0"/>
              </a:p>
              <a:p>
                <a:pPr marL="0" indent="0">
                  <a:buNone/>
                </a:pPr>
                <a:r>
                  <a:rPr lang="en-GB" altLang="nl-NL" b="1" dirty="0"/>
                  <a:t>Other way around also:</a:t>
                </a:r>
              </a:p>
              <a:p>
                <a:r>
                  <a:rPr lang="en-GB" altLang="nl-NL" dirty="0"/>
                  <a:t>If an admissible circulation </a:t>
                </a:r>
                <a:br>
                  <a:rPr lang="en-GB" altLang="nl-NL" dirty="0"/>
                </a:br>
                <a:r>
                  <a:rPr lang="en-GB" altLang="nl-NL" dirty="0"/>
                  <a:t>exists, then a flow where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nl-NL" dirty="0"/>
                  <a:t> </a:t>
                </a:r>
                <a:br>
                  <a:rPr lang="en-GB" altLang="nl-NL" dirty="0"/>
                </a:br>
                <a:r>
                  <a:rPr lang="en-GB" altLang="nl-NL" dirty="0"/>
                  <a:t>uses full capacity also exists:</a:t>
                </a:r>
              </a:p>
              <a:p>
                <a:pPr lvl="1"/>
                <a:r>
                  <a:rPr lang="en-GB" altLang="nl-NL" dirty="0"/>
                  <a:t>Subtract lower bounds from </a:t>
                </a:r>
                <a:br>
                  <a:rPr lang="en-GB" altLang="nl-NL" dirty="0"/>
                </a:br>
                <a:r>
                  <a:rPr lang="en-GB" altLang="nl-NL" dirty="0"/>
                  <a:t>the circulation</a:t>
                </a:r>
              </a:p>
            </p:txBody>
          </p:sp>
        </mc:Choice>
        <mc:Fallback xmlns="">
          <p:sp>
            <p:nvSpPr>
              <p:cNvPr id="1946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0" t="-769" r="-1237"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DB8DF4C-69E8-4A82-9001-44B8CF9C349F}"/>
              </a:ext>
            </a:extLst>
          </p:cNvPr>
          <p:cNvGrpSpPr/>
          <p:nvPr/>
        </p:nvGrpSpPr>
        <p:grpSpPr>
          <a:xfrm>
            <a:off x="5593091" y="2924944"/>
            <a:ext cx="3371397" cy="3628256"/>
            <a:chOff x="2809669" y="3104526"/>
            <a:chExt cx="3371397" cy="36282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5">
                  <a:extLst>
                    <a:ext uri="{FF2B5EF4-FFF2-40B4-BE49-F238E27FC236}">
                      <a16:creationId xmlns:a16="http://schemas.microsoft.com/office/drawing/2014/main" id="{A423ED44-67B5-4A5D-87BD-999D5FFB5B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15126" y="3104526"/>
                  <a:ext cx="465940" cy="486646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nl-NL" sz="1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nl-NL" altLang="nl-NL" sz="1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Oval 5">
                  <a:extLst>
                    <a:ext uri="{FF2B5EF4-FFF2-40B4-BE49-F238E27FC236}">
                      <a16:creationId xmlns:a16="http://schemas.microsoft.com/office/drawing/2014/main" id="{A423ED44-67B5-4A5D-87BD-999D5FFB5B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15126" y="3104526"/>
                  <a:ext cx="465940" cy="48664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6">
                  <a:extLst>
                    <a:ext uri="{FF2B5EF4-FFF2-40B4-BE49-F238E27FC236}">
                      <a16:creationId xmlns:a16="http://schemas.microsoft.com/office/drawing/2014/main" id="{EA655E78-4CA3-4485-BC3C-2C9325B391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24200" y="4572000"/>
                  <a:ext cx="533400" cy="53340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11" name="Oval 6">
                  <a:extLst>
                    <a:ext uri="{FF2B5EF4-FFF2-40B4-BE49-F238E27FC236}">
                      <a16:creationId xmlns:a16="http://schemas.microsoft.com/office/drawing/2014/main" id="{EA655E78-4CA3-4485-BC3C-2C9325B391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24200" y="4572000"/>
                  <a:ext cx="533400" cy="5334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7">
                  <a:extLst>
                    <a:ext uri="{FF2B5EF4-FFF2-40B4-BE49-F238E27FC236}">
                      <a16:creationId xmlns:a16="http://schemas.microsoft.com/office/drawing/2014/main" id="{096B9D7B-B428-455B-9A93-0986BBCFE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76800" y="4572000"/>
                  <a:ext cx="533400" cy="53340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12" name="Oval 7">
                  <a:extLst>
                    <a:ext uri="{FF2B5EF4-FFF2-40B4-BE49-F238E27FC236}">
                      <a16:creationId xmlns:a16="http://schemas.microsoft.com/office/drawing/2014/main" id="{096B9D7B-B428-455B-9A93-0986BBCFE6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76800" y="4572000"/>
                  <a:ext cx="533400" cy="5334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940CC023-9CC8-4437-BE2C-4EB5A2AC2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4876800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0">
                  <a:extLst>
                    <a:ext uri="{FF2B5EF4-FFF2-40B4-BE49-F238E27FC236}">
                      <a16:creationId xmlns:a16="http://schemas.microsoft.com/office/drawing/2014/main" id="{79C9005F-F29A-46C5-A5D6-F47D87B3C4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9523" y="4888469"/>
                  <a:ext cx="1363129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14" name="Text Box 10">
                  <a:extLst>
                    <a:ext uri="{FF2B5EF4-FFF2-40B4-BE49-F238E27FC236}">
                      <a16:creationId xmlns:a16="http://schemas.microsoft.com/office/drawing/2014/main" id="{79C9005F-F29A-46C5-A5D6-F47D87B3C4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9523" y="4888469"/>
                  <a:ext cx="136312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2EA74B75-18BD-4DE6-B197-351F084A0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7195" y="5053879"/>
              <a:ext cx="1686131" cy="12134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67BC21D9-1B79-4AB8-B7E7-A4EE31D5B0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1400" y="3429000"/>
              <a:ext cx="2192802" cy="1219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9">
                  <a:extLst>
                    <a:ext uri="{FF2B5EF4-FFF2-40B4-BE49-F238E27FC236}">
                      <a16:creationId xmlns:a16="http://schemas.microsoft.com/office/drawing/2014/main" id="{E16CD01F-5959-4F4B-8EC8-4C3B64D041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15264" y="3585326"/>
                  <a:ext cx="64806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17" name="Text Box 19">
                  <a:extLst>
                    <a:ext uri="{FF2B5EF4-FFF2-40B4-BE49-F238E27FC236}">
                      <a16:creationId xmlns:a16="http://schemas.microsoft.com/office/drawing/2014/main" id="{E16CD01F-5959-4F4B-8EC8-4C3B64D041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5264" y="3585326"/>
                  <a:ext cx="64806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5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20">
                  <a:extLst>
                    <a:ext uri="{FF2B5EF4-FFF2-40B4-BE49-F238E27FC236}">
                      <a16:creationId xmlns:a16="http://schemas.microsoft.com/office/drawing/2014/main" id="{BAD1103D-C055-4B3D-A114-9B14EC8CE0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9688" y="5929460"/>
                  <a:ext cx="64806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nl-NL" sz="1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NL" altLang="nl-NL" sz="1800" dirty="0"/>
                </a:p>
              </p:txBody>
            </p:sp>
          </mc:Choice>
          <mc:Fallback xmlns="">
            <p:sp>
              <p:nvSpPr>
                <p:cNvPr id="18" name="Text Box 20">
                  <a:extLst>
                    <a:ext uri="{FF2B5EF4-FFF2-40B4-BE49-F238E27FC236}">
                      <a16:creationId xmlns:a16="http://schemas.microsoft.com/office/drawing/2014/main" id="{BAD1103D-C055-4B3D-A114-9B14EC8CE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49688" y="5929460"/>
                  <a:ext cx="64806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4">
                  <a:extLst>
                    <a:ext uri="{FF2B5EF4-FFF2-40B4-BE49-F238E27FC236}">
                      <a16:creationId xmlns:a16="http://schemas.microsoft.com/office/drawing/2014/main" id="{3594DAF5-8059-401B-8D3B-4441CCA4EB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9669" y="6199382"/>
                  <a:ext cx="533400" cy="533400"/>
                </a:xfrm>
                <a:prstGeom prst="ellipse">
                  <a:avLst/>
                </a:prstGeom>
                <a:solidFill>
                  <a:srgbClr val="C00000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nl-NL" sz="1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nl-NL" altLang="nl-NL" sz="1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Oval 4">
                  <a:extLst>
                    <a:ext uri="{FF2B5EF4-FFF2-40B4-BE49-F238E27FC236}">
                      <a16:creationId xmlns:a16="http://schemas.microsoft.com/office/drawing/2014/main" id="{3594DAF5-8059-401B-8D3B-4441CCA4EB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669" y="6199382"/>
                  <a:ext cx="533400" cy="5334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round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C36B-B429-4706-8EB1-27C5E170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transformation</a:t>
            </a:r>
            <a:endParaRPr lang="nl-NL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B29A61-6DFB-4D43-A329-F6C3A2ED3177}"/>
              </a:ext>
            </a:extLst>
          </p:cNvPr>
          <p:cNvGrpSpPr/>
          <p:nvPr/>
        </p:nvGrpSpPr>
        <p:grpSpPr>
          <a:xfrm>
            <a:off x="1097040" y="1396293"/>
            <a:ext cx="2304256" cy="1462758"/>
            <a:chOff x="971600" y="1568760"/>
            <a:chExt cx="2304256" cy="146275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7D4AB0-05D5-463B-8719-99EF9F15446F}"/>
                </a:ext>
              </a:extLst>
            </p:cNvPr>
            <p:cNvSpPr/>
            <p:nvPr/>
          </p:nvSpPr>
          <p:spPr bwMode="auto">
            <a:xfrm>
              <a:off x="971600" y="2086182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5D2C585-C740-4835-90F7-C0F3755E4D0D}"/>
                </a:ext>
              </a:extLst>
            </p:cNvPr>
            <p:cNvSpPr/>
            <p:nvPr/>
          </p:nvSpPr>
          <p:spPr bwMode="auto">
            <a:xfrm>
              <a:off x="1968899" y="1568760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b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3AD064F-AB11-4D97-8EAD-293C6ACB6838}"/>
                </a:ext>
              </a:extLst>
            </p:cNvPr>
            <p:cNvSpPr/>
            <p:nvPr/>
          </p:nvSpPr>
          <p:spPr bwMode="auto">
            <a:xfrm>
              <a:off x="1968899" y="2663838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c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D76298E-1938-42CA-9B47-C62E6F007E84}"/>
                </a:ext>
              </a:extLst>
            </p:cNvPr>
            <p:cNvSpPr/>
            <p:nvPr/>
          </p:nvSpPr>
          <p:spPr bwMode="auto">
            <a:xfrm>
              <a:off x="2915816" y="2063978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d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84FC03-5F38-410C-8123-DB1C7B6A7E72}"/>
                </a:ext>
              </a:extLst>
            </p:cNvPr>
            <p:cNvCxnSpPr>
              <a:stCxn id="6" idx="7"/>
              <a:endCxn id="7" idx="2"/>
            </p:cNvCxnSpPr>
            <p:nvPr/>
          </p:nvCxnSpPr>
          <p:spPr bwMode="auto">
            <a:xfrm flipV="1">
              <a:off x="1278913" y="1752600"/>
              <a:ext cx="689986" cy="387427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35B59F5-430D-4C80-8A31-D3C787BFC0EA}"/>
                </a:ext>
              </a:extLst>
            </p:cNvPr>
            <p:cNvCxnSpPr>
              <a:stCxn id="7" idx="4"/>
              <a:endCxn id="8" idx="0"/>
            </p:cNvCxnSpPr>
            <p:nvPr/>
          </p:nvCxnSpPr>
          <p:spPr bwMode="auto">
            <a:xfrm>
              <a:off x="2148919" y="1936440"/>
              <a:ext cx="0" cy="727398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22D2084-1B96-42B0-B907-DE9F718A4E75}"/>
                </a:ext>
              </a:extLst>
            </p:cNvPr>
            <p:cNvCxnSpPr>
              <a:stCxn id="7" idx="6"/>
              <a:endCxn id="9" idx="1"/>
            </p:cNvCxnSpPr>
            <p:nvPr/>
          </p:nvCxnSpPr>
          <p:spPr bwMode="auto">
            <a:xfrm>
              <a:off x="2328939" y="1752600"/>
              <a:ext cx="639604" cy="365223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E3D7B08-954F-4A22-BCFC-D01105159818}"/>
                </a:ext>
              </a:extLst>
            </p:cNvPr>
            <p:cNvCxnSpPr>
              <a:stCxn id="9" idx="3"/>
              <a:endCxn id="8" idx="6"/>
            </p:cNvCxnSpPr>
            <p:nvPr/>
          </p:nvCxnSpPr>
          <p:spPr bwMode="auto">
            <a:xfrm flipH="1">
              <a:off x="2328939" y="2377813"/>
              <a:ext cx="639604" cy="469865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EEB01E-A77E-40F1-8F7B-611DDCC4C193}"/>
                </a:ext>
              </a:extLst>
            </p:cNvPr>
            <p:cNvCxnSpPr>
              <a:stCxn id="8" idx="2"/>
              <a:endCxn id="6" idx="5"/>
            </p:cNvCxnSpPr>
            <p:nvPr/>
          </p:nvCxnSpPr>
          <p:spPr bwMode="auto">
            <a:xfrm flipH="1" flipV="1">
              <a:off x="1278913" y="2400017"/>
              <a:ext cx="689986" cy="447661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765BBD-1138-4A07-899B-BD41B070D484}"/>
                </a:ext>
              </a:extLst>
            </p:cNvPr>
            <p:cNvSpPr txBox="1"/>
            <p:nvPr/>
          </p:nvSpPr>
          <p:spPr>
            <a:xfrm>
              <a:off x="1155292" y="1598711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0" dirty="0"/>
                <a:t>[2,5]</a:t>
              </a:r>
              <a:endParaRPr lang="nl-NL" sz="1400" i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9CA8DC-AD6D-4CC7-B77D-92F85D71ED94}"/>
                </a:ext>
              </a:extLst>
            </p:cNvPr>
            <p:cNvSpPr txBox="1"/>
            <p:nvPr/>
          </p:nvSpPr>
          <p:spPr>
            <a:xfrm>
              <a:off x="2508958" y="1568911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0" dirty="0"/>
                <a:t>[1,9]</a:t>
              </a:r>
              <a:endParaRPr lang="nl-NL" sz="1400" i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395EC6-A21E-4884-8A79-332000B50558}"/>
                </a:ext>
              </a:extLst>
            </p:cNvPr>
            <p:cNvSpPr txBox="1"/>
            <p:nvPr/>
          </p:nvSpPr>
          <p:spPr>
            <a:xfrm>
              <a:off x="2599878" y="2558318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0" dirty="0"/>
                <a:t>[0,6]</a:t>
              </a:r>
              <a:endParaRPr lang="nl-NL" sz="1400" i="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B23DB6-C449-484E-84A0-06F35FAC961C}"/>
                </a:ext>
              </a:extLst>
            </p:cNvPr>
            <p:cNvSpPr txBox="1"/>
            <p:nvPr/>
          </p:nvSpPr>
          <p:spPr>
            <a:xfrm>
              <a:off x="1065524" y="2631821"/>
              <a:ext cx="617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0" dirty="0"/>
                <a:t>[3,10]</a:t>
              </a:r>
              <a:endParaRPr lang="nl-NL" sz="1400" i="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52751F-A37E-4480-8093-E566EB701D3A}"/>
                </a:ext>
              </a:extLst>
            </p:cNvPr>
            <p:cNvSpPr txBox="1"/>
            <p:nvPr/>
          </p:nvSpPr>
          <p:spPr>
            <a:xfrm>
              <a:off x="2094668" y="2055855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0" dirty="0"/>
                <a:t>[2,3]</a:t>
              </a:r>
              <a:endParaRPr lang="nl-NL" sz="1400" i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A50EEF3-B0D7-4D64-AB8E-BC0D003D01BB}"/>
              </a:ext>
            </a:extLst>
          </p:cNvPr>
          <p:cNvSpPr txBox="1"/>
          <p:nvPr/>
        </p:nvSpPr>
        <p:spPr>
          <a:xfrm>
            <a:off x="3595030" y="1906596"/>
            <a:ext cx="2624934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Shown are:</a:t>
            </a:r>
          </a:p>
          <a:p>
            <a:r>
              <a:rPr lang="en-US" sz="1600" dirty="0"/>
              <a:t>[lower bound, capacity]</a:t>
            </a:r>
            <a:endParaRPr lang="nl-NL" sz="1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1F3F9C-7193-4BF6-A500-787236344532}"/>
              </a:ext>
            </a:extLst>
          </p:cNvPr>
          <p:cNvGrpSpPr/>
          <p:nvPr/>
        </p:nvGrpSpPr>
        <p:grpSpPr>
          <a:xfrm>
            <a:off x="2905044" y="2797443"/>
            <a:ext cx="5849371" cy="3377153"/>
            <a:chOff x="2148919" y="3082790"/>
            <a:chExt cx="5849371" cy="337715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0E04455-27B5-4492-A837-DB53F0175490}"/>
                </a:ext>
              </a:extLst>
            </p:cNvPr>
            <p:cNvSpPr/>
            <p:nvPr/>
          </p:nvSpPr>
          <p:spPr bwMode="auto">
            <a:xfrm>
              <a:off x="3880532" y="4587318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0553C3D-3BCF-4E8D-820B-4962E2FFDA26}"/>
                </a:ext>
              </a:extLst>
            </p:cNvPr>
            <p:cNvSpPr/>
            <p:nvPr/>
          </p:nvSpPr>
          <p:spPr bwMode="auto">
            <a:xfrm>
              <a:off x="4877831" y="4069896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b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419226A-2135-45D0-93E9-969471DDA378}"/>
                </a:ext>
              </a:extLst>
            </p:cNvPr>
            <p:cNvSpPr/>
            <p:nvPr/>
          </p:nvSpPr>
          <p:spPr bwMode="auto">
            <a:xfrm>
              <a:off x="4877831" y="5164974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c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15BE92E-410B-4DB8-89D2-CD08971CFD20}"/>
                </a:ext>
              </a:extLst>
            </p:cNvPr>
            <p:cNvSpPr/>
            <p:nvPr/>
          </p:nvSpPr>
          <p:spPr bwMode="auto">
            <a:xfrm>
              <a:off x="5824748" y="4565114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d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9F97490-65B1-4833-8176-9A43DF5CC591}"/>
                </a:ext>
              </a:extLst>
            </p:cNvPr>
            <p:cNvCxnSpPr>
              <a:stCxn id="27" idx="7"/>
              <a:endCxn id="28" idx="2"/>
            </p:cNvCxnSpPr>
            <p:nvPr/>
          </p:nvCxnSpPr>
          <p:spPr bwMode="auto">
            <a:xfrm flipV="1">
              <a:off x="4187845" y="4253736"/>
              <a:ext cx="689986" cy="387427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BC2CBAA-A1FC-407F-9246-B12DD4DF6519}"/>
                </a:ext>
              </a:extLst>
            </p:cNvPr>
            <p:cNvCxnSpPr>
              <a:stCxn id="28" idx="4"/>
              <a:endCxn id="29" idx="0"/>
            </p:cNvCxnSpPr>
            <p:nvPr/>
          </p:nvCxnSpPr>
          <p:spPr bwMode="auto">
            <a:xfrm>
              <a:off x="5057851" y="4437576"/>
              <a:ext cx="0" cy="727398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112582E-4E5C-4B43-97F9-E4C7BF4DF89D}"/>
                </a:ext>
              </a:extLst>
            </p:cNvPr>
            <p:cNvCxnSpPr>
              <a:stCxn id="28" idx="6"/>
              <a:endCxn id="30" idx="1"/>
            </p:cNvCxnSpPr>
            <p:nvPr/>
          </p:nvCxnSpPr>
          <p:spPr bwMode="auto">
            <a:xfrm>
              <a:off x="5237871" y="4253736"/>
              <a:ext cx="639604" cy="365223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3280B5E-30A7-4177-A650-795F36226F92}"/>
                </a:ext>
              </a:extLst>
            </p:cNvPr>
            <p:cNvCxnSpPr>
              <a:stCxn id="30" idx="3"/>
              <a:endCxn id="29" idx="6"/>
            </p:cNvCxnSpPr>
            <p:nvPr/>
          </p:nvCxnSpPr>
          <p:spPr bwMode="auto">
            <a:xfrm flipH="1">
              <a:off x="5237871" y="4878949"/>
              <a:ext cx="639604" cy="469865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8315301-1B04-4D59-951E-D3BD4E1D4F86}"/>
                </a:ext>
              </a:extLst>
            </p:cNvPr>
            <p:cNvCxnSpPr>
              <a:stCxn id="29" idx="2"/>
              <a:endCxn id="27" idx="5"/>
            </p:cNvCxnSpPr>
            <p:nvPr/>
          </p:nvCxnSpPr>
          <p:spPr bwMode="auto">
            <a:xfrm flipH="1" flipV="1">
              <a:off x="4187845" y="4901153"/>
              <a:ext cx="689986" cy="447661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FD7A3A-4717-4D10-BA09-6B894C00AA90}"/>
                </a:ext>
              </a:extLst>
            </p:cNvPr>
            <p:cNvSpPr txBox="1"/>
            <p:nvPr/>
          </p:nvSpPr>
          <p:spPr>
            <a:xfrm>
              <a:off x="4261840" y="40229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EF98BF-E62F-42C6-B2FC-0A2C371692B0}"/>
                </a:ext>
              </a:extLst>
            </p:cNvPr>
            <p:cNvSpPr txBox="1"/>
            <p:nvPr/>
          </p:nvSpPr>
          <p:spPr>
            <a:xfrm>
              <a:off x="5493682" y="414955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8</a:t>
              </a:r>
              <a:endParaRPr lang="nl-NL" sz="1800" i="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488F5DB-C94A-41E1-9418-E5BB5823966E}"/>
                </a:ext>
              </a:extLst>
            </p:cNvPr>
            <p:cNvSpPr txBox="1"/>
            <p:nvPr/>
          </p:nvSpPr>
          <p:spPr>
            <a:xfrm>
              <a:off x="5508235" y="49773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6</a:t>
              </a:r>
              <a:endParaRPr lang="nl-NL" sz="1800" i="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DD79B0E-F824-453E-A8BE-1ECFB0D77F02}"/>
                </a:ext>
              </a:extLst>
            </p:cNvPr>
            <p:cNvSpPr txBox="1"/>
            <p:nvPr/>
          </p:nvSpPr>
          <p:spPr>
            <a:xfrm>
              <a:off x="4296089" y="50438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7</a:t>
              </a:r>
              <a:endParaRPr lang="nl-NL" sz="1800" i="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7F14DAB-4951-4EE5-A1F6-8B73FB70E4BE}"/>
                </a:ext>
              </a:extLst>
            </p:cNvPr>
            <p:cNvSpPr txBox="1"/>
            <p:nvPr/>
          </p:nvSpPr>
          <p:spPr>
            <a:xfrm>
              <a:off x="5017146" y="45531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1</a:t>
              </a:r>
              <a:endParaRPr lang="nl-NL" sz="1800" i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79F33158-E768-4417-B993-0E221880F978}"/>
                    </a:ext>
                  </a:extLst>
                </p:cNvPr>
                <p:cNvSpPr/>
                <p:nvPr/>
              </p:nvSpPr>
              <p:spPr bwMode="auto">
                <a:xfrm>
                  <a:off x="2148919" y="4641163"/>
                  <a:ext cx="689986" cy="70644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kumimoji="0" lang="nl-NL" sz="1800" b="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charset="0"/>
                  </a:endParaRPr>
                </a:p>
              </p:txBody>
            </p:sp>
          </mc:Choice>
          <mc:Fallback xmlns=""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79F33158-E768-4417-B993-0E221880F9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48919" y="4641163"/>
                  <a:ext cx="689986" cy="70644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A1C5EC0-52E5-4192-8BC6-8B6CE236CAE8}"/>
                    </a:ext>
                  </a:extLst>
                </p:cNvPr>
                <p:cNvSpPr/>
                <p:nvPr/>
              </p:nvSpPr>
              <p:spPr bwMode="auto">
                <a:xfrm>
                  <a:off x="7308304" y="4423914"/>
                  <a:ext cx="689986" cy="70644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kumimoji="0" lang="nl-NL" sz="1800" b="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charset="0"/>
                  </a:endParaRPr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A1C5EC0-52E5-4192-8BC6-8B6CE236CA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08304" y="4423914"/>
                  <a:ext cx="689986" cy="70644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C21FBD4C-0C1A-4846-AE33-A25DC408E76F}"/>
                </a:ext>
              </a:extLst>
            </p:cNvPr>
            <p:cNvCxnSpPr>
              <a:stCxn id="27" idx="1"/>
              <a:endCxn id="41" idx="7"/>
            </p:cNvCxnSpPr>
            <p:nvPr/>
          </p:nvCxnSpPr>
          <p:spPr bwMode="auto">
            <a:xfrm rot="16200000" flipH="1" flipV="1">
              <a:off x="3283831" y="4095191"/>
              <a:ext cx="103456" cy="1195400"/>
            </a:xfrm>
            <a:prstGeom prst="curvedConnector3">
              <a:avLst>
                <a:gd name="adj1" fmla="val -273010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51" name="Connector: Curved 50">
              <a:extLst>
                <a:ext uri="{FF2B5EF4-FFF2-40B4-BE49-F238E27FC236}">
                  <a16:creationId xmlns:a16="http://schemas.microsoft.com/office/drawing/2014/main" id="{8F5AC2DB-B1A9-469E-A543-3F17BC0BE5CF}"/>
                </a:ext>
              </a:extLst>
            </p:cNvPr>
            <p:cNvCxnSpPr>
              <a:stCxn id="29" idx="4"/>
              <a:endCxn id="41" idx="4"/>
            </p:cNvCxnSpPr>
            <p:nvPr/>
          </p:nvCxnSpPr>
          <p:spPr bwMode="auto">
            <a:xfrm rot="5400000" flipH="1">
              <a:off x="3683358" y="4158162"/>
              <a:ext cx="185047" cy="2563939"/>
            </a:xfrm>
            <a:prstGeom prst="curvedConnector3">
              <a:avLst>
                <a:gd name="adj1" fmla="val -123536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60" name="Connector: Curved 59">
              <a:extLst>
                <a:ext uri="{FF2B5EF4-FFF2-40B4-BE49-F238E27FC236}">
                  <a16:creationId xmlns:a16="http://schemas.microsoft.com/office/drawing/2014/main" id="{E4F298C9-B8D8-4763-A655-08F4D553CDAC}"/>
                </a:ext>
              </a:extLst>
            </p:cNvPr>
            <p:cNvCxnSpPr>
              <a:cxnSpLocks/>
              <a:stCxn id="28" idx="0"/>
              <a:endCxn id="41" idx="7"/>
            </p:cNvCxnSpPr>
            <p:nvPr/>
          </p:nvCxnSpPr>
          <p:spPr bwMode="auto">
            <a:xfrm rot="16200000" flipH="1" flipV="1">
              <a:off x="3560493" y="3247261"/>
              <a:ext cx="674723" cy="2319992"/>
            </a:xfrm>
            <a:prstGeom prst="curvedConnector3">
              <a:avLst>
                <a:gd name="adj1" fmla="val -33881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BE7BB69-FBBB-48C5-B129-A384C062920B}"/>
                </a:ext>
              </a:extLst>
            </p:cNvPr>
            <p:cNvSpPr txBox="1"/>
            <p:nvPr/>
          </p:nvSpPr>
          <p:spPr>
            <a:xfrm>
              <a:off x="3366067" y="3477029"/>
              <a:ext cx="3385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A074F57-D601-4B26-8145-159D08AD3AB7}"/>
                </a:ext>
              </a:extLst>
            </p:cNvPr>
            <p:cNvSpPr txBox="1"/>
            <p:nvPr/>
          </p:nvSpPr>
          <p:spPr>
            <a:xfrm>
              <a:off x="3264541" y="433031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B0CDB13-CC0D-439C-89E4-687CACBA885E}"/>
                </a:ext>
              </a:extLst>
            </p:cNvPr>
            <p:cNvSpPr txBox="1"/>
            <p:nvPr/>
          </p:nvSpPr>
          <p:spPr>
            <a:xfrm>
              <a:off x="3741332" y="535519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659518B4-E87F-40EC-BE8B-0F1D8E8691B2}"/>
                </a:ext>
              </a:extLst>
            </p:cNvPr>
            <p:cNvCxnSpPr>
              <a:stCxn id="28" idx="7"/>
              <a:endCxn id="42" idx="0"/>
            </p:cNvCxnSpPr>
            <p:nvPr/>
          </p:nvCxnSpPr>
          <p:spPr bwMode="auto">
            <a:xfrm rot="16200000" flipH="1">
              <a:off x="6269133" y="3039751"/>
              <a:ext cx="300173" cy="2468153"/>
            </a:xfrm>
            <a:prstGeom prst="curvedConnector3">
              <a:avLst>
                <a:gd name="adj1" fmla="val -32554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Connector: Curved 72">
              <a:extLst>
                <a:ext uri="{FF2B5EF4-FFF2-40B4-BE49-F238E27FC236}">
                  <a16:creationId xmlns:a16="http://schemas.microsoft.com/office/drawing/2014/main" id="{7524F0E0-8C76-4D9C-A3DC-AE05ED6AE97C}"/>
                </a:ext>
              </a:extLst>
            </p:cNvPr>
            <p:cNvCxnSpPr>
              <a:stCxn id="29" idx="5"/>
            </p:cNvCxnSpPr>
            <p:nvPr/>
          </p:nvCxnSpPr>
          <p:spPr bwMode="auto">
            <a:xfrm rot="5400000" flipH="1" flipV="1">
              <a:off x="6162958" y="4136067"/>
              <a:ext cx="364928" cy="2320556"/>
            </a:xfrm>
            <a:prstGeom prst="curvedConnector4">
              <a:avLst>
                <a:gd name="adj1" fmla="val -62642"/>
                <a:gd name="adj2" fmla="val 99695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Connector: Curved 75">
              <a:extLst>
                <a:ext uri="{FF2B5EF4-FFF2-40B4-BE49-F238E27FC236}">
                  <a16:creationId xmlns:a16="http://schemas.microsoft.com/office/drawing/2014/main" id="{D4238326-9CD8-439F-B382-75CB217D51BB}"/>
                </a:ext>
              </a:extLst>
            </p:cNvPr>
            <p:cNvCxnSpPr>
              <a:stCxn id="27" idx="4"/>
              <a:endCxn id="42" idx="4"/>
            </p:cNvCxnSpPr>
            <p:nvPr/>
          </p:nvCxnSpPr>
          <p:spPr bwMode="auto">
            <a:xfrm rot="16200000" flipH="1">
              <a:off x="5769244" y="3246305"/>
              <a:ext cx="175360" cy="3592745"/>
            </a:xfrm>
            <a:prstGeom prst="curvedConnector3">
              <a:avLst>
                <a:gd name="adj1" fmla="val 736000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C6DF5B0-39B8-46D5-8B4A-D74D3E8E3936}"/>
                </a:ext>
              </a:extLst>
            </p:cNvPr>
            <p:cNvSpPr txBox="1"/>
            <p:nvPr/>
          </p:nvSpPr>
          <p:spPr>
            <a:xfrm>
              <a:off x="6482274" y="609061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B58C32B-5319-49E5-8603-E20788CC6015}"/>
                </a:ext>
              </a:extLst>
            </p:cNvPr>
            <p:cNvSpPr txBox="1"/>
            <p:nvPr/>
          </p:nvSpPr>
          <p:spPr>
            <a:xfrm>
              <a:off x="6332233" y="53111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4B4F0E2-8316-4A36-8680-6A40F999B383}"/>
                </a:ext>
              </a:extLst>
            </p:cNvPr>
            <p:cNvSpPr txBox="1"/>
            <p:nvPr/>
          </p:nvSpPr>
          <p:spPr>
            <a:xfrm>
              <a:off x="6393789" y="36620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cxnSp>
          <p:nvCxnSpPr>
            <p:cNvPr id="91" name="Connector: Curved 90">
              <a:extLst>
                <a:ext uri="{FF2B5EF4-FFF2-40B4-BE49-F238E27FC236}">
                  <a16:creationId xmlns:a16="http://schemas.microsoft.com/office/drawing/2014/main" id="{CF19ACCC-902B-4E99-8FA5-66AB9FDEFBBE}"/>
                </a:ext>
              </a:extLst>
            </p:cNvPr>
            <p:cNvCxnSpPr>
              <a:cxnSpLocks/>
              <a:stCxn id="41" idx="4"/>
              <a:endCxn id="30" idx="4"/>
            </p:cNvCxnSpPr>
            <p:nvPr/>
          </p:nvCxnSpPr>
          <p:spPr bwMode="auto">
            <a:xfrm rot="5400000" flipH="1" flipV="1">
              <a:off x="4041933" y="3384773"/>
              <a:ext cx="414813" cy="3510856"/>
            </a:xfrm>
            <a:prstGeom prst="curvedConnector3">
              <a:avLst>
                <a:gd name="adj1" fmla="val -268866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2CA11F8-943D-4A8C-B962-C6AE9F5425FF}"/>
                </a:ext>
              </a:extLst>
            </p:cNvPr>
            <p:cNvSpPr txBox="1"/>
            <p:nvPr/>
          </p:nvSpPr>
          <p:spPr>
            <a:xfrm>
              <a:off x="3910784" y="60000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1</a:t>
              </a:r>
              <a:endParaRPr lang="nl-NL" sz="1800" dirty="0"/>
            </a:p>
          </p:txBody>
        </p:sp>
        <p:cxnSp>
          <p:nvCxnSpPr>
            <p:cNvPr id="101" name="Connector: Curved 100">
              <a:extLst>
                <a:ext uri="{FF2B5EF4-FFF2-40B4-BE49-F238E27FC236}">
                  <a16:creationId xmlns:a16="http://schemas.microsoft.com/office/drawing/2014/main" id="{DF3EE502-5F37-4503-BE48-C70FE6B19CD2}"/>
                </a:ext>
              </a:extLst>
            </p:cNvPr>
            <p:cNvCxnSpPr>
              <a:cxnSpLocks/>
              <a:stCxn id="28" idx="0"/>
              <a:endCxn id="42" idx="0"/>
            </p:cNvCxnSpPr>
            <p:nvPr/>
          </p:nvCxnSpPr>
          <p:spPr bwMode="auto">
            <a:xfrm rot="16200000" flipH="1">
              <a:off x="6178565" y="2949182"/>
              <a:ext cx="354018" cy="2595446"/>
            </a:xfrm>
            <a:prstGeom prst="curvedConnector3">
              <a:avLst>
                <a:gd name="adj1" fmla="val -163715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A235888-BEBF-4FC5-9B30-3A63A647621E}"/>
                </a:ext>
              </a:extLst>
            </p:cNvPr>
            <p:cNvSpPr txBox="1"/>
            <p:nvPr/>
          </p:nvSpPr>
          <p:spPr>
            <a:xfrm>
              <a:off x="6293260" y="308279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1</a:t>
              </a:r>
              <a:endParaRPr lang="nl-NL" sz="1800" i="0" dirty="0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02C130A2-02CD-4498-A5BB-1CC5B8DFB2BB}"/>
              </a:ext>
            </a:extLst>
          </p:cNvPr>
          <p:cNvSpPr txBox="1"/>
          <p:nvPr/>
        </p:nvSpPr>
        <p:spPr>
          <a:xfrm>
            <a:off x="1136812" y="5461707"/>
            <a:ext cx="2151514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Arcs with capacity</a:t>
            </a:r>
          </a:p>
          <a:p>
            <a:r>
              <a:rPr lang="en-US" sz="1600" dirty="0">
                <a:latin typeface="+mn-lt"/>
              </a:rPr>
              <a:t>0 are not given</a:t>
            </a:r>
            <a:endParaRPr lang="nl-NL" sz="1600" dirty="0">
              <a:latin typeface="+mn-lt"/>
            </a:endParaRP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24D437D9-6E42-4B1D-A830-EA5E6F5476CB}"/>
              </a:ext>
            </a:extLst>
          </p:cNvPr>
          <p:cNvSpPr/>
          <p:nvPr/>
        </p:nvSpPr>
        <p:spPr bwMode="auto">
          <a:xfrm rot="2521423">
            <a:off x="2373069" y="3219226"/>
            <a:ext cx="1137140" cy="600393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03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79E520F-8518-46B4-89EA-C6FF3765ADB3}"/>
              </a:ext>
            </a:extLst>
          </p:cNvPr>
          <p:cNvGrpSpPr/>
          <p:nvPr/>
        </p:nvGrpSpPr>
        <p:grpSpPr>
          <a:xfrm>
            <a:off x="3248143" y="2555070"/>
            <a:ext cx="3558140" cy="3301877"/>
            <a:chOff x="3272380" y="3082790"/>
            <a:chExt cx="3558140" cy="3301877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ACEAC52-8B2B-41BD-ADA4-F2919C6EFD97}"/>
                </a:ext>
              </a:extLst>
            </p:cNvPr>
            <p:cNvSpPr txBox="1"/>
            <p:nvPr/>
          </p:nvSpPr>
          <p:spPr>
            <a:xfrm>
              <a:off x="4271092" y="396976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91D93E0-CD27-43E0-ABF0-D7BF56B1B92E}"/>
                </a:ext>
              </a:extLst>
            </p:cNvPr>
            <p:cNvSpPr txBox="1"/>
            <p:nvPr/>
          </p:nvSpPr>
          <p:spPr>
            <a:xfrm>
              <a:off x="5467113" y="406565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1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E7CE1BA-1CE4-4BC9-BA50-2AD67641729D}"/>
                </a:ext>
              </a:extLst>
            </p:cNvPr>
            <p:cNvSpPr txBox="1"/>
            <p:nvPr/>
          </p:nvSpPr>
          <p:spPr>
            <a:xfrm>
              <a:off x="5493079" y="48584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16E1687-65BB-477B-9F84-F5D880901B18}"/>
                </a:ext>
              </a:extLst>
            </p:cNvPr>
            <p:cNvSpPr txBox="1"/>
            <p:nvPr/>
          </p:nvSpPr>
          <p:spPr>
            <a:xfrm>
              <a:off x="4250000" y="50927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1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1079C2C-6634-42C6-ACED-14FD8EFCCEB7}"/>
                </a:ext>
              </a:extLst>
            </p:cNvPr>
            <p:cNvSpPr txBox="1"/>
            <p:nvPr/>
          </p:nvSpPr>
          <p:spPr>
            <a:xfrm>
              <a:off x="4998046" y="451554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0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1C8F71C-3814-41C2-88C3-FA6872165B8A}"/>
                </a:ext>
              </a:extLst>
            </p:cNvPr>
            <p:cNvSpPr txBox="1"/>
            <p:nvPr/>
          </p:nvSpPr>
          <p:spPr>
            <a:xfrm>
              <a:off x="3397572" y="34322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B513F62-BC93-45A8-8686-C833E70788F0}"/>
                </a:ext>
              </a:extLst>
            </p:cNvPr>
            <p:cNvSpPr txBox="1"/>
            <p:nvPr/>
          </p:nvSpPr>
          <p:spPr>
            <a:xfrm>
              <a:off x="3272380" y="43745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3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97A5904-31EF-46B3-9670-B62358BDFAC4}"/>
                </a:ext>
              </a:extLst>
            </p:cNvPr>
            <p:cNvSpPr txBox="1"/>
            <p:nvPr/>
          </p:nvSpPr>
          <p:spPr>
            <a:xfrm>
              <a:off x="3784153" y="534222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70DB7AD-11CD-4638-AC78-2898E32254AA}"/>
                </a:ext>
              </a:extLst>
            </p:cNvPr>
            <p:cNvSpPr txBox="1"/>
            <p:nvPr/>
          </p:nvSpPr>
          <p:spPr>
            <a:xfrm>
              <a:off x="6530438" y="59789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F315E1F9-4DB9-4D45-924F-E8728055AF0D}"/>
                </a:ext>
              </a:extLst>
            </p:cNvPr>
            <p:cNvSpPr txBox="1"/>
            <p:nvPr/>
          </p:nvSpPr>
          <p:spPr>
            <a:xfrm>
              <a:off x="6384673" y="530136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3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FA05DF1-0E99-4360-A8A6-0D1D3D5081EE}"/>
                </a:ext>
              </a:extLst>
            </p:cNvPr>
            <p:cNvSpPr txBox="1"/>
            <p:nvPr/>
          </p:nvSpPr>
          <p:spPr>
            <a:xfrm>
              <a:off x="6425294" y="3651498"/>
              <a:ext cx="3385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AA4913B-AF9C-4564-8C7E-F4BB46C4C63F}"/>
                </a:ext>
              </a:extLst>
            </p:cNvPr>
            <p:cNvSpPr txBox="1"/>
            <p:nvPr/>
          </p:nvSpPr>
          <p:spPr>
            <a:xfrm>
              <a:off x="3920036" y="6015335"/>
              <a:ext cx="351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1</a:t>
              </a:r>
              <a:endParaRPr lang="nl-NL" sz="1800" dirty="0">
                <a:solidFill>
                  <a:srgbClr val="C00000"/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98CF63D-085F-4052-A659-5562C61FDAA2}"/>
                </a:ext>
              </a:extLst>
            </p:cNvPr>
            <p:cNvSpPr txBox="1"/>
            <p:nvPr/>
          </p:nvSpPr>
          <p:spPr>
            <a:xfrm>
              <a:off x="6293260" y="308279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1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FD0B3A4F-C398-4755-8872-FD7F2B2B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flow in the new graph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A5FCE3-D981-4F8A-A3C9-2C878B401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672425"/>
          </a:xfrm>
        </p:spPr>
        <p:txBody>
          <a:bodyPr/>
          <a:lstStyle/>
          <a:p>
            <a:r>
              <a:rPr lang="en-US" dirty="0"/>
              <a:t>We now find a maximum flow in the transformed graph:</a:t>
            </a:r>
          </a:p>
          <a:p>
            <a:pPr lvl="1"/>
            <a:r>
              <a:rPr lang="en-US" dirty="0"/>
              <a:t>Use a normal maximum flow algorithm</a:t>
            </a:r>
            <a:endParaRPr lang="en-NL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695169-80CD-480B-884C-77F9E38FD443}"/>
              </a:ext>
            </a:extLst>
          </p:cNvPr>
          <p:cNvSpPr txBox="1"/>
          <p:nvPr/>
        </p:nvSpPr>
        <p:spPr>
          <a:xfrm>
            <a:off x="7596336" y="5302949"/>
            <a:ext cx="1208703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i="0" dirty="0">
                <a:latin typeface="+mn-lt"/>
              </a:rPr>
              <a:t>capacity</a:t>
            </a:r>
            <a:br>
              <a:rPr lang="en-US" sz="1800" i="0" dirty="0">
                <a:latin typeface="+mn-lt"/>
              </a:rPr>
            </a:br>
            <a:r>
              <a:rPr lang="en-US" sz="1800" i="0" dirty="0">
                <a:solidFill>
                  <a:srgbClr val="C00000"/>
                </a:solidFill>
                <a:latin typeface="+mn-lt"/>
              </a:rPr>
              <a:t>flow</a:t>
            </a:r>
            <a:endParaRPr lang="nl-NL" sz="1800" i="0" dirty="0">
              <a:solidFill>
                <a:srgbClr val="C00000"/>
              </a:solidFill>
              <a:latin typeface="+mn-lt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B882F3-E1F7-46F2-A6E1-9CE8CE55FDA5}"/>
              </a:ext>
            </a:extLst>
          </p:cNvPr>
          <p:cNvGrpSpPr/>
          <p:nvPr/>
        </p:nvGrpSpPr>
        <p:grpSpPr>
          <a:xfrm>
            <a:off x="1979712" y="2512297"/>
            <a:ext cx="5849371" cy="3377153"/>
            <a:chOff x="2148919" y="3082790"/>
            <a:chExt cx="5849371" cy="3377153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C85C2CF-A954-4721-B5E5-1C605DB7A19A}"/>
                </a:ext>
              </a:extLst>
            </p:cNvPr>
            <p:cNvSpPr/>
            <p:nvPr/>
          </p:nvSpPr>
          <p:spPr bwMode="auto">
            <a:xfrm>
              <a:off x="3880532" y="4587318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9EC7106-27BC-4D51-A7F3-9802CD564AF3}"/>
                </a:ext>
              </a:extLst>
            </p:cNvPr>
            <p:cNvSpPr/>
            <p:nvPr/>
          </p:nvSpPr>
          <p:spPr bwMode="auto">
            <a:xfrm>
              <a:off x="4877831" y="4069896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b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04BFF9-2419-43E8-ADE0-D8B5AF2459B8}"/>
                </a:ext>
              </a:extLst>
            </p:cNvPr>
            <p:cNvSpPr/>
            <p:nvPr/>
          </p:nvSpPr>
          <p:spPr bwMode="auto">
            <a:xfrm>
              <a:off x="4877831" y="5164974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c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38B9D42-BE27-416B-B65D-23A4F8EF9387}"/>
                </a:ext>
              </a:extLst>
            </p:cNvPr>
            <p:cNvSpPr/>
            <p:nvPr/>
          </p:nvSpPr>
          <p:spPr bwMode="auto">
            <a:xfrm>
              <a:off x="5824748" y="4565114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d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173204F-39BB-4636-BBA7-97F509363B4C}"/>
                </a:ext>
              </a:extLst>
            </p:cNvPr>
            <p:cNvCxnSpPr>
              <a:stCxn id="53" idx="7"/>
              <a:endCxn id="54" idx="2"/>
            </p:cNvCxnSpPr>
            <p:nvPr/>
          </p:nvCxnSpPr>
          <p:spPr bwMode="auto">
            <a:xfrm flipV="1">
              <a:off x="4187845" y="4253736"/>
              <a:ext cx="689986" cy="387427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FE579B5-EB7C-44AC-A12A-FC7A8F5BBD52}"/>
                </a:ext>
              </a:extLst>
            </p:cNvPr>
            <p:cNvCxnSpPr>
              <a:stCxn id="54" idx="4"/>
              <a:endCxn id="55" idx="0"/>
            </p:cNvCxnSpPr>
            <p:nvPr/>
          </p:nvCxnSpPr>
          <p:spPr bwMode="auto">
            <a:xfrm>
              <a:off x="5057851" y="4437576"/>
              <a:ext cx="0" cy="727398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EAA6ACE-8EBD-4C11-91FE-8D6FAFF33EAA}"/>
                </a:ext>
              </a:extLst>
            </p:cNvPr>
            <p:cNvCxnSpPr>
              <a:stCxn id="54" idx="6"/>
              <a:endCxn id="56" idx="1"/>
            </p:cNvCxnSpPr>
            <p:nvPr/>
          </p:nvCxnSpPr>
          <p:spPr bwMode="auto">
            <a:xfrm>
              <a:off x="5237871" y="4253736"/>
              <a:ext cx="639604" cy="365223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8914D79-9D85-4A2A-85FD-3CAC5843EE65}"/>
                </a:ext>
              </a:extLst>
            </p:cNvPr>
            <p:cNvCxnSpPr>
              <a:stCxn id="56" idx="3"/>
              <a:endCxn id="55" idx="6"/>
            </p:cNvCxnSpPr>
            <p:nvPr/>
          </p:nvCxnSpPr>
          <p:spPr bwMode="auto">
            <a:xfrm flipH="1">
              <a:off x="5237871" y="4878949"/>
              <a:ext cx="639604" cy="469865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0238820-B588-4679-91CB-481CF3484CA5}"/>
                </a:ext>
              </a:extLst>
            </p:cNvPr>
            <p:cNvCxnSpPr>
              <a:stCxn id="55" idx="2"/>
              <a:endCxn id="53" idx="5"/>
            </p:cNvCxnSpPr>
            <p:nvPr/>
          </p:nvCxnSpPr>
          <p:spPr bwMode="auto">
            <a:xfrm flipH="1" flipV="1">
              <a:off x="4187845" y="4901153"/>
              <a:ext cx="689986" cy="447661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5261D40-B2C4-4925-8E3F-71BFAB05EB8B}"/>
                </a:ext>
              </a:extLst>
            </p:cNvPr>
            <p:cNvSpPr txBox="1"/>
            <p:nvPr/>
          </p:nvSpPr>
          <p:spPr>
            <a:xfrm>
              <a:off x="4261840" y="40229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03EB200-D5DF-4C6B-9405-2B4A80B4E61A}"/>
                </a:ext>
              </a:extLst>
            </p:cNvPr>
            <p:cNvSpPr txBox="1"/>
            <p:nvPr/>
          </p:nvSpPr>
          <p:spPr>
            <a:xfrm>
              <a:off x="5493682" y="414955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8</a:t>
              </a:r>
              <a:endParaRPr lang="nl-NL" sz="1800" i="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7916D90-C8DB-4322-8528-B087B3FC3FAB}"/>
                </a:ext>
              </a:extLst>
            </p:cNvPr>
            <p:cNvSpPr txBox="1"/>
            <p:nvPr/>
          </p:nvSpPr>
          <p:spPr>
            <a:xfrm>
              <a:off x="5508235" y="49773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6</a:t>
              </a:r>
              <a:endParaRPr lang="nl-NL" sz="1800" i="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AD81005-7541-4453-A2D1-8C3077511C6B}"/>
                </a:ext>
              </a:extLst>
            </p:cNvPr>
            <p:cNvSpPr txBox="1"/>
            <p:nvPr/>
          </p:nvSpPr>
          <p:spPr>
            <a:xfrm>
              <a:off x="4296089" y="50438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7</a:t>
              </a:r>
              <a:endParaRPr lang="nl-NL" sz="1800" i="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9DC32A-5CB4-42C2-94BD-5C9515421B37}"/>
                </a:ext>
              </a:extLst>
            </p:cNvPr>
            <p:cNvSpPr txBox="1"/>
            <p:nvPr/>
          </p:nvSpPr>
          <p:spPr>
            <a:xfrm>
              <a:off x="5017146" y="45531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1</a:t>
              </a:r>
              <a:endParaRPr lang="nl-NL" sz="1800" i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DF37DB32-EFAA-40D1-ADB7-C76DD76B15AA}"/>
                    </a:ext>
                  </a:extLst>
                </p:cNvPr>
                <p:cNvSpPr/>
                <p:nvPr/>
              </p:nvSpPr>
              <p:spPr bwMode="auto">
                <a:xfrm>
                  <a:off x="2148919" y="4641163"/>
                  <a:ext cx="689986" cy="70644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kumimoji="0" lang="nl-NL" sz="1800" b="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charset="0"/>
                  </a:endParaRPr>
                </a:p>
              </p:txBody>
            </p:sp>
          </mc:Choice>
          <mc:Fallback xmlns="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DF37DB32-EFAA-40D1-ADB7-C76DD76B15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48919" y="4641163"/>
                  <a:ext cx="689986" cy="70644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5FEC464-4471-4376-BB9B-04A4B99AFF34}"/>
                    </a:ext>
                  </a:extLst>
                </p:cNvPr>
                <p:cNvSpPr/>
                <p:nvPr/>
              </p:nvSpPr>
              <p:spPr bwMode="auto">
                <a:xfrm>
                  <a:off x="7308304" y="4423914"/>
                  <a:ext cx="689986" cy="70644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kumimoji="0" lang="nl-NL" sz="1800" b="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charset="0"/>
                  </a:endParaRPr>
                </a:p>
              </p:txBody>
            </p:sp>
          </mc:Choice>
          <mc:Fallback xmlns=""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5FEC464-4471-4376-BB9B-04A4B99AFF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08304" y="4423914"/>
                  <a:ext cx="689986" cy="70644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F3D6846B-56E5-40C9-93B5-3391053746B8}"/>
                </a:ext>
              </a:extLst>
            </p:cNvPr>
            <p:cNvCxnSpPr>
              <a:stCxn id="53" idx="1"/>
              <a:endCxn id="67" idx="7"/>
            </p:cNvCxnSpPr>
            <p:nvPr/>
          </p:nvCxnSpPr>
          <p:spPr bwMode="auto">
            <a:xfrm rot="16200000" flipH="1" flipV="1">
              <a:off x="3283831" y="4095191"/>
              <a:ext cx="103456" cy="1195400"/>
            </a:xfrm>
            <a:prstGeom prst="curvedConnector3">
              <a:avLst>
                <a:gd name="adj1" fmla="val -273010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74" name="Connector: Curved 73">
              <a:extLst>
                <a:ext uri="{FF2B5EF4-FFF2-40B4-BE49-F238E27FC236}">
                  <a16:creationId xmlns:a16="http://schemas.microsoft.com/office/drawing/2014/main" id="{5F48DFC1-56EA-417B-BBBE-DFB0C5B41281}"/>
                </a:ext>
              </a:extLst>
            </p:cNvPr>
            <p:cNvCxnSpPr>
              <a:stCxn id="55" idx="4"/>
              <a:endCxn id="67" idx="4"/>
            </p:cNvCxnSpPr>
            <p:nvPr/>
          </p:nvCxnSpPr>
          <p:spPr bwMode="auto">
            <a:xfrm rot="5400000" flipH="1">
              <a:off x="3683358" y="4158162"/>
              <a:ext cx="185047" cy="2563939"/>
            </a:xfrm>
            <a:prstGeom prst="curvedConnector3">
              <a:avLst>
                <a:gd name="adj1" fmla="val -123536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75" name="Connector: Curved 74">
              <a:extLst>
                <a:ext uri="{FF2B5EF4-FFF2-40B4-BE49-F238E27FC236}">
                  <a16:creationId xmlns:a16="http://schemas.microsoft.com/office/drawing/2014/main" id="{DA173B75-0E61-4FC3-BD8B-3D14BBEB8483}"/>
                </a:ext>
              </a:extLst>
            </p:cNvPr>
            <p:cNvCxnSpPr>
              <a:cxnSpLocks/>
              <a:stCxn id="54" idx="0"/>
              <a:endCxn id="67" idx="7"/>
            </p:cNvCxnSpPr>
            <p:nvPr/>
          </p:nvCxnSpPr>
          <p:spPr bwMode="auto">
            <a:xfrm rot="16200000" flipH="1" flipV="1">
              <a:off x="3560493" y="3247261"/>
              <a:ext cx="674723" cy="2319992"/>
            </a:xfrm>
            <a:prstGeom prst="curvedConnector3">
              <a:avLst>
                <a:gd name="adj1" fmla="val -33881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C78D4DC-C518-4690-96BB-3E4981D2ED19}"/>
                </a:ext>
              </a:extLst>
            </p:cNvPr>
            <p:cNvSpPr txBox="1"/>
            <p:nvPr/>
          </p:nvSpPr>
          <p:spPr>
            <a:xfrm>
              <a:off x="3366067" y="3477029"/>
              <a:ext cx="3385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0797526-0F26-4556-9037-79964770B5FE}"/>
                </a:ext>
              </a:extLst>
            </p:cNvPr>
            <p:cNvSpPr txBox="1"/>
            <p:nvPr/>
          </p:nvSpPr>
          <p:spPr>
            <a:xfrm>
              <a:off x="3264541" y="433031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B4D2870-386B-4114-BAD1-45F81091A857}"/>
                </a:ext>
              </a:extLst>
            </p:cNvPr>
            <p:cNvSpPr txBox="1"/>
            <p:nvPr/>
          </p:nvSpPr>
          <p:spPr>
            <a:xfrm>
              <a:off x="3741332" y="535519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cxnSp>
          <p:nvCxnSpPr>
            <p:cNvPr id="79" name="Connector: Curved 78">
              <a:extLst>
                <a:ext uri="{FF2B5EF4-FFF2-40B4-BE49-F238E27FC236}">
                  <a16:creationId xmlns:a16="http://schemas.microsoft.com/office/drawing/2014/main" id="{E1AA63E9-A0C4-47A0-A242-E25586E13389}"/>
                </a:ext>
              </a:extLst>
            </p:cNvPr>
            <p:cNvCxnSpPr>
              <a:stCxn id="54" idx="7"/>
              <a:endCxn id="68" idx="0"/>
            </p:cNvCxnSpPr>
            <p:nvPr/>
          </p:nvCxnSpPr>
          <p:spPr bwMode="auto">
            <a:xfrm rot="16200000" flipH="1">
              <a:off x="6269133" y="3039751"/>
              <a:ext cx="300173" cy="2468153"/>
            </a:xfrm>
            <a:prstGeom prst="curvedConnector3">
              <a:avLst>
                <a:gd name="adj1" fmla="val -32554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Connector: Curved 79">
              <a:extLst>
                <a:ext uri="{FF2B5EF4-FFF2-40B4-BE49-F238E27FC236}">
                  <a16:creationId xmlns:a16="http://schemas.microsoft.com/office/drawing/2014/main" id="{4E4F16E8-85C4-4136-A37B-0CAA1F0091A1}"/>
                </a:ext>
              </a:extLst>
            </p:cNvPr>
            <p:cNvCxnSpPr>
              <a:stCxn id="55" idx="5"/>
            </p:cNvCxnSpPr>
            <p:nvPr/>
          </p:nvCxnSpPr>
          <p:spPr bwMode="auto">
            <a:xfrm rot="5400000" flipH="1" flipV="1">
              <a:off x="6162958" y="4136067"/>
              <a:ext cx="364928" cy="2320556"/>
            </a:xfrm>
            <a:prstGeom prst="curvedConnector4">
              <a:avLst>
                <a:gd name="adj1" fmla="val -62642"/>
                <a:gd name="adj2" fmla="val 99695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Connector: Curved 80">
              <a:extLst>
                <a:ext uri="{FF2B5EF4-FFF2-40B4-BE49-F238E27FC236}">
                  <a16:creationId xmlns:a16="http://schemas.microsoft.com/office/drawing/2014/main" id="{411A6AFC-D808-401D-B13C-257D9A3402BE}"/>
                </a:ext>
              </a:extLst>
            </p:cNvPr>
            <p:cNvCxnSpPr>
              <a:stCxn id="53" idx="4"/>
              <a:endCxn id="68" idx="4"/>
            </p:cNvCxnSpPr>
            <p:nvPr/>
          </p:nvCxnSpPr>
          <p:spPr bwMode="auto">
            <a:xfrm rot="16200000" flipH="1">
              <a:off x="5769244" y="3246305"/>
              <a:ext cx="175360" cy="3592745"/>
            </a:xfrm>
            <a:prstGeom prst="curvedConnector3">
              <a:avLst>
                <a:gd name="adj1" fmla="val 736000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6C5E110-D60E-49DD-8CBB-E6FD62A99E20}"/>
                </a:ext>
              </a:extLst>
            </p:cNvPr>
            <p:cNvSpPr txBox="1"/>
            <p:nvPr/>
          </p:nvSpPr>
          <p:spPr>
            <a:xfrm>
              <a:off x="6482274" y="609061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30C9CA4-4F6D-484E-A6BB-76F82425BF07}"/>
                </a:ext>
              </a:extLst>
            </p:cNvPr>
            <p:cNvSpPr txBox="1"/>
            <p:nvPr/>
          </p:nvSpPr>
          <p:spPr>
            <a:xfrm>
              <a:off x="6332233" y="53111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BB4743F-0D49-4A14-8048-25BA50BD9BE6}"/>
                </a:ext>
              </a:extLst>
            </p:cNvPr>
            <p:cNvSpPr txBox="1"/>
            <p:nvPr/>
          </p:nvSpPr>
          <p:spPr>
            <a:xfrm>
              <a:off x="6393789" y="36620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cxnSp>
          <p:nvCxnSpPr>
            <p:cNvPr id="85" name="Connector: Curved 84">
              <a:extLst>
                <a:ext uri="{FF2B5EF4-FFF2-40B4-BE49-F238E27FC236}">
                  <a16:creationId xmlns:a16="http://schemas.microsoft.com/office/drawing/2014/main" id="{C6A0037D-EBE6-4DC7-9934-4BAE8AB2BF63}"/>
                </a:ext>
              </a:extLst>
            </p:cNvPr>
            <p:cNvCxnSpPr>
              <a:cxnSpLocks/>
              <a:stCxn id="67" idx="4"/>
              <a:endCxn id="56" idx="4"/>
            </p:cNvCxnSpPr>
            <p:nvPr/>
          </p:nvCxnSpPr>
          <p:spPr bwMode="auto">
            <a:xfrm rot="5400000" flipH="1" flipV="1">
              <a:off x="4041933" y="3384773"/>
              <a:ext cx="414813" cy="3510856"/>
            </a:xfrm>
            <a:prstGeom prst="curvedConnector3">
              <a:avLst>
                <a:gd name="adj1" fmla="val -268866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F36F144-F2A8-44B1-A4C4-7A9035D4A233}"/>
                </a:ext>
              </a:extLst>
            </p:cNvPr>
            <p:cNvSpPr txBox="1"/>
            <p:nvPr/>
          </p:nvSpPr>
          <p:spPr>
            <a:xfrm>
              <a:off x="3910784" y="60000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1</a:t>
              </a:r>
              <a:endParaRPr lang="nl-NL" sz="1800" dirty="0"/>
            </a:p>
          </p:txBody>
        </p:sp>
        <p:cxnSp>
          <p:nvCxnSpPr>
            <p:cNvPr id="87" name="Connector: Curved 86">
              <a:extLst>
                <a:ext uri="{FF2B5EF4-FFF2-40B4-BE49-F238E27FC236}">
                  <a16:creationId xmlns:a16="http://schemas.microsoft.com/office/drawing/2014/main" id="{E398A214-18F3-40DF-A543-AEDD5456CC42}"/>
                </a:ext>
              </a:extLst>
            </p:cNvPr>
            <p:cNvCxnSpPr>
              <a:cxnSpLocks/>
              <a:stCxn id="54" idx="0"/>
              <a:endCxn id="68" idx="0"/>
            </p:cNvCxnSpPr>
            <p:nvPr/>
          </p:nvCxnSpPr>
          <p:spPr bwMode="auto">
            <a:xfrm rot="16200000" flipH="1">
              <a:off x="6178565" y="2949182"/>
              <a:ext cx="354018" cy="2595446"/>
            </a:xfrm>
            <a:prstGeom prst="curvedConnector3">
              <a:avLst>
                <a:gd name="adj1" fmla="val -163715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F0B33C3-8A92-4B90-9BD9-46F8F0903E6D}"/>
                </a:ext>
              </a:extLst>
            </p:cNvPr>
            <p:cNvSpPr txBox="1"/>
            <p:nvPr/>
          </p:nvSpPr>
          <p:spPr>
            <a:xfrm>
              <a:off x="6293260" y="308279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1</a:t>
              </a:r>
              <a:endParaRPr lang="nl-NL" sz="1800" i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72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662CA19-E8C1-4439-8CA3-8596EF8DBEA7}"/>
                  </a:ext>
                </a:extLst>
              </p:cNvPr>
              <p:cNvSpPr txBox="1"/>
              <p:nvPr/>
            </p:nvSpPr>
            <p:spPr>
              <a:xfrm>
                <a:off x="6775372" y="872362"/>
                <a:ext cx="2049026" cy="646331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+mj-lt"/>
                  </a:rPr>
                  <a:t>Extract the part without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18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nl-NL" sz="1800" dirty="0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662CA19-E8C1-4439-8CA3-8596EF8DB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372" y="872362"/>
                <a:ext cx="2049026" cy="646331"/>
              </a:xfrm>
              <a:prstGeom prst="rect">
                <a:avLst/>
              </a:prstGeom>
              <a:blipFill>
                <a:blip r:embed="rId2"/>
                <a:stretch>
                  <a:fillRect l="-2059" t="-3670" r="-2941" b="-1192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0E6C2611-F49C-4C4B-A06A-E31631DDCBBF}"/>
              </a:ext>
            </a:extLst>
          </p:cNvPr>
          <p:cNvSpPr txBox="1"/>
          <p:nvPr/>
        </p:nvSpPr>
        <p:spPr>
          <a:xfrm>
            <a:off x="4823266" y="3551977"/>
            <a:ext cx="226215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800" dirty="0">
                <a:latin typeface="+mj-lt"/>
              </a:rPr>
              <a:t>Add lower bounds</a:t>
            </a:r>
            <a:endParaRPr lang="nl-NL" sz="1800" dirty="0"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7A6109-1391-43D3-B9BF-7854E6C51270}"/>
              </a:ext>
            </a:extLst>
          </p:cNvPr>
          <p:cNvSpPr txBox="1"/>
          <p:nvPr/>
        </p:nvSpPr>
        <p:spPr>
          <a:xfrm>
            <a:off x="6092521" y="6228020"/>
            <a:ext cx="293541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800" dirty="0">
                <a:latin typeface="+mj-lt"/>
              </a:rPr>
              <a:t>Admissible Circulation!</a:t>
            </a:r>
            <a:endParaRPr lang="nl-NL" sz="1800" dirty="0">
              <a:latin typeface="+mj-lt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2258CEC-432B-486B-88F0-26B3E56B9821}"/>
              </a:ext>
            </a:extLst>
          </p:cNvPr>
          <p:cNvGrpSpPr/>
          <p:nvPr/>
        </p:nvGrpSpPr>
        <p:grpSpPr>
          <a:xfrm>
            <a:off x="1770144" y="4151054"/>
            <a:ext cx="2408446" cy="1634379"/>
            <a:chOff x="867410" y="1397139"/>
            <a:chExt cx="2408446" cy="1634379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C890E12-3269-4F65-A81D-86F7EF1BA462}"/>
                </a:ext>
              </a:extLst>
            </p:cNvPr>
            <p:cNvSpPr/>
            <p:nvPr/>
          </p:nvSpPr>
          <p:spPr bwMode="auto">
            <a:xfrm>
              <a:off x="971600" y="2086182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4C64BAC-757C-4787-BC75-B88928E026A7}"/>
                </a:ext>
              </a:extLst>
            </p:cNvPr>
            <p:cNvSpPr/>
            <p:nvPr/>
          </p:nvSpPr>
          <p:spPr bwMode="auto">
            <a:xfrm>
              <a:off x="1968899" y="1568760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b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684CA54E-6095-4BD7-9F27-F94D03ED5611}"/>
                </a:ext>
              </a:extLst>
            </p:cNvPr>
            <p:cNvSpPr/>
            <p:nvPr/>
          </p:nvSpPr>
          <p:spPr bwMode="auto">
            <a:xfrm>
              <a:off x="1968899" y="2663838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c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0A68B93-A75A-48EA-927D-DB1665DF0448}"/>
                </a:ext>
              </a:extLst>
            </p:cNvPr>
            <p:cNvSpPr/>
            <p:nvPr/>
          </p:nvSpPr>
          <p:spPr bwMode="auto">
            <a:xfrm>
              <a:off x="2915816" y="2063978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d</a:t>
              </a:r>
              <a:endParaRPr kumimoji="0" 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47351441-89BD-4785-99CC-D498BF7B2E3F}"/>
                </a:ext>
              </a:extLst>
            </p:cNvPr>
            <p:cNvCxnSpPr>
              <a:stCxn id="134" idx="7"/>
              <a:endCxn id="135" idx="2"/>
            </p:cNvCxnSpPr>
            <p:nvPr/>
          </p:nvCxnSpPr>
          <p:spPr bwMode="auto">
            <a:xfrm flipV="1">
              <a:off x="1278913" y="1752600"/>
              <a:ext cx="689986" cy="387427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FDE2E246-001A-4A30-8D49-803A8209A503}"/>
                </a:ext>
              </a:extLst>
            </p:cNvPr>
            <p:cNvCxnSpPr>
              <a:stCxn id="135" idx="4"/>
              <a:endCxn id="136" idx="0"/>
            </p:cNvCxnSpPr>
            <p:nvPr/>
          </p:nvCxnSpPr>
          <p:spPr bwMode="auto">
            <a:xfrm>
              <a:off x="2148919" y="1936440"/>
              <a:ext cx="0" cy="727398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FE7EA7E4-97DC-47AF-808C-BCE5E160A424}"/>
                </a:ext>
              </a:extLst>
            </p:cNvPr>
            <p:cNvCxnSpPr>
              <a:stCxn id="135" idx="6"/>
              <a:endCxn id="137" idx="1"/>
            </p:cNvCxnSpPr>
            <p:nvPr/>
          </p:nvCxnSpPr>
          <p:spPr bwMode="auto">
            <a:xfrm>
              <a:off x="2328939" y="1752600"/>
              <a:ext cx="639604" cy="365223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6550C0CE-2787-4F08-B2FA-F76E78D7834D}"/>
                </a:ext>
              </a:extLst>
            </p:cNvPr>
            <p:cNvCxnSpPr>
              <a:stCxn id="137" idx="3"/>
              <a:endCxn id="136" idx="6"/>
            </p:cNvCxnSpPr>
            <p:nvPr/>
          </p:nvCxnSpPr>
          <p:spPr bwMode="auto">
            <a:xfrm flipH="1">
              <a:off x="2328939" y="2377813"/>
              <a:ext cx="639604" cy="469865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D7CE29A9-DA00-4577-8032-6C2E383A9402}"/>
                </a:ext>
              </a:extLst>
            </p:cNvPr>
            <p:cNvCxnSpPr>
              <a:stCxn id="136" idx="2"/>
              <a:endCxn id="134" idx="5"/>
            </p:cNvCxnSpPr>
            <p:nvPr/>
          </p:nvCxnSpPr>
          <p:spPr bwMode="auto">
            <a:xfrm flipH="1" flipV="1">
              <a:off x="1278913" y="2400017"/>
              <a:ext cx="689986" cy="447661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EC9AED8-C1BC-403B-A103-6568094C3C69}"/>
                </a:ext>
              </a:extLst>
            </p:cNvPr>
            <p:cNvSpPr txBox="1"/>
            <p:nvPr/>
          </p:nvSpPr>
          <p:spPr>
            <a:xfrm>
              <a:off x="971600" y="1440677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[2,5]</a:t>
              </a:r>
              <a:endParaRPr lang="nl-NL" sz="1800" i="0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5C2AA1B-A6BA-4A6E-B054-74C258936E6A}"/>
                </a:ext>
              </a:extLst>
            </p:cNvPr>
            <p:cNvSpPr txBox="1"/>
            <p:nvPr/>
          </p:nvSpPr>
          <p:spPr>
            <a:xfrm>
              <a:off x="2593972" y="1397139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[1,9]</a:t>
              </a:r>
              <a:endParaRPr lang="nl-NL" sz="1800" i="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19DA16B-3D39-4607-AEAC-8B2655A9EEE5}"/>
                </a:ext>
              </a:extLst>
            </p:cNvPr>
            <p:cNvSpPr txBox="1"/>
            <p:nvPr/>
          </p:nvSpPr>
          <p:spPr>
            <a:xfrm>
              <a:off x="2532154" y="2573323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[0,6]</a:t>
              </a:r>
              <a:endParaRPr lang="nl-NL" sz="1800" i="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54C53E8D-FC9C-4E6A-86D3-FDE271E31D24}"/>
                </a:ext>
              </a:extLst>
            </p:cNvPr>
            <p:cNvSpPr txBox="1"/>
            <p:nvPr/>
          </p:nvSpPr>
          <p:spPr>
            <a:xfrm>
              <a:off x="867410" y="2611423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[3,10]</a:t>
              </a:r>
              <a:endParaRPr lang="nl-NL" sz="1800" i="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F241A19-FD25-411E-8632-3F18706B18EF}"/>
                </a:ext>
              </a:extLst>
            </p:cNvPr>
            <p:cNvSpPr txBox="1"/>
            <p:nvPr/>
          </p:nvSpPr>
          <p:spPr>
            <a:xfrm>
              <a:off x="2087129" y="1966469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[2,3]</a:t>
              </a:r>
              <a:endParaRPr lang="nl-NL" sz="1800" i="0" dirty="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61CA80C-6B14-47B4-9EAE-471AE250FDD2}"/>
              </a:ext>
            </a:extLst>
          </p:cNvPr>
          <p:cNvGrpSpPr/>
          <p:nvPr/>
        </p:nvGrpSpPr>
        <p:grpSpPr>
          <a:xfrm>
            <a:off x="6751317" y="1854162"/>
            <a:ext cx="2304256" cy="1562890"/>
            <a:chOff x="3711890" y="3442044"/>
            <a:chExt cx="2304256" cy="1562890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13E5B69-C04F-40B3-B6B7-39E41D308D76}"/>
                </a:ext>
              </a:extLst>
            </p:cNvPr>
            <p:cNvGrpSpPr/>
            <p:nvPr/>
          </p:nvGrpSpPr>
          <p:grpSpPr>
            <a:xfrm>
              <a:off x="3711890" y="3483809"/>
              <a:ext cx="2304256" cy="1521125"/>
              <a:chOff x="3880532" y="4011529"/>
              <a:chExt cx="2304256" cy="1521125"/>
            </a:xfrm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2863856C-0417-4AEC-B319-3061E4C684F9}"/>
                  </a:ext>
                </a:extLst>
              </p:cNvPr>
              <p:cNvSpPr/>
              <p:nvPr/>
            </p:nvSpPr>
            <p:spPr bwMode="auto">
              <a:xfrm>
                <a:off x="3880532" y="4587318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a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7669857-3E28-41BC-914A-F7A5846A7B99}"/>
                  </a:ext>
                </a:extLst>
              </p:cNvPr>
              <p:cNvSpPr/>
              <p:nvPr/>
            </p:nvSpPr>
            <p:spPr bwMode="auto">
              <a:xfrm>
                <a:off x="4877831" y="4069896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b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2FA3C4B6-C42C-4F0E-BD93-1C53E2BB4C01}"/>
                  </a:ext>
                </a:extLst>
              </p:cNvPr>
              <p:cNvSpPr/>
              <p:nvPr/>
            </p:nvSpPr>
            <p:spPr bwMode="auto">
              <a:xfrm>
                <a:off x="4877831" y="5164974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c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7FC4794F-AC20-4FF2-904D-A2B262BF6C4B}"/>
                  </a:ext>
                </a:extLst>
              </p:cNvPr>
              <p:cNvSpPr/>
              <p:nvPr/>
            </p:nvSpPr>
            <p:spPr bwMode="auto">
              <a:xfrm>
                <a:off x="5824748" y="4565114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d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DDA70CFE-28F2-4335-BF09-CE6793DEC422}"/>
                  </a:ext>
                </a:extLst>
              </p:cNvPr>
              <p:cNvCxnSpPr>
                <a:cxnSpLocks/>
                <a:stCxn id="164" idx="7"/>
                <a:endCxn id="165" idx="2"/>
              </p:cNvCxnSpPr>
              <p:nvPr/>
            </p:nvCxnSpPr>
            <p:spPr bwMode="auto">
              <a:xfrm flipV="1">
                <a:off x="4187845" y="4253736"/>
                <a:ext cx="689986" cy="387427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A3D3080B-8F88-44ED-BEB2-9E2A18271626}"/>
                  </a:ext>
                </a:extLst>
              </p:cNvPr>
              <p:cNvCxnSpPr>
                <a:cxnSpLocks/>
                <a:stCxn id="165" idx="4"/>
                <a:endCxn id="166" idx="0"/>
              </p:cNvCxnSpPr>
              <p:nvPr/>
            </p:nvCxnSpPr>
            <p:spPr bwMode="auto">
              <a:xfrm>
                <a:off x="5057851" y="4437576"/>
                <a:ext cx="0" cy="727398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652AFD0F-1B17-4FCD-8C4B-8823FC86D0EF}"/>
                  </a:ext>
                </a:extLst>
              </p:cNvPr>
              <p:cNvCxnSpPr>
                <a:cxnSpLocks/>
                <a:stCxn id="165" idx="6"/>
                <a:endCxn id="167" idx="1"/>
              </p:cNvCxnSpPr>
              <p:nvPr/>
            </p:nvCxnSpPr>
            <p:spPr bwMode="auto">
              <a:xfrm>
                <a:off x="5237871" y="4253736"/>
                <a:ext cx="639604" cy="365223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1DC5E54F-40FF-431B-BEE3-254746747F31}"/>
                  </a:ext>
                </a:extLst>
              </p:cNvPr>
              <p:cNvCxnSpPr>
                <a:cxnSpLocks/>
                <a:stCxn id="167" idx="3"/>
                <a:endCxn id="166" idx="6"/>
              </p:cNvCxnSpPr>
              <p:nvPr/>
            </p:nvCxnSpPr>
            <p:spPr bwMode="auto">
              <a:xfrm flipH="1">
                <a:off x="5237871" y="4878949"/>
                <a:ext cx="639604" cy="469865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B23803C8-FD5F-47E7-81DD-C5C5D261AA7B}"/>
                  </a:ext>
                </a:extLst>
              </p:cNvPr>
              <p:cNvCxnSpPr>
                <a:cxnSpLocks/>
                <a:stCxn id="166" idx="2"/>
                <a:endCxn id="164" idx="5"/>
              </p:cNvCxnSpPr>
              <p:nvPr/>
            </p:nvCxnSpPr>
            <p:spPr bwMode="auto">
              <a:xfrm flipH="1" flipV="1">
                <a:off x="4187845" y="4901153"/>
                <a:ext cx="689986" cy="447661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C9085306-0CAD-4AA6-BEA3-6B97F57A67FE}"/>
                  </a:ext>
                </a:extLst>
              </p:cNvPr>
              <p:cNvSpPr txBox="1"/>
              <p:nvPr/>
            </p:nvSpPr>
            <p:spPr>
              <a:xfrm>
                <a:off x="4261840" y="40229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3</a:t>
                </a:r>
                <a:endParaRPr lang="nl-NL" sz="1800" i="0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812C519-F1FB-41D8-938C-815BAEEEEB65}"/>
                  </a:ext>
                </a:extLst>
              </p:cNvPr>
              <p:cNvSpPr txBox="1"/>
              <p:nvPr/>
            </p:nvSpPr>
            <p:spPr>
              <a:xfrm>
                <a:off x="5515308" y="401152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8</a:t>
                </a:r>
                <a:endParaRPr lang="nl-NL" sz="1800" i="0" dirty="0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B58EEE06-14F1-461D-8CDF-E41A9826086E}"/>
                  </a:ext>
                </a:extLst>
              </p:cNvPr>
              <p:cNvSpPr txBox="1"/>
              <p:nvPr/>
            </p:nvSpPr>
            <p:spPr>
              <a:xfrm>
                <a:off x="5564337" y="501333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6</a:t>
                </a:r>
                <a:endParaRPr lang="nl-NL" sz="1800" i="0" dirty="0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A22B15E3-45C6-4027-82F1-E534932C70BA}"/>
                  </a:ext>
                </a:extLst>
              </p:cNvPr>
              <p:cNvSpPr txBox="1"/>
              <p:nvPr/>
            </p:nvSpPr>
            <p:spPr>
              <a:xfrm>
                <a:off x="4261840" y="498805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7</a:t>
                </a:r>
                <a:endParaRPr lang="nl-NL" sz="1800" i="0" dirty="0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729197E-EA9A-4725-A55A-6BE5AF9C3D4B}"/>
                  </a:ext>
                </a:extLst>
              </p:cNvPr>
              <p:cNvSpPr txBox="1"/>
              <p:nvPr/>
            </p:nvSpPr>
            <p:spPr>
              <a:xfrm>
                <a:off x="5125285" y="456029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1</a:t>
                </a:r>
                <a:endParaRPr lang="nl-NL" sz="1800" i="0" dirty="0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0EA3311A-737F-4573-8DB4-42840EA04BD2}"/>
                </a:ext>
              </a:extLst>
            </p:cNvPr>
            <p:cNvGrpSpPr/>
            <p:nvPr/>
          </p:nvGrpSpPr>
          <p:grpSpPr>
            <a:xfrm>
              <a:off x="4225763" y="3442044"/>
              <a:ext cx="1626583" cy="1492296"/>
              <a:chOff x="4250000" y="3969764"/>
              <a:chExt cx="1626583" cy="1492296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0F4985B5-BC48-43A5-9B76-D47926DA98A1}"/>
                  </a:ext>
                </a:extLst>
              </p:cNvPr>
              <p:cNvSpPr txBox="1"/>
              <p:nvPr/>
            </p:nvSpPr>
            <p:spPr>
              <a:xfrm>
                <a:off x="4271092" y="3969764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2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5E86AA7-C123-4466-83C2-72E902D96AA2}"/>
                  </a:ext>
                </a:extLst>
              </p:cNvPr>
              <p:cNvSpPr txBox="1"/>
              <p:nvPr/>
            </p:nvSpPr>
            <p:spPr>
              <a:xfrm>
                <a:off x="5512289" y="410701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1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77B9D710-6292-4C73-AAEA-38AD848A2E9A}"/>
                  </a:ext>
                </a:extLst>
              </p:cNvPr>
              <p:cNvSpPr txBox="1"/>
              <p:nvPr/>
            </p:nvSpPr>
            <p:spPr>
              <a:xfrm>
                <a:off x="5576501" y="486130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2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30B83C46-C13B-4445-851D-B413466D5BC2}"/>
                  </a:ext>
                </a:extLst>
              </p:cNvPr>
              <p:cNvSpPr txBox="1"/>
              <p:nvPr/>
            </p:nvSpPr>
            <p:spPr>
              <a:xfrm>
                <a:off x="4250000" y="509272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1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36F66E0-E98E-4601-A764-15EAE6442D9F}"/>
                  </a:ext>
                </a:extLst>
              </p:cNvPr>
              <p:cNvSpPr txBox="1"/>
              <p:nvPr/>
            </p:nvSpPr>
            <p:spPr>
              <a:xfrm>
                <a:off x="5120174" y="456029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0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1005825D-4D59-4922-879D-AA7F54E6AEE2}"/>
              </a:ext>
            </a:extLst>
          </p:cNvPr>
          <p:cNvSpPr txBox="1"/>
          <p:nvPr/>
        </p:nvSpPr>
        <p:spPr>
          <a:xfrm>
            <a:off x="641138" y="6001056"/>
            <a:ext cx="2812527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Original circulation graph</a:t>
            </a:r>
          </a:p>
          <a:p>
            <a:r>
              <a:rPr lang="en-US" sz="1600" dirty="0"/>
              <a:t>[lower bound, capacity]</a:t>
            </a:r>
            <a:endParaRPr lang="nl-NL" sz="1600" dirty="0"/>
          </a:p>
        </p:txBody>
      </p:sp>
      <p:sp>
        <p:nvSpPr>
          <p:cNvPr id="197" name="Arrow: Right 196">
            <a:extLst>
              <a:ext uri="{FF2B5EF4-FFF2-40B4-BE49-F238E27FC236}">
                <a16:creationId xmlns:a16="http://schemas.microsoft.com/office/drawing/2014/main" id="{A4CAB880-FFD4-48B1-9077-8ADAD81C3995}"/>
              </a:ext>
            </a:extLst>
          </p:cNvPr>
          <p:cNvSpPr/>
          <p:nvPr/>
        </p:nvSpPr>
        <p:spPr bwMode="auto">
          <a:xfrm rot="2234670">
            <a:off x="6102835" y="1630909"/>
            <a:ext cx="1137140" cy="600393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98" name="Arrow: Right 197">
            <a:extLst>
              <a:ext uri="{FF2B5EF4-FFF2-40B4-BE49-F238E27FC236}">
                <a16:creationId xmlns:a16="http://schemas.microsoft.com/office/drawing/2014/main" id="{F8DBECED-43FB-44FE-AAB8-B41590DF7B20}"/>
              </a:ext>
            </a:extLst>
          </p:cNvPr>
          <p:cNvSpPr/>
          <p:nvPr/>
        </p:nvSpPr>
        <p:spPr bwMode="auto">
          <a:xfrm rot="7047998">
            <a:off x="6742453" y="3729230"/>
            <a:ext cx="1137140" cy="600393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88E1C4D7-DDCA-4485-A7DC-9A3AD32FAD04}"/>
              </a:ext>
            </a:extLst>
          </p:cNvPr>
          <p:cNvGrpSpPr/>
          <p:nvPr/>
        </p:nvGrpSpPr>
        <p:grpSpPr>
          <a:xfrm>
            <a:off x="5573037" y="4496397"/>
            <a:ext cx="2304256" cy="1604074"/>
            <a:chOff x="3711890" y="3400860"/>
            <a:chExt cx="2304256" cy="1604074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E5FABF70-B63E-44B4-BCE4-C53A649F7D3C}"/>
                </a:ext>
              </a:extLst>
            </p:cNvPr>
            <p:cNvGrpSpPr/>
            <p:nvPr/>
          </p:nvGrpSpPr>
          <p:grpSpPr>
            <a:xfrm>
              <a:off x="3711890" y="3483809"/>
              <a:ext cx="2304256" cy="1521125"/>
              <a:chOff x="3880532" y="4011529"/>
              <a:chExt cx="2304256" cy="1521125"/>
            </a:xfrm>
          </p:grpSpPr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E6004C73-5494-4E22-A99A-082B70A69450}"/>
                  </a:ext>
                </a:extLst>
              </p:cNvPr>
              <p:cNvSpPr/>
              <p:nvPr/>
            </p:nvSpPr>
            <p:spPr bwMode="auto">
              <a:xfrm>
                <a:off x="3880532" y="4587318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a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3F6B502A-C198-4705-A1E1-2F40CE1ECF85}"/>
                  </a:ext>
                </a:extLst>
              </p:cNvPr>
              <p:cNvSpPr/>
              <p:nvPr/>
            </p:nvSpPr>
            <p:spPr bwMode="auto">
              <a:xfrm>
                <a:off x="4877831" y="4069896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b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C24CE1BA-8A8B-4C37-AE91-A14301EC1D9B}"/>
                  </a:ext>
                </a:extLst>
              </p:cNvPr>
              <p:cNvSpPr/>
              <p:nvPr/>
            </p:nvSpPr>
            <p:spPr bwMode="auto">
              <a:xfrm>
                <a:off x="4877831" y="5164974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c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719BCFBC-8E4B-415B-BF7A-356D1CADB87D}"/>
                  </a:ext>
                </a:extLst>
              </p:cNvPr>
              <p:cNvSpPr/>
              <p:nvPr/>
            </p:nvSpPr>
            <p:spPr bwMode="auto">
              <a:xfrm>
                <a:off x="5824748" y="4565114"/>
                <a:ext cx="360040" cy="367680"/>
              </a:xfrm>
              <a:prstGeom prst="ellipse">
                <a:avLst/>
              </a:prstGeom>
              <a:ln>
                <a:noFill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</a:rPr>
                  <a:t>d</a:t>
                </a:r>
                <a:endParaRPr kumimoji="0" lang="nl-NL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49EE527B-8095-468A-9165-A3DC5DC5A789}"/>
                  </a:ext>
                </a:extLst>
              </p:cNvPr>
              <p:cNvCxnSpPr>
                <a:cxnSpLocks/>
                <a:stCxn id="207" idx="7"/>
                <a:endCxn id="208" idx="2"/>
              </p:cNvCxnSpPr>
              <p:nvPr/>
            </p:nvCxnSpPr>
            <p:spPr bwMode="auto">
              <a:xfrm flipV="1">
                <a:off x="4187845" y="4253736"/>
                <a:ext cx="689986" cy="387427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2DF6D081-820F-413D-8EDC-8AFF602EF64F}"/>
                  </a:ext>
                </a:extLst>
              </p:cNvPr>
              <p:cNvCxnSpPr>
                <a:cxnSpLocks/>
                <a:stCxn id="208" idx="4"/>
                <a:endCxn id="209" idx="0"/>
              </p:cNvCxnSpPr>
              <p:nvPr/>
            </p:nvCxnSpPr>
            <p:spPr bwMode="auto">
              <a:xfrm>
                <a:off x="5057851" y="4437576"/>
                <a:ext cx="0" cy="727398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6545F8E7-8174-4693-B6CD-99EAE4491C61}"/>
                  </a:ext>
                </a:extLst>
              </p:cNvPr>
              <p:cNvCxnSpPr>
                <a:cxnSpLocks/>
                <a:stCxn id="208" idx="6"/>
                <a:endCxn id="210" idx="1"/>
              </p:cNvCxnSpPr>
              <p:nvPr/>
            </p:nvCxnSpPr>
            <p:spPr bwMode="auto">
              <a:xfrm>
                <a:off x="5237871" y="4253736"/>
                <a:ext cx="639604" cy="365223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1F123DB8-25D4-4CC3-9FCA-0E48C3B2D71E}"/>
                  </a:ext>
                </a:extLst>
              </p:cNvPr>
              <p:cNvCxnSpPr>
                <a:cxnSpLocks/>
                <a:stCxn id="210" idx="3"/>
                <a:endCxn id="209" idx="6"/>
              </p:cNvCxnSpPr>
              <p:nvPr/>
            </p:nvCxnSpPr>
            <p:spPr bwMode="auto">
              <a:xfrm flipH="1">
                <a:off x="5237871" y="4878949"/>
                <a:ext cx="639604" cy="469865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15" name="Straight Arrow Connector 214">
                <a:extLst>
                  <a:ext uri="{FF2B5EF4-FFF2-40B4-BE49-F238E27FC236}">
                    <a16:creationId xmlns:a16="http://schemas.microsoft.com/office/drawing/2014/main" id="{9DAE05E3-325E-46F4-A507-E569D116965E}"/>
                  </a:ext>
                </a:extLst>
              </p:cNvPr>
              <p:cNvCxnSpPr>
                <a:cxnSpLocks/>
                <a:stCxn id="209" idx="2"/>
                <a:endCxn id="207" idx="5"/>
              </p:cNvCxnSpPr>
              <p:nvPr/>
            </p:nvCxnSpPr>
            <p:spPr bwMode="auto">
              <a:xfrm flipH="1" flipV="1">
                <a:off x="4187845" y="4901153"/>
                <a:ext cx="689986" cy="447661"/>
              </a:xfrm>
              <a:prstGeom prst="straightConnector1">
                <a:avLst/>
              </a:prstGeom>
              <a:solidFill>
                <a:srgbClr val="FFFF0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2B40FF5-1260-4EF0-96F9-374189A12C94}"/>
                  </a:ext>
                </a:extLst>
              </p:cNvPr>
              <p:cNvSpPr txBox="1"/>
              <p:nvPr/>
            </p:nvSpPr>
            <p:spPr>
              <a:xfrm>
                <a:off x="4261840" y="40229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800" i="0" dirty="0"/>
                  <a:t>5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98936A8A-716E-45F9-8F3E-AA2063202423}"/>
                  </a:ext>
                </a:extLst>
              </p:cNvPr>
              <p:cNvSpPr txBox="1"/>
              <p:nvPr/>
            </p:nvSpPr>
            <p:spPr>
              <a:xfrm>
                <a:off x="5511034" y="401152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9</a:t>
                </a:r>
                <a:endParaRPr lang="nl-NL" sz="1800" i="0" dirty="0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8547C82F-64F7-46B1-A3B6-5BD6E94089F1}"/>
                  </a:ext>
                </a:extLst>
              </p:cNvPr>
              <p:cNvSpPr txBox="1"/>
              <p:nvPr/>
            </p:nvSpPr>
            <p:spPr>
              <a:xfrm>
                <a:off x="5564337" y="501333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6</a:t>
                </a:r>
                <a:endParaRPr lang="nl-NL" sz="1800" i="0" dirty="0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4DA4D192-C249-4B97-90B7-891020BFE7BD}"/>
                  </a:ext>
                </a:extLst>
              </p:cNvPr>
              <p:cNvSpPr txBox="1"/>
              <p:nvPr/>
            </p:nvSpPr>
            <p:spPr>
              <a:xfrm>
                <a:off x="4050041" y="5006549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10</a:t>
                </a:r>
                <a:endParaRPr lang="nl-NL" sz="1800" i="0" dirty="0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B71C8D9-6B7F-4A48-8367-6F13B462C4BC}"/>
                  </a:ext>
                </a:extLst>
              </p:cNvPr>
              <p:cNvSpPr txBox="1"/>
              <p:nvPr/>
            </p:nvSpPr>
            <p:spPr>
              <a:xfrm>
                <a:off x="5125285" y="456029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/>
                  <a:t>3</a:t>
                </a:r>
                <a:endParaRPr lang="nl-NL" sz="1800" i="0" dirty="0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7FD39A74-2D6A-4E56-8BAC-78858DBC00EC}"/>
                </a:ext>
              </a:extLst>
            </p:cNvPr>
            <p:cNvGrpSpPr/>
            <p:nvPr/>
          </p:nvGrpSpPr>
          <p:grpSpPr>
            <a:xfrm>
              <a:off x="4225763" y="3400860"/>
              <a:ext cx="1627109" cy="1533480"/>
              <a:chOff x="4250000" y="3928580"/>
              <a:chExt cx="1627109" cy="1533480"/>
            </a:xfrm>
          </p:grpSpPr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A09AB7D3-683B-43D4-B9F3-7275B6AEFA63}"/>
                  </a:ext>
                </a:extLst>
              </p:cNvPr>
              <p:cNvSpPr txBox="1"/>
              <p:nvPr/>
            </p:nvSpPr>
            <p:spPr>
              <a:xfrm>
                <a:off x="4284337" y="392858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4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B8531640-8764-43F0-8D23-CBDCC61A4A5B}"/>
                  </a:ext>
                </a:extLst>
              </p:cNvPr>
              <p:cNvSpPr txBox="1"/>
              <p:nvPr/>
            </p:nvSpPr>
            <p:spPr>
              <a:xfrm>
                <a:off x="5521809" y="410549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rgbClr val="C00000"/>
                    </a:solidFill>
                  </a:rPr>
                  <a:t>2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D5CF3613-CB98-4B02-9106-52B7687E34CD}"/>
                  </a:ext>
                </a:extLst>
              </p:cNvPr>
              <p:cNvSpPr txBox="1"/>
              <p:nvPr/>
            </p:nvSpPr>
            <p:spPr>
              <a:xfrm>
                <a:off x="5577027" y="486189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2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3E3DC5C-78EC-4211-B3E8-F38E2D26DF9E}"/>
                  </a:ext>
                </a:extLst>
              </p:cNvPr>
              <p:cNvSpPr txBox="1"/>
              <p:nvPr/>
            </p:nvSpPr>
            <p:spPr>
              <a:xfrm>
                <a:off x="4250000" y="509272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</a:rPr>
                  <a:t>4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9FA328B-1B59-417F-B100-C34361E5ED50}"/>
                  </a:ext>
                </a:extLst>
              </p:cNvPr>
              <p:cNvSpPr txBox="1"/>
              <p:nvPr/>
            </p:nvSpPr>
            <p:spPr>
              <a:xfrm>
                <a:off x="5134537" y="455034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rgbClr val="C00000"/>
                    </a:solidFill>
                  </a:rPr>
                  <a:t>2</a:t>
                </a:r>
                <a:endParaRPr lang="nl-NL" sz="1800" i="0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445B7CD7-2806-420A-8432-740C4E113FF8}"/>
              </a:ext>
            </a:extLst>
          </p:cNvPr>
          <p:cNvSpPr txBox="1"/>
          <p:nvPr/>
        </p:nvSpPr>
        <p:spPr>
          <a:xfrm>
            <a:off x="105074" y="99556"/>
            <a:ext cx="3606588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Maximum flow as just computed</a:t>
            </a:r>
            <a:endParaRPr lang="nl-NL" sz="16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D10F2F9-3D6C-4BA5-AF80-85585B94639C}"/>
              </a:ext>
            </a:extLst>
          </p:cNvPr>
          <p:cNvSpPr txBox="1"/>
          <p:nvPr/>
        </p:nvSpPr>
        <p:spPr>
          <a:xfrm>
            <a:off x="5193612" y="40242"/>
            <a:ext cx="1208703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i="0" dirty="0">
                <a:latin typeface="+mn-lt"/>
              </a:rPr>
              <a:t>capacity</a:t>
            </a:r>
            <a:br>
              <a:rPr lang="en-US" sz="1800" i="0" dirty="0">
                <a:latin typeface="+mn-lt"/>
              </a:rPr>
            </a:br>
            <a:r>
              <a:rPr lang="en-US" sz="1800" i="0" dirty="0">
                <a:solidFill>
                  <a:srgbClr val="C00000"/>
                </a:solidFill>
                <a:latin typeface="+mn-lt"/>
              </a:rPr>
              <a:t>flow</a:t>
            </a:r>
            <a:endParaRPr lang="nl-NL" sz="1800" i="0" dirty="0">
              <a:solidFill>
                <a:srgbClr val="C00000"/>
              </a:solidFill>
              <a:latin typeface="+mn-lt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71EEF20-9739-4DAE-9E48-43E9F1E571E4}"/>
              </a:ext>
            </a:extLst>
          </p:cNvPr>
          <p:cNvGrpSpPr/>
          <p:nvPr/>
        </p:nvGrpSpPr>
        <p:grpSpPr>
          <a:xfrm>
            <a:off x="121295" y="170842"/>
            <a:ext cx="5849371" cy="3301877"/>
            <a:chOff x="2148919" y="3082790"/>
            <a:chExt cx="5849371" cy="3301877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75BD32BD-1E10-4F62-8569-EFB81B6B87F2}"/>
                </a:ext>
              </a:extLst>
            </p:cNvPr>
            <p:cNvSpPr/>
            <p:nvPr/>
          </p:nvSpPr>
          <p:spPr bwMode="auto">
            <a:xfrm>
              <a:off x="3880532" y="4587318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a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E23AE9B-FF0C-4B4B-AF35-9F8F924D36E6}"/>
                </a:ext>
              </a:extLst>
            </p:cNvPr>
            <p:cNvSpPr/>
            <p:nvPr/>
          </p:nvSpPr>
          <p:spPr bwMode="auto">
            <a:xfrm>
              <a:off x="4877831" y="4069896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b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48613630-6540-4407-B8C3-09303AE20B40}"/>
                </a:ext>
              </a:extLst>
            </p:cNvPr>
            <p:cNvSpPr/>
            <p:nvPr/>
          </p:nvSpPr>
          <p:spPr bwMode="auto">
            <a:xfrm>
              <a:off x="4877831" y="5164974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c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E99DF7A-DC4C-4BD4-A7D5-3C21F7CDBD63}"/>
                </a:ext>
              </a:extLst>
            </p:cNvPr>
            <p:cNvSpPr/>
            <p:nvPr/>
          </p:nvSpPr>
          <p:spPr bwMode="auto">
            <a:xfrm>
              <a:off x="5824748" y="4565114"/>
              <a:ext cx="360040" cy="367680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d</a:t>
              </a:r>
              <a:endParaRPr kumimoji="0" lang="nl-NL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135C9644-30DF-4166-BBF0-FECA942C9D6A}"/>
                </a:ext>
              </a:extLst>
            </p:cNvPr>
            <p:cNvCxnSpPr>
              <a:stCxn id="160" idx="7"/>
              <a:endCxn id="161" idx="2"/>
            </p:cNvCxnSpPr>
            <p:nvPr/>
          </p:nvCxnSpPr>
          <p:spPr bwMode="auto">
            <a:xfrm flipV="1">
              <a:off x="4187845" y="4253736"/>
              <a:ext cx="689986" cy="387427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6A718EDA-6A98-46CB-A4FF-0A86DD5E8A78}"/>
                </a:ext>
              </a:extLst>
            </p:cNvPr>
            <p:cNvCxnSpPr>
              <a:stCxn id="161" idx="4"/>
              <a:endCxn id="162" idx="0"/>
            </p:cNvCxnSpPr>
            <p:nvPr/>
          </p:nvCxnSpPr>
          <p:spPr bwMode="auto">
            <a:xfrm>
              <a:off x="5057851" y="4437576"/>
              <a:ext cx="0" cy="727398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1418982F-027E-466F-BDA0-8A5AF1CF9E98}"/>
                </a:ext>
              </a:extLst>
            </p:cNvPr>
            <p:cNvCxnSpPr>
              <a:stCxn id="161" idx="6"/>
              <a:endCxn id="163" idx="1"/>
            </p:cNvCxnSpPr>
            <p:nvPr/>
          </p:nvCxnSpPr>
          <p:spPr bwMode="auto">
            <a:xfrm>
              <a:off x="5237871" y="4253736"/>
              <a:ext cx="639604" cy="365223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85C906F2-B315-4F01-B481-1748B2FEB07F}"/>
                </a:ext>
              </a:extLst>
            </p:cNvPr>
            <p:cNvCxnSpPr>
              <a:stCxn id="163" idx="3"/>
              <a:endCxn id="162" idx="6"/>
            </p:cNvCxnSpPr>
            <p:nvPr/>
          </p:nvCxnSpPr>
          <p:spPr bwMode="auto">
            <a:xfrm flipH="1">
              <a:off x="5237871" y="4878949"/>
              <a:ext cx="639604" cy="469865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BB44F3AC-0E71-4566-88BC-8940EA4803E6}"/>
                </a:ext>
              </a:extLst>
            </p:cNvPr>
            <p:cNvCxnSpPr>
              <a:stCxn id="162" idx="2"/>
              <a:endCxn id="160" idx="5"/>
            </p:cNvCxnSpPr>
            <p:nvPr/>
          </p:nvCxnSpPr>
          <p:spPr bwMode="auto">
            <a:xfrm flipH="1" flipV="1">
              <a:off x="4187845" y="4901153"/>
              <a:ext cx="689986" cy="447661"/>
            </a:xfrm>
            <a:prstGeom prst="straightConnector1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4F56920B-4008-4FE8-9705-99F8477380D3}"/>
                </a:ext>
              </a:extLst>
            </p:cNvPr>
            <p:cNvSpPr txBox="1"/>
            <p:nvPr/>
          </p:nvSpPr>
          <p:spPr>
            <a:xfrm>
              <a:off x="4261840" y="40229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A81F50C4-52BF-4D07-9DB1-683CA8AD7157}"/>
                </a:ext>
              </a:extLst>
            </p:cNvPr>
            <p:cNvSpPr txBox="1"/>
            <p:nvPr/>
          </p:nvSpPr>
          <p:spPr>
            <a:xfrm>
              <a:off x="5515308" y="401152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8</a:t>
              </a:r>
              <a:endParaRPr lang="nl-NL" sz="1800" i="0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EDEB536A-4455-4AE7-8C95-6A1B88F93B22}"/>
                </a:ext>
              </a:extLst>
            </p:cNvPr>
            <p:cNvSpPr txBox="1"/>
            <p:nvPr/>
          </p:nvSpPr>
          <p:spPr>
            <a:xfrm>
              <a:off x="5533526" y="49813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6</a:t>
              </a:r>
              <a:endParaRPr lang="nl-NL" sz="1800" i="0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4BA945D8-397B-4C66-900C-1927FA34CE2F}"/>
                </a:ext>
              </a:extLst>
            </p:cNvPr>
            <p:cNvSpPr txBox="1"/>
            <p:nvPr/>
          </p:nvSpPr>
          <p:spPr>
            <a:xfrm>
              <a:off x="4276985" y="505680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7</a:t>
              </a:r>
              <a:endParaRPr lang="nl-NL" sz="1800" i="0" dirty="0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8976ADB-5C3D-4CDA-9C7E-D8CE5EC2F23E}"/>
                </a:ext>
              </a:extLst>
            </p:cNvPr>
            <p:cNvSpPr txBox="1"/>
            <p:nvPr/>
          </p:nvSpPr>
          <p:spPr>
            <a:xfrm>
              <a:off x="5125285" y="45602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1</a:t>
              </a:r>
              <a:endParaRPr lang="nl-NL" sz="1800" i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54234CAC-5884-4E52-9CEA-A0BD66B9137D}"/>
                    </a:ext>
                  </a:extLst>
                </p:cNvPr>
                <p:cNvSpPr/>
                <p:nvPr/>
              </p:nvSpPr>
              <p:spPr bwMode="auto">
                <a:xfrm>
                  <a:off x="2148919" y="4641163"/>
                  <a:ext cx="689986" cy="70644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kumimoji="0" lang="nl-NL" sz="1800" b="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charset="0"/>
                  </a:endParaRPr>
                </a:p>
              </p:txBody>
            </p:sp>
          </mc:Choice>
          <mc:Fallback xmlns=""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54234CAC-5884-4E52-9CEA-A0BD66B913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48919" y="4641163"/>
                  <a:ext cx="689986" cy="70644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6F824B18-EAC2-4FDC-A673-9C101BF52E32}"/>
                    </a:ext>
                  </a:extLst>
                </p:cNvPr>
                <p:cNvSpPr/>
                <p:nvPr/>
              </p:nvSpPr>
              <p:spPr bwMode="auto">
                <a:xfrm>
                  <a:off x="7308304" y="4423914"/>
                  <a:ext cx="689986" cy="70644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kumimoji="0" lang="nl-NL" sz="1800" b="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charset="0"/>
                  </a:endParaRPr>
                </a:p>
              </p:txBody>
            </p:sp>
          </mc:Choice>
          <mc:Fallback xmlns=""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6F824B18-EAC2-4FDC-A673-9C101BF52E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08304" y="4423914"/>
                  <a:ext cx="689986" cy="70644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0" name="Connector: Curved 189">
              <a:extLst>
                <a:ext uri="{FF2B5EF4-FFF2-40B4-BE49-F238E27FC236}">
                  <a16:creationId xmlns:a16="http://schemas.microsoft.com/office/drawing/2014/main" id="{F417C99C-6AFF-4FCF-831E-F641CADAFED4}"/>
                </a:ext>
              </a:extLst>
            </p:cNvPr>
            <p:cNvCxnSpPr>
              <a:stCxn id="160" idx="1"/>
              <a:endCxn id="188" idx="7"/>
            </p:cNvCxnSpPr>
            <p:nvPr/>
          </p:nvCxnSpPr>
          <p:spPr bwMode="auto">
            <a:xfrm rot="16200000" flipH="1" flipV="1">
              <a:off x="3283831" y="4095191"/>
              <a:ext cx="103456" cy="1195400"/>
            </a:xfrm>
            <a:prstGeom prst="curvedConnector3">
              <a:avLst>
                <a:gd name="adj1" fmla="val -273010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191" name="Connector: Curved 190">
              <a:extLst>
                <a:ext uri="{FF2B5EF4-FFF2-40B4-BE49-F238E27FC236}">
                  <a16:creationId xmlns:a16="http://schemas.microsoft.com/office/drawing/2014/main" id="{39F13C7E-8B8B-4AA2-933D-8CE91EE61A23}"/>
                </a:ext>
              </a:extLst>
            </p:cNvPr>
            <p:cNvCxnSpPr>
              <a:stCxn id="162" idx="4"/>
              <a:endCxn id="188" idx="4"/>
            </p:cNvCxnSpPr>
            <p:nvPr/>
          </p:nvCxnSpPr>
          <p:spPr bwMode="auto">
            <a:xfrm rot="5400000" flipH="1">
              <a:off x="3683358" y="4158162"/>
              <a:ext cx="185047" cy="2563939"/>
            </a:xfrm>
            <a:prstGeom prst="curvedConnector3">
              <a:avLst>
                <a:gd name="adj1" fmla="val -123536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192" name="Connector: Curved 191">
              <a:extLst>
                <a:ext uri="{FF2B5EF4-FFF2-40B4-BE49-F238E27FC236}">
                  <a16:creationId xmlns:a16="http://schemas.microsoft.com/office/drawing/2014/main" id="{7E6A8C36-CA50-45CE-90DC-0675CC951A3E}"/>
                </a:ext>
              </a:extLst>
            </p:cNvPr>
            <p:cNvCxnSpPr>
              <a:cxnSpLocks/>
              <a:stCxn id="161" idx="0"/>
              <a:endCxn id="188" idx="7"/>
            </p:cNvCxnSpPr>
            <p:nvPr/>
          </p:nvCxnSpPr>
          <p:spPr bwMode="auto">
            <a:xfrm rot="16200000" flipH="1" flipV="1">
              <a:off x="3560493" y="3247261"/>
              <a:ext cx="674723" cy="2319992"/>
            </a:xfrm>
            <a:prstGeom prst="curvedConnector3">
              <a:avLst>
                <a:gd name="adj1" fmla="val -33881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77C0D6D-8F80-4A54-BA50-BF38E6575F87}"/>
                </a:ext>
              </a:extLst>
            </p:cNvPr>
            <p:cNvSpPr txBox="1"/>
            <p:nvPr/>
          </p:nvSpPr>
          <p:spPr>
            <a:xfrm>
              <a:off x="3366067" y="3477029"/>
              <a:ext cx="3385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CB9149E-38C2-470D-823D-50914126931E}"/>
                </a:ext>
              </a:extLst>
            </p:cNvPr>
            <p:cNvSpPr txBox="1"/>
            <p:nvPr/>
          </p:nvSpPr>
          <p:spPr>
            <a:xfrm>
              <a:off x="3263380" y="42829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097B7F7C-DC6C-4EDF-98D8-68678ED3E69D}"/>
                </a:ext>
              </a:extLst>
            </p:cNvPr>
            <p:cNvSpPr txBox="1"/>
            <p:nvPr/>
          </p:nvSpPr>
          <p:spPr>
            <a:xfrm>
              <a:off x="3741332" y="535519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cxnSp>
          <p:nvCxnSpPr>
            <p:cNvPr id="222" name="Connector: Curved 221">
              <a:extLst>
                <a:ext uri="{FF2B5EF4-FFF2-40B4-BE49-F238E27FC236}">
                  <a16:creationId xmlns:a16="http://schemas.microsoft.com/office/drawing/2014/main" id="{2163667D-4547-4229-8202-B97D47680F57}"/>
                </a:ext>
              </a:extLst>
            </p:cNvPr>
            <p:cNvCxnSpPr>
              <a:stCxn id="161" idx="7"/>
              <a:endCxn id="189" idx="0"/>
            </p:cNvCxnSpPr>
            <p:nvPr/>
          </p:nvCxnSpPr>
          <p:spPr bwMode="auto">
            <a:xfrm rot="16200000" flipH="1">
              <a:off x="6269133" y="3039751"/>
              <a:ext cx="300173" cy="2468153"/>
            </a:xfrm>
            <a:prstGeom prst="curvedConnector3">
              <a:avLst>
                <a:gd name="adj1" fmla="val -32554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3" name="Connector: Curved 222">
              <a:extLst>
                <a:ext uri="{FF2B5EF4-FFF2-40B4-BE49-F238E27FC236}">
                  <a16:creationId xmlns:a16="http://schemas.microsoft.com/office/drawing/2014/main" id="{EE86E708-245A-4361-AE1B-1A5931C23C03}"/>
                </a:ext>
              </a:extLst>
            </p:cNvPr>
            <p:cNvCxnSpPr>
              <a:stCxn id="162" idx="5"/>
            </p:cNvCxnSpPr>
            <p:nvPr/>
          </p:nvCxnSpPr>
          <p:spPr bwMode="auto">
            <a:xfrm rot="5400000" flipH="1" flipV="1">
              <a:off x="6162958" y="4136067"/>
              <a:ext cx="364928" cy="2320556"/>
            </a:xfrm>
            <a:prstGeom prst="curvedConnector4">
              <a:avLst>
                <a:gd name="adj1" fmla="val -62642"/>
                <a:gd name="adj2" fmla="val 99695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4" name="Connector: Curved 223">
              <a:extLst>
                <a:ext uri="{FF2B5EF4-FFF2-40B4-BE49-F238E27FC236}">
                  <a16:creationId xmlns:a16="http://schemas.microsoft.com/office/drawing/2014/main" id="{C1F318A9-381C-4DE4-926C-100B0CFC3637}"/>
                </a:ext>
              </a:extLst>
            </p:cNvPr>
            <p:cNvCxnSpPr>
              <a:stCxn id="160" idx="4"/>
              <a:endCxn id="189" idx="4"/>
            </p:cNvCxnSpPr>
            <p:nvPr/>
          </p:nvCxnSpPr>
          <p:spPr bwMode="auto">
            <a:xfrm rot="16200000" flipH="1">
              <a:off x="5769244" y="3246305"/>
              <a:ext cx="175360" cy="3592745"/>
            </a:xfrm>
            <a:prstGeom prst="curvedConnector3">
              <a:avLst>
                <a:gd name="adj1" fmla="val 736000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81F5441-186F-4F3E-AF2B-47283A3DE690}"/>
                </a:ext>
              </a:extLst>
            </p:cNvPr>
            <p:cNvSpPr txBox="1"/>
            <p:nvPr/>
          </p:nvSpPr>
          <p:spPr>
            <a:xfrm>
              <a:off x="6492546" y="6015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91FB36C8-4CB5-4D96-84A2-FE2E9A367FFD}"/>
                </a:ext>
              </a:extLst>
            </p:cNvPr>
            <p:cNvSpPr txBox="1"/>
            <p:nvPr/>
          </p:nvSpPr>
          <p:spPr>
            <a:xfrm>
              <a:off x="6332233" y="53111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3</a:t>
              </a:r>
              <a:endParaRPr lang="nl-NL" sz="1800" i="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669100F-FDDC-45EE-8727-49838C333851}"/>
                </a:ext>
              </a:extLst>
            </p:cNvPr>
            <p:cNvSpPr txBox="1"/>
            <p:nvPr/>
          </p:nvSpPr>
          <p:spPr>
            <a:xfrm>
              <a:off x="6393789" y="36620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2</a:t>
              </a:r>
              <a:endParaRPr lang="nl-NL" sz="1800" i="0" dirty="0"/>
            </a:p>
          </p:txBody>
        </p:sp>
        <p:cxnSp>
          <p:nvCxnSpPr>
            <p:cNvPr id="228" name="Connector: Curved 227">
              <a:extLst>
                <a:ext uri="{FF2B5EF4-FFF2-40B4-BE49-F238E27FC236}">
                  <a16:creationId xmlns:a16="http://schemas.microsoft.com/office/drawing/2014/main" id="{1798119E-05AA-4343-9487-442631B659DB}"/>
                </a:ext>
              </a:extLst>
            </p:cNvPr>
            <p:cNvCxnSpPr>
              <a:cxnSpLocks/>
              <a:stCxn id="188" idx="4"/>
              <a:endCxn id="163" idx="4"/>
            </p:cNvCxnSpPr>
            <p:nvPr/>
          </p:nvCxnSpPr>
          <p:spPr bwMode="auto">
            <a:xfrm rot="5400000" flipH="1" flipV="1">
              <a:off x="4041933" y="3384773"/>
              <a:ext cx="414813" cy="3510856"/>
            </a:xfrm>
            <a:prstGeom prst="curvedConnector3">
              <a:avLst>
                <a:gd name="adj1" fmla="val -268866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332BCEE4-0099-4526-AB12-0D7F70B17366}"/>
                </a:ext>
              </a:extLst>
            </p:cNvPr>
            <p:cNvSpPr txBox="1"/>
            <p:nvPr/>
          </p:nvSpPr>
          <p:spPr>
            <a:xfrm>
              <a:off x="3910784" y="60000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1</a:t>
              </a:r>
              <a:endParaRPr lang="nl-NL" sz="1800" dirty="0"/>
            </a:p>
          </p:txBody>
        </p:sp>
        <p:cxnSp>
          <p:nvCxnSpPr>
            <p:cNvPr id="230" name="Connector: Curved 229">
              <a:extLst>
                <a:ext uri="{FF2B5EF4-FFF2-40B4-BE49-F238E27FC236}">
                  <a16:creationId xmlns:a16="http://schemas.microsoft.com/office/drawing/2014/main" id="{E88E8387-EF55-45FA-82C9-46BC8750A20A}"/>
                </a:ext>
              </a:extLst>
            </p:cNvPr>
            <p:cNvCxnSpPr>
              <a:cxnSpLocks/>
              <a:stCxn id="161" idx="0"/>
              <a:endCxn id="189" idx="0"/>
            </p:cNvCxnSpPr>
            <p:nvPr/>
          </p:nvCxnSpPr>
          <p:spPr bwMode="auto">
            <a:xfrm rot="16200000" flipH="1">
              <a:off x="6178565" y="2949182"/>
              <a:ext cx="354018" cy="2595446"/>
            </a:xfrm>
            <a:prstGeom prst="curvedConnector3">
              <a:avLst>
                <a:gd name="adj1" fmla="val -163715"/>
              </a:avLst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4B033FE9-FE0E-41F5-BE03-40C5CB077988}"/>
                </a:ext>
              </a:extLst>
            </p:cNvPr>
            <p:cNvSpPr txBox="1"/>
            <p:nvPr/>
          </p:nvSpPr>
          <p:spPr>
            <a:xfrm>
              <a:off x="6293260" y="308279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/>
                <a:t>1</a:t>
              </a:r>
              <a:endParaRPr lang="nl-NL" sz="1800" i="0" dirty="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34F95CA-9C3A-4A52-AF6A-3F4CEC868430}"/>
              </a:ext>
            </a:extLst>
          </p:cNvPr>
          <p:cNvGrpSpPr/>
          <p:nvPr/>
        </p:nvGrpSpPr>
        <p:grpSpPr>
          <a:xfrm>
            <a:off x="1389161" y="170842"/>
            <a:ext cx="3558140" cy="3301877"/>
            <a:chOff x="3272380" y="3082790"/>
            <a:chExt cx="3558140" cy="3301877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AD104FA0-4D63-40D5-B89D-714AA7899B32}"/>
                </a:ext>
              </a:extLst>
            </p:cNvPr>
            <p:cNvSpPr txBox="1"/>
            <p:nvPr/>
          </p:nvSpPr>
          <p:spPr>
            <a:xfrm>
              <a:off x="4271092" y="396976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5E9ABD41-1FBF-42C0-85CF-4E2F7E80BC87}"/>
                </a:ext>
              </a:extLst>
            </p:cNvPr>
            <p:cNvSpPr txBox="1"/>
            <p:nvPr/>
          </p:nvSpPr>
          <p:spPr>
            <a:xfrm>
              <a:off x="5490803" y="410701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1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811AB91-2AFB-49F3-B139-39F5B7E58A00}"/>
                </a:ext>
              </a:extLst>
            </p:cNvPr>
            <p:cNvSpPr txBox="1"/>
            <p:nvPr/>
          </p:nvSpPr>
          <p:spPr>
            <a:xfrm>
              <a:off x="5528623" y="49017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EDE931DB-AA24-4E19-BA0E-8CAA468D811E}"/>
                </a:ext>
              </a:extLst>
            </p:cNvPr>
            <p:cNvSpPr txBox="1"/>
            <p:nvPr/>
          </p:nvSpPr>
          <p:spPr>
            <a:xfrm>
              <a:off x="4250000" y="50927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1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DE3C69F9-9998-464F-9D07-F0D22174AE87}"/>
                </a:ext>
              </a:extLst>
            </p:cNvPr>
            <p:cNvSpPr txBox="1"/>
            <p:nvPr/>
          </p:nvSpPr>
          <p:spPr>
            <a:xfrm>
              <a:off x="5125285" y="45602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0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093CAB13-FA4B-40B3-A911-F46ADAE216D0}"/>
                </a:ext>
              </a:extLst>
            </p:cNvPr>
            <p:cNvSpPr txBox="1"/>
            <p:nvPr/>
          </p:nvSpPr>
          <p:spPr>
            <a:xfrm>
              <a:off x="3397572" y="34322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C6B1DF77-03F7-4A25-B459-2E6A94F5ED30}"/>
                </a:ext>
              </a:extLst>
            </p:cNvPr>
            <p:cNvSpPr txBox="1"/>
            <p:nvPr/>
          </p:nvSpPr>
          <p:spPr>
            <a:xfrm>
              <a:off x="3272380" y="43745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3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72286EEF-69C8-48C4-8606-815058C16CD2}"/>
                </a:ext>
              </a:extLst>
            </p:cNvPr>
            <p:cNvSpPr txBox="1"/>
            <p:nvPr/>
          </p:nvSpPr>
          <p:spPr>
            <a:xfrm>
              <a:off x="3784153" y="534222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10226DB9-87F0-4C33-8ABE-35132FA10CA5}"/>
                </a:ext>
              </a:extLst>
            </p:cNvPr>
            <p:cNvSpPr txBox="1"/>
            <p:nvPr/>
          </p:nvSpPr>
          <p:spPr>
            <a:xfrm>
              <a:off x="6530438" y="59789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9C4E96D2-3AD8-4E4B-8DEE-BDCC6A0E9099}"/>
                </a:ext>
              </a:extLst>
            </p:cNvPr>
            <p:cNvSpPr txBox="1"/>
            <p:nvPr/>
          </p:nvSpPr>
          <p:spPr>
            <a:xfrm>
              <a:off x="6384673" y="530136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3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72BC67FC-2579-4F56-86FA-0374474A88E0}"/>
                </a:ext>
              </a:extLst>
            </p:cNvPr>
            <p:cNvSpPr txBox="1"/>
            <p:nvPr/>
          </p:nvSpPr>
          <p:spPr>
            <a:xfrm>
              <a:off x="6425294" y="3651498"/>
              <a:ext cx="3385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2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0D913E69-33F0-4FF2-90D7-A9F6458A184C}"/>
                </a:ext>
              </a:extLst>
            </p:cNvPr>
            <p:cNvSpPr txBox="1"/>
            <p:nvPr/>
          </p:nvSpPr>
          <p:spPr>
            <a:xfrm>
              <a:off x="3920036" y="6015335"/>
              <a:ext cx="351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1</a:t>
              </a:r>
              <a:endParaRPr lang="nl-NL" sz="1800" dirty="0">
                <a:solidFill>
                  <a:srgbClr val="C00000"/>
                </a:solidFill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F531E486-3E45-4518-9B3C-FB03D1144DD1}"/>
                </a:ext>
              </a:extLst>
            </p:cNvPr>
            <p:cNvSpPr txBox="1"/>
            <p:nvPr/>
          </p:nvSpPr>
          <p:spPr>
            <a:xfrm>
              <a:off x="6293260" y="308279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0" dirty="0">
                  <a:solidFill>
                    <a:srgbClr val="C00000"/>
                  </a:solidFill>
                </a:rPr>
                <a:t>1</a:t>
              </a:r>
              <a:endParaRPr lang="nl-NL" sz="1800" i="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757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84" grpId="0" animBg="1"/>
      <p:bldP spid="86" grpId="0" animBg="1"/>
      <p:bldP spid="197" grpId="0" animBg="1"/>
      <p:bldP spid="19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BA9B-5967-4437-AF2F-4AEC167E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where were we?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69813-FBED-4E36-A6D6-095697C38E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391400" cy="18882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nl-NL" b="1" dirty="0"/>
                  <a:t>Two phases: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Find an admissible flow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with lower bounds: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altLang="nl-NL" dirty="0"/>
                  <a:t>Transform problem to: find an admissible circulation (with </a:t>
                </a:r>
                <a:r>
                  <a:rPr lang="en-US" altLang="nl-NL" dirty="0" err="1"/>
                  <a:t>lb</a:t>
                </a:r>
                <a:r>
                  <a:rPr lang="en-US" altLang="nl-NL" dirty="0"/>
                  <a:t>)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altLang="nl-NL" dirty="0"/>
                  <a:t>Transform admissible circulation problem to: find a maximum flow in network with new source and new sink (without </a:t>
                </a:r>
                <a:r>
                  <a:rPr lang="en-US" altLang="nl-NL" dirty="0" err="1"/>
                  <a:t>lb</a:t>
                </a:r>
                <a:r>
                  <a:rPr lang="en-US" altLang="nl-NL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Augment it to a maximum flow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69813-FBED-4E36-A6D6-095697C38E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1888232"/>
              </a:xfrm>
              <a:blipFill>
                <a:blip r:embed="rId3"/>
                <a:stretch>
                  <a:fillRect l="-660" t="-1613" b="-322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0707469-E0C1-4C14-82CB-2826A8017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648" y="1502296"/>
            <a:ext cx="1405282" cy="7460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409DF59-C70B-4913-9FF7-3F0C70B42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0086" y="531598"/>
            <a:ext cx="1681381" cy="1788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4A3606D-2393-4A68-80A2-C470B8A4480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71600" y="3717032"/>
                <a:ext cx="7391400" cy="2664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altLang="nl-NL" dirty="0"/>
                  <a:t>Idea: compute a maximum flow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nl-NL" dirty="0"/>
                  <a:t>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 in a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nl-NL" b="0" i="0" dirty="0" smtClean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altLang="nl-NL" dirty="0"/>
                  <a:t>such that </a:t>
                </a:r>
                <a14:m>
                  <m:oMath xmlns:m="http://schemas.openxmlformats.org/officeDocument/2006/math">
                    <m:r>
                      <a:rPr lang="en-US" altLang="nl-NL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nl-NL" dirty="0"/>
                  <a:t> is a maximum flow from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 that fulfills capacity and lower bound constraints</a:t>
                </a:r>
              </a:p>
              <a:p>
                <a:pPr lvl="1"/>
                <a:r>
                  <a:rPr lang="en-US" altLang="nl-NL" dirty="0"/>
                  <a:t>Construction </a:t>
                </a:r>
                <a:r>
                  <a:rPr lang="en-US" altLang="nl-NL" dirty="0" err="1"/>
                  <a:t>s.t.</a:t>
                </a:r>
                <a:r>
                  <a:rPr lang="en-US" altLang="nl-NL" dirty="0"/>
                  <a:t> flow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nl-NL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nl-NL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nl-NL" dirty="0"/>
                  <a:t> can use excess capacity on lower bounded edges, or send flow back, but never enough to invalidate the lower bound</a:t>
                </a:r>
              </a:p>
              <a:p>
                <a:pPr lvl="1"/>
                <a:endParaRPr lang="en-US" altLang="nl-NL" dirty="0"/>
              </a:p>
              <a:p>
                <a:pPr marL="800100" lvl="1" indent="-342900">
                  <a:buFont typeface="+mj-lt"/>
                  <a:buAutoNum type="alphaLcPeriod"/>
                </a:pPr>
                <a:endParaRPr lang="en-US" altLang="nl-NL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4A3606D-2393-4A68-80A2-C470B8A44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3717032"/>
                <a:ext cx="7391400" cy="2664296"/>
              </a:xfrm>
              <a:prstGeom prst="rect">
                <a:avLst/>
              </a:prstGeom>
              <a:blipFill>
                <a:blip r:embed="rId6"/>
                <a:stretch>
                  <a:fillRect t="-6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52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BA9B-5967-4437-AF2F-4AEC167E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last step…</a:t>
            </a:r>
            <a:br>
              <a:rPr lang="en-US" dirty="0"/>
            </a:br>
            <a:r>
              <a:rPr lang="en-US" dirty="0"/>
              <a:t>completes the algorithm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69813-FBED-4E36-A6D6-095697C38E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391400" cy="45525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nl-NL" u="sng" dirty="0"/>
                  <a:t>Augment it to a maximum flow:</a:t>
                </a:r>
              </a:p>
              <a:p>
                <a:pPr marL="400050">
                  <a:buFont typeface="+mj-lt"/>
                  <a:buAutoNum type="arabicPeriod"/>
                </a:pPr>
                <a:r>
                  <a:rPr lang="en-US" altLang="nl-NL" dirty="0"/>
                  <a:t>Construct a new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nl-NL" dirty="0"/>
                  <a:t>:</a:t>
                </a:r>
              </a:p>
              <a:p>
                <a:pPr marL="800100" lvl="1" indent="-342900"/>
                <a:r>
                  <a:rPr lang="en-US" altLang="nl-NL" dirty="0"/>
                  <a:t>For every arc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nl-NL" dirty="0"/>
                  <a:t> </a:t>
                </a:r>
                <a:br>
                  <a:rPr lang="en-US" altLang="nl-NL" dirty="0"/>
                </a:br>
                <a:r>
                  <a:rPr lang="en-US" altLang="nl-NL" dirty="0"/>
                  <a:t>create two arcs: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nl-NL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nl-NL" dirty="0"/>
              </a:p>
              <a:p>
                <a:pPr marL="457200" lvl="1" indent="0">
                  <a:buNone/>
                  <a:tabLst>
                    <a:tab pos="1222375" algn="l"/>
                  </a:tabLst>
                </a:pPr>
                <a:r>
                  <a:rPr lang="en-US" altLang="nl-NL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i="1" dirty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br>
                  <a:rPr lang="en-US" altLang="nl-NL" i="1" dirty="0">
                    <a:latin typeface="Cambria Math" panose="02040503050406030204" pitchFamily="18" charset="0"/>
                  </a:rPr>
                </a:br>
                <a:r>
                  <a:rPr lang="en-US" altLang="nl-NL" i="1" dirty="0">
                    <a:latin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nl-NL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i="1" dirty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nl-NL" dirty="0"/>
              </a:p>
              <a:p>
                <a:pPr marL="800100" lvl="1" indent="-342900"/>
                <a:r>
                  <a:rPr lang="en-US" altLang="nl-NL" dirty="0"/>
                  <a:t>If both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nl-NL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nl-NL" dirty="0"/>
                  <a:t> exists in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nl-NL" dirty="0"/>
                  <a:t> already…</a:t>
                </a:r>
              </a:p>
              <a:p>
                <a:pPr marL="1200150" lvl="2" indent="-342900"/>
                <a:r>
                  <a:rPr lang="en-US" altLang="nl-NL" dirty="0"/>
                  <a:t>Lower bounds make sense in one direction only</a:t>
                </a:r>
                <a:br>
                  <a:rPr lang="en-US" altLang="nl-NL" dirty="0"/>
                </a:br>
                <a:r>
                  <a:rPr lang="en-US" altLang="nl-NL" dirty="0"/>
                  <a:t>(otherwise, we can send flow back and forth to satisfy one)</a:t>
                </a:r>
              </a:p>
              <a:p>
                <a:pPr marL="1200150" lvl="2" indent="-342900"/>
                <a:r>
                  <a:rPr lang="en-US" altLang="nl-NL" dirty="0"/>
                  <a:t>Idem for capacity in opposite direction of the lower bound</a:t>
                </a:r>
              </a:p>
              <a:p>
                <a:pPr marL="1200150" lvl="2" indent="-342900"/>
                <a:r>
                  <a:rPr lang="en-US" altLang="nl-NL" dirty="0"/>
                  <a:t>Conclusion: either one arc with or without lower bound, or two reversed arcs without any lower bound</a:t>
                </a:r>
              </a:p>
              <a:p>
                <a:pPr marL="400050">
                  <a:buFont typeface="+mj-lt"/>
                  <a:buAutoNum type="arabicPeriod"/>
                </a:pPr>
                <a:r>
                  <a:rPr lang="en-US" altLang="nl-NL" dirty="0"/>
                  <a:t>Compute a maximum flow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nl-NL" dirty="0"/>
                  <a:t>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nl-NL" dirty="0"/>
              </a:p>
              <a:p>
                <a:pPr marL="400050">
                  <a:buFont typeface="+mj-lt"/>
                  <a:buAutoNum type="arabicPeriod"/>
                </a:pPr>
                <a:r>
                  <a:rPr lang="en-US" altLang="nl-NL" dirty="0"/>
                  <a:t>​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nl-NL" dirty="0"/>
                  <a:t> is a maximum flow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 that fulfills capacity and lower bound constraints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69813-FBED-4E36-A6D6-095697C38E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4552528"/>
              </a:xfrm>
              <a:blipFill>
                <a:blip r:embed="rId3"/>
                <a:stretch>
                  <a:fillRect l="-660" t="-6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49DCB32-C04E-4673-A082-A64550F07337}"/>
              </a:ext>
            </a:extLst>
          </p:cNvPr>
          <p:cNvGrpSpPr/>
          <p:nvPr/>
        </p:nvGrpSpPr>
        <p:grpSpPr>
          <a:xfrm>
            <a:off x="4947008" y="2843518"/>
            <a:ext cx="1906473" cy="522924"/>
            <a:chOff x="729680" y="3803303"/>
            <a:chExt cx="3080320" cy="844897"/>
          </a:xfrm>
        </p:grpSpPr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6B2BE833-724C-4787-9BE7-864A1FC44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680" y="40386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1600"/>
            </a:p>
          </p:txBody>
        </p:sp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8D9C9328-EF21-44FF-BB76-40DD2EB82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0386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1600"/>
            </a:p>
          </p:txBody>
        </p:sp>
        <p:sp>
          <p:nvSpPr>
            <p:cNvPr id="19" name="Line 6">
              <a:extLst>
                <a:ext uri="{FF2B5EF4-FFF2-40B4-BE49-F238E27FC236}">
                  <a16:creationId xmlns:a16="http://schemas.microsoft.com/office/drawing/2014/main" id="{6350451A-DE7A-4393-BD56-3179BFB6A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9281" y="4343400"/>
              <a:ext cx="1861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7">
                  <a:extLst>
                    <a:ext uri="{FF2B5EF4-FFF2-40B4-BE49-F238E27FC236}">
                      <a16:creationId xmlns:a16="http://schemas.microsoft.com/office/drawing/2014/main" id="{DDEE50A3-C913-4F20-A2D2-DB65E9C0C5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5246" y="3803303"/>
                  <a:ext cx="1948714" cy="5470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6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nl-NL" sz="16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altLang="nl-NL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nl-NL" sz="16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nl-NL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nl-NL" sz="16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altLang="nl-NL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nl-NL" sz="16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nl-NL" sz="1600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nl-NL" altLang="nl-NL" sz="1600" dirty="0"/>
                </a:p>
              </p:txBody>
            </p:sp>
          </mc:Choice>
          <mc:Fallback xmlns="">
            <p:sp>
              <p:nvSpPr>
                <p:cNvPr id="20" name="Text Box 7">
                  <a:extLst>
                    <a:ext uri="{FF2B5EF4-FFF2-40B4-BE49-F238E27FC236}">
                      <a16:creationId xmlns:a16="http://schemas.microsoft.com/office/drawing/2014/main" id="{DDEE50A3-C913-4F20-A2D2-DB65E9C0C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5246" y="3803303"/>
                  <a:ext cx="1948714" cy="547007"/>
                </a:xfrm>
                <a:prstGeom prst="rect">
                  <a:avLst/>
                </a:prstGeom>
                <a:blipFill>
                  <a:blip r:embed="rId5"/>
                  <a:stretch>
                    <a:fillRect b="-1071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DF2E17B-5646-4F6E-B6B3-190C8BB03205}"/>
              </a:ext>
            </a:extLst>
          </p:cNvPr>
          <p:cNvGrpSpPr/>
          <p:nvPr/>
        </p:nvGrpSpPr>
        <p:grpSpPr>
          <a:xfrm>
            <a:off x="7092280" y="2492896"/>
            <a:ext cx="1913712" cy="1362111"/>
            <a:chOff x="8763001" y="2815916"/>
            <a:chExt cx="3080320" cy="2192460"/>
          </a:xfrm>
        </p:grpSpPr>
        <p:sp>
          <p:nvSpPr>
            <p:cNvPr id="41" name="Oval 4">
              <a:extLst>
                <a:ext uri="{FF2B5EF4-FFF2-40B4-BE49-F238E27FC236}">
                  <a16:creationId xmlns:a16="http://schemas.microsoft.com/office/drawing/2014/main" id="{65E63D5F-AC23-4D93-97AD-EAEB929BB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1" y="3568272"/>
              <a:ext cx="609600" cy="609600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1600"/>
            </a:p>
          </p:txBody>
        </p:sp>
        <p:sp>
          <p:nvSpPr>
            <p:cNvPr id="42" name="Oval 5">
              <a:extLst>
                <a:ext uri="{FF2B5EF4-FFF2-40B4-BE49-F238E27FC236}">
                  <a16:creationId xmlns:a16="http://schemas.microsoft.com/office/drawing/2014/main" id="{61C12094-5E08-4E0F-91FF-DA34FB501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3721" y="3568272"/>
              <a:ext cx="609600" cy="609600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7">
                  <a:extLst>
                    <a:ext uri="{FF2B5EF4-FFF2-40B4-BE49-F238E27FC236}">
                      <a16:creationId xmlns:a16="http://schemas.microsoft.com/office/drawing/2014/main" id="{AC88E857-2521-4531-883D-E98BE40AB1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456720" y="2815916"/>
                  <a:ext cx="1883753" cy="5449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6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altLang="nl-NL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nl-NL" sz="16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nl-NL" sz="1600" i="1" dirty="0"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a:rPr lang="en-US" altLang="nl-NL" sz="16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nl-NL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nl-NL" sz="16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lang="nl-NL" altLang="nl-NL" sz="1600" dirty="0"/>
                </a:p>
              </p:txBody>
            </p:sp>
          </mc:Choice>
          <mc:Fallback xmlns="">
            <p:sp>
              <p:nvSpPr>
                <p:cNvPr id="44" name="Text Box 7">
                  <a:extLst>
                    <a:ext uri="{FF2B5EF4-FFF2-40B4-BE49-F238E27FC236}">
                      <a16:creationId xmlns:a16="http://schemas.microsoft.com/office/drawing/2014/main" id="{AC88E857-2521-4531-883D-E98BE40AB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56720" y="2815916"/>
                  <a:ext cx="1883753" cy="544938"/>
                </a:xfrm>
                <a:prstGeom prst="rect">
                  <a:avLst/>
                </a:prstGeom>
                <a:blipFill>
                  <a:blip r:embed="rId6"/>
                  <a:stretch>
                    <a:fillRect b="-1272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47E1D4EE-5CA5-463F-80C7-1AEE706BCA2A}"/>
                </a:ext>
              </a:extLst>
            </p:cNvPr>
            <p:cNvCxnSpPr>
              <a:stCxn id="41" idx="7"/>
              <a:endCxn id="42" idx="1"/>
            </p:cNvCxnSpPr>
            <p:nvPr/>
          </p:nvCxnSpPr>
          <p:spPr bwMode="auto">
            <a:xfrm rot="5400000" flipH="1" flipV="1">
              <a:off x="10303161" y="2637712"/>
              <a:ext cx="12700" cy="2039668"/>
            </a:xfrm>
            <a:prstGeom prst="curvedConnector3">
              <a:avLst>
                <a:gd name="adj1" fmla="val 2502945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AF11DF40-0532-4814-BA17-B19CC998F5C0}"/>
                </a:ext>
              </a:extLst>
            </p:cNvPr>
            <p:cNvCxnSpPr>
              <a:stCxn id="42" idx="3"/>
              <a:endCxn id="41" idx="5"/>
            </p:cNvCxnSpPr>
            <p:nvPr/>
          </p:nvCxnSpPr>
          <p:spPr bwMode="auto">
            <a:xfrm rot="5400000">
              <a:off x="10303161" y="3068764"/>
              <a:ext cx="12700" cy="2039668"/>
            </a:xfrm>
            <a:prstGeom prst="curvedConnector3">
              <a:avLst>
                <a:gd name="adj1" fmla="val 2502945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 Box 7">
                  <a:extLst>
                    <a:ext uri="{FF2B5EF4-FFF2-40B4-BE49-F238E27FC236}">
                      <a16:creationId xmlns:a16="http://schemas.microsoft.com/office/drawing/2014/main" id="{02999500-D8C0-4AB0-B75E-5224DF106D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450172" y="4463438"/>
                  <a:ext cx="1834729" cy="5449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nl-NL" sz="1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nl-NL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nl-NL" sz="16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nl-NL" sz="1600" i="1" dirty="0"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a:rPr lang="en-US" altLang="nl-NL" sz="1600" i="1" dirty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altLang="nl-NL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nl-NL" sz="16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lang="nl-NL" altLang="nl-NL" sz="1600" dirty="0"/>
                </a:p>
              </p:txBody>
            </p:sp>
          </mc:Choice>
          <mc:Fallback xmlns="">
            <p:sp>
              <p:nvSpPr>
                <p:cNvPr id="51" name="Text Box 7">
                  <a:extLst>
                    <a:ext uri="{FF2B5EF4-FFF2-40B4-BE49-F238E27FC236}">
                      <a16:creationId xmlns:a16="http://schemas.microsoft.com/office/drawing/2014/main" id="{02999500-D8C0-4AB0-B75E-5224DF10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50172" y="4463438"/>
                  <a:ext cx="1834729" cy="544938"/>
                </a:xfrm>
                <a:prstGeom prst="rect">
                  <a:avLst/>
                </a:prstGeom>
                <a:blipFill>
                  <a:blip r:embed="rId7"/>
                  <a:stretch>
                    <a:fillRect b="-1272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D0D34820-AC4D-4BD8-9558-9350C86D2F21}"/>
              </a:ext>
            </a:extLst>
          </p:cNvPr>
          <p:cNvSpPr/>
          <p:nvPr/>
        </p:nvSpPr>
        <p:spPr bwMode="auto">
          <a:xfrm>
            <a:off x="6499669" y="2453322"/>
            <a:ext cx="791123" cy="417701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0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25E0AC-F748-462A-8F97-A5861139F5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Flows and Matchings 1: </a:t>
            </a:r>
            <a:br>
              <a:rPr lang="en-US" dirty="0"/>
            </a:br>
            <a:r>
              <a:rPr lang="en-GB" altLang="en-NL" dirty="0"/>
              <a:t>Maximum Flow</a:t>
            </a:r>
            <a:br>
              <a:rPr lang="en-GB" altLang="en-NL" dirty="0"/>
            </a:br>
            <a:r>
              <a:rPr lang="en-GB" altLang="en-NL" dirty="0"/>
              <a:t>Part 2: </a:t>
            </a:r>
            <a:r>
              <a:rPr lang="en-US" dirty="0"/>
              <a:t>Preflow Push</a:t>
            </a:r>
            <a:endParaRPr lang="en-GB" altLang="en-NL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7C11B61-9934-471B-BAF9-2C1AE5A87F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nl-NL" dirty="0"/>
              <a:t>Advanced Algorithms 2025/2026</a:t>
            </a:r>
          </a:p>
          <a:p>
            <a:r>
              <a:rPr lang="en-US" altLang="nl-NL" dirty="0"/>
              <a:t>Johan M. M. van Rooij</a:t>
            </a:r>
          </a:p>
          <a:p>
            <a:r>
              <a:rPr lang="en-US" altLang="nl-NL" dirty="0"/>
              <a:t>Til Miltzow</a:t>
            </a:r>
          </a:p>
        </p:txBody>
      </p:sp>
    </p:spTree>
    <p:extLst>
      <p:ext uri="{BB962C8B-B14F-4D97-AF65-F5344CB8AC3E}">
        <p14:creationId xmlns:p14="http://schemas.microsoft.com/office/powerpoint/2010/main" val="1464706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CAA-AB58-456A-89BC-F23B764F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maximum flow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269D-190F-43A7-B454-E237446B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7361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Three topics:</a:t>
            </a:r>
          </a:p>
          <a:p>
            <a:pPr>
              <a:buFont typeface="+mj-lt"/>
              <a:buAutoNum type="arabicPeriod"/>
            </a:pPr>
            <a:r>
              <a:rPr lang="en-US" dirty="0"/>
              <a:t>Maximum flow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563362-DF3A-437C-BB91-DAE70DFE97D5}"/>
              </a:ext>
            </a:extLst>
          </p:cNvPr>
          <p:cNvSpPr txBox="1">
            <a:spLocks/>
          </p:cNvSpPr>
          <p:nvPr/>
        </p:nvSpPr>
        <p:spPr bwMode="auto">
          <a:xfrm>
            <a:off x="1371600" y="4005064"/>
            <a:ext cx="7391400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2"/>
            </a:pPr>
            <a:r>
              <a:rPr lang="en-US" sz="1800" dirty="0"/>
              <a:t>Minimum cost flow</a:t>
            </a:r>
          </a:p>
          <a:p>
            <a:pPr>
              <a:buFont typeface="+mj-lt"/>
              <a:buAutoNum type="arabicPeriod" startAt="2"/>
            </a:pPr>
            <a:r>
              <a:rPr lang="en-US" sz="1800" dirty="0"/>
              <a:t>Matching</a:t>
            </a:r>
            <a:endParaRPr lang="en-NL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9D1F3D-B9BC-443C-A9FA-2AC858C3E07A}"/>
              </a:ext>
            </a:extLst>
          </p:cNvPr>
          <p:cNvSpPr txBox="1">
            <a:spLocks/>
          </p:cNvSpPr>
          <p:nvPr/>
        </p:nvSpPr>
        <p:spPr bwMode="auto">
          <a:xfrm>
            <a:off x="1371600" y="2492896"/>
            <a:ext cx="7391400" cy="12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+mj-lt"/>
              <a:buAutoNum type="arabicPeriod"/>
            </a:pPr>
            <a:r>
              <a:rPr lang="en-US" dirty="0"/>
              <a:t>Definitions &amp; recap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Lower bounds and circulations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Applications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Preflow-push algorithms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Goldberg’s algorithm</a:t>
            </a:r>
          </a:p>
        </p:txBody>
      </p:sp>
    </p:spTree>
    <p:extLst>
      <p:ext uri="{BB962C8B-B14F-4D97-AF65-F5344CB8AC3E}">
        <p14:creationId xmlns:p14="http://schemas.microsoft.com/office/powerpoint/2010/main" val="229843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Flows and Matchings – Advanced Algorithms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MAX FLOW APPLICATIONS</a:t>
            </a:r>
          </a:p>
        </p:txBody>
      </p:sp>
    </p:spTree>
    <p:extLst>
      <p:ext uri="{BB962C8B-B14F-4D97-AF65-F5344CB8AC3E}">
        <p14:creationId xmlns:p14="http://schemas.microsoft.com/office/powerpoint/2010/main" val="980913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Applications of Flow Problems</a:t>
            </a:r>
            <a:endParaRPr lang="nl-NL" altLang="nl-NL" dirty="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828800"/>
            <a:ext cx="7664896" cy="3962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nl-NL" b="1" dirty="0"/>
              <a:t>Maximum Flow</a:t>
            </a:r>
          </a:p>
          <a:p>
            <a:pPr eaLnBrk="1" hangingPunct="1"/>
            <a:r>
              <a:rPr lang="en-US" altLang="nl-NL" dirty="0"/>
              <a:t>Transportation of goods</a:t>
            </a:r>
          </a:p>
          <a:p>
            <a:pPr eaLnBrk="1" hangingPunct="1"/>
            <a:r>
              <a:rPr lang="en-US" altLang="nl-NL" dirty="0"/>
              <a:t>Matching</a:t>
            </a:r>
          </a:p>
          <a:p>
            <a:pPr eaLnBrk="1" hangingPunct="1"/>
            <a:r>
              <a:rPr lang="en-US" altLang="nl-NL" dirty="0"/>
              <a:t>Matrix rounding problem (flow with lower bounds)</a:t>
            </a:r>
          </a:p>
          <a:p>
            <a:pPr eaLnBrk="1" hangingPunct="1"/>
            <a:endParaRPr lang="en-US" altLang="nl-NL" dirty="0"/>
          </a:p>
          <a:p>
            <a:pPr marL="0" indent="0" eaLnBrk="1" hangingPunct="1">
              <a:buNone/>
            </a:pPr>
            <a:r>
              <a:rPr lang="en-US" altLang="nl-NL" b="1" dirty="0"/>
              <a:t>Minimum Cut</a:t>
            </a:r>
          </a:p>
          <a:p>
            <a:r>
              <a:rPr lang="en-US" dirty="0"/>
              <a:t>Reliability of networks</a:t>
            </a:r>
          </a:p>
          <a:p>
            <a:r>
              <a:rPr lang="en-US" dirty="0"/>
              <a:t>Military</a:t>
            </a:r>
          </a:p>
          <a:p>
            <a:r>
              <a:rPr lang="en-US" dirty="0"/>
              <a:t>Finding dense components in graphs</a:t>
            </a:r>
          </a:p>
          <a:p>
            <a:r>
              <a:rPr lang="en-US" dirty="0"/>
              <a:t>Preprocessing for large scale shortest paths on road networks</a:t>
            </a:r>
          </a:p>
          <a:p>
            <a:pPr lvl="1"/>
            <a:r>
              <a:rPr lang="en-US" dirty="0"/>
              <a:t>Next slide…</a:t>
            </a:r>
            <a:endParaRPr lang="nl-NL" dirty="0"/>
          </a:p>
          <a:p>
            <a:pPr marL="0" indent="0" eaLnBrk="1" hangingPunct="1">
              <a:buNone/>
            </a:pPr>
            <a:endParaRPr lang="nl-NL" altLang="nl-NL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 scale shortest paths using</a:t>
            </a:r>
            <a:br>
              <a:rPr lang="en-GB" dirty="0"/>
            </a:br>
            <a:r>
              <a:rPr lang="en-GB" dirty="0"/>
              <a:t>partitioning with natural 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3962400"/>
          </a:xfrm>
        </p:spPr>
        <p:txBody>
          <a:bodyPr/>
          <a:lstStyle/>
          <a:p>
            <a:r>
              <a:rPr lang="en-GB" dirty="0"/>
              <a:t>For very large route networks (&gt;1G nodes) standard Dijkstra simply is to slow (for many-to-many computations)</a:t>
            </a:r>
          </a:p>
          <a:p>
            <a:r>
              <a:rPr lang="en-GB" u="sng" dirty="0"/>
              <a:t>Observation</a:t>
            </a:r>
            <a:r>
              <a:rPr lang="en-GB" dirty="0"/>
              <a:t>:</a:t>
            </a:r>
            <a:r>
              <a:rPr lang="en-GB" b="1" dirty="0"/>
              <a:t> </a:t>
            </a:r>
            <a:r>
              <a:rPr lang="en-GB" dirty="0"/>
              <a:t>Shortest paths from cities in Brabant to cities above the rivers have little options of crossing the rivers.</a:t>
            </a:r>
          </a:p>
          <a:p>
            <a:pPr lvl="1"/>
            <a:r>
              <a:rPr lang="en-GB" dirty="0"/>
              <a:t>This is a natural small-cut in the graph.</a:t>
            </a:r>
          </a:p>
          <a:p>
            <a:pPr lvl="1"/>
            <a:r>
              <a:rPr lang="en-GB" dirty="0"/>
              <a:t>Many such cuts exist at various levels:</a:t>
            </a:r>
          </a:p>
          <a:p>
            <a:pPr lvl="2"/>
            <a:r>
              <a:rPr lang="en-GB" dirty="0"/>
              <a:t>Sea’s, rivers, canals, ...</a:t>
            </a:r>
          </a:p>
          <a:p>
            <a:pPr lvl="2"/>
            <a:r>
              <a:rPr lang="en-GB" dirty="0"/>
              <a:t>Mountains, hills, ...</a:t>
            </a:r>
          </a:p>
          <a:p>
            <a:pPr lvl="2"/>
            <a:r>
              <a:rPr lang="en-GB" dirty="0"/>
              <a:t>Country-borders, village borders, ...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B110AE-1BD3-4E96-B61E-FAD93B908232}"/>
              </a:ext>
            </a:extLst>
          </p:cNvPr>
          <p:cNvGrpSpPr/>
          <p:nvPr/>
        </p:nvGrpSpPr>
        <p:grpSpPr>
          <a:xfrm>
            <a:off x="1969605" y="4442055"/>
            <a:ext cx="2117184" cy="1770476"/>
            <a:chOff x="755576" y="3717032"/>
            <a:chExt cx="3454355" cy="2888672"/>
          </a:xfrm>
        </p:grpSpPr>
        <p:grpSp>
          <p:nvGrpSpPr>
            <p:cNvPr id="4" name="Group 8">
              <a:extLst>
                <a:ext uri="{FF2B5EF4-FFF2-40B4-BE49-F238E27FC236}">
                  <a16:creationId xmlns:a16="http://schemas.microsoft.com/office/drawing/2014/main" id="{9DA27149-DB5A-46DA-8660-15737E2873F3}"/>
                </a:ext>
              </a:extLst>
            </p:cNvPr>
            <p:cNvGrpSpPr/>
            <p:nvPr/>
          </p:nvGrpSpPr>
          <p:grpSpPr>
            <a:xfrm>
              <a:off x="755576" y="3717032"/>
              <a:ext cx="3454355" cy="2888672"/>
              <a:chOff x="5292080" y="2977353"/>
              <a:chExt cx="3454355" cy="2888672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632FAAF1-ADB5-4BAE-B47C-EFD42063B424}"/>
                  </a:ext>
                </a:extLst>
              </p:cNvPr>
              <p:cNvSpPr/>
              <p:nvPr/>
            </p:nvSpPr>
            <p:spPr bwMode="auto">
              <a:xfrm>
                <a:off x="5456583" y="2977353"/>
                <a:ext cx="3289852" cy="2888672"/>
              </a:xfrm>
              <a:custGeom>
                <a:avLst/>
                <a:gdLst>
                  <a:gd name="connsiteX0" fmla="*/ 2892287 w 3289852"/>
                  <a:gd name="connsiteY0" fmla="*/ 739882 h 2888672"/>
                  <a:gd name="connsiteX1" fmla="*/ 2892287 w 3289852"/>
                  <a:gd name="connsiteY1" fmla="*/ 739882 h 2888672"/>
                  <a:gd name="connsiteX2" fmla="*/ 2882347 w 3289852"/>
                  <a:gd name="connsiteY2" fmla="*/ 630551 h 2888672"/>
                  <a:gd name="connsiteX3" fmla="*/ 2822713 w 3289852"/>
                  <a:gd name="connsiteY3" fmla="*/ 551038 h 2888672"/>
                  <a:gd name="connsiteX4" fmla="*/ 2763078 w 3289852"/>
                  <a:gd name="connsiteY4" fmla="*/ 481464 h 2888672"/>
                  <a:gd name="connsiteX5" fmla="*/ 2723321 w 3289852"/>
                  <a:gd name="connsiteY5" fmla="*/ 451647 h 2888672"/>
                  <a:gd name="connsiteX6" fmla="*/ 2594113 w 3289852"/>
                  <a:gd name="connsiteY6" fmla="*/ 312499 h 2888672"/>
                  <a:gd name="connsiteX7" fmla="*/ 2484782 w 3289852"/>
                  <a:gd name="connsiteY7" fmla="*/ 252864 h 2888672"/>
                  <a:gd name="connsiteX8" fmla="*/ 2415208 w 3289852"/>
                  <a:gd name="connsiteY8" fmla="*/ 193230 h 2888672"/>
                  <a:gd name="connsiteX9" fmla="*/ 2266121 w 3289852"/>
                  <a:gd name="connsiteY9" fmla="*/ 103777 h 2888672"/>
                  <a:gd name="connsiteX10" fmla="*/ 2176669 w 3289852"/>
                  <a:gd name="connsiteY10" fmla="*/ 54082 h 2888672"/>
                  <a:gd name="connsiteX11" fmla="*/ 2057400 w 3289852"/>
                  <a:gd name="connsiteY11" fmla="*/ 24264 h 2888672"/>
                  <a:gd name="connsiteX12" fmla="*/ 1997765 w 3289852"/>
                  <a:gd name="connsiteY12" fmla="*/ 4386 h 2888672"/>
                  <a:gd name="connsiteX13" fmla="*/ 1779104 w 3289852"/>
                  <a:gd name="connsiteY13" fmla="*/ 24264 h 2888672"/>
                  <a:gd name="connsiteX14" fmla="*/ 1709530 w 3289852"/>
                  <a:gd name="connsiteY14" fmla="*/ 54082 h 2888672"/>
                  <a:gd name="connsiteX15" fmla="*/ 1610139 w 3289852"/>
                  <a:gd name="connsiteY15" fmla="*/ 73960 h 2888672"/>
                  <a:gd name="connsiteX16" fmla="*/ 1331843 w 3289852"/>
                  <a:gd name="connsiteY16" fmla="*/ 232986 h 2888672"/>
                  <a:gd name="connsiteX17" fmla="*/ 1252330 w 3289852"/>
                  <a:gd name="connsiteY17" fmla="*/ 312499 h 2888672"/>
                  <a:gd name="connsiteX18" fmla="*/ 1162878 w 3289852"/>
                  <a:gd name="connsiteY18" fmla="*/ 362195 h 2888672"/>
                  <a:gd name="connsiteX19" fmla="*/ 1073426 w 3289852"/>
                  <a:gd name="connsiteY19" fmla="*/ 421830 h 2888672"/>
                  <a:gd name="connsiteX20" fmla="*/ 1013791 w 3289852"/>
                  <a:gd name="connsiteY20" fmla="*/ 531160 h 2888672"/>
                  <a:gd name="connsiteX21" fmla="*/ 874643 w 3289852"/>
                  <a:gd name="connsiteY21" fmla="*/ 680247 h 2888672"/>
                  <a:gd name="connsiteX22" fmla="*/ 795130 w 3289852"/>
                  <a:gd name="connsiteY22" fmla="*/ 839273 h 2888672"/>
                  <a:gd name="connsiteX23" fmla="*/ 775252 w 3289852"/>
                  <a:gd name="connsiteY23" fmla="*/ 898908 h 2888672"/>
                  <a:gd name="connsiteX24" fmla="*/ 795130 w 3289852"/>
                  <a:gd name="connsiteY24" fmla="*/ 1097690 h 2888672"/>
                  <a:gd name="connsiteX25" fmla="*/ 834887 w 3289852"/>
                  <a:gd name="connsiteY25" fmla="*/ 1177204 h 2888672"/>
                  <a:gd name="connsiteX26" fmla="*/ 924339 w 3289852"/>
                  <a:gd name="connsiteY26" fmla="*/ 1266656 h 2888672"/>
                  <a:gd name="connsiteX27" fmla="*/ 1103243 w 3289852"/>
                  <a:gd name="connsiteY27" fmla="*/ 1375986 h 2888672"/>
                  <a:gd name="connsiteX28" fmla="*/ 1133060 w 3289852"/>
                  <a:gd name="connsiteY28" fmla="*/ 1366047 h 2888672"/>
                  <a:gd name="connsiteX29" fmla="*/ 1113182 w 3289852"/>
                  <a:gd name="connsiteY29" fmla="*/ 1445560 h 2888672"/>
                  <a:gd name="connsiteX30" fmla="*/ 1033669 w 3289852"/>
                  <a:gd name="connsiteY30" fmla="*/ 1535012 h 2888672"/>
                  <a:gd name="connsiteX31" fmla="*/ 983974 w 3289852"/>
                  <a:gd name="connsiteY31" fmla="*/ 1574769 h 2888672"/>
                  <a:gd name="connsiteX32" fmla="*/ 914400 w 3289852"/>
                  <a:gd name="connsiteY32" fmla="*/ 1614525 h 2888672"/>
                  <a:gd name="connsiteX33" fmla="*/ 745434 w 3289852"/>
                  <a:gd name="connsiteY33" fmla="*/ 1713917 h 2888672"/>
                  <a:gd name="connsiteX34" fmla="*/ 665921 w 3289852"/>
                  <a:gd name="connsiteY34" fmla="*/ 1743734 h 2888672"/>
                  <a:gd name="connsiteX35" fmla="*/ 576469 w 3289852"/>
                  <a:gd name="connsiteY35" fmla="*/ 1783490 h 2888672"/>
                  <a:gd name="connsiteX36" fmla="*/ 477078 w 3289852"/>
                  <a:gd name="connsiteY36" fmla="*/ 1833186 h 2888672"/>
                  <a:gd name="connsiteX37" fmla="*/ 407504 w 3289852"/>
                  <a:gd name="connsiteY37" fmla="*/ 1872943 h 2888672"/>
                  <a:gd name="connsiteX38" fmla="*/ 308113 w 3289852"/>
                  <a:gd name="connsiteY38" fmla="*/ 1892821 h 2888672"/>
                  <a:gd name="connsiteX39" fmla="*/ 258417 w 3289852"/>
                  <a:gd name="connsiteY39" fmla="*/ 1952456 h 2888672"/>
                  <a:gd name="connsiteX40" fmla="*/ 208721 w 3289852"/>
                  <a:gd name="connsiteY40" fmla="*/ 1982273 h 2888672"/>
                  <a:gd name="connsiteX41" fmla="*/ 79513 w 3289852"/>
                  <a:gd name="connsiteY41" fmla="*/ 2091604 h 2888672"/>
                  <a:gd name="connsiteX42" fmla="*/ 39756 w 3289852"/>
                  <a:gd name="connsiteY42" fmla="*/ 2161177 h 2888672"/>
                  <a:gd name="connsiteX43" fmla="*/ 19878 w 3289852"/>
                  <a:gd name="connsiteY43" fmla="*/ 2230751 h 2888672"/>
                  <a:gd name="connsiteX44" fmla="*/ 0 w 3289852"/>
                  <a:gd name="connsiteY44" fmla="*/ 2260569 h 2888672"/>
                  <a:gd name="connsiteX45" fmla="*/ 19878 w 3289852"/>
                  <a:gd name="connsiteY45" fmla="*/ 2369899 h 2888672"/>
                  <a:gd name="connsiteX46" fmla="*/ 39756 w 3289852"/>
                  <a:gd name="connsiteY46" fmla="*/ 2429534 h 2888672"/>
                  <a:gd name="connsiteX47" fmla="*/ 129208 w 3289852"/>
                  <a:gd name="connsiteY47" fmla="*/ 2538864 h 2888672"/>
                  <a:gd name="connsiteX48" fmla="*/ 238539 w 3289852"/>
                  <a:gd name="connsiteY48" fmla="*/ 2668073 h 2888672"/>
                  <a:gd name="connsiteX49" fmla="*/ 357808 w 3289852"/>
                  <a:gd name="connsiteY49" fmla="*/ 2807221 h 2888672"/>
                  <a:gd name="connsiteX50" fmla="*/ 496956 w 3289852"/>
                  <a:gd name="connsiteY50" fmla="*/ 2886734 h 2888672"/>
                  <a:gd name="connsiteX51" fmla="*/ 755374 w 3289852"/>
                  <a:gd name="connsiteY51" fmla="*/ 2886734 h 2888672"/>
                  <a:gd name="connsiteX52" fmla="*/ 1063487 w 3289852"/>
                  <a:gd name="connsiteY52" fmla="*/ 2876795 h 2888672"/>
                  <a:gd name="connsiteX53" fmla="*/ 1162878 w 3289852"/>
                  <a:gd name="connsiteY53" fmla="*/ 2866856 h 2888672"/>
                  <a:gd name="connsiteX54" fmla="*/ 1282147 w 3289852"/>
                  <a:gd name="connsiteY54" fmla="*/ 2856917 h 2888672"/>
                  <a:gd name="connsiteX55" fmla="*/ 1321904 w 3289852"/>
                  <a:gd name="connsiteY55" fmla="*/ 2846977 h 2888672"/>
                  <a:gd name="connsiteX56" fmla="*/ 1431234 w 3289852"/>
                  <a:gd name="connsiteY56" fmla="*/ 2827099 h 2888672"/>
                  <a:gd name="connsiteX57" fmla="*/ 1490869 w 3289852"/>
                  <a:gd name="connsiteY57" fmla="*/ 2777404 h 2888672"/>
                  <a:gd name="connsiteX58" fmla="*/ 1600200 w 3289852"/>
                  <a:gd name="connsiteY58" fmla="*/ 2727708 h 2888672"/>
                  <a:gd name="connsiteX59" fmla="*/ 1630017 w 3289852"/>
                  <a:gd name="connsiteY59" fmla="*/ 2697890 h 2888672"/>
                  <a:gd name="connsiteX60" fmla="*/ 1659834 w 3289852"/>
                  <a:gd name="connsiteY60" fmla="*/ 2678012 h 2888672"/>
                  <a:gd name="connsiteX61" fmla="*/ 1769165 w 3289852"/>
                  <a:gd name="connsiteY61" fmla="*/ 2588560 h 2888672"/>
                  <a:gd name="connsiteX62" fmla="*/ 1808921 w 3289852"/>
                  <a:gd name="connsiteY62" fmla="*/ 2528925 h 2888672"/>
                  <a:gd name="connsiteX63" fmla="*/ 1838739 w 3289852"/>
                  <a:gd name="connsiteY63" fmla="*/ 2489169 h 2888672"/>
                  <a:gd name="connsiteX64" fmla="*/ 1858617 w 3289852"/>
                  <a:gd name="connsiteY64" fmla="*/ 2469290 h 2888672"/>
                  <a:gd name="connsiteX65" fmla="*/ 1908313 w 3289852"/>
                  <a:gd name="connsiteY65" fmla="*/ 2409656 h 2888672"/>
                  <a:gd name="connsiteX66" fmla="*/ 1948069 w 3289852"/>
                  <a:gd name="connsiteY66" fmla="*/ 2399717 h 2888672"/>
                  <a:gd name="connsiteX67" fmla="*/ 2146852 w 3289852"/>
                  <a:gd name="connsiteY67" fmla="*/ 2409656 h 2888672"/>
                  <a:gd name="connsiteX68" fmla="*/ 2276060 w 3289852"/>
                  <a:gd name="connsiteY68" fmla="*/ 2459351 h 2888672"/>
                  <a:gd name="connsiteX69" fmla="*/ 2355574 w 3289852"/>
                  <a:gd name="connsiteY69" fmla="*/ 2479230 h 2888672"/>
                  <a:gd name="connsiteX70" fmla="*/ 2524539 w 3289852"/>
                  <a:gd name="connsiteY70" fmla="*/ 2568682 h 2888672"/>
                  <a:gd name="connsiteX71" fmla="*/ 2643808 w 3289852"/>
                  <a:gd name="connsiteY71" fmla="*/ 2578621 h 2888672"/>
                  <a:gd name="connsiteX72" fmla="*/ 2723321 w 3289852"/>
                  <a:gd name="connsiteY72" fmla="*/ 2608438 h 2888672"/>
                  <a:gd name="connsiteX73" fmla="*/ 2773017 w 3289852"/>
                  <a:gd name="connsiteY73" fmla="*/ 2638256 h 2888672"/>
                  <a:gd name="connsiteX74" fmla="*/ 2852530 w 3289852"/>
                  <a:gd name="connsiteY74" fmla="*/ 2658134 h 2888672"/>
                  <a:gd name="connsiteX75" fmla="*/ 2941982 w 3289852"/>
                  <a:gd name="connsiteY75" fmla="*/ 2678012 h 2888672"/>
                  <a:gd name="connsiteX76" fmla="*/ 3001617 w 3289852"/>
                  <a:gd name="connsiteY76" fmla="*/ 2608438 h 2888672"/>
                  <a:gd name="connsiteX77" fmla="*/ 3031434 w 3289852"/>
                  <a:gd name="connsiteY77" fmla="*/ 2588560 h 2888672"/>
                  <a:gd name="connsiteX78" fmla="*/ 3071191 w 3289852"/>
                  <a:gd name="connsiteY78" fmla="*/ 2538864 h 2888672"/>
                  <a:gd name="connsiteX79" fmla="*/ 3110947 w 3289852"/>
                  <a:gd name="connsiteY79" fmla="*/ 2479230 h 2888672"/>
                  <a:gd name="connsiteX80" fmla="*/ 3130826 w 3289852"/>
                  <a:gd name="connsiteY80" fmla="*/ 2429534 h 2888672"/>
                  <a:gd name="connsiteX81" fmla="*/ 3160643 w 3289852"/>
                  <a:gd name="connsiteY81" fmla="*/ 2399717 h 2888672"/>
                  <a:gd name="connsiteX82" fmla="*/ 3180521 w 3289852"/>
                  <a:gd name="connsiteY82" fmla="*/ 2320204 h 2888672"/>
                  <a:gd name="connsiteX83" fmla="*/ 3190460 w 3289852"/>
                  <a:gd name="connsiteY83" fmla="*/ 2290386 h 2888672"/>
                  <a:gd name="connsiteX84" fmla="*/ 3200400 w 3289852"/>
                  <a:gd name="connsiteY84" fmla="*/ 2250630 h 2888672"/>
                  <a:gd name="connsiteX85" fmla="*/ 3190460 w 3289852"/>
                  <a:gd name="connsiteY85" fmla="*/ 2002151 h 2888672"/>
                  <a:gd name="connsiteX86" fmla="*/ 3160643 w 3289852"/>
                  <a:gd name="connsiteY86" fmla="*/ 1972334 h 2888672"/>
                  <a:gd name="connsiteX87" fmla="*/ 3180521 w 3289852"/>
                  <a:gd name="connsiteY87" fmla="*/ 2002151 h 2888672"/>
                  <a:gd name="connsiteX88" fmla="*/ 3110947 w 3289852"/>
                  <a:gd name="connsiteY88" fmla="*/ 1932577 h 2888672"/>
                  <a:gd name="connsiteX89" fmla="*/ 3061252 w 3289852"/>
                  <a:gd name="connsiteY89" fmla="*/ 1912699 h 2888672"/>
                  <a:gd name="connsiteX90" fmla="*/ 2951921 w 3289852"/>
                  <a:gd name="connsiteY90" fmla="*/ 1863004 h 2888672"/>
                  <a:gd name="connsiteX91" fmla="*/ 2902226 w 3289852"/>
                  <a:gd name="connsiteY91" fmla="*/ 1833186 h 2888672"/>
                  <a:gd name="connsiteX92" fmla="*/ 2862469 w 3289852"/>
                  <a:gd name="connsiteY92" fmla="*/ 1823247 h 2888672"/>
                  <a:gd name="connsiteX93" fmla="*/ 2802834 w 3289852"/>
                  <a:gd name="connsiteY93" fmla="*/ 1783490 h 2888672"/>
                  <a:gd name="connsiteX94" fmla="*/ 2782956 w 3289852"/>
                  <a:gd name="connsiteY94" fmla="*/ 1753673 h 2888672"/>
                  <a:gd name="connsiteX95" fmla="*/ 2822713 w 3289852"/>
                  <a:gd name="connsiteY95" fmla="*/ 1674160 h 2888672"/>
                  <a:gd name="connsiteX96" fmla="*/ 2852530 w 3289852"/>
                  <a:gd name="connsiteY96" fmla="*/ 1624464 h 2888672"/>
                  <a:gd name="connsiteX97" fmla="*/ 2902226 w 3289852"/>
                  <a:gd name="connsiteY97" fmla="*/ 1564830 h 2888672"/>
                  <a:gd name="connsiteX98" fmla="*/ 2961860 w 3289852"/>
                  <a:gd name="connsiteY98" fmla="*/ 1465438 h 2888672"/>
                  <a:gd name="connsiteX99" fmla="*/ 2981739 w 3289852"/>
                  <a:gd name="connsiteY99" fmla="*/ 1435621 h 2888672"/>
                  <a:gd name="connsiteX100" fmla="*/ 3021495 w 3289852"/>
                  <a:gd name="connsiteY100" fmla="*/ 1395864 h 2888672"/>
                  <a:gd name="connsiteX101" fmla="*/ 3081130 w 3289852"/>
                  <a:gd name="connsiteY101" fmla="*/ 1336230 h 2888672"/>
                  <a:gd name="connsiteX102" fmla="*/ 3160643 w 3289852"/>
                  <a:gd name="connsiteY102" fmla="*/ 1266656 h 2888672"/>
                  <a:gd name="connsiteX103" fmla="*/ 3190460 w 3289852"/>
                  <a:gd name="connsiteY103" fmla="*/ 1226899 h 2888672"/>
                  <a:gd name="connsiteX104" fmla="*/ 3210339 w 3289852"/>
                  <a:gd name="connsiteY104" fmla="*/ 1207021 h 2888672"/>
                  <a:gd name="connsiteX105" fmla="*/ 3250095 w 3289852"/>
                  <a:gd name="connsiteY105" fmla="*/ 1157325 h 2888672"/>
                  <a:gd name="connsiteX106" fmla="*/ 3260034 w 3289852"/>
                  <a:gd name="connsiteY106" fmla="*/ 1097690 h 2888672"/>
                  <a:gd name="connsiteX107" fmla="*/ 3279913 w 3289852"/>
                  <a:gd name="connsiteY107" fmla="*/ 1028117 h 2888672"/>
                  <a:gd name="connsiteX108" fmla="*/ 3289852 w 3289852"/>
                  <a:gd name="connsiteY108" fmla="*/ 988360 h 2888672"/>
                  <a:gd name="connsiteX109" fmla="*/ 3279913 w 3289852"/>
                  <a:gd name="connsiteY109" fmla="*/ 898908 h 2888672"/>
                  <a:gd name="connsiteX110" fmla="*/ 3269974 w 3289852"/>
                  <a:gd name="connsiteY110" fmla="*/ 869090 h 2888672"/>
                  <a:gd name="connsiteX111" fmla="*/ 3240156 w 3289852"/>
                  <a:gd name="connsiteY111" fmla="*/ 849212 h 2888672"/>
                  <a:gd name="connsiteX112" fmla="*/ 3180521 w 3289852"/>
                  <a:gd name="connsiteY112" fmla="*/ 809456 h 2888672"/>
                  <a:gd name="connsiteX113" fmla="*/ 3071191 w 3289852"/>
                  <a:gd name="connsiteY113" fmla="*/ 769699 h 2888672"/>
                  <a:gd name="connsiteX114" fmla="*/ 3011556 w 3289852"/>
                  <a:gd name="connsiteY114" fmla="*/ 749821 h 2888672"/>
                  <a:gd name="connsiteX115" fmla="*/ 2951921 w 3289852"/>
                  <a:gd name="connsiteY115" fmla="*/ 720004 h 2888672"/>
                  <a:gd name="connsiteX116" fmla="*/ 2892287 w 3289852"/>
                  <a:gd name="connsiteY116" fmla="*/ 739882 h 2888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</a:cxnLst>
                <a:rect l="l" t="t" r="r" b="b"/>
                <a:pathLst>
                  <a:path w="3289852" h="2888672">
                    <a:moveTo>
                      <a:pt x="2892287" y="739882"/>
                    </a:moveTo>
                    <a:lnTo>
                      <a:pt x="2892287" y="739882"/>
                    </a:lnTo>
                    <a:cubicBezTo>
                      <a:pt x="2888974" y="703438"/>
                      <a:pt x="2894998" y="664889"/>
                      <a:pt x="2882347" y="630551"/>
                    </a:cubicBezTo>
                    <a:cubicBezTo>
                      <a:pt x="2870894" y="599463"/>
                      <a:pt x="2842591" y="577542"/>
                      <a:pt x="2822713" y="551038"/>
                    </a:cubicBezTo>
                    <a:cubicBezTo>
                      <a:pt x="2799151" y="519622"/>
                      <a:pt x="2792143" y="506377"/>
                      <a:pt x="2763078" y="481464"/>
                    </a:cubicBezTo>
                    <a:cubicBezTo>
                      <a:pt x="2750501" y="470683"/>
                      <a:pt x="2735034" y="463360"/>
                      <a:pt x="2723321" y="451647"/>
                    </a:cubicBezTo>
                    <a:cubicBezTo>
                      <a:pt x="2662189" y="390515"/>
                      <a:pt x="2714278" y="378044"/>
                      <a:pt x="2594113" y="312499"/>
                    </a:cubicBezTo>
                    <a:cubicBezTo>
                      <a:pt x="2557669" y="292621"/>
                      <a:pt x="2519323" y="275891"/>
                      <a:pt x="2484782" y="252864"/>
                    </a:cubicBezTo>
                    <a:cubicBezTo>
                      <a:pt x="2459367" y="235921"/>
                      <a:pt x="2440445" y="210437"/>
                      <a:pt x="2415208" y="193230"/>
                    </a:cubicBezTo>
                    <a:cubicBezTo>
                      <a:pt x="2367324" y="160582"/>
                      <a:pt x="2316181" y="132979"/>
                      <a:pt x="2266121" y="103777"/>
                    </a:cubicBezTo>
                    <a:cubicBezTo>
                      <a:pt x="2236658" y="86590"/>
                      <a:pt x="2209028" y="64868"/>
                      <a:pt x="2176669" y="54082"/>
                    </a:cubicBezTo>
                    <a:cubicBezTo>
                      <a:pt x="2014419" y="0"/>
                      <a:pt x="2218006" y="64417"/>
                      <a:pt x="2057400" y="24264"/>
                    </a:cubicBezTo>
                    <a:cubicBezTo>
                      <a:pt x="2037072" y="19182"/>
                      <a:pt x="2017643" y="11012"/>
                      <a:pt x="1997765" y="4386"/>
                    </a:cubicBezTo>
                    <a:cubicBezTo>
                      <a:pt x="1991607" y="4860"/>
                      <a:pt x="1805253" y="17727"/>
                      <a:pt x="1779104" y="24264"/>
                    </a:cubicBezTo>
                    <a:cubicBezTo>
                      <a:pt x="1754626" y="30384"/>
                      <a:pt x="1733736" y="46962"/>
                      <a:pt x="1709530" y="54082"/>
                    </a:cubicBezTo>
                    <a:cubicBezTo>
                      <a:pt x="1677116" y="63615"/>
                      <a:pt x="1643269" y="67334"/>
                      <a:pt x="1610139" y="73960"/>
                    </a:cubicBezTo>
                    <a:cubicBezTo>
                      <a:pt x="1421583" y="199664"/>
                      <a:pt x="1515281" y="148322"/>
                      <a:pt x="1331843" y="232986"/>
                    </a:cubicBezTo>
                    <a:cubicBezTo>
                      <a:pt x="1305339" y="259490"/>
                      <a:pt x="1282105" y="289730"/>
                      <a:pt x="1252330" y="312499"/>
                    </a:cubicBezTo>
                    <a:cubicBezTo>
                      <a:pt x="1225235" y="333219"/>
                      <a:pt x="1191983" y="344408"/>
                      <a:pt x="1162878" y="362195"/>
                    </a:cubicBezTo>
                    <a:cubicBezTo>
                      <a:pt x="1132300" y="380882"/>
                      <a:pt x="1103243" y="401952"/>
                      <a:pt x="1073426" y="421830"/>
                    </a:cubicBezTo>
                    <a:cubicBezTo>
                      <a:pt x="1053548" y="458273"/>
                      <a:pt x="1039277" y="498392"/>
                      <a:pt x="1013791" y="531160"/>
                    </a:cubicBezTo>
                    <a:cubicBezTo>
                      <a:pt x="775945" y="836961"/>
                      <a:pt x="1080901" y="370859"/>
                      <a:pt x="874643" y="680247"/>
                    </a:cubicBezTo>
                    <a:cubicBezTo>
                      <a:pt x="843043" y="727647"/>
                      <a:pt x="815995" y="787109"/>
                      <a:pt x="795130" y="839273"/>
                    </a:cubicBezTo>
                    <a:cubicBezTo>
                      <a:pt x="787348" y="858728"/>
                      <a:pt x="781878" y="879030"/>
                      <a:pt x="775252" y="898908"/>
                    </a:cubicBezTo>
                    <a:cubicBezTo>
                      <a:pt x="781878" y="965169"/>
                      <a:pt x="781177" y="1032577"/>
                      <a:pt x="795130" y="1097690"/>
                    </a:cubicBezTo>
                    <a:cubicBezTo>
                      <a:pt x="801339" y="1126665"/>
                      <a:pt x="819356" y="1151967"/>
                      <a:pt x="834887" y="1177204"/>
                    </a:cubicBezTo>
                    <a:cubicBezTo>
                      <a:pt x="859242" y="1216781"/>
                      <a:pt x="886732" y="1240331"/>
                      <a:pt x="924339" y="1266656"/>
                    </a:cubicBezTo>
                    <a:cubicBezTo>
                      <a:pt x="1067796" y="1367076"/>
                      <a:pt x="1019281" y="1347999"/>
                      <a:pt x="1103243" y="1375986"/>
                    </a:cubicBezTo>
                    <a:cubicBezTo>
                      <a:pt x="1113182" y="1372673"/>
                      <a:pt x="1128375" y="1356676"/>
                      <a:pt x="1133060" y="1366047"/>
                    </a:cubicBezTo>
                    <a:cubicBezTo>
                      <a:pt x="1135241" y="1370410"/>
                      <a:pt x="1119672" y="1434202"/>
                      <a:pt x="1113182" y="1445560"/>
                    </a:cubicBezTo>
                    <a:cubicBezTo>
                      <a:pt x="1095922" y="1475766"/>
                      <a:pt x="1057443" y="1513616"/>
                      <a:pt x="1033669" y="1535012"/>
                    </a:cubicBezTo>
                    <a:cubicBezTo>
                      <a:pt x="1017901" y="1549203"/>
                      <a:pt x="1001625" y="1563002"/>
                      <a:pt x="983974" y="1574769"/>
                    </a:cubicBezTo>
                    <a:cubicBezTo>
                      <a:pt x="961750" y="1589585"/>
                      <a:pt x="937148" y="1600526"/>
                      <a:pt x="914400" y="1614525"/>
                    </a:cubicBezTo>
                    <a:cubicBezTo>
                      <a:pt x="824121" y="1670081"/>
                      <a:pt x="868969" y="1655401"/>
                      <a:pt x="745434" y="1713917"/>
                    </a:cubicBezTo>
                    <a:cubicBezTo>
                      <a:pt x="719852" y="1726035"/>
                      <a:pt x="692096" y="1732956"/>
                      <a:pt x="665921" y="1743734"/>
                    </a:cubicBezTo>
                    <a:cubicBezTo>
                      <a:pt x="635749" y="1756158"/>
                      <a:pt x="605958" y="1769522"/>
                      <a:pt x="576469" y="1783490"/>
                    </a:cubicBezTo>
                    <a:cubicBezTo>
                      <a:pt x="542994" y="1799347"/>
                      <a:pt x="509814" y="1815855"/>
                      <a:pt x="477078" y="1833186"/>
                    </a:cubicBezTo>
                    <a:cubicBezTo>
                      <a:pt x="453471" y="1845684"/>
                      <a:pt x="432692" y="1864053"/>
                      <a:pt x="407504" y="1872943"/>
                    </a:cubicBezTo>
                    <a:cubicBezTo>
                      <a:pt x="375644" y="1884188"/>
                      <a:pt x="341243" y="1886195"/>
                      <a:pt x="308113" y="1892821"/>
                    </a:cubicBezTo>
                    <a:cubicBezTo>
                      <a:pt x="291548" y="1912699"/>
                      <a:pt x="277650" y="1935146"/>
                      <a:pt x="258417" y="1952456"/>
                    </a:cubicBezTo>
                    <a:cubicBezTo>
                      <a:pt x="244058" y="1965379"/>
                      <a:pt x="224299" y="1970849"/>
                      <a:pt x="208721" y="1982273"/>
                    </a:cubicBezTo>
                    <a:cubicBezTo>
                      <a:pt x="191488" y="1994910"/>
                      <a:pt x="108475" y="2056849"/>
                      <a:pt x="79513" y="2091604"/>
                    </a:cubicBezTo>
                    <a:cubicBezTo>
                      <a:pt x="61949" y="2112680"/>
                      <a:pt x="51910" y="2136868"/>
                      <a:pt x="39756" y="2161177"/>
                    </a:cubicBezTo>
                    <a:cubicBezTo>
                      <a:pt x="36571" y="2173916"/>
                      <a:pt x="27008" y="2216491"/>
                      <a:pt x="19878" y="2230751"/>
                    </a:cubicBezTo>
                    <a:cubicBezTo>
                      <a:pt x="14536" y="2241435"/>
                      <a:pt x="6626" y="2250630"/>
                      <a:pt x="0" y="2260569"/>
                    </a:cubicBezTo>
                    <a:cubicBezTo>
                      <a:pt x="3247" y="2280053"/>
                      <a:pt x="13924" y="2348068"/>
                      <a:pt x="19878" y="2369899"/>
                    </a:cubicBezTo>
                    <a:cubicBezTo>
                      <a:pt x="25391" y="2390114"/>
                      <a:pt x="28373" y="2411942"/>
                      <a:pt x="39756" y="2429534"/>
                    </a:cubicBezTo>
                    <a:cubicBezTo>
                      <a:pt x="65336" y="2469067"/>
                      <a:pt x="108150" y="2496748"/>
                      <a:pt x="129208" y="2538864"/>
                    </a:cubicBezTo>
                    <a:cubicBezTo>
                      <a:pt x="181711" y="2643868"/>
                      <a:pt x="144852" y="2601153"/>
                      <a:pt x="238539" y="2668073"/>
                    </a:cubicBezTo>
                    <a:cubicBezTo>
                      <a:pt x="268947" y="2728891"/>
                      <a:pt x="280899" y="2763273"/>
                      <a:pt x="357808" y="2807221"/>
                    </a:cubicBezTo>
                    <a:lnTo>
                      <a:pt x="496956" y="2886734"/>
                    </a:lnTo>
                    <a:cubicBezTo>
                      <a:pt x="608735" y="2830846"/>
                      <a:pt x="489549" y="2881718"/>
                      <a:pt x="755374" y="2886734"/>
                    </a:cubicBezTo>
                    <a:cubicBezTo>
                      <a:pt x="858113" y="2888672"/>
                      <a:pt x="960783" y="2880108"/>
                      <a:pt x="1063487" y="2876795"/>
                    </a:cubicBezTo>
                    <a:lnTo>
                      <a:pt x="1162878" y="2866856"/>
                    </a:lnTo>
                    <a:cubicBezTo>
                      <a:pt x="1202608" y="2863244"/>
                      <a:pt x="1242561" y="2861865"/>
                      <a:pt x="1282147" y="2856917"/>
                    </a:cubicBezTo>
                    <a:cubicBezTo>
                      <a:pt x="1295702" y="2855223"/>
                      <a:pt x="1308569" y="2849940"/>
                      <a:pt x="1321904" y="2846977"/>
                    </a:cubicBezTo>
                    <a:cubicBezTo>
                      <a:pt x="1363568" y="2837718"/>
                      <a:pt x="1388090" y="2834290"/>
                      <a:pt x="1431234" y="2827099"/>
                    </a:cubicBezTo>
                    <a:cubicBezTo>
                      <a:pt x="1451112" y="2810534"/>
                      <a:pt x="1469671" y="2792243"/>
                      <a:pt x="1490869" y="2777404"/>
                    </a:cubicBezTo>
                    <a:cubicBezTo>
                      <a:pt x="1507274" y="2765920"/>
                      <a:pt x="1595203" y="2729849"/>
                      <a:pt x="1600200" y="2727708"/>
                    </a:cubicBezTo>
                    <a:cubicBezTo>
                      <a:pt x="1610139" y="2717769"/>
                      <a:pt x="1619219" y="2706889"/>
                      <a:pt x="1630017" y="2697890"/>
                    </a:cubicBezTo>
                    <a:cubicBezTo>
                      <a:pt x="1639193" y="2690243"/>
                      <a:pt x="1650174" y="2685038"/>
                      <a:pt x="1659834" y="2678012"/>
                    </a:cubicBezTo>
                    <a:cubicBezTo>
                      <a:pt x="1682682" y="2661396"/>
                      <a:pt x="1744732" y="2619974"/>
                      <a:pt x="1769165" y="2588560"/>
                    </a:cubicBezTo>
                    <a:cubicBezTo>
                      <a:pt x="1783832" y="2569702"/>
                      <a:pt x="1794586" y="2548037"/>
                      <a:pt x="1808921" y="2528925"/>
                    </a:cubicBezTo>
                    <a:cubicBezTo>
                      <a:pt x="1818860" y="2515673"/>
                      <a:pt x="1828134" y="2501895"/>
                      <a:pt x="1838739" y="2489169"/>
                    </a:cubicBezTo>
                    <a:cubicBezTo>
                      <a:pt x="1844738" y="2481970"/>
                      <a:pt x="1852618" y="2476489"/>
                      <a:pt x="1858617" y="2469290"/>
                    </a:cubicBezTo>
                    <a:cubicBezTo>
                      <a:pt x="1860920" y="2466526"/>
                      <a:pt x="1895466" y="2416079"/>
                      <a:pt x="1908313" y="2409656"/>
                    </a:cubicBezTo>
                    <a:cubicBezTo>
                      <a:pt x="1920531" y="2403547"/>
                      <a:pt x="1934817" y="2403030"/>
                      <a:pt x="1948069" y="2399717"/>
                    </a:cubicBezTo>
                    <a:cubicBezTo>
                      <a:pt x="2014330" y="2403030"/>
                      <a:pt x="2080945" y="2402052"/>
                      <a:pt x="2146852" y="2409656"/>
                    </a:cubicBezTo>
                    <a:cubicBezTo>
                      <a:pt x="2179090" y="2413376"/>
                      <a:pt x="2249040" y="2450344"/>
                      <a:pt x="2276060" y="2459351"/>
                    </a:cubicBezTo>
                    <a:cubicBezTo>
                      <a:pt x="2301978" y="2467991"/>
                      <a:pt x="2329069" y="2472604"/>
                      <a:pt x="2355574" y="2479230"/>
                    </a:cubicBezTo>
                    <a:cubicBezTo>
                      <a:pt x="2402466" y="2508537"/>
                      <a:pt x="2469469" y="2555570"/>
                      <a:pt x="2524539" y="2568682"/>
                    </a:cubicBezTo>
                    <a:cubicBezTo>
                      <a:pt x="2563348" y="2577922"/>
                      <a:pt x="2604052" y="2575308"/>
                      <a:pt x="2643808" y="2578621"/>
                    </a:cubicBezTo>
                    <a:cubicBezTo>
                      <a:pt x="2670312" y="2588560"/>
                      <a:pt x="2697620" y="2596576"/>
                      <a:pt x="2723321" y="2608438"/>
                    </a:cubicBezTo>
                    <a:cubicBezTo>
                      <a:pt x="2740861" y="2616534"/>
                      <a:pt x="2754986" y="2631321"/>
                      <a:pt x="2773017" y="2638256"/>
                    </a:cubicBezTo>
                    <a:cubicBezTo>
                      <a:pt x="2798516" y="2648063"/>
                      <a:pt x="2826026" y="2651508"/>
                      <a:pt x="2852530" y="2658134"/>
                    </a:cubicBezTo>
                    <a:cubicBezTo>
                      <a:pt x="2908673" y="2672170"/>
                      <a:pt x="2878895" y="2665395"/>
                      <a:pt x="2941982" y="2678012"/>
                    </a:cubicBezTo>
                    <a:cubicBezTo>
                      <a:pt x="3003727" y="2657431"/>
                      <a:pt x="2944113" y="2685111"/>
                      <a:pt x="3001617" y="2608438"/>
                    </a:cubicBezTo>
                    <a:cubicBezTo>
                      <a:pt x="3008784" y="2598882"/>
                      <a:pt x="3022987" y="2597007"/>
                      <a:pt x="3031434" y="2588560"/>
                    </a:cubicBezTo>
                    <a:cubicBezTo>
                      <a:pt x="3046435" y="2573559"/>
                      <a:pt x="3058713" y="2556021"/>
                      <a:pt x="3071191" y="2538864"/>
                    </a:cubicBezTo>
                    <a:cubicBezTo>
                      <a:pt x="3085243" y="2519543"/>
                      <a:pt x="3102074" y="2501412"/>
                      <a:pt x="3110947" y="2479230"/>
                    </a:cubicBezTo>
                    <a:cubicBezTo>
                      <a:pt x="3117573" y="2462665"/>
                      <a:pt x="3121370" y="2444664"/>
                      <a:pt x="3130826" y="2429534"/>
                    </a:cubicBezTo>
                    <a:cubicBezTo>
                      <a:pt x="3138276" y="2417615"/>
                      <a:pt x="3150704" y="2409656"/>
                      <a:pt x="3160643" y="2399717"/>
                    </a:cubicBezTo>
                    <a:cubicBezTo>
                      <a:pt x="3183362" y="2331557"/>
                      <a:pt x="3156534" y="2416155"/>
                      <a:pt x="3180521" y="2320204"/>
                    </a:cubicBezTo>
                    <a:cubicBezTo>
                      <a:pt x="3183062" y="2310040"/>
                      <a:pt x="3187582" y="2300460"/>
                      <a:pt x="3190460" y="2290386"/>
                    </a:cubicBezTo>
                    <a:cubicBezTo>
                      <a:pt x="3194213" y="2277252"/>
                      <a:pt x="3197087" y="2263882"/>
                      <a:pt x="3200400" y="2250630"/>
                    </a:cubicBezTo>
                    <a:cubicBezTo>
                      <a:pt x="3197087" y="2167804"/>
                      <a:pt x="3202183" y="2084210"/>
                      <a:pt x="3190460" y="2002151"/>
                    </a:cubicBezTo>
                    <a:cubicBezTo>
                      <a:pt x="3188472" y="1988236"/>
                      <a:pt x="3174699" y="1972334"/>
                      <a:pt x="3160643" y="1972334"/>
                    </a:cubicBezTo>
                    <a:cubicBezTo>
                      <a:pt x="3148698" y="1972334"/>
                      <a:pt x="3189849" y="2009613"/>
                      <a:pt x="3180521" y="2002151"/>
                    </a:cubicBezTo>
                    <a:cubicBezTo>
                      <a:pt x="3154911" y="1981663"/>
                      <a:pt x="3137185" y="1952256"/>
                      <a:pt x="3110947" y="1932577"/>
                    </a:cubicBezTo>
                    <a:cubicBezTo>
                      <a:pt x="3096674" y="1921872"/>
                      <a:pt x="3076848" y="1921363"/>
                      <a:pt x="3061252" y="1912699"/>
                    </a:cubicBezTo>
                    <a:cubicBezTo>
                      <a:pt x="2959649" y="1856254"/>
                      <a:pt x="3099377" y="1905134"/>
                      <a:pt x="2951921" y="1863004"/>
                    </a:cubicBezTo>
                    <a:cubicBezTo>
                      <a:pt x="2935356" y="1853065"/>
                      <a:pt x="2919879" y="1841032"/>
                      <a:pt x="2902226" y="1833186"/>
                    </a:cubicBezTo>
                    <a:cubicBezTo>
                      <a:pt x="2889743" y="1827638"/>
                      <a:pt x="2874687" y="1829356"/>
                      <a:pt x="2862469" y="1823247"/>
                    </a:cubicBezTo>
                    <a:cubicBezTo>
                      <a:pt x="2841100" y="1812563"/>
                      <a:pt x="2802834" y="1783490"/>
                      <a:pt x="2802834" y="1783490"/>
                    </a:cubicBezTo>
                    <a:cubicBezTo>
                      <a:pt x="2796208" y="1773551"/>
                      <a:pt x="2782956" y="1765618"/>
                      <a:pt x="2782956" y="1753673"/>
                    </a:cubicBezTo>
                    <a:cubicBezTo>
                      <a:pt x="2782956" y="1727338"/>
                      <a:pt x="2809216" y="1695755"/>
                      <a:pt x="2822713" y="1674160"/>
                    </a:cubicBezTo>
                    <a:cubicBezTo>
                      <a:pt x="2832952" y="1657778"/>
                      <a:pt x="2840939" y="1639919"/>
                      <a:pt x="2852530" y="1624464"/>
                    </a:cubicBezTo>
                    <a:cubicBezTo>
                      <a:pt x="2901863" y="1558686"/>
                      <a:pt x="2865143" y="1629725"/>
                      <a:pt x="2902226" y="1564830"/>
                    </a:cubicBezTo>
                    <a:cubicBezTo>
                      <a:pt x="2963356" y="1457854"/>
                      <a:pt x="2864597" y="1611332"/>
                      <a:pt x="2961860" y="1465438"/>
                    </a:cubicBezTo>
                    <a:cubicBezTo>
                      <a:pt x="2968486" y="1455499"/>
                      <a:pt x="2973292" y="1444068"/>
                      <a:pt x="2981739" y="1435621"/>
                    </a:cubicBezTo>
                    <a:cubicBezTo>
                      <a:pt x="2994991" y="1422369"/>
                      <a:pt x="3010250" y="1410857"/>
                      <a:pt x="3021495" y="1395864"/>
                    </a:cubicBezTo>
                    <a:cubicBezTo>
                      <a:pt x="3069202" y="1332255"/>
                      <a:pt x="3006921" y="1373335"/>
                      <a:pt x="3081130" y="1336230"/>
                    </a:cubicBezTo>
                    <a:cubicBezTo>
                      <a:pt x="3139273" y="1278087"/>
                      <a:pt x="3111334" y="1299529"/>
                      <a:pt x="3160643" y="1266656"/>
                    </a:cubicBezTo>
                    <a:cubicBezTo>
                      <a:pt x="3170582" y="1253404"/>
                      <a:pt x="3179855" y="1239625"/>
                      <a:pt x="3190460" y="1226899"/>
                    </a:cubicBezTo>
                    <a:cubicBezTo>
                      <a:pt x="3196459" y="1219700"/>
                      <a:pt x="3204485" y="1214338"/>
                      <a:pt x="3210339" y="1207021"/>
                    </a:cubicBezTo>
                    <a:cubicBezTo>
                      <a:pt x="3260502" y="1144318"/>
                      <a:pt x="3202090" y="1205332"/>
                      <a:pt x="3250095" y="1157325"/>
                    </a:cubicBezTo>
                    <a:cubicBezTo>
                      <a:pt x="3253408" y="1137447"/>
                      <a:pt x="3256082" y="1117451"/>
                      <a:pt x="3260034" y="1097690"/>
                    </a:cubicBezTo>
                    <a:cubicBezTo>
                      <a:pt x="3270390" y="1045912"/>
                      <a:pt x="3267284" y="1072318"/>
                      <a:pt x="3279913" y="1028117"/>
                    </a:cubicBezTo>
                    <a:cubicBezTo>
                      <a:pt x="3283666" y="1014982"/>
                      <a:pt x="3286539" y="1001612"/>
                      <a:pt x="3289852" y="988360"/>
                    </a:cubicBezTo>
                    <a:cubicBezTo>
                      <a:pt x="3286539" y="958543"/>
                      <a:pt x="3284845" y="928501"/>
                      <a:pt x="3279913" y="898908"/>
                    </a:cubicBezTo>
                    <a:cubicBezTo>
                      <a:pt x="3278191" y="888574"/>
                      <a:pt x="3276519" y="877271"/>
                      <a:pt x="3269974" y="869090"/>
                    </a:cubicBezTo>
                    <a:cubicBezTo>
                      <a:pt x="3262512" y="859762"/>
                      <a:pt x="3249333" y="856859"/>
                      <a:pt x="3240156" y="849212"/>
                    </a:cubicBezTo>
                    <a:cubicBezTo>
                      <a:pt x="3190521" y="807850"/>
                      <a:pt x="3232923" y="826923"/>
                      <a:pt x="3180521" y="809456"/>
                    </a:cubicBezTo>
                    <a:cubicBezTo>
                      <a:pt x="3118016" y="767784"/>
                      <a:pt x="3185065" y="807656"/>
                      <a:pt x="3071191" y="769699"/>
                    </a:cubicBezTo>
                    <a:lnTo>
                      <a:pt x="3011556" y="749821"/>
                    </a:lnTo>
                    <a:cubicBezTo>
                      <a:pt x="2988660" y="734557"/>
                      <a:pt x="2979355" y="724576"/>
                      <a:pt x="2951921" y="720004"/>
                    </a:cubicBezTo>
                    <a:cubicBezTo>
                      <a:pt x="2942117" y="718370"/>
                      <a:pt x="2902226" y="736569"/>
                      <a:pt x="2892287" y="739882"/>
                    </a:cubicBezTo>
                    <a:close/>
                  </a:path>
                </a:pathLst>
              </a:cu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1" i="0" u="none" strike="noStrike" normalizeH="0" baseline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latin typeface="Times" pitchFamily="18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936958E-593C-4A12-A9CB-769FD192426D}"/>
                  </a:ext>
                </a:extLst>
              </p:cNvPr>
              <p:cNvSpPr/>
              <p:nvPr/>
            </p:nvSpPr>
            <p:spPr bwMode="auto">
              <a:xfrm>
                <a:off x="6156176" y="3429000"/>
                <a:ext cx="432048" cy="36004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7EE1CA2-40B8-4107-87C7-D61319B3E549}"/>
                  </a:ext>
                </a:extLst>
              </p:cNvPr>
              <p:cNvSpPr/>
              <p:nvPr/>
            </p:nvSpPr>
            <p:spPr bwMode="auto">
              <a:xfrm>
                <a:off x="5292080" y="4941168"/>
                <a:ext cx="432048" cy="36004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47A4B50-BBF2-4949-B885-6299AF004156}"/>
                  </a:ext>
                </a:extLst>
              </p:cNvPr>
              <p:cNvSpPr/>
              <p:nvPr/>
            </p:nvSpPr>
            <p:spPr bwMode="auto">
              <a:xfrm>
                <a:off x="8172400" y="3501008"/>
                <a:ext cx="432048" cy="36004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3301F9-AB3D-4A05-BD96-550CEAD13416}"/>
                </a:ext>
              </a:extLst>
            </p:cNvPr>
            <p:cNvSpPr/>
            <p:nvPr/>
          </p:nvSpPr>
          <p:spPr bwMode="auto">
            <a:xfrm>
              <a:off x="3707904" y="6165304"/>
              <a:ext cx="432048" cy="3600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0E2D49-120F-4AF6-916D-B9B84342CEC0}"/>
              </a:ext>
            </a:extLst>
          </p:cNvPr>
          <p:cNvGrpSpPr/>
          <p:nvPr/>
        </p:nvGrpSpPr>
        <p:grpSpPr>
          <a:xfrm>
            <a:off x="5390794" y="4676317"/>
            <a:ext cx="2118429" cy="1368152"/>
            <a:chOff x="5580112" y="4221088"/>
            <a:chExt cx="3456384" cy="223224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92A909-2873-4ED7-B865-CB056A149E76}"/>
                </a:ext>
              </a:extLst>
            </p:cNvPr>
            <p:cNvSpPr/>
            <p:nvPr/>
          </p:nvSpPr>
          <p:spPr bwMode="auto">
            <a:xfrm>
              <a:off x="6444208" y="4221088"/>
              <a:ext cx="432048" cy="3600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B0A1AD1-3AB5-4B50-A3A8-A994214309F7}"/>
                </a:ext>
              </a:extLst>
            </p:cNvPr>
            <p:cNvSpPr/>
            <p:nvPr/>
          </p:nvSpPr>
          <p:spPr bwMode="auto">
            <a:xfrm>
              <a:off x="5580112" y="5733256"/>
              <a:ext cx="432048" cy="3600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762E7E-8CE8-4FA9-91AF-C23E389A381C}"/>
                </a:ext>
              </a:extLst>
            </p:cNvPr>
            <p:cNvSpPr/>
            <p:nvPr/>
          </p:nvSpPr>
          <p:spPr bwMode="auto">
            <a:xfrm>
              <a:off x="8460432" y="4293096"/>
              <a:ext cx="432048" cy="3600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064C816-1E06-4A00-AE4B-EF2CFA1549A3}"/>
                </a:ext>
              </a:extLst>
            </p:cNvPr>
            <p:cNvCxnSpPr>
              <a:stCxn id="11" idx="0"/>
              <a:endCxn id="10" idx="4"/>
            </p:cNvCxnSpPr>
            <p:nvPr/>
          </p:nvCxnSpPr>
          <p:spPr bwMode="auto">
            <a:xfrm flipV="1">
              <a:off x="5796136" y="4581128"/>
              <a:ext cx="864096" cy="11521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EBA6CC-F3F4-4D82-8E4A-FCC887ED52F3}"/>
                </a:ext>
              </a:extLst>
            </p:cNvPr>
            <p:cNvCxnSpPr>
              <a:stCxn id="11" idx="6"/>
              <a:endCxn id="12" idx="4"/>
            </p:cNvCxnSpPr>
            <p:nvPr/>
          </p:nvCxnSpPr>
          <p:spPr bwMode="auto">
            <a:xfrm flipV="1">
              <a:off x="6012160" y="4653136"/>
              <a:ext cx="2664296" cy="12601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B23518-87C4-414C-B8B4-19D4438969F0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 bwMode="auto">
            <a:xfrm>
              <a:off x="6876256" y="4401108"/>
              <a:ext cx="1584176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2F1B285-A884-47D2-9F46-27E20926F47F}"/>
                </a:ext>
              </a:extLst>
            </p:cNvPr>
            <p:cNvSpPr/>
            <p:nvPr/>
          </p:nvSpPr>
          <p:spPr bwMode="auto">
            <a:xfrm>
              <a:off x="8604448" y="6093296"/>
              <a:ext cx="432048" cy="3600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D03C3C-6485-4BAC-9BAB-5331DE933027}"/>
                </a:ext>
              </a:extLst>
            </p:cNvPr>
            <p:cNvCxnSpPr>
              <a:stCxn id="11" idx="5"/>
              <a:endCxn id="17" idx="2"/>
            </p:cNvCxnSpPr>
            <p:nvPr/>
          </p:nvCxnSpPr>
          <p:spPr bwMode="auto">
            <a:xfrm>
              <a:off x="5948888" y="6040569"/>
              <a:ext cx="2655560" cy="2327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CAD3F1-7E3A-44FC-BC66-00ACD9F2AAC1}"/>
                </a:ext>
              </a:extLst>
            </p:cNvPr>
            <p:cNvCxnSpPr>
              <a:endCxn id="17" idx="0"/>
            </p:cNvCxnSpPr>
            <p:nvPr/>
          </p:nvCxnSpPr>
          <p:spPr bwMode="auto">
            <a:xfrm>
              <a:off x="8820472" y="4581128"/>
              <a:ext cx="0" cy="15121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6E5F957-64B7-468F-AD16-8D3CA1795009}"/>
                </a:ext>
              </a:extLst>
            </p:cNvPr>
            <p:cNvCxnSpPr>
              <a:stCxn id="10" idx="5"/>
              <a:endCxn id="17" idx="1"/>
            </p:cNvCxnSpPr>
            <p:nvPr/>
          </p:nvCxnSpPr>
          <p:spPr bwMode="auto">
            <a:xfrm>
              <a:off x="6812984" y="4528401"/>
              <a:ext cx="1854736" cy="16176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F13D3AE-8C5F-40B0-8B74-76C4449CF65A}"/>
              </a:ext>
            </a:extLst>
          </p:cNvPr>
          <p:cNvSpPr/>
          <p:nvPr/>
        </p:nvSpPr>
        <p:spPr bwMode="auto">
          <a:xfrm>
            <a:off x="4327703" y="4984890"/>
            <a:ext cx="1137140" cy="600393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natural 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5229200"/>
            <a:ext cx="6635824" cy="562000"/>
          </a:xfrm>
        </p:spPr>
        <p:txBody>
          <a:bodyPr/>
          <a:lstStyle/>
          <a:p>
            <a:pPr>
              <a:buNone/>
            </a:pPr>
            <a:r>
              <a:rPr lang="en-GB" i="1" dirty="0"/>
              <a:t>From: </a:t>
            </a:r>
            <a:r>
              <a:rPr lang="en-GB" i="1" dirty="0" err="1"/>
              <a:t>Delling</a:t>
            </a:r>
            <a:r>
              <a:rPr lang="en-GB" i="1" dirty="0"/>
              <a:t>, Goldberg, </a:t>
            </a:r>
            <a:r>
              <a:rPr lang="en-GB" i="1" dirty="0" err="1"/>
              <a:t>Razenshteyn</a:t>
            </a:r>
            <a:r>
              <a:rPr lang="en-GB" i="1" dirty="0"/>
              <a:t>, </a:t>
            </a:r>
            <a:r>
              <a:rPr lang="en-GB" i="1" dirty="0" err="1"/>
              <a:t>Werneck</a:t>
            </a:r>
            <a:r>
              <a:rPr lang="en-GB" i="1" dirty="0"/>
              <a:t>.</a:t>
            </a:r>
          </a:p>
          <a:p>
            <a:pPr>
              <a:buNone/>
            </a:pPr>
            <a:r>
              <a:rPr lang="en-GB" i="1" dirty="0"/>
              <a:t>Graph Partitioning with Natural Cuts.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700808"/>
            <a:ext cx="6760096" cy="3527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Application of flow with lower bounds: the consistent matrix rounding problem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nl-NL" u="sng" dirty="0"/>
                  <a:t>Input</a:t>
                </a:r>
                <a:r>
                  <a:rPr lang="en-US" altLang="nl-NL" dirty="0"/>
                  <a:t>: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A</a:t>
                </a:r>
                <a:r>
                  <a:rPr lang="en-US" altLang="nl-NL" i="1" dirty="0"/>
                  <a:t>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nl-NL" dirty="0"/>
                  <a:t> matrix of real numbers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nl-NL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endParaRPr lang="en-US" altLang="nl-NL" dirty="0"/>
              </a:p>
              <a:p>
                <a:pPr>
                  <a:lnSpc>
                    <a:spcPct val="90000"/>
                  </a:lnSpc>
                </a:pPr>
                <a:r>
                  <a:rPr lang="en-US" altLang="nl-NL" dirty="0"/>
                  <a:t>Row sums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nl-NL" dirty="0"/>
                  <a:t> and column sums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nl-NL" dirty="0"/>
                  <a:t> (these follow from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nl-NL" dirty="0"/>
                  <a:t>)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nl-NL" u="sng" dirty="0"/>
                  <a:t>Question</a:t>
                </a:r>
                <a:r>
                  <a:rPr lang="en-US" altLang="nl-NL" dirty="0"/>
                  <a:t>: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nl-NL" dirty="0"/>
                  <a:t>Find a</a:t>
                </a:r>
                <a:r>
                  <a:rPr lang="en-US" altLang="nl-NL" b="1" dirty="0"/>
                  <a:t>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consistent rounding</a:t>
                </a:r>
                <a:r>
                  <a:rPr lang="en-US" altLang="nl-NL" dirty="0"/>
                  <a:t> of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nl-NL" dirty="0"/>
                  <a:t>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Round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nl-NL" baseline="-25000" dirty="0"/>
                  <a:t>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up </a:t>
                </a:r>
                <a:r>
                  <a:rPr lang="en-US" altLang="nl-NL" dirty="0"/>
                  <a:t>or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 down </a:t>
                </a:r>
                <a:r>
                  <a:rPr lang="en-US" altLang="nl-NL" dirty="0"/>
                  <a:t>to an integer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Every row sum and column sum must equal the rounded sum of the same row/column of the original matrix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nl-NL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nl-NL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u="sng" dirty="0"/>
                  <a:t>Solution</a:t>
                </a:r>
                <a:r>
                  <a:rPr lang="en-US" dirty="0"/>
                  <a:t>: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Model this as an (integer) flow problem with lower and upper bounds on flow through edges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Computing (integer) flows respecting lower and upper bounds will be discussed hereafter</a:t>
                </a:r>
              </a:p>
            </p:txBody>
          </p:sp>
        </mc:Choice>
        <mc:Fallback xmlns="">
          <p:sp>
            <p:nvSpPr>
              <p:cNvPr id="2458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648" t="-1385" r="-1297" b="-384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2" name="Text Box 1035"/>
          <p:cNvSpPr txBox="1">
            <a:spLocks noChangeArrowheads="1"/>
          </p:cNvSpPr>
          <p:nvPr/>
        </p:nvSpPr>
        <p:spPr bwMode="auto">
          <a:xfrm>
            <a:off x="1846969" y="1819386"/>
            <a:ext cx="8579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800" i="0" dirty="0"/>
              <a:t>[16,17]</a:t>
            </a:r>
            <a:endParaRPr lang="nl-NL" altLang="nl-NL" sz="1800" i="0" dirty="0"/>
          </a:p>
        </p:txBody>
      </p:sp>
      <p:sp>
        <p:nvSpPr>
          <p:cNvPr id="25613" name="Text Box 1036"/>
          <p:cNvSpPr txBox="1">
            <a:spLocks noChangeArrowheads="1"/>
          </p:cNvSpPr>
          <p:nvPr/>
        </p:nvSpPr>
        <p:spPr bwMode="auto">
          <a:xfrm>
            <a:off x="1163092" y="471165"/>
            <a:ext cx="322075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400" dirty="0">
                <a:latin typeface="+mn-lt"/>
              </a:rPr>
              <a:t>Lower and upper bounds on flow: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400" dirty="0">
                <a:latin typeface="+mn-lt"/>
              </a:rPr>
              <a:t>[Row sum rounded down,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400" dirty="0">
                <a:latin typeface="+mn-lt"/>
              </a:rPr>
              <a:t>Row sum rounded up]</a:t>
            </a:r>
            <a:endParaRPr lang="nl-NL" altLang="nl-NL" sz="1400" dirty="0">
              <a:latin typeface="+mn-lt"/>
            </a:endParaRPr>
          </a:p>
        </p:txBody>
      </p:sp>
      <p:sp>
        <p:nvSpPr>
          <p:cNvPr id="25615" name="Text Box 1038"/>
          <p:cNvSpPr txBox="1">
            <a:spLocks noChangeArrowheads="1"/>
          </p:cNvSpPr>
          <p:nvPr/>
        </p:nvSpPr>
        <p:spPr bwMode="auto">
          <a:xfrm>
            <a:off x="5004048" y="722281"/>
            <a:ext cx="4194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400" dirty="0">
                <a:latin typeface="+mj-lt"/>
              </a:rPr>
              <a:t>[Column sum rounded down,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400" dirty="0">
                <a:latin typeface="+mj-lt"/>
              </a:rPr>
              <a:t>Column sum rounded up]</a:t>
            </a:r>
            <a:endParaRPr lang="nl-NL" altLang="nl-NL" sz="1400" dirty="0"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531F64-10DD-4240-A0DC-DEC59AD111EE}"/>
              </a:ext>
            </a:extLst>
          </p:cNvPr>
          <p:cNvGrpSpPr/>
          <p:nvPr/>
        </p:nvGrpSpPr>
        <p:grpSpPr>
          <a:xfrm>
            <a:off x="1514582" y="1262608"/>
            <a:ext cx="6859587" cy="4038600"/>
            <a:chOff x="1217613" y="1066800"/>
            <a:chExt cx="6859587" cy="4038600"/>
          </a:xfrm>
        </p:grpSpPr>
        <p:sp>
          <p:nvSpPr>
            <p:cNvPr id="25604" name="Oval 1027"/>
            <p:cNvSpPr>
              <a:spLocks noChangeArrowheads="1"/>
            </p:cNvSpPr>
            <p:nvPr/>
          </p:nvSpPr>
          <p:spPr bwMode="auto">
            <a:xfrm>
              <a:off x="7467600" y="29718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>
                  <a:solidFill>
                    <a:schemeClr val="bg1"/>
                  </a:solidFill>
                </a:rPr>
                <a:t>t</a:t>
              </a:r>
              <a:endParaRPr lang="nl-NL" altLang="nl-NL" sz="2400">
                <a:solidFill>
                  <a:schemeClr val="bg1"/>
                </a:solidFill>
              </a:endParaRPr>
            </a:p>
          </p:txBody>
        </p:sp>
        <p:sp>
          <p:nvSpPr>
            <p:cNvPr id="25605" name="Oval 1028"/>
            <p:cNvSpPr>
              <a:spLocks noChangeArrowheads="1"/>
            </p:cNvSpPr>
            <p:nvPr/>
          </p:nvSpPr>
          <p:spPr bwMode="auto">
            <a:xfrm>
              <a:off x="2743200" y="10668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 dirty="0"/>
                <a:t>Row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 dirty="0"/>
                <a:t>1</a:t>
              </a:r>
              <a:endParaRPr lang="nl-NL" altLang="nl-NL" sz="1600" dirty="0"/>
            </a:p>
          </p:txBody>
        </p:sp>
        <p:sp>
          <p:nvSpPr>
            <p:cNvPr id="25606" name="Oval 1029"/>
            <p:cNvSpPr>
              <a:spLocks noChangeArrowheads="1"/>
            </p:cNvSpPr>
            <p:nvPr/>
          </p:nvSpPr>
          <p:spPr bwMode="auto">
            <a:xfrm>
              <a:off x="2819400" y="44196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 dirty="0"/>
                <a:t>Row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 dirty="0"/>
                <a:t>p</a:t>
              </a:r>
              <a:endParaRPr lang="nl-NL" altLang="nl-NL" sz="1600" dirty="0"/>
            </a:p>
          </p:txBody>
        </p:sp>
        <p:sp>
          <p:nvSpPr>
            <p:cNvPr id="25607" name="Line 1030"/>
            <p:cNvSpPr>
              <a:spLocks noChangeShapeType="1"/>
            </p:cNvSpPr>
            <p:nvPr/>
          </p:nvSpPr>
          <p:spPr bwMode="auto">
            <a:xfrm>
              <a:off x="3048000" y="1981200"/>
              <a:ext cx="0" cy="2057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8" name="Line 1031"/>
            <p:cNvSpPr>
              <a:spLocks noChangeShapeType="1"/>
            </p:cNvSpPr>
            <p:nvPr/>
          </p:nvSpPr>
          <p:spPr bwMode="auto">
            <a:xfrm>
              <a:off x="5638800" y="2133600"/>
              <a:ext cx="0" cy="2057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9" name="Oval 1032"/>
            <p:cNvSpPr>
              <a:spLocks noChangeArrowheads="1"/>
            </p:cNvSpPr>
            <p:nvPr/>
          </p:nvSpPr>
          <p:spPr bwMode="auto">
            <a:xfrm>
              <a:off x="5334000" y="11430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 dirty="0"/>
                <a:t>Col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 dirty="0"/>
                <a:t>1</a:t>
              </a:r>
              <a:endParaRPr lang="nl-NL" altLang="nl-NL" sz="1600" dirty="0"/>
            </a:p>
          </p:txBody>
        </p:sp>
        <p:sp>
          <p:nvSpPr>
            <p:cNvPr id="25610" name="Oval 1033"/>
            <p:cNvSpPr>
              <a:spLocks noChangeArrowheads="1"/>
            </p:cNvSpPr>
            <p:nvPr/>
          </p:nvSpPr>
          <p:spPr bwMode="auto">
            <a:xfrm>
              <a:off x="5334000" y="44958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/>
                <a:t>Col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1600"/>
                <a:t>q</a:t>
              </a:r>
              <a:endParaRPr lang="nl-NL" altLang="nl-NL" sz="1600"/>
            </a:p>
          </p:txBody>
        </p:sp>
        <p:sp>
          <p:nvSpPr>
            <p:cNvPr id="25611" name="Line 1034"/>
            <p:cNvSpPr>
              <a:spLocks noChangeShapeType="1"/>
            </p:cNvSpPr>
            <p:nvPr/>
          </p:nvSpPr>
          <p:spPr bwMode="auto">
            <a:xfrm flipV="1">
              <a:off x="1676400" y="1600200"/>
              <a:ext cx="1066800" cy="1447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6" name="Line 1039"/>
            <p:cNvSpPr>
              <a:spLocks noChangeShapeType="1"/>
            </p:cNvSpPr>
            <p:nvPr/>
          </p:nvSpPr>
          <p:spPr bwMode="auto">
            <a:xfrm>
              <a:off x="5791200" y="1676400"/>
              <a:ext cx="1752600" cy="1371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7" name="Line 1040"/>
            <p:cNvSpPr>
              <a:spLocks noChangeShapeType="1"/>
            </p:cNvSpPr>
            <p:nvPr/>
          </p:nvSpPr>
          <p:spPr bwMode="auto">
            <a:xfrm flipV="1">
              <a:off x="5943600" y="3429000"/>
              <a:ext cx="1600200" cy="1143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8" name="Line 1041"/>
            <p:cNvSpPr>
              <a:spLocks noChangeShapeType="1"/>
            </p:cNvSpPr>
            <p:nvPr/>
          </p:nvSpPr>
          <p:spPr bwMode="auto">
            <a:xfrm>
              <a:off x="1676400" y="3429000"/>
              <a:ext cx="121920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9" name="Line 1042"/>
            <p:cNvSpPr>
              <a:spLocks noChangeShapeType="1"/>
            </p:cNvSpPr>
            <p:nvPr/>
          </p:nvSpPr>
          <p:spPr bwMode="auto">
            <a:xfrm>
              <a:off x="3276600" y="1905000"/>
              <a:ext cx="2057400" cy="152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1" name="Oval 1026"/>
            <p:cNvSpPr>
              <a:spLocks noChangeArrowheads="1"/>
            </p:cNvSpPr>
            <p:nvPr/>
          </p:nvSpPr>
          <p:spPr bwMode="auto">
            <a:xfrm>
              <a:off x="1217613" y="29718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>
                  <a:solidFill>
                    <a:schemeClr val="bg1"/>
                  </a:solidFill>
                </a:rPr>
                <a:t>s</a:t>
              </a:r>
              <a:endParaRPr lang="nl-NL" altLang="nl-NL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Text Box 1035">
            <a:extLst>
              <a:ext uri="{FF2B5EF4-FFF2-40B4-BE49-F238E27FC236}">
                <a16:creationId xmlns:a16="http://schemas.microsoft.com/office/drawing/2014/main" id="{4A01C093-64B4-4572-B468-904DD3CB1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69" y="1945424"/>
            <a:ext cx="8579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NL" sz="1800" i="0" dirty="0"/>
              <a:t>[12,13]</a:t>
            </a:r>
            <a:endParaRPr lang="nl-NL" altLang="nl-NL" sz="1800" i="0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423B96B3-48E0-4B9A-8A12-F268EE6472D9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5445224"/>
            <a:ext cx="7391400" cy="609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nl-NL" sz="1800" u="sng" dirty="0"/>
              <a:t>Note</a:t>
            </a:r>
            <a:r>
              <a:rPr lang="en-US" altLang="nl-NL" sz="1800" dirty="0"/>
              <a:t>: we do not need a maximum flow. Finding any feasible integer flow solves the matrix rounding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083FC1-E437-4343-80E2-256EDAF038A9}"/>
                  </a:ext>
                </a:extLst>
              </p:cNvPr>
              <p:cNvSpPr txBox="1"/>
              <p:nvPr/>
            </p:nvSpPr>
            <p:spPr>
              <a:xfrm>
                <a:off x="3481278" y="3386570"/>
                <a:ext cx="2149691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nl-N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nl-NL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nl-NL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083FC1-E437-4343-80E2-256EDAF03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278" y="3386570"/>
                <a:ext cx="2149691" cy="283667"/>
              </a:xfrm>
              <a:prstGeom prst="rect">
                <a:avLst/>
              </a:prstGeom>
              <a:blipFill>
                <a:blip r:embed="rId3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Flows and Matchings – Advanced Algorithms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PREFLOW-PUSH ALGORITHMS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00355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The preflow-push algorithm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pPr eaLnBrk="1" hangingPunct="1"/>
                <a:r>
                  <a:rPr lang="en-US" altLang="nl-NL" dirty="0"/>
                  <a:t>Also known as ‘Push-Relabel’ algorithm</a:t>
                </a:r>
              </a:p>
              <a:p>
                <a:pPr eaLnBrk="1" hangingPunct="1"/>
                <a:r>
                  <a:rPr lang="en-US" altLang="nl-NL" dirty="0"/>
                  <a:t>Standard implementation: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Edmonds-Karp: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𝑛𝑚</m:t>
                        </m:r>
                        <m:r>
                          <a:rPr lang="en-US" altLang="nl-NL" i="1" baseline="300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End of lecture: Adjustment to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nl-NL" i="1" baseline="30000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altLang="nl-NL" dirty="0"/>
                  <a:t> or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nl-NL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nl-NL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nl-NL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nl-NL" dirty="0"/>
                  <a:t> (Goldberg)</a:t>
                </a:r>
              </a:p>
              <a:p>
                <a:pPr lvl="1"/>
                <a:endParaRPr lang="en-US" altLang="nl-NL" sz="800" dirty="0"/>
              </a:p>
              <a:p>
                <a:pPr eaLnBrk="1" hangingPunct="1"/>
                <a:r>
                  <a:rPr lang="en-US" altLang="nl-NL" dirty="0"/>
                  <a:t>Algorithm maintains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preflow</a:t>
                </a:r>
                <a:r>
                  <a:rPr lang="en-US" altLang="nl-NL" dirty="0"/>
                  <a:t>: </a:t>
                </a:r>
              </a:p>
              <a:p>
                <a:pPr lvl="1"/>
                <a:r>
                  <a:rPr lang="en-US" altLang="nl-NL" dirty="0"/>
                  <a:t>Flow function that allows to spill flow at vertices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so that not all flow out of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reaches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nl-NL" dirty="0"/>
              </a:p>
              <a:p>
                <a:r>
                  <a:rPr lang="en-US" altLang="nl-NL" dirty="0"/>
                  <a:t>Vertices have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heights</a:t>
                </a:r>
                <a:r>
                  <a:rPr lang="en-US" altLang="nl-NL" dirty="0"/>
                  <a:t> that determine how we can push flow</a:t>
                </a:r>
              </a:p>
              <a:p>
                <a:pPr lvl="1"/>
                <a:endParaRPr lang="en-US" altLang="nl-NL" sz="800" dirty="0"/>
              </a:p>
              <a:p>
                <a:r>
                  <a:rPr lang="en-US" altLang="nl-NL" dirty="0"/>
                  <a:t>General idea:</a:t>
                </a:r>
              </a:p>
              <a:p>
                <a:pPr lvl="1"/>
                <a:r>
                  <a:rPr lang="en-US" altLang="nl-NL" dirty="0"/>
                  <a:t>Push preflow maximally out of the source vertex</a:t>
                </a:r>
              </a:p>
              <a:p>
                <a:pPr lvl="1"/>
                <a:r>
                  <a:rPr lang="en-US" altLang="nl-NL" dirty="0"/>
                  <a:t>Then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push</a:t>
                </a:r>
                <a:r>
                  <a:rPr lang="en-US" altLang="nl-NL" dirty="0"/>
                  <a:t> the flow further or perform vertex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lifting </a:t>
                </a:r>
                <a:r>
                  <a:rPr lang="en-US" altLang="nl-NL" dirty="0"/>
                  <a:t>(relabeling)</a:t>
                </a:r>
              </a:p>
              <a:p>
                <a:pPr lvl="1"/>
                <a:r>
                  <a:rPr lang="en-US" altLang="nl-NL" dirty="0"/>
                  <a:t>The maximum amount of flow is pushed to the sink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All other preflow is pushed back to the source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nl-NL" dirty="0"/>
              </a:p>
            </p:txBody>
          </p:sp>
        </mc:Choice>
        <mc:Fallback xmlns="">
          <p:sp>
            <p:nvSpPr>
              <p:cNvPr id="3072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3"/>
                <a:stretch>
                  <a:fillRect l="-162" t="-769" r="-1297" b="-969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7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Preflow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r>
                  <a:rPr lang="en-US" altLang="nl-NL" dirty="0"/>
                  <a:t>A </a:t>
                </a:r>
                <a:r>
                  <a:rPr lang="en-US" altLang="nl-NL" b="1" dirty="0"/>
                  <a:t>preflow</a:t>
                </a:r>
                <a:r>
                  <a:rPr lang="en-US" altLang="nl-NL" dirty="0"/>
                  <a:t> is a function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altLang="nl-NL" dirty="0"/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nl-NL" dirty="0"/>
                  <a:t>) that satisfies:</a:t>
                </a:r>
              </a:p>
              <a:p>
                <a:pPr lvl="1" eaLnBrk="1" hangingPunct="1"/>
                <a:r>
                  <a:rPr lang="en-US" altLang="nl-NL" dirty="0">
                    <a:solidFill>
                      <a:srgbClr val="C00000"/>
                    </a:solidFill>
                  </a:rPr>
                  <a:t>Capacity constraints</a:t>
                </a:r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Non-deficiency</a:t>
                </a:r>
                <a:r>
                  <a:rPr lang="en-US" altLang="nl-NL" b="1" dirty="0"/>
                  <a:t>: </a:t>
                </a:r>
                <a:r>
                  <a:rPr lang="en-US" altLang="nl-NL" dirty="0"/>
                  <a:t>For every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nl-NL" dirty="0">
                    <a:ea typeface="Cambria Math" panose="02040503050406030204" pitchFamily="18" charset="0"/>
                  </a:rPr>
                  <a:t> the excess flow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nl-NL" dirty="0"/>
                  <a:t> </a:t>
                </a:r>
                <a:endParaRPr lang="en-US" altLang="nl-NL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nl-NL" dirty="0"/>
              </a:p>
              <a:p>
                <a:r>
                  <a:rPr lang="en-US" altLang="nl-NL" dirty="0"/>
                  <a:t>The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excess flow </a:t>
                </a:r>
                <a:r>
                  <a:rPr lang="en-US" altLang="nl-NL" dirty="0"/>
                  <a:t>of vertex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US" alt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\{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nl-NL" dirty="0"/>
                  <a:t> is: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nl-NL" i="1" dirty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nl-NL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nl-NL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nl-NL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nl-NL" b="0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nl-NL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nl-NL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When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nl-NL" dirty="0"/>
                  <a:t> then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is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overflowing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and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 never overflow: they produce or consume the flow</a:t>
                </a:r>
                <a:endParaRPr lang="en-US" altLang="nl-NL" dirty="0">
                  <a:solidFill>
                    <a:srgbClr val="C00000"/>
                  </a:solidFill>
                </a:endParaRPr>
              </a:p>
              <a:p>
                <a:endParaRPr lang="en-US" altLang="nl-NL" dirty="0"/>
              </a:p>
              <a:p>
                <a:r>
                  <a:rPr lang="en-US" altLang="nl-NL" dirty="0"/>
                  <a:t>For a preflow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the residual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nl-NL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is defined identically as for normal flow functions</a:t>
                </a:r>
              </a:p>
              <a:p>
                <a:pPr marL="0" indent="0">
                  <a:buNone/>
                </a:pPr>
                <a:endParaRPr lang="en-US" altLang="nl-NL" dirty="0"/>
              </a:p>
            </p:txBody>
          </p:sp>
        </mc:Choice>
        <mc:Fallback xmlns="">
          <p:sp>
            <p:nvSpPr>
              <p:cNvPr id="3174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3"/>
                <a:stretch>
                  <a:fillRect l="-157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Height function</a:t>
            </a:r>
            <a:endParaRPr lang="nl-NL" alt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r>
                  <a:rPr lang="en-GB" altLang="nl-NL" dirty="0"/>
                  <a:t>The algorithm maintains vertex heights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alt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GB" altLang="nl-NL" dirty="0"/>
              </a:p>
              <a:p>
                <a:pPr lvl="1"/>
                <a:r>
                  <a:rPr lang="en-GB" altLang="nl-NL" dirty="0"/>
                  <a:t>The source is fixed at height n, the sink is fixed at height 0</a:t>
                </a:r>
              </a:p>
              <a:p>
                <a:pPr lvl="2"/>
                <a:r>
                  <a:rPr lang="en-GB" altLang="nl-NL" dirty="0"/>
                  <a:t>I.e.,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nl-NL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altLang="nl-NL" dirty="0"/>
              </a:p>
              <a:p>
                <a:pPr lvl="1"/>
                <a:r>
                  <a:rPr lang="en-GB" altLang="nl-NL" dirty="0"/>
                  <a:t>All other vertices start at height 0</a:t>
                </a:r>
              </a:p>
              <a:p>
                <a:endParaRPr lang="en-GB" altLang="nl-NL" sz="1000" dirty="0"/>
              </a:p>
              <a:p>
                <a:pPr marL="0" indent="0">
                  <a:buNone/>
                </a:pPr>
                <a:r>
                  <a:rPr lang="en-GB" altLang="nl-NL" b="1" dirty="0"/>
                  <a:t>Invariant</a:t>
                </a:r>
                <a:r>
                  <a:rPr lang="en-GB" altLang="nl-NL" dirty="0"/>
                  <a:t>: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altLang="nl-NL" dirty="0"/>
                  <a:t>Given the current preflow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nl-NL" dirty="0"/>
                  <a:t> consider the residual network. </a:t>
                </a:r>
                <a:br>
                  <a:rPr lang="en-GB" altLang="nl-NL" dirty="0"/>
                </a:br>
                <a:r>
                  <a:rPr lang="en-GB" altLang="nl-NL" dirty="0"/>
                  <a:t>For all arcs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nl-NL" dirty="0"/>
                  <a:t>:</a:t>
                </a:r>
                <a14:m>
                  <m:oMath xmlns:m="http://schemas.openxmlformats.org/officeDocument/2006/math">
                    <m:r>
                      <a:rPr lang="en-GB" altLang="nl-NL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altLang="nl-NL" dirty="0"/>
              </a:p>
              <a:p>
                <a:pPr lvl="1"/>
                <a:r>
                  <a:rPr lang="en-GB" altLang="nl-NL" dirty="0"/>
                  <a:t>In words: arcs in the residual network go down at most one </a:t>
                </a:r>
                <a:br>
                  <a:rPr lang="en-GB" altLang="nl-NL" dirty="0"/>
                </a:br>
                <a:r>
                  <a:rPr lang="en-GB" altLang="nl-NL" dirty="0"/>
                  <a:t>(or they go up, or they are between same height vertices)</a:t>
                </a:r>
              </a:p>
              <a:p>
                <a:pPr lvl="1"/>
                <a:r>
                  <a:rPr lang="en-GB" altLang="nl-NL" dirty="0"/>
                  <a:t>The algorithm pushes flow down (details later): always one down!</a:t>
                </a:r>
              </a:p>
              <a:p>
                <a:pPr lvl="1"/>
                <a:endParaRPr lang="en-GB" altLang="nl-NL" dirty="0"/>
              </a:p>
              <a:p>
                <a:r>
                  <a:rPr lang="en-GB" altLang="nl-NL" dirty="0"/>
                  <a:t>This invariant has a nice direct consequence…</a:t>
                </a:r>
              </a:p>
            </p:txBody>
          </p:sp>
        </mc:Choice>
        <mc:Fallback xmlns="">
          <p:sp>
            <p:nvSpPr>
              <p:cNvPr id="3277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2"/>
                <a:stretch>
                  <a:fillRect l="-627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When a preflow satisfies the height-invariant and becomes a flow…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altLang="nl-NL" b="1" dirty="0"/>
                  <a:t>Consequence of invariant:</a:t>
                </a:r>
              </a:p>
              <a:p>
                <a:r>
                  <a:rPr lang="en-GB" altLang="nl-NL" dirty="0"/>
                  <a:t>There is no path in </a:t>
                </a:r>
                <a:r>
                  <a:rPr lang="en-GB" altLang="nl-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</a:t>
                </a:r>
                <a:r>
                  <a:rPr lang="en-GB" altLang="nl-NL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</a:t>
                </a:r>
                <a:r>
                  <a:rPr lang="en-GB" altLang="nl-NL" dirty="0"/>
                  <a:t>  from </a:t>
                </a:r>
                <a:r>
                  <a:rPr lang="en-GB" altLang="nl-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GB" altLang="nl-NL" dirty="0"/>
                  <a:t> to </a:t>
                </a:r>
                <a:r>
                  <a:rPr lang="en-GB" altLang="nl-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</a:p>
              <a:p>
                <a:pPr lvl="1"/>
                <a:r>
                  <a:rPr lang="en-GB" altLang="nl-NL" dirty="0"/>
                  <a:t>The height difference between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altLang="nl-NL" dirty="0"/>
                  <a:t> and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altLang="nl-NL" dirty="0"/>
                  <a:t> is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nl-NL" dirty="0"/>
                  <a:t>, while the height decreases by at most one across each of the at most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altLang="nl-NL" dirty="0"/>
                  <a:t> edges of such a path</a:t>
                </a:r>
              </a:p>
              <a:p>
                <a:r>
                  <a:rPr lang="en-GB" altLang="nl-NL" dirty="0"/>
                  <a:t>Therefore, when the preflow becomes a flow (through pushing and lifting) it is a maximum flow:</a:t>
                </a:r>
                <a:endParaRPr lang="en-GB" altLang="nl-NL" i="1" dirty="0"/>
              </a:p>
              <a:p>
                <a:pPr lvl="1"/>
                <a:r>
                  <a:rPr lang="en-GB" altLang="nl-NL" dirty="0"/>
                  <a:t>As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altLang="nl-NL" i="1" baseline="-2500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nl-NL" dirty="0"/>
                  <a:t> has no path from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altLang="nl-NL" dirty="0"/>
                  <a:t> to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altLang="nl-NL" dirty="0"/>
                  <a:t>,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nl-NL" dirty="0"/>
                  <a:t> is a </a:t>
                </a:r>
                <a:r>
                  <a:rPr lang="en-GB" altLang="nl-NL" b="1" dirty="0">
                    <a:solidFill>
                      <a:srgbClr val="C00000"/>
                    </a:solidFill>
                  </a:rPr>
                  <a:t>maximum flow</a:t>
                </a:r>
              </a:p>
              <a:p>
                <a:pPr lvl="1"/>
                <a:endParaRPr lang="en-GB" altLang="nl-NL" sz="1200" dirty="0"/>
              </a:p>
              <a:p>
                <a:r>
                  <a:rPr lang="en-GB" altLang="nl-NL" u="sng" dirty="0"/>
                  <a:t>In other words</a:t>
                </a:r>
                <a:r>
                  <a:rPr lang="en-GB" altLang="nl-NL" dirty="0"/>
                  <a:t>: the goal of pushing and lifting is to push the maximum amount of flow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nl-NL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GB" altLang="nl-NL" dirty="0"/>
                  <a:t> and the rest or back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nl-NL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GB" altLang="nl-NL" dirty="0"/>
              </a:p>
              <a:p>
                <a:pPr lvl="1"/>
                <a:r>
                  <a:rPr lang="en-GB" altLang="nl-NL" dirty="0"/>
                  <a:t>Eliminating all excess flow…</a:t>
                </a:r>
              </a:p>
              <a:p>
                <a:pPr lvl="1"/>
                <a:r>
                  <a:rPr lang="en-GB" altLang="nl-NL" dirty="0"/>
                  <a:t>..while respecting the invariant</a:t>
                </a:r>
              </a:p>
              <a:p>
                <a:pPr lvl="1"/>
                <a:endParaRPr lang="en-GB" altLang="nl-NL" sz="1050" dirty="0"/>
              </a:p>
              <a:p>
                <a:r>
                  <a:rPr lang="en-GB" altLang="nl-NL" dirty="0"/>
                  <a:t>Next: the details of the algorithm</a:t>
                </a:r>
              </a:p>
            </p:txBody>
          </p:sp>
        </mc:Choice>
        <mc:Fallback xmlns="">
          <p:sp>
            <p:nvSpPr>
              <p:cNvPr id="3891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60" t="-769" b="-11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8576-10BF-4AE6-B5B5-2D26625C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Initially: p</a:t>
            </a:r>
            <a:r>
              <a:rPr lang="en-US" altLang="nl-NL" dirty="0"/>
              <a:t>ush preflow maximally </a:t>
            </a:r>
            <a:br>
              <a:rPr lang="en-US" altLang="nl-NL" dirty="0"/>
            </a:br>
            <a:r>
              <a:rPr lang="en-US" altLang="nl-NL" dirty="0"/>
              <a:t>out of the source vertex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EDFEF-DC54-4D39-B137-D9832C005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664896" cy="3962400"/>
              </a:xfrm>
            </p:spPr>
            <p:txBody>
              <a:bodyPr/>
              <a:lstStyle/>
              <a:p>
                <a:r>
                  <a:rPr lang="en-US" altLang="nl-NL" dirty="0"/>
                  <a:t>Initially push flow maximally out of source vertex:</a:t>
                </a:r>
              </a:p>
              <a:p>
                <a:pPr lvl="1"/>
                <a:r>
                  <a:rPr lang="en-US" altLang="nl-NL" dirty="0"/>
                  <a:t>Set: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nl-NL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nl-NL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nl-NL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nl-NL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  <m:mr>
                            <m:e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nl-NL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Consequently, the excess flow: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nl-NL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nl-NL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altLang="nl-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nl-NL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nl-NL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nl-NL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mr>
                          <m:mr>
                            <m:e>
                              <m:r>
                                <a:rPr lang="en-US" altLang="nl-NL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nl-NL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nl-NL" dirty="0"/>
              </a:p>
              <a:p>
                <a:pPr lvl="1"/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GB" altLang="nl-NL" b="1" dirty="0"/>
                  <a:t>Check the invariant</a:t>
                </a:r>
                <a:r>
                  <a:rPr lang="en-GB" altLang="nl-NL" dirty="0"/>
                  <a:t>: For all arcs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nl-NL" dirty="0"/>
                  <a:t>:</a:t>
                </a:r>
                <a14:m>
                  <m:oMath xmlns:m="http://schemas.openxmlformats.org/officeDocument/2006/math">
                    <m:r>
                      <a:rPr lang="en-GB" altLang="nl-NL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altLang="nl-NL" dirty="0"/>
              </a:p>
              <a:p>
                <a:pPr lvl="1"/>
                <a:r>
                  <a:rPr lang="en-US" altLang="nl-NL" dirty="0"/>
                  <a:t>All arcs not involving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are between vertices with height 0</a:t>
                </a:r>
              </a:p>
              <a:p>
                <a:pPr lvl="1"/>
                <a:r>
                  <a:rPr lang="en-US" altLang="nl-NL" dirty="0"/>
                  <a:t>All residual network arcs involving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point towards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and these arcs go up (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nl-NL" dirty="0"/>
                  <a:t>)</a:t>
                </a:r>
              </a:p>
              <a:p>
                <a:endParaRPr lang="en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EDFEF-DC54-4D39-B137-D9832C005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664896" cy="3962400"/>
              </a:xfrm>
              <a:blipFill>
                <a:blip r:embed="rId2"/>
                <a:stretch>
                  <a:fillRect l="-159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81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The first basic operation: push flow</a:t>
            </a:r>
            <a:endParaRPr lang="nl-NL" altLang="nl-NL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4120480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nl-NL" b="1" dirty="0"/>
                  <a:t>Push operation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/>
                  <a:t>Push as much flow across an arc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as possible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>
                    <a:solidFill>
                      <a:srgbClr val="C00000"/>
                    </a:solidFill>
                  </a:rPr>
                  <a:t>Required: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Overflowing vertex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 &gt; 0</m:t>
                    </m:r>
                  </m:oMath>
                </a14:m>
                <a:endParaRPr lang="en-US" altLang="nl-NL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Residual-network arc to a vertex that is one lower: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endParaRPr lang="en-US" altLang="nl-NL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The arc has free capacity: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nl-NL" i="1" baseline="-25000" dirty="0" err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nl-NL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NL" dirty="0">
                    <a:solidFill>
                      <a:srgbClr val="C00000"/>
                    </a:solidFill>
                  </a:rPr>
                  <a:t>Action: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Amount of flow we can push: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nl-NL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nl-NL" i="1" baseline="-25000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altLang="nl-NL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Update preflow: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nl-NL" dirty="0"/>
                  <a:t>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nl-NL" dirty="0"/>
                  <a:t>Update excess flow: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nl-NL" dirty="0"/>
                  <a:t> and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nl-NL" altLang="nl-NL" dirty="0"/>
              </a:p>
              <a:p>
                <a:pPr>
                  <a:lnSpc>
                    <a:spcPct val="90000"/>
                  </a:lnSpc>
                </a:pPr>
                <a:endParaRPr lang="nl-NL" altLang="nl-NL" dirty="0"/>
              </a:p>
              <a:p>
                <a:pPr>
                  <a:lnSpc>
                    <a:spcPct val="90000"/>
                  </a:lnSpc>
                </a:pPr>
                <a:r>
                  <a:rPr lang="en-GB" altLang="nl-NL" u="sng" dirty="0"/>
                  <a:t>Check the invariant</a:t>
                </a:r>
                <a:r>
                  <a:rPr lang="en-GB" altLang="nl-NL" dirty="0"/>
                  <a:t>: for all arcs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nl-NL" dirty="0"/>
                  <a:t>:</a:t>
                </a:r>
                <a14:m>
                  <m:oMath xmlns:m="http://schemas.openxmlformats.org/officeDocument/2006/math">
                    <m:r>
                      <a:rPr lang="en-GB" altLang="nl-NL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altLang="nl-NL" dirty="0"/>
              </a:p>
              <a:p>
                <a:pPr lvl="1">
                  <a:lnSpc>
                    <a:spcPct val="90000"/>
                  </a:lnSpc>
                </a:pPr>
                <a:r>
                  <a:rPr lang="en-GB" altLang="nl-NL" dirty="0"/>
                  <a:t>Heights do not change. New residual network arc can be created, but height difference is enforced by pushing flow (one) down, i.e., the new arc goes (one) up</a:t>
                </a:r>
              </a:p>
              <a:p>
                <a:pPr>
                  <a:lnSpc>
                    <a:spcPct val="90000"/>
                  </a:lnSpc>
                </a:pPr>
                <a:endParaRPr lang="nl-NL" altLang="nl-NL" dirty="0"/>
              </a:p>
            </p:txBody>
          </p:sp>
        </mc:Choice>
        <mc:Fallback xmlns="">
          <p:sp>
            <p:nvSpPr>
              <p:cNvPr id="3482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4120480"/>
              </a:xfrm>
              <a:blipFill>
                <a:blip r:embed="rId2"/>
                <a:stretch>
                  <a:fillRect l="-627" t="-1331" r="-471" b="-355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The second basic operation: lift vertex</a:t>
            </a:r>
            <a:endParaRPr lang="nl-NL" altLang="nl-NL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39624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GB" altLang="nl-NL" b="1" dirty="0"/>
                  <a:t>Lift vertex operation</a:t>
                </a:r>
              </a:p>
              <a:p>
                <a:pPr eaLnBrk="1" hangingPunct="1"/>
                <a:r>
                  <a:rPr lang="en-GB" altLang="nl-NL" dirty="0"/>
                  <a:t>Lift overflowing vertex by increasing its height</a:t>
                </a:r>
              </a:p>
              <a:p>
                <a:pPr eaLnBrk="1" hangingPunct="1"/>
                <a:r>
                  <a:rPr lang="en-GB" altLang="nl-NL" dirty="0">
                    <a:solidFill>
                      <a:srgbClr val="C00000"/>
                    </a:solidFill>
                  </a:rPr>
                  <a:t>Required:</a:t>
                </a:r>
              </a:p>
              <a:p>
                <a:pPr lvl="1"/>
                <a:r>
                  <a:rPr lang="en-GB" altLang="nl-NL" dirty="0"/>
                  <a:t>Overflowing vertex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: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) &gt; 0</m:t>
                    </m:r>
                  </m:oMath>
                </a14:m>
                <a:r>
                  <a:rPr lang="en-GB" altLang="nl-NL" dirty="0"/>
                  <a:t> (so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 is not the source or sink)</a:t>
                </a:r>
              </a:p>
              <a:p>
                <a:pPr lvl="1"/>
                <a:r>
                  <a:rPr lang="en-GB" altLang="nl-NL" dirty="0"/>
                  <a:t>No outgoing arc goes down, i.e., for all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) ≤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nl-NL" dirty="0"/>
              </a:p>
              <a:p>
                <a:pPr eaLnBrk="1" hangingPunct="1"/>
                <a:r>
                  <a:rPr lang="en-GB" altLang="nl-NL" dirty="0">
                    <a:solidFill>
                      <a:srgbClr val="C00000"/>
                    </a:solidFill>
                  </a:rPr>
                  <a:t>Action:</a:t>
                </a:r>
              </a:p>
              <a:p>
                <a:pPr lvl="1"/>
                <a:r>
                  <a:rPr lang="en-GB" altLang="nl-NL" dirty="0"/>
                  <a:t>Lift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 one above all neighbours to which an arc goes in the residual network: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= 1 +</m:t>
                    </m:r>
                    <m:func>
                      <m:func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nl-NL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|"/>
                            <m:ctrlPr>
                              <a:rPr lang="en-GB" altLang="nl-NL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nl-NL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GB" altLang="nl-NL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altLang="nl-NL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func>
                    <m:d>
                      <m:d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alt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nl-NL" dirty="0"/>
              </a:p>
              <a:p>
                <a:pPr marL="457200" lvl="1" indent="0">
                  <a:buNone/>
                </a:pPr>
                <a:endParaRPr lang="en-GB" altLang="nl-NL" dirty="0"/>
              </a:p>
              <a:p>
                <a:pPr>
                  <a:lnSpc>
                    <a:spcPct val="90000"/>
                  </a:lnSpc>
                </a:pPr>
                <a:r>
                  <a:rPr lang="en-GB" altLang="nl-NL" u="sng" dirty="0"/>
                  <a:t>Check the invariant</a:t>
                </a:r>
                <a:r>
                  <a:rPr lang="en-GB" altLang="nl-NL" dirty="0"/>
                  <a:t>: for all arcs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nl-NL" dirty="0"/>
                  <a:t>:</a:t>
                </a:r>
                <a14:m>
                  <m:oMath xmlns:m="http://schemas.openxmlformats.org/officeDocument/2006/math">
                    <m:r>
                      <a:rPr lang="en-GB" altLang="nl-NL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altLang="nl-NL" dirty="0"/>
              </a:p>
              <a:p>
                <a:pPr lvl="1">
                  <a:lnSpc>
                    <a:spcPct val="90000"/>
                  </a:lnSpc>
                </a:pPr>
                <a:r>
                  <a:rPr lang="en-GB" altLang="nl-NL" dirty="0"/>
                  <a:t>Residual network does not change. The height of u is set to one above the lowest neighbours to which an arc goes. I.e., the arcs still go down at most one</a:t>
                </a:r>
              </a:p>
              <a:p>
                <a:pPr marL="457200" lvl="1" indent="0">
                  <a:buNone/>
                </a:pPr>
                <a:endParaRPr lang="en-GB" altLang="nl-NL" dirty="0"/>
              </a:p>
            </p:txBody>
          </p:sp>
        </mc:Choice>
        <mc:Fallback xmlns="">
          <p:sp>
            <p:nvSpPr>
              <p:cNvPr id="3584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3962400"/>
              </a:xfrm>
              <a:blipFill>
                <a:blip r:embed="rId2"/>
                <a:stretch>
                  <a:fillRect l="-636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Preflow-push algorithm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GB" altLang="nl-NL" b="1" dirty="0"/>
                  <a:t>Algorithm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Initialize: push preflow maximally out of the source</a:t>
                </a:r>
              </a:p>
              <a:p>
                <a:pPr eaLnBrk="1" hangingPunct="1">
                  <a:buFont typeface="+mj-lt"/>
                  <a:buAutoNum type="arabicPeriod"/>
                </a:pPr>
                <a:r>
                  <a:rPr lang="en-GB" altLang="nl-NL" dirty="0"/>
                  <a:t>​</a:t>
                </a:r>
                <a:r>
                  <a:rPr lang="en-GB" altLang="nl-NL" b="1" dirty="0"/>
                  <a:t>while</a:t>
                </a:r>
                <a:r>
                  <a:rPr lang="en-GB" altLang="nl-NL" dirty="0"/>
                  <a:t> push or lift operation possible </a:t>
                </a:r>
                <a:r>
                  <a:rPr lang="en-GB" altLang="nl-NL" b="1" dirty="0"/>
                  <a:t>do</a:t>
                </a:r>
                <a:r>
                  <a:rPr lang="en-GB" altLang="nl-NL" dirty="0"/>
                  <a:t> </a:t>
                </a:r>
              </a:p>
              <a:p>
                <a:pPr lvl="1" eaLnBrk="1" hangingPunct="1"/>
                <a:r>
                  <a:rPr lang="en-GB" altLang="nl-NL" dirty="0"/>
                  <a:t>Select an applicable push or lift operation and perform it</a:t>
                </a:r>
              </a:p>
              <a:p>
                <a:pPr marL="457200" lvl="1" indent="0">
                  <a:buNone/>
                </a:pPr>
                <a:endParaRPr lang="en-GB" altLang="nl-NL" dirty="0"/>
              </a:p>
              <a:p>
                <a:pPr marL="0" indent="0">
                  <a:buNone/>
                </a:pPr>
                <a:r>
                  <a:rPr lang="en-GB" altLang="nl-NL" u="sng" dirty="0"/>
                  <a:t>Correctness</a:t>
                </a:r>
                <a:r>
                  <a:rPr lang="en-GB" altLang="nl-NL" dirty="0"/>
                  <a:t>: </a:t>
                </a:r>
              </a:p>
              <a:p>
                <a:r>
                  <a:rPr lang="en-GB" altLang="nl-NL" dirty="0"/>
                  <a:t>I</a:t>
                </a:r>
                <a:r>
                  <a:rPr lang="en-US" altLang="nl-NL" dirty="0"/>
                  <a:t>f there is an overflowing vertex </a:t>
                </a:r>
                <a14:m>
                  <m:oMath xmlns:m="http://schemas.openxmlformats.org/officeDocument/2006/math"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(not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or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), then either a lift or push operation is possible</a:t>
                </a:r>
              </a:p>
              <a:p>
                <a:pPr lvl="1"/>
                <a:r>
                  <a:rPr lang="en-US" altLang="nl-NL" dirty="0"/>
                  <a:t>By the invariant on heights, all residual network arcs go down at most one. So either:</a:t>
                </a:r>
              </a:p>
              <a:p>
                <a:pPr lvl="2"/>
                <a:r>
                  <a:rPr lang="en-US" altLang="nl-NL" dirty="0"/>
                  <a:t>An outgoing arc from </a:t>
                </a:r>
                <a14:m>
                  <m:oMath xmlns:m="http://schemas.openxmlformats.org/officeDocument/2006/math"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goes down by one, then we can push</a:t>
                </a:r>
              </a:p>
              <a:p>
                <a:pPr lvl="2"/>
                <a:r>
                  <a:rPr lang="en-US" altLang="nl-NL" dirty="0"/>
                  <a:t>No arc from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goes down, we can lift</a:t>
                </a:r>
              </a:p>
              <a:p>
                <a:r>
                  <a:rPr lang="en-US" altLang="nl-NL" dirty="0"/>
                  <a:t>Recall: if no vertex is overflowing, we have a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maximum flow</a:t>
                </a:r>
                <a:endParaRPr lang="en-GB" altLang="nl-NL" dirty="0">
                  <a:solidFill>
                    <a:srgbClr val="C00000"/>
                  </a:solidFill>
                </a:endParaRPr>
              </a:p>
              <a:p>
                <a:endParaRPr lang="en-GB" altLang="nl-NL" dirty="0"/>
              </a:p>
              <a:p>
                <a:endParaRPr lang="en-GB" altLang="nl-NL" dirty="0"/>
              </a:p>
            </p:txBody>
          </p:sp>
        </mc:Choice>
        <mc:Fallback xmlns="">
          <p:sp>
            <p:nvSpPr>
              <p:cNvPr id="3686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  <a:blipFill>
                <a:blip r:embed="rId2"/>
                <a:stretch>
                  <a:fillRect l="-642" t="-769" r="-803" b="-13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Time analysis: number of lifts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4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altLang="nl-NL" b="1" dirty="0"/>
                  <a:t>Number of lifts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If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 overflows, then there is a simple path from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 to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altLang="nl-NL" dirty="0"/>
                  <a:t> in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altLang="nl-NL" i="1" baseline="-2500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GB" altLang="nl-NL" i="1" dirty="0"/>
              </a:p>
              <a:p>
                <a:pPr lvl="1"/>
                <a:r>
                  <a:rPr lang="en-GB" altLang="nl-NL" dirty="0"/>
                  <a:t>Flow must arrive from </a:t>
                </a:r>
                <a:r>
                  <a:rPr lang="en-GB" altLang="nl-NL" i="1" dirty="0"/>
                  <a:t>s</a:t>
                </a:r>
                <a:r>
                  <a:rPr lang="en-GB" altLang="nl-NL" dirty="0"/>
                  <a:t> to </a:t>
                </a:r>
                <a:r>
                  <a:rPr lang="en-GB" altLang="nl-NL" i="1" dirty="0"/>
                  <a:t>u</a:t>
                </a:r>
                <a:r>
                  <a:rPr lang="en-GB" altLang="nl-NL" dirty="0"/>
                  <a:t>: reverse of such flow gives the path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For all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: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altLang="nl-NL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nl-NL" dirty="0"/>
                  <a:t> throughout the execution of the algorithm</a:t>
                </a:r>
              </a:p>
              <a:p>
                <a:pPr lvl="1"/>
                <a:r>
                  <a:rPr lang="en-GB" altLang="nl-NL" dirty="0"/>
                  <a:t>When a vertex is lifted, it has excess flow, hence a path to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altLang="nl-NL" dirty="0"/>
              </a:p>
              <a:p>
                <a:pPr lvl="1"/>
                <a:r>
                  <a:rPr lang="en-GB" altLang="nl-NL" dirty="0"/>
                  <a:t>This path has at most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GB" altLang="nl-NL" dirty="0"/>
                  <a:t>edges, each allowing a step in height of at most one down</a:t>
                </a:r>
              </a:p>
              <a:p>
                <a:pPr lvl="1"/>
                <a:r>
                  <a:rPr lang="en-GB" altLang="nl-NL" dirty="0"/>
                  <a:t>Thus,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altLang="nl-NL" dirty="0"/>
                  <a:t> can be at most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altLang="nl-NL" dirty="0"/>
                  <a:t> higher than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altLang="nl-NL" dirty="0"/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Each vertex is lifted less than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nl-NL" dirty="0"/>
                  <a:t> times</a:t>
                </a:r>
              </a:p>
              <a:p>
                <a:pPr lvl="1"/>
                <a:r>
                  <a:rPr lang="en-GB" altLang="nl-NL" dirty="0"/>
                  <a:t>Height only increases, by each lift by at least 1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Total number of lift operations is less than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nl-NL" i="1" baseline="30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altLang="nl-NL" baseline="30000" dirty="0"/>
              </a:p>
              <a:p>
                <a:pPr lvl="1"/>
                <a:r>
                  <a:rPr lang="en-GB" altLang="nl-NL" dirty="0"/>
                  <a:t>Each lift raises the height by at least one</a:t>
                </a:r>
              </a:p>
              <a:p>
                <a:endParaRPr lang="en-GB" altLang="nl-NL" dirty="0"/>
              </a:p>
            </p:txBody>
          </p:sp>
        </mc:Choice>
        <mc:Fallback xmlns="">
          <p:sp>
            <p:nvSpPr>
              <p:cNvPr id="3994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3962400"/>
              </a:xfrm>
              <a:blipFill>
                <a:blip r:embed="rId2"/>
                <a:stretch>
                  <a:fillRect l="-636" t="-769" b="-230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9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9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9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9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9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9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9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9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Time analysis: number of pushes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US" altLang="nl-NL" dirty="0"/>
                  <a:t>Saturating pushes and not saturating pushes</a:t>
                </a:r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Saturating</a:t>
                </a:r>
                <a:r>
                  <a:rPr lang="en-US" altLang="nl-NL" dirty="0"/>
                  <a:t>: sends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across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>
                    <a:solidFill>
                      <a:srgbClr val="C00000"/>
                    </a:solidFill>
                  </a:rPr>
                  <a:t>Non-saturating</a:t>
                </a:r>
                <a:r>
                  <a:rPr lang="en-US" altLang="nl-NL" dirty="0"/>
                  <a:t>: sends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 &lt;</m:t>
                    </m:r>
                    <m:sSub>
                      <m:sSub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across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b="1" dirty="0"/>
                  <a:t>Number of saturating pushes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A saturating push across arc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, removes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nl-NL" dirty="0"/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Before the next push across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, it must be created again by a push across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Pushing across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means that first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must be lifted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There are at most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nl-NL" dirty="0"/>
                  <a:t> lifts per vertex, therefore, at most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saturating pushes across each arc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​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nl-NL" dirty="0"/>
                  <a:t>saturating pushes in total</a:t>
                </a:r>
                <a:endParaRPr lang="nl-NL" altLang="nl-NL" dirty="0"/>
              </a:p>
            </p:txBody>
          </p:sp>
        </mc:Choice>
        <mc:Fallback xmlns="">
          <p:sp>
            <p:nvSpPr>
              <p:cNvPr id="4198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648" t="-769" b="-46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9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9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Non-saturating pushes</a:t>
            </a:r>
            <a:endParaRPr lang="nl-NL" alt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US" altLang="nl-NL" dirty="0"/>
                  <a:t>Define </a:t>
                </a:r>
                <a14:m>
                  <m:oMath xmlns:m="http://schemas.openxmlformats.org/officeDocument/2006/math">
                    <m:r>
                      <a:rPr lang="en-US" altLang="nl-NL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nl-NL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nl-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nl-NL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nl-NL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nl-NL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nl-NL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  <m:sup/>
                      <m:e>
                        <m:r>
                          <a:rPr lang="en-US" altLang="nl-NL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nl-NL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nl-NL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nl-NL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The sum of the heights of overflowing vertices                    </a:t>
                </a:r>
              </a:p>
              <a:p>
                <a:endParaRPr lang="en-US" altLang="nl-NL" dirty="0"/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Initially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nl-NL" dirty="0"/>
                  <a:t>, and after termination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nl-NL" dirty="0"/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​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nl-NL" dirty="0"/>
                  <a:t> increases by lifts in total at most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nl-NL" i="1" baseline="30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nl-NL" baseline="30000" dirty="0"/>
              </a:p>
              <a:p>
                <a:pPr lvl="1"/>
                <a:r>
                  <a:rPr lang="en-US" altLang="nl-NL" dirty="0"/>
                  <a:t>Since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nl-NL" dirty="0"/>
                  <a:t> and the heights of vertices can only increase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dirty="0"/>
                  <a:t>​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nl-NL" dirty="0"/>
                  <a:t> increases by saturating pushes by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Saturating push: target may start overflowing</a:t>
                </a:r>
              </a:p>
              <a:p>
                <a:pPr lvl="1"/>
                <a:r>
                  <a:rPr lang="en-US" altLang="nl-NL" dirty="0"/>
                  <a:t>Claim is true since </a:t>
                </a:r>
                <a14:m>
                  <m:oMath xmlns:m="http://schemas.openxmlformats.org/officeDocument/2006/math"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nl-NL" dirty="0"/>
                  <a:t>, and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nl-NL" dirty="0"/>
                  <a:t>saturating pushes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nl-NL" b="0" dirty="0"/>
                  <a:t>​</a:t>
                </a:r>
                <a14:m>
                  <m:oMath xmlns:m="http://schemas.openxmlformats.org/officeDocument/2006/math">
                    <m:r>
                      <a:rPr lang="en-US" altLang="nl-NL" b="0" i="0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nl-NL" dirty="0"/>
                  <a:t> decreases by at least 1 for each non-saturating push</a:t>
                </a:r>
              </a:p>
              <a:p>
                <a:pPr lvl="1"/>
                <a:r>
                  <a:rPr lang="en-US" altLang="nl-NL" dirty="0"/>
                  <a:t>After a push across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,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nl-NL" dirty="0"/>
                  <a:t> does not overflow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nl-NL" dirty="0"/>
                  <a:t> may overflow after the push, but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b="1" dirty="0"/>
                  <a:t>Conclusion: </a:t>
                </a:r>
                <a:r>
                  <a:rPr lang="en-US" altLang="nl-NL" dirty="0"/>
                  <a:t>At most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nl-NL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nl-NL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nl-NL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non-saturating pushes</a:t>
                </a:r>
                <a:endParaRPr lang="nl-NL" altLang="nl-NL" dirty="0"/>
              </a:p>
            </p:txBody>
          </p:sp>
        </mc:Choice>
        <mc:Fallback xmlns="">
          <p:sp>
            <p:nvSpPr>
              <p:cNvPr id="4301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648" t="-11077" b="-661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0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0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0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0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0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0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Algorithm</a:t>
            </a:r>
            <a:endParaRPr lang="nl-NL" alt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nl-NL" dirty="0"/>
                  <a:t>We can implement the algorithm so that</a:t>
                </a:r>
              </a:p>
              <a:p>
                <a:pPr lvl="1"/>
                <a:r>
                  <a:rPr lang="en-US" altLang="nl-NL" dirty="0"/>
                  <a:t>We maintain a set of </a:t>
                </a:r>
                <a:r>
                  <a:rPr lang="en-US" altLang="nl-NL" dirty="0" err="1"/>
                  <a:t>pushable</a:t>
                </a:r>
                <a:r>
                  <a:rPr lang="en-US" altLang="nl-NL" dirty="0"/>
                  <a:t> arcs (for push) and a set of overflowing vertices (for push or lift if no push available)</a:t>
                </a:r>
              </a:p>
              <a:p>
                <a:r>
                  <a:rPr lang="en-US" altLang="nl-NL" dirty="0"/>
                  <a:t>Then: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nl-NL" dirty="0"/>
                  <a:t> time per push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time per lift operation</a:t>
                </a:r>
              </a:p>
              <a:p>
                <a:pPr eaLnBrk="1" hangingPunct="1"/>
                <a:endParaRPr lang="en-US" altLang="nl-NL" dirty="0"/>
              </a:p>
              <a:p>
                <a:pPr eaLnBrk="1" hangingPunct="1"/>
                <a:r>
                  <a:rPr lang="en-US" altLang="nl-NL" dirty="0"/>
                  <a:t>Number of operations:</a:t>
                </a:r>
              </a:p>
              <a:p>
                <a:pPr lvl="1"/>
                <a:r>
                  <a:rPr lang="en-GB" altLang="nl-NL" dirty="0"/>
                  <a:t>Pushes:</a:t>
                </a:r>
                <a:r>
                  <a:rPr lang="en-US" altLang="nl-NL" dirty="0"/>
                  <a:t> </a:t>
                </a:r>
                <a14:m>
                  <m:oMath xmlns:m="http://schemas.openxmlformats.org/officeDocument/2006/math">
                    <m:r>
                      <a:rPr lang="en-US" altLang="nl-NL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nl-NL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</a:t>
                </a:r>
              </a:p>
              <a:p>
                <a:pPr lvl="1"/>
                <a:r>
                  <a:rPr lang="en-US" altLang="nl-NL" dirty="0"/>
                  <a:t>Lifts: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nl-NL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nl-NL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nl-NL" i="1" baseline="30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nl-NL" dirty="0"/>
              </a:p>
              <a:p>
                <a:pPr marL="0" indent="0" eaLnBrk="1" hangingPunct="1">
                  <a:buNone/>
                </a:pPr>
                <a:endParaRPr lang="en-US" altLang="nl-NL" i="1" dirty="0"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nl-NL" b="1" dirty="0"/>
                  <a:t>Conclusion</a:t>
                </a:r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time in total</a:t>
                </a:r>
                <a:endParaRPr lang="nl-NL" altLang="nl-NL" dirty="0"/>
              </a:p>
            </p:txBody>
          </p:sp>
        </mc:Choice>
        <mc:Fallback xmlns="">
          <p:sp>
            <p:nvSpPr>
              <p:cNvPr id="4403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0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0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0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Flows and Matchings – Advanced Algorithms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GOLDBERG’S ALGORITHM</a:t>
            </a:r>
          </a:p>
        </p:txBody>
      </p:sp>
    </p:spTree>
    <p:extLst>
      <p:ext uri="{BB962C8B-B14F-4D97-AF65-F5344CB8AC3E}">
        <p14:creationId xmlns:p14="http://schemas.microsoft.com/office/powerpoint/2010/main" val="4081703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Modification of the </a:t>
            </a:r>
            <a:br>
              <a:rPr lang="en-US" dirty="0"/>
            </a:br>
            <a:r>
              <a:rPr lang="en-US" dirty="0"/>
              <a:t>generic preflow-push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Modification of the preflow-push algorithm using</a:t>
                </a:r>
                <a:r>
                  <a:rPr lang="en-US" altLang="nl-NL" dirty="0"/>
                  <a:t>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nl-NL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nl-NL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nl-NL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nl-NL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/>
                  <a:t> time (when the maximum flow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</a:t>
                </a:r>
              </a:p>
              <a:p>
                <a:pPr lvl="1"/>
                <a:r>
                  <a:rPr lang="en-US" dirty="0"/>
                  <a:t>We will prove a slightly simpler result: it runs in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nl-NL" i="1" baseline="30000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nl-NL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nl-NL" dirty="0"/>
                  <a:t>time</a:t>
                </a:r>
              </a:p>
              <a:p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b="1" dirty="0"/>
                  <a:t>Preflow-push algorithm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Initialize: push preflow maximally out of the source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​</a:t>
                </a:r>
                <a:r>
                  <a:rPr lang="en-GB" altLang="nl-NL" b="1" dirty="0"/>
                  <a:t>while</a:t>
                </a:r>
                <a:r>
                  <a:rPr lang="en-GB" altLang="nl-NL" dirty="0"/>
                  <a:t> push or lift operation possible </a:t>
                </a:r>
                <a:r>
                  <a:rPr lang="en-GB" altLang="nl-NL" b="1" dirty="0"/>
                  <a:t>do</a:t>
                </a:r>
                <a:r>
                  <a:rPr lang="en-GB" altLang="nl-NL" dirty="0"/>
                  <a:t> </a:t>
                </a:r>
              </a:p>
              <a:p>
                <a:pPr lvl="1"/>
                <a:r>
                  <a:rPr lang="en-GB" altLang="nl-NL" dirty="0"/>
                  <a:t>Select an applicable push or lift operation and perform it</a:t>
                </a:r>
              </a:p>
              <a:p>
                <a:endParaRPr lang="en-US" dirty="0"/>
              </a:p>
              <a:p>
                <a:r>
                  <a:rPr lang="en-US" dirty="0"/>
                  <a:t>This does not specify any specific order of lifts and pushes</a:t>
                </a:r>
              </a:p>
              <a:p>
                <a:pPr lvl="1"/>
                <a:r>
                  <a:rPr lang="en-US" altLang="nl-NL" dirty="0"/>
                  <a:t>But we did have that the height function and the invariant guarantee that for any residual network arc: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nl-NL" dirty="0"/>
                  <a:t>:</a:t>
                </a:r>
                <a14:m>
                  <m:oMath xmlns:m="http://schemas.openxmlformats.org/officeDocument/2006/math">
                    <m:r>
                      <a:rPr lang="en-GB" altLang="nl-NL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altLang="nl-NL" dirty="0"/>
                  <a:t> (the arc goes down by at most one)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0" t="-769" b="-24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644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Goldberg’s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nl-NL" b="1" dirty="0"/>
                  <a:t>Golberg’s algorithm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Initialize: push preflow maximally out of the source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nl-NL" dirty="0"/>
                  <a:t>​</a:t>
                </a:r>
                <a:r>
                  <a:rPr lang="en-GB" altLang="nl-NL" b="1" dirty="0"/>
                  <a:t>while</a:t>
                </a:r>
                <a:r>
                  <a:rPr lang="en-GB" altLang="nl-NL" dirty="0"/>
                  <a:t> there is an overflowing vertex </a:t>
                </a:r>
                <a:r>
                  <a:rPr lang="en-GB" altLang="nl-NL" b="1" dirty="0"/>
                  <a:t>do</a:t>
                </a:r>
                <a:r>
                  <a:rPr lang="en-GB" altLang="nl-NL" dirty="0"/>
                  <a:t> </a:t>
                </a:r>
              </a:p>
              <a:p>
                <a:pPr lvl="1"/>
                <a:r>
                  <a:rPr lang="en-GB" altLang="nl-NL" dirty="0"/>
                  <a:t>Let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altLang="nl-NL" dirty="0"/>
                  <a:t> be the highest overflowing vertex</a:t>
                </a:r>
              </a:p>
              <a:p>
                <a:pPr lvl="1"/>
                <a:r>
                  <a:rPr lang="en-GB" altLang="nl-NL" b="1" dirty="0"/>
                  <a:t>while</a:t>
                </a:r>
                <a:r>
                  <a:rPr lang="en-GB" altLang="nl-NL" dirty="0"/>
                  <a:t>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altLang="nl-NL" dirty="0"/>
                  <a:t> is overflowing </a:t>
                </a:r>
                <a:r>
                  <a:rPr lang="en-GB" altLang="nl-NL" b="1" dirty="0"/>
                  <a:t>do</a:t>
                </a:r>
              </a:p>
              <a:p>
                <a:pPr lvl="2"/>
                <a:r>
                  <a:rPr lang="en-GB" altLang="nl-NL" dirty="0"/>
                  <a:t>If we can push over any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altLang="nl-NL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altLang="nl-NL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nl-NL" dirty="0"/>
                  <a:t>, push over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nl-NL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altLang="nl-NL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altLang="nl-NL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nl-NL" dirty="0"/>
              </a:p>
              <a:p>
                <a:pPr lvl="2"/>
                <a:r>
                  <a:rPr lang="en-GB" altLang="nl-NL" dirty="0"/>
                  <a:t>Otherwise lift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altLang="nl-NL" dirty="0"/>
              </a:p>
              <a:p>
                <a:endParaRPr lang="en-US" dirty="0"/>
              </a:p>
              <a:p>
                <a:r>
                  <a:rPr lang="en-US" dirty="0"/>
                  <a:t>This is also called the ‘highest label first rule’</a:t>
                </a:r>
                <a:endParaRPr lang="en-GB" altLang="nl-N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0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5818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i="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7846972-E8FA-4843-9EA2-21C6CE75BF8F}" type="slidenum">
              <a:rPr lang="nl-NL" smtClean="0"/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51</a:t>
            </a:fld>
            <a:endParaRPr lang="nl-NL" altLang="nl-NL" sz="1400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Time analysis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0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US" altLang="nl-NL" dirty="0"/>
                  <a:t>Identical to the preflow-push analysis we have: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nl-NL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nl-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nl-NL" dirty="0"/>
                  <a:t> lift operations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nl-NL" dirty="0"/>
                  <a:t>saturating pushes</a:t>
                </a:r>
              </a:p>
              <a:p>
                <a:pPr marL="457200" lvl="1" indent="0">
                  <a:buNone/>
                </a:pPr>
                <a:endParaRPr lang="en-US" altLang="nl-NL" dirty="0"/>
              </a:p>
              <a:p>
                <a:pPr eaLnBrk="1" hangingPunct="1"/>
                <a:r>
                  <a:rPr lang="en-US" altLang="nl-NL" dirty="0"/>
                  <a:t>The number of non-saturating pushes is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Between two lift operations no height changes</a:t>
                </a:r>
              </a:p>
              <a:p>
                <a:pPr lvl="1"/>
                <a:r>
                  <a:rPr lang="en-US" altLang="nl-NL" dirty="0"/>
                  <a:t>Each non-saturating push stops a vertex from overflowing</a:t>
                </a:r>
              </a:p>
              <a:p>
                <a:pPr lvl="1"/>
                <a:r>
                  <a:rPr lang="en-US" altLang="nl-NL" dirty="0"/>
                  <a:t>Since vertices are chosen by their height and flow is only pushed down: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nl-NL" dirty="0"/>
                  <a:t> non-saturating pushes between two lifts</a:t>
                </a:r>
              </a:p>
              <a:p>
                <a:pPr lvl="1"/>
                <a:r>
                  <a:rPr lang="en-US" altLang="nl-NL" dirty="0"/>
                  <a:t>So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nl-NL" dirty="0"/>
                  <a:t> non-saturating pushes: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nl-NL" dirty="0"/>
                  <a:t> lifts times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nl-NL" dirty="0"/>
                  <a:t> non-saturating pushes</a:t>
                </a:r>
              </a:p>
              <a:p>
                <a:pPr eaLnBrk="1" hangingPunct="1"/>
                <a:endParaRPr lang="nl-NL" altLang="nl-NL" dirty="0"/>
              </a:p>
            </p:txBody>
          </p:sp>
        </mc:Choice>
        <mc:Fallback xmlns="">
          <p:sp>
            <p:nvSpPr>
              <p:cNvPr id="5530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3"/>
                <a:stretch>
                  <a:fillRect l="-162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09B59F-8BC3-E048-B455-3E90CA83BC0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implementation</a:t>
                </a:r>
                <a:endParaRPr lang="LID4096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09B59F-8BC3-E048-B455-3E90CA83BC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14BDC-C400-8B7A-13A7-BABE4F9E6C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592888" cy="3962400"/>
              </a:xfrm>
            </p:spPr>
            <p:txBody>
              <a:bodyPr/>
              <a:lstStyle/>
              <a:p>
                <a:r>
                  <a:rPr lang="en-GB" dirty="0"/>
                  <a:t>Data structures:</a:t>
                </a:r>
              </a:p>
              <a:p>
                <a:pPr lvl="1"/>
                <a:r>
                  <a:rPr lang="en-GB" dirty="0"/>
                  <a:t>Put the vertices in a doubly linked list ordered by height</a:t>
                </a:r>
              </a:p>
              <a:p>
                <a:pPr lvl="1"/>
                <a:r>
                  <a:rPr lang="en-GB" dirty="0"/>
                  <a:t>Per vertex maintain a doubly linked list of </a:t>
                </a:r>
                <a:r>
                  <a:rPr lang="en-GB" dirty="0" err="1"/>
                  <a:t>pushable</a:t>
                </a:r>
                <a:r>
                  <a:rPr lang="en-GB" dirty="0"/>
                  <a:t> arcs (arcs that go exactly one down)</a:t>
                </a:r>
              </a:p>
              <a:p>
                <a:pPr lvl="1"/>
                <a:endParaRPr lang="en-GB" dirty="0"/>
              </a:p>
              <a:p>
                <a:r>
                  <a:rPr lang="en-GB" dirty="0"/>
                  <a:t>Between two lifts, we can go through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vertices in the list</a:t>
                </a:r>
              </a:p>
              <a:p>
                <a:pPr lvl="1"/>
                <a:r>
                  <a:rPr lang="en-GB" dirty="0"/>
                  <a:t>Total search time to overflowing vertices: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lifts</a:t>
                </a:r>
              </a:p>
              <a:p>
                <a:r>
                  <a:rPr lang="en-GB" dirty="0"/>
                  <a:t>Pushing goes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GB" dirty="0"/>
                  <a:t> time each: we have those arcs in a list</a:t>
                </a:r>
              </a:p>
              <a:p>
                <a:pPr lvl="1"/>
                <a:r>
                  <a:rPr lang="en-GB" dirty="0"/>
                  <a:t>Total nr of pushes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Updating the data structures (remove from list):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dirty="0"/>
                  <a:t> time each</a:t>
                </a:r>
              </a:p>
              <a:p>
                <a:r>
                  <a:rPr lang="en-GB" dirty="0"/>
                  <a:t>Lifting a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: then its list of </a:t>
                </a:r>
                <a:r>
                  <a:rPr lang="en-GB" dirty="0" err="1"/>
                  <a:t>pushable</a:t>
                </a:r>
                <a:r>
                  <a:rPr lang="en-GB" dirty="0"/>
                  <a:t> arcs is empty</a:t>
                </a:r>
              </a:p>
              <a:p>
                <a:pPr lvl="1"/>
                <a:r>
                  <a:rPr lang="en-GB" dirty="0"/>
                  <a:t>Updating </a:t>
                </a:r>
                <a:r>
                  <a:rPr lang="en-GB" dirty="0" err="1"/>
                  <a:t>pushable</a:t>
                </a:r>
                <a:r>
                  <a:rPr lang="en-GB" dirty="0"/>
                  <a:t> arcs lists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 and its neighbours: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time</a:t>
                </a:r>
              </a:p>
              <a:p>
                <a:pPr lvl="1"/>
                <a:r>
                  <a:rPr lang="en-GB" dirty="0"/>
                  <a:t>Placing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 in the proper place in the vertex list: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time</a:t>
                </a:r>
              </a:p>
              <a:p>
                <a:pPr lvl="1"/>
                <a:r>
                  <a:rPr lang="en-GB" dirty="0"/>
                  <a:t>Total time: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as there are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lifts</a:t>
                </a:r>
              </a:p>
              <a:p>
                <a:pPr lvl="1"/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14BDC-C400-8B7A-13A7-BABE4F9E6C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592888" cy="3962400"/>
              </a:xfrm>
              <a:blipFill>
                <a:blip r:embed="rId3"/>
                <a:stretch>
                  <a:fillRect l="-161" t="-769" b="-8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55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Flows and Matchings – Advanced Algorithms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NOTES ON MAXIMUM FLOW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697138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1AD397-C898-3948-3356-E2315C9C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preflow-push algorithms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1021F22-D031-D2EC-D2C6-4F10A6569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There are many variants of preflow-push algorithms</a:t>
                </a:r>
              </a:p>
              <a:p>
                <a:r>
                  <a:rPr lang="en-GB" dirty="0"/>
                  <a:t>E.g., consider the following vertex selection rules: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US" altLang="nl-NL" dirty="0"/>
                  <a:t>Push-relabel variant using dynamic trees: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𝑛𝑚</m:t>
                        </m:r>
                        <m:func>
                          <m:funcPr>
                            <m:ctrlPr>
                              <a:rPr lang="en-US" altLang="nl-NL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nl-NL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nl-NL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nl-NL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nl-NL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nl-NL" i="1" baseline="3000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nl-NL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1021F22-D031-D2EC-D2C6-4F10A6569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E6CD3E-4585-6DD2-9BD8-7EB3E3CA63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565395"/>
                  </p:ext>
                </p:extLst>
              </p:nvPr>
            </p:nvGraphicFramePr>
            <p:xfrm>
              <a:off x="1835696" y="2564904"/>
              <a:ext cx="6096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48844">
                      <a:extLst>
                        <a:ext uri="{9D8B030D-6E8A-4147-A177-3AD203B41FA5}">
                          <a16:colId xmlns:a16="http://schemas.microsoft.com/office/drawing/2014/main" val="3938967718"/>
                        </a:ext>
                      </a:extLst>
                    </a:gridCol>
                    <a:gridCol w="2247156">
                      <a:extLst>
                        <a:ext uri="{9D8B030D-6E8A-4147-A177-3AD203B41FA5}">
                          <a16:colId xmlns:a16="http://schemas.microsoft.com/office/drawing/2014/main" val="3328578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Selection rule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Worst-case run time</a:t>
                          </a:r>
                          <a:endParaRPr lang="LID4096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67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First-in first-out queue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35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Lift to front (of linked list)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7159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Highest label </a:t>
                          </a:r>
                          <a:r>
                            <a:rPr lang="en-GB" sz="1400" dirty="0" err="1"/>
                            <a:t>frist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nl-NL" sz="1400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nl-NL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nl-NL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nl-NL" sz="1400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nl-NL" sz="14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nl-NL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nl-NL" sz="1400" i="1" dirty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LID4096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05499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E6CD3E-4585-6DD2-9BD8-7EB3E3CA63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565395"/>
                  </p:ext>
                </p:extLst>
              </p:nvPr>
            </p:nvGraphicFramePr>
            <p:xfrm>
              <a:off x="1835696" y="2564904"/>
              <a:ext cx="6096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48844">
                      <a:extLst>
                        <a:ext uri="{9D8B030D-6E8A-4147-A177-3AD203B41FA5}">
                          <a16:colId xmlns:a16="http://schemas.microsoft.com/office/drawing/2014/main" val="3938967718"/>
                        </a:ext>
                      </a:extLst>
                    </a:gridCol>
                    <a:gridCol w="2247156">
                      <a:extLst>
                        <a:ext uri="{9D8B030D-6E8A-4147-A177-3AD203B41FA5}">
                          <a16:colId xmlns:a16="http://schemas.microsoft.com/office/drawing/2014/main" val="3328578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Selection rule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Worst-case run time</a:t>
                          </a:r>
                          <a:endParaRPr lang="LID4096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67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First-in first-out queue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71545" t="-100000" r="-108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5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Lift to front (of linked list)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71545" t="-203279" r="-1084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7159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Highest label </a:t>
                          </a:r>
                          <a:r>
                            <a:rPr lang="en-GB" sz="1400" dirty="0" err="1"/>
                            <a:t>frist</a:t>
                          </a:r>
                          <a:endParaRPr lang="LID4096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71545" t="-303279" r="-1084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05499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87677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Many other flow algorithms</a:t>
            </a:r>
            <a:endParaRPr lang="nl-NL" alt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nl-NL" dirty="0"/>
              </a:p>
              <a:p>
                <a:r>
                  <a:rPr lang="en-US" altLang="nl-NL" dirty="0"/>
                  <a:t>Orlin’s algorithm: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with a push-relabel variant:</a:t>
                </a:r>
              </a:p>
              <a:p>
                <a:pPr lvl="1"/>
                <a:r>
                  <a:rPr lang="en-US" altLang="nl-NL" dirty="0"/>
                  <a:t>Orlin's algorithm solves max-flow in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time if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sup>
                    </m:sSup>
                  </m:oMath>
                </a14:m>
                <a:r>
                  <a:rPr lang="en-US" altLang="nl-NL" dirty="0"/>
                  <a:t> for some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The older algorithm by </a:t>
                </a:r>
                <a:r>
                  <a:rPr lang="en-US" dirty="0"/>
                  <a:t>King, Rao and </a:t>
                </a:r>
                <a:r>
                  <a:rPr lang="en-US" dirty="0" err="1"/>
                  <a:t>Tarjan</a:t>
                </a:r>
                <a:r>
                  <a:rPr lang="en-US" dirty="0"/>
                  <a:t> algorithm solves max-flow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𝑛𝑚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den>
                            </m:f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time which is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time if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nl-N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sup>
                    </m:sSup>
                  </m:oMath>
                </a14:m>
                <a:r>
                  <a:rPr lang="en-US" altLang="nl-NL" dirty="0"/>
                  <a:t> for some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nl-NL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Together that gives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l-NL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nl-NL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nl-NL" dirty="0"/>
              </a:p>
              <a:p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possible using Interior Point methods when costs are </a:t>
                </a:r>
                <a:r>
                  <a:rPr lang="en-US" altLang="nl-NL" dirty="0" err="1"/>
                  <a:t>polynomially</a:t>
                </a:r>
                <a:r>
                  <a:rPr lang="en-US" altLang="nl-NL" dirty="0"/>
                  <a:t> bounded integers (result of 2022)</a:t>
                </a:r>
              </a:p>
              <a:p>
                <a:r>
                  <a:rPr lang="en-US" altLang="nl-NL" dirty="0"/>
                  <a:t>Alternative approaches:</a:t>
                </a:r>
              </a:p>
              <a:p>
                <a:pPr lvl="1"/>
                <a:r>
                  <a:rPr lang="en-US" altLang="nl-NL" dirty="0"/>
                  <a:t>Flow using scaling of capacities (exercise)</a:t>
                </a:r>
              </a:p>
              <a:p>
                <a:pPr lvl="1"/>
                <a:r>
                  <a:rPr lang="en-US" altLang="nl-NL" dirty="0"/>
                  <a:t>Randomized algorithms</a:t>
                </a:r>
              </a:p>
            </p:txBody>
          </p:sp>
        </mc:Choice>
        <mc:Fallback xmlns="">
          <p:sp>
            <p:nvSpPr>
              <p:cNvPr id="5837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65" r="-1319" b="-4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E0CA-0C0E-A4A9-430F-847F9A9D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 and practice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D5DA-5D28-7751-E9D1-BC404D018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Cormen</a:t>
            </a:r>
            <a:r>
              <a:rPr lang="nl-NL" dirty="0"/>
              <a:t>, </a:t>
            </a:r>
            <a:r>
              <a:rPr lang="nl-NL" dirty="0" err="1"/>
              <a:t>Leiserson</a:t>
            </a:r>
            <a:r>
              <a:rPr lang="nl-NL" dirty="0"/>
              <a:t>, </a:t>
            </a:r>
            <a:r>
              <a:rPr lang="nl-NL" dirty="0" err="1"/>
              <a:t>Rivest</a:t>
            </a:r>
            <a:r>
              <a:rPr lang="nl-NL" dirty="0"/>
              <a:t>, Stein</a:t>
            </a:r>
            <a:br>
              <a:rPr lang="nl-NL" dirty="0"/>
            </a:br>
            <a:r>
              <a:rPr lang="nl-NL" i="1" dirty="0" err="1"/>
              <a:t>Introduction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Algorithms</a:t>
            </a:r>
            <a:br>
              <a:rPr lang="nl-NL" dirty="0"/>
            </a:br>
            <a:r>
              <a:rPr lang="nl-NL" sz="1600" dirty="0"/>
              <a:t>3</a:t>
            </a:r>
            <a:r>
              <a:rPr lang="nl-NL" sz="1600" baseline="30000" dirty="0"/>
              <a:t>rd</a:t>
            </a:r>
            <a:r>
              <a:rPr lang="nl-NL" sz="1600" dirty="0"/>
              <a:t> </a:t>
            </a:r>
            <a:r>
              <a:rPr lang="nl-NL" sz="1600" dirty="0" err="1"/>
              <a:t>edition</a:t>
            </a:r>
            <a:r>
              <a:rPr lang="nl-NL" sz="1600" dirty="0"/>
              <a:t>: </a:t>
            </a:r>
            <a:r>
              <a:rPr lang="nl-NL" sz="1600" dirty="0" err="1"/>
              <a:t>Chapter</a:t>
            </a:r>
            <a:r>
              <a:rPr lang="nl-NL" sz="1600" dirty="0"/>
              <a:t> 26</a:t>
            </a:r>
            <a:br>
              <a:rPr lang="nl-NL" sz="1600" dirty="0"/>
            </a:br>
            <a:r>
              <a:rPr lang="nl-NL" sz="1600" dirty="0"/>
              <a:t>4</a:t>
            </a:r>
            <a:r>
              <a:rPr lang="nl-NL" sz="1600" baseline="30000" dirty="0"/>
              <a:t>th</a:t>
            </a:r>
            <a:r>
              <a:rPr lang="nl-NL" sz="1600" dirty="0"/>
              <a:t> </a:t>
            </a:r>
            <a:r>
              <a:rPr lang="nl-NL" sz="1600" dirty="0" err="1"/>
              <a:t>edition</a:t>
            </a:r>
            <a:r>
              <a:rPr lang="nl-NL" sz="1600" dirty="0"/>
              <a:t>: </a:t>
            </a:r>
            <a:r>
              <a:rPr lang="nl-NL" sz="1600" dirty="0" err="1"/>
              <a:t>Chapter</a:t>
            </a:r>
            <a:r>
              <a:rPr lang="nl-NL" sz="1600" dirty="0"/>
              <a:t> 24</a:t>
            </a:r>
            <a:br>
              <a:rPr lang="nl-NL" dirty="0"/>
            </a:br>
            <a:r>
              <a:rPr lang="nl-NL" sz="1400" dirty="0" err="1"/>
              <a:t>Third</a:t>
            </a:r>
            <a:r>
              <a:rPr lang="nl-NL" sz="1400" dirty="0"/>
              <a:t> </a:t>
            </a:r>
            <a:r>
              <a:rPr lang="nl-NL" sz="1400" dirty="0" err="1"/>
              <a:t>edition</a:t>
            </a:r>
            <a:r>
              <a:rPr lang="nl-NL" sz="1400" dirty="0"/>
              <a:t> </a:t>
            </a:r>
            <a:r>
              <a:rPr lang="nl-NL" sz="1400" dirty="0" err="1"/>
              <a:t>contains</a:t>
            </a:r>
            <a:r>
              <a:rPr lang="nl-NL" sz="1400" dirty="0"/>
              <a:t> lift-</a:t>
            </a:r>
            <a:r>
              <a:rPr lang="nl-NL" sz="1400" dirty="0" err="1"/>
              <a:t>to</a:t>
            </a:r>
            <a:r>
              <a:rPr lang="nl-NL" sz="1400" dirty="0"/>
              <a:t>-front </a:t>
            </a:r>
            <a:r>
              <a:rPr lang="nl-NL" sz="1400" dirty="0" err="1"/>
              <a:t>algorithm</a:t>
            </a:r>
            <a:endParaRPr lang="nl-NL" dirty="0"/>
          </a:p>
          <a:p>
            <a:endParaRPr lang="nl-NL" dirty="0"/>
          </a:p>
          <a:p>
            <a:r>
              <a:rPr lang="en-US" dirty="0"/>
              <a:t>Schrijver. </a:t>
            </a:r>
            <a:br>
              <a:rPr lang="en-US" dirty="0"/>
            </a:br>
            <a:r>
              <a:rPr lang="en-US" i="1" dirty="0"/>
              <a:t>Combinatorial Optimization: </a:t>
            </a:r>
            <a:r>
              <a:rPr lang="en-US" sz="1400" i="1" dirty="0" err="1"/>
              <a:t>Polyhedra</a:t>
            </a:r>
            <a:r>
              <a:rPr lang="en-US" sz="1400" i="1" dirty="0"/>
              <a:t> and Efficiency</a:t>
            </a:r>
            <a:br>
              <a:rPr lang="en-US" sz="1400" i="1" dirty="0"/>
            </a:br>
            <a:r>
              <a:rPr lang="nl-NL" sz="1600" dirty="0" err="1"/>
              <a:t>Chapters</a:t>
            </a:r>
            <a:r>
              <a:rPr lang="nl-NL" sz="1600" dirty="0"/>
              <a:t> 10 and 11</a:t>
            </a:r>
          </a:p>
          <a:p>
            <a:endParaRPr lang="nl-NL" dirty="0"/>
          </a:p>
          <a:p>
            <a:r>
              <a:rPr lang="de-DE" dirty="0"/>
              <a:t>Kleinberg and </a:t>
            </a:r>
            <a:r>
              <a:rPr lang="de-DE" dirty="0" err="1"/>
              <a:t>Tardos</a:t>
            </a:r>
            <a:r>
              <a:rPr lang="de-DE" dirty="0"/>
              <a:t>.</a:t>
            </a:r>
            <a:br>
              <a:rPr lang="de-DE" dirty="0"/>
            </a:br>
            <a:r>
              <a:rPr lang="de-DE" i="1" dirty="0"/>
              <a:t>Algorithm Design.</a:t>
            </a:r>
            <a:br>
              <a:rPr lang="en-US" i="1" dirty="0"/>
            </a:br>
            <a:r>
              <a:rPr lang="en-US" dirty="0"/>
              <a:t>Chapter 7.</a:t>
            </a:r>
            <a:endParaRPr lang="nl-NL" dirty="0"/>
          </a:p>
          <a:p>
            <a:pPr marL="0" indent="0">
              <a:buNone/>
            </a:pPr>
            <a:endParaRPr lang="nl-NL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F647B0-5CB4-CB27-A016-A7004ABBDEDE}"/>
              </a:ext>
            </a:extLst>
          </p:cNvPr>
          <p:cNvGrpSpPr/>
          <p:nvPr/>
        </p:nvGrpSpPr>
        <p:grpSpPr>
          <a:xfrm>
            <a:off x="5972060" y="1628801"/>
            <a:ext cx="2975056" cy="1584176"/>
            <a:chOff x="5305700" y="1556792"/>
            <a:chExt cx="3760023" cy="2002160"/>
          </a:xfrm>
        </p:grpSpPr>
        <p:pic>
          <p:nvPicPr>
            <p:cNvPr id="5" name="Picture 4" descr="Logo&#10;&#10;Description automatically generated with low confidence">
              <a:extLst>
                <a:ext uri="{FF2B5EF4-FFF2-40B4-BE49-F238E27FC236}">
                  <a16:creationId xmlns:a16="http://schemas.microsoft.com/office/drawing/2014/main" id="{4340D26C-7AE0-1097-34A4-AB276C96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5700" y="1556792"/>
              <a:ext cx="1769909" cy="2002160"/>
            </a:xfrm>
            <a:prstGeom prst="rect">
              <a:avLst/>
            </a:prstGeom>
          </p:spPr>
        </p:pic>
        <p:pic>
          <p:nvPicPr>
            <p:cNvPr id="7" name="Picture 6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01460C85-7431-7B40-B920-5FE77C0DC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8304" y="1556792"/>
              <a:ext cx="1757419" cy="2002160"/>
            </a:xfrm>
            <a:prstGeom prst="rect">
              <a:avLst/>
            </a:prstGeom>
          </p:spPr>
        </p:pic>
      </p:grpSp>
      <p:pic>
        <p:nvPicPr>
          <p:cNvPr id="10" name="Picture 9" descr="A picture containing diagram&#10;&#10;Description automatically generated">
            <a:extLst>
              <a:ext uri="{FF2B5EF4-FFF2-40B4-BE49-F238E27FC236}">
                <a16:creationId xmlns:a16="http://schemas.microsoft.com/office/drawing/2014/main" id="{93995B8D-B017-5EE6-9DC1-8E7925FFB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87" y="3377204"/>
            <a:ext cx="1415652" cy="2188673"/>
          </a:xfrm>
          <a:prstGeom prst="rect">
            <a:avLst/>
          </a:prstGeom>
        </p:spPr>
      </p:pic>
      <p:pic>
        <p:nvPicPr>
          <p:cNvPr id="1026" name="Picture 2" descr="Algorithm Design PNIE | 9781292023946 | Jon Kleinberg &amp; Eva Tardos | Boeken  | bol">
            <a:extLst>
              <a:ext uri="{FF2B5EF4-FFF2-40B4-BE49-F238E27FC236}">
                <a16:creationId xmlns:a16="http://schemas.microsoft.com/office/drawing/2014/main" id="{0E1783C3-0E2F-F574-2667-A5F4A22C3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970" y="4360688"/>
            <a:ext cx="1899295" cy="2410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4164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25E0AC-F748-462A-8F97-A5861139F5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NL" dirty="0"/>
              <a:t>Flows and Matchings 2:</a:t>
            </a:r>
            <a:br>
              <a:rPr lang="en-US" altLang="en-NL" dirty="0"/>
            </a:br>
            <a:r>
              <a:rPr lang="en-US" altLang="en-NL" dirty="0"/>
              <a:t>Minimum Cost Flow</a:t>
            </a:r>
            <a:endParaRPr lang="en-GB" altLang="en-NL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7C11B61-9934-471B-BAF9-2C1AE5A87F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nl-NL" dirty="0"/>
              <a:t>Advanced Algorithms 2025/2026</a:t>
            </a:r>
          </a:p>
          <a:p>
            <a:r>
              <a:rPr lang="en-US" altLang="nl-NL" dirty="0"/>
              <a:t>Johan M. M. van Rooij</a:t>
            </a:r>
          </a:p>
          <a:p>
            <a:r>
              <a:rPr lang="en-US" altLang="nl-NL" dirty="0"/>
              <a:t>Til Miltzow</a:t>
            </a:r>
          </a:p>
        </p:txBody>
      </p:sp>
    </p:spTree>
    <p:extLst>
      <p:ext uri="{BB962C8B-B14F-4D97-AF65-F5344CB8AC3E}">
        <p14:creationId xmlns:p14="http://schemas.microsoft.com/office/powerpoint/2010/main" val="6664727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CAA-AB58-456A-89BC-F23B764F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minimum cost flow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269D-190F-43A7-B454-E237446B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Three topics:</a:t>
            </a:r>
          </a:p>
          <a:p>
            <a:pPr>
              <a:buFont typeface="+mj-lt"/>
              <a:buAutoNum type="arabicPeriod"/>
            </a:pPr>
            <a:r>
              <a:rPr lang="en-US" dirty="0"/>
              <a:t>Maximum flow</a:t>
            </a:r>
          </a:p>
          <a:p>
            <a:pPr>
              <a:buFont typeface="+mj-lt"/>
              <a:buAutoNum type="arabicPeriod"/>
            </a:pPr>
            <a:r>
              <a:rPr lang="en-US" dirty="0"/>
              <a:t>Minimum cost flow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Problem statement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Applications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Flow and linear programming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The cycle cancelling algorithm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The successive shortest paths algorithm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Bipartite matching</a:t>
            </a:r>
          </a:p>
          <a:p>
            <a:pPr>
              <a:buFont typeface="+mj-lt"/>
              <a:buAutoNum type="arabicPeriod"/>
            </a:pPr>
            <a:r>
              <a:rPr lang="en-US" dirty="0"/>
              <a:t>Matching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246185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COST FLOW: PROBLEM STATEMENT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42345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Minimum cost flow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4480520"/>
              </a:xfrm>
            </p:spPr>
            <p:txBody>
              <a:bodyPr/>
              <a:lstStyle/>
              <a:p>
                <a:pPr eaLnBrk="1" hangingPunct="1"/>
                <a:r>
                  <a:rPr lang="en-GB" altLang="en-US" dirty="0"/>
                  <a:t>Arcs have:</a:t>
                </a:r>
              </a:p>
              <a:p>
                <a:pPr lvl="1" eaLnBrk="1" hangingPunct="1"/>
                <a:r>
                  <a:rPr lang="en-GB" altLang="en-US" dirty="0"/>
                  <a:t>A </a:t>
                </a:r>
                <a:r>
                  <a:rPr lang="en-GB" altLang="en-US" dirty="0">
                    <a:solidFill>
                      <a:srgbClr val="C00000"/>
                    </a:solidFill>
                  </a:rPr>
                  <a:t>capacity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/>
                  <a:t>: maximum amount of flow that can go through the arc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altLang="en-US" dirty="0"/>
              </a:p>
              <a:p>
                <a:pPr lvl="1" eaLnBrk="1" hangingPunct="1"/>
                <a:r>
                  <a:rPr lang="en-GB" altLang="en-US" dirty="0"/>
                  <a:t>A</a:t>
                </a:r>
                <a:r>
                  <a:rPr lang="en-GB" altLang="en-US" dirty="0">
                    <a:solidFill>
                      <a:srgbClr val="FF0000"/>
                    </a:solidFill>
                  </a:rPr>
                  <a:t> c</a:t>
                </a:r>
                <a:r>
                  <a:rPr lang="en-GB" altLang="en-US" dirty="0">
                    <a:solidFill>
                      <a:srgbClr val="C00000"/>
                    </a:solidFill>
                  </a:rPr>
                  <a:t>ost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/>
                  <a:t>: cost that must be paid </a:t>
                </a:r>
                <a:r>
                  <a:rPr lang="en-GB" altLang="en-US" i="1" u="sng" dirty="0"/>
                  <a:t>per unit of flow</a:t>
                </a:r>
                <a:r>
                  <a:rPr lang="en-GB" altLang="en-US" dirty="0"/>
                  <a:t> that goes through the arc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altLang="en-US" dirty="0"/>
              </a:p>
              <a:p>
                <a:pPr lvl="1" eaLnBrk="1" hangingPunct="1"/>
                <a:endParaRPr lang="en-GB" altLang="en-US" dirty="0"/>
              </a:p>
              <a:p>
                <a:pPr eaLnBrk="1" hangingPunct="1"/>
                <a:r>
                  <a:rPr lang="en-GB" altLang="en-US" dirty="0"/>
                  <a:t>Cost of flow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:</a:t>
                </a:r>
              </a:p>
              <a:p>
                <a:pPr eaLnBrk="1" hangingPunct="1"/>
                <a:endParaRPr lang="en-GB" altLang="en-US" dirty="0"/>
              </a:p>
              <a:p>
                <a:pPr marL="0" indent="0" eaLnBrk="1" hangingPunct="1">
                  <a:buNone/>
                </a:pPr>
                <a:endParaRPr lang="en-GB" altLang="en-US" sz="800" dirty="0"/>
              </a:p>
              <a:p>
                <a:pPr marL="0" indent="0" eaLnBrk="1" hangingPunct="1">
                  <a:buNone/>
                </a:pPr>
                <a:endParaRPr lang="en-GB" altLang="en-US" sz="800" dirty="0"/>
              </a:p>
              <a:p>
                <a:pPr marL="0" indent="0" eaLnBrk="1" hangingPunct="1">
                  <a:buNone/>
                </a:pPr>
                <a:r>
                  <a:rPr lang="en-GB" altLang="en-US" b="1" u="sng" dirty="0"/>
                  <a:t>Problem statement</a:t>
                </a:r>
              </a:p>
              <a:p>
                <a:r>
                  <a:rPr lang="en-GB" altLang="en-US" b="1" dirty="0"/>
                  <a:t>Input:</a:t>
                </a:r>
                <a:r>
                  <a:rPr lang="en-GB" altLang="en-US" dirty="0"/>
                  <a:t> Directed graph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/>
                  <a:t>, capacities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altLang="en-US" dirty="0"/>
                  <a:t>, cost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𝑐𝑜𝑠𝑡</m:t>
                    </m:r>
                  </m:oMath>
                </a14:m>
                <a:r>
                  <a:rPr lang="en-GB" altLang="en-US" dirty="0"/>
                  <a:t>, source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altLang="en-US" dirty="0"/>
                  <a:t>, sink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altLang="en-US" dirty="0"/>
                  <a:t>, and a target flow value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GB" altLang="en-US" dirty="0"/>
              </a:p>
              <a:p>
                <a:r>
                  <a:rPr lang="en-GB" altLang="en-US" b="1" dirty="0"/>
                  <a:t>Question</a:t>
                </a:r>
                <a:r>
                  <a:rPr lang="en-GB" altLang="en-US" dirty="0"/>
                  <a:t>: Find a flow from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altLang="en-US" dirty="0"/>
                  <a:t> to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altLang="en-US" dirty="0"/>
                  <a:t> with value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altLang="en-US" dirty="0"/>
                  <a:t>, with </a:t>
                </a:r>
                <a:r>
                  <a:rPr lang="en-GB" altLang="en-US" dirty="0">
                    <a:solidFill>
                      <a:srgbClr val="C00000"/>
                    </a:solidFill>
                  </a:rPr>
                  <a:t>minimum cost</a:t>
                </a:r>
              </a:p>
              <a:p>
                <a:pPr eaLnBrk="1" hangingPunct="1"/>
                <a:endParaRPr lang="en-GB" altLang="en-US" dirty="0"/>
              </a:p>
              <a:p>
                <a:pPr marL="0" indent="0" eaLnBrk="1" hangingPunct="1">
                  <a:buNone/>
                </a:pPr>
                <a:endParaRPr lang="en-GB" altLang="en-US" dirty="0"/>
              </a:p>
            </p:txBody>
          </p:sp>
        </mc:Choice>
        <mc:Fallback xmlns="">
          <p:sp>
            <p:nvSpPr>
              <p:cNvPr id="410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4480520"/>
              </a:xfrm>
              <a:blipFill>
                <a:blip r:embed="rId3"/>
                <a:stretch>
                  <a:fillRect l="-660" t="-680" r="-5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C0A304-F90F-4178-8209-E64599C25FD5}"/>
                  </a:ext>
                </a:extLst>
              </p:cNvPr>
              <p:cNvSpPr txBox="1"/>
              <p:nvPr/>
            </p:nvSpPr>
            <p:spPr>
              <a:xfrm>
                <a:off x="3203848" y="3284984"/>
                <a:ext cx="4032447" cy="894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C0A304-F90F-4178-8209-E64599C25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3284984"/>
                <a:ext cx="4032447" cy="894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Unbounded capacities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altLang="en-US" dirty="0"/>
                  <a:t>In min-cost flow arcs may have unbounded capacity!</a:t>
                </a:r>
              </a:p>
              <a:p>
                <a:endParaRPr lang="en-GB" altLang="en-US" sz="800" dirty="0"/>
              </a:p>
              <a:p>
                <a:r>
                  <a:rPr lang="en-GB" altLang="en-US" dirty="0"/>
                  <a:t>What if there is a cycle of negative cost consisting entirely out of arcs with unbounded capacity?</a:t>
                </a:r>
              </a:p>
              <a:p>
                <a:pPr lvl="1"/>
                <a:r>
                  <a:rPr lang="en-GB" altLang="en-US" dirty="0"/>
                  <a:t>No solution! There always is a solution with less cost by adding more circulation over the cycle</a:t>
                </a:r>
              </a:p>
              <a:p>
                <a:pPr lvl="1"/>
                <a:r>
                  <a:rPr lang="en-GB" altLang="en-US" dirty="0"/>
                  <a:t>Finding such a cycle: find a negative cost cycle in the subgraph of unbounded capacity arcs. This can be done using the Bellman-Ford algorithm (see the Algorithms course)</a:t>
                </a:r>
              </a:p>
              <a:p>
                <a:endParaRPr lang="en-GB" altLang="en-US" dirty="0"/>
              </a:p>
              <a:p>
                <a:r>
                  <a:rPr lang="en-GB" altLang="en-US" dirty="0"/>
                  <a:t>If unbounded capacities are unwanted and there is no unbounded-capacity cycle of negative cost: </a:t>
                </a:r>
              </a:p>
              <a:p>
                <a:pPr lvl="1"/>
                <a:r>
                  <a:rPr lang="en-GB" altLang="en-US" dirty="0"/>
                  <a:t>Transformation to bounded capacities by setting each unbounded capacity to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altLang="en-US" dirty="0"/>
                  <a:t> plus the sum of all bounded capacities</a:t>
                </a:r>
              </a:p>
            </p:txBody>
          </p:sp>
        </mc:Choice>
        <mc:Fallback xmlns="">
          <p:sp>
            <p:nvSpPr>
              <p:cNvPr id="614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65" t="-769" b="-66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Separate demands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4703201" cy="3962400"/>
          </a:xfrm>
        </p:spPr>
        <p:txBody>
          <a:bodyPr/>
          <a:lstStyle/>
          <a:p>
            <a:r>
              <a:rPr lang="en-US" altLang="en-US" dirty="0"/>
              <a:t>Similar to maximum flow:</a:t>
            </a:r>
          </a:p>
          <a:p>
            <a:pPr lvl="1"/>
            <a:r>
              <a:rPr lang="en-US" altLang="en-US" dirty="0"/>
              <a:t>We can use a single source and sink</a:t>
            </a:r>
          </a:p>
          <a:p>
            <a:pPr lvl="1"/>
            <a:r>
              <a:rPr lang="en-US" altLang="en-US" dirty="0"/>
              <a:t>Or use multiple sources and multiple sinks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dirty="0"/>
              <a:t>We can also use </a:t>
            </a:r>
            <a:r>
              <a:rPr lang="en-US" altLang="en-US" dirty="0">
                <a:solidFill>
                  <a:srgbClr val="C00000"/>
                </a:solidFill>
              </a:rPr>
              <a:t>demand</a:t>
            </a:r>
            <a:r>
              <a:rPr lang="en-US" altLang="en-US" dirty="0"/>
              <a:t> per vertex that can be positive or negative:</a:t>
            </a:r>
          </a:p>
          <a:p>
            <a:pPr lvl="1"/>
            <a:r>
              <a:rPr lang="en-US" altLang="en-US" dirty="0"/>
              <a:t>Add super-source and super-sink</a:t>
            </a:r>
          </a:p>
          <a:p>
            <a:pPr lvl="1"/>
            <a:r>
              <a:rPr lang="en-US" altLang="en-US" dirty="0"/>
              <a:t>Set capacities of arcs between demand vertex and super-source/sink to the demand value</a:t>
            </a:r>
          </a:p>
          <a:p>
            <a:pPr lvl="1"/>
            <a:r>
              <a:rPr lang="en-US" altLang="en-US" dirty="0"/>
              <a:t>Set flow value to sum of positive demand values</a:t>
            </a:r>
          </a:p>
          <a:p>
            <a:pPr lvl="1"/>
            <a:r>
              <a:rPr lang="en-US" altLang="en-US" dirty="0"/>
              <a:t>Note: sum of demands should be zero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CDE357F-5150-48DB-949E-0E91FA09FE19}"/>
              </a:ext>
            </a:extLst>
          </p:cNvPr>
          <p:cNvGrpSpPr/>
          <p:nvPr/>
        </p:nvGrpSpPr>
        <p:grpSpPr>
          <a:xfrm>
            <a:off x="6156176" y="1196752"/>
            <a:ext cx="2743200" cy="4781128"/>
            <a:chOff x="6015880" y="1052736"/>
            <a:chExt cx="2743200" cy="4781128"/>
          </a:xfrm>
        </p:grpSpPr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B93F0C34-7B7E-42CC-ADD3-D991BAB11A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112928" y="1870088"/>
              <a:ext cx="2549103" cy="27432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vert270"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b="1" dirty="0">
                  <a:solidFill>
                    <a:schemeClr val="bg1"/>
                  </a:solidFill>
                </a:rPr>
                <a:t>G</a:t>
              </a:r>
              <a:endParaRPr lang="nl-NL" altLang="nl-NL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8" name="Line 29">
              <a:extLst>
                <a:ext uri="{FF2B5EF4-FFF2-40B4-BE49-F238E27FC236}">
                  <a16:creationId xmlns:a16="http://schemas.microsoft.com/office/drawing/2014/main" id="{D0549ECD-E042-4E4F-A7CB-51558EF8F0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09809" y="4500364"/>
              <a:ext cx="12192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" name="Oval 6">
              <a:extLst>
                <a:ext uri="{FF2B5EF4-FFF2-40B4-BE49-F238E27FC236}">
                  <a16:creationId xmlns:a16="http://schemas.microsoft.com/office/drawing/2014/main" id="{A543C53B-A1DC-4346-A58D-40005A2789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1494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0" name="Oval 7">
              <a:extLst>
                <a:ext uri="{FF2B5EF4-FFF2-40B4-BE49-F238E27FC236}">
                  <a16:creationId xmlns:a16="http://schemas.microsoft.com/office/drawing/2014/main" id="{2839F679-447C-4020-94FA-63581554FE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6160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1" name="Oval 8">
              <a:extLst>
                <a:ext uri="{FF2B5EF4-FFF2-40B4-BE49-F238E27FC236}">
                  <a16:creationId xmlns:a16="http://schemas.microsoft.com/office/drawing/2014/main" id="{5EAAEEB1-04B5-4DA6-AAE8-E66385CE1F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0826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2" name="Oval 9">
              <a:extLst>
                <a:ext uri="{FF2B5EF4-FFF2-40B4-BE49-F238E27FC236}">
                  <a16:creationId xmlns:a16="http://schemas.microsoft.com/office/drawing/2014/main" id="{F8CE93C0-0067-4604-884C-97F3A22DB0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549280" y="2271936"/>
              <a:ext cx="228600" cy="2286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3" name="Text Box 10">
              <a:extLst>
                <a:ext uri="{FF2B5EF4-FFF2-40B4-BE49-F238E27FC236}">
                  <a16:creationId xmlns:a16="http://schemas.microsoft.com/office/drawing/2014/main" id="{3983C0D7-7C4E-413F-9EC9-489D71207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157981" y="2304699"/>
              <a:ext cx="553998" cy="315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>
                  <a:solidFill>
                    <a:schemeClr val="bg1"/>
                  </a:solidFill>
                </a:rPr>
                <a:t>s</a:t>
              </a:r>
              <a:r>
                <a:rPr lang="en-US" altLang="nl-NL" sz="2400" i="0" baseline="-25000" dirty="0">
                  <a:solidFill>
                    <a:schemeClr val="bg1"/>
                  </a:solidFill>
                </a:rPr>
                <a:t>1</a:t>
              </a:r>
              <a:endParaRPr lang="nl-NL" altLang="nl-NL" sz="2400" i="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74" name="Text Box 11">
              <a:extLst>
                <a:ext uri="{FF2B5EF4-FFF2-40B4-BE49-F238E27FC236}">
                  <a16:creationId xmlns:a16="http://schemas.microsoft.com/office/drawing/2014/main" id="{ACD7F300-5085-45AD-AFE1-F648B2850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8202223" y="2391360"/>
              <a:ext cx="553998" cy="315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 err="1">
                  <a:solidFill>
                    <a:schemeClr val="bg1"/>
                  </a:solidFill>
                </a:rPr>
                <a:t>s</a:t>
              </a:r>
              <a:r>
                <a:rPr lang="en-US" altLang="nl-NL" sz="2400" baseline="-25000" dirty="0" err="1">
                  <a:solidFill>
                    <a:schemeClr val="bg1"/>
                  </a:solidFill>
                </a:rPr>
                <a:t>k</a:t>
              </a:r>
              <a:endParaRPr lang="nl-NL" altLang="nl-NL" sz="240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75" name="Oval 13">
              <a:extLst>
                <a:ext uri="{FF2B5EF4-FFF2-40B4-BE49-F238E27FC236}">
                  <a16:creationId xmlns:a16="http://schemas.microsoft.com/office/drawing/2014/main" id="{24CE0E25-ACFD-41EE-A2E0-F1B1E579DD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8446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6" name="Oval 14">
              <a:extLst>
                <a:ext uri="{FF2B5EF4-FFF2-40B4-BE49-F238E27FC236}">
                  <a16:creationId xmlns:a16="http://schemas.microsoft.com/office/drawing/2014/main" id="{BC1005D2-CDAA-4820-AC90-8EAAB0BB02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4255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7" name="Oval 15">
              <a:extLst>
                <a:ext uri="{FF2B5EF4-FFF2-40B4-BE49-F238E27FC236}">
                  <a16:creationId xmlns:a16="http://schemas.microsoft.com/office/drawing/2014/main" id="{10D39902-1E90-4857-A4B1-64C0141CC1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0064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8" name="Oval 16">
              <a:extLst>
                <a:ext uri="{FF2B5EF4-FFF2-40B4-BE49-F238E27FC236}">
                  <a16:creationId xmlns:a16="http://schemas.microsoft.com/office/drawing/2014/main" id="{726791D8-4524-4D71-ABE3-9E7B0F0E9A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5873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62F5B821-0301-4480-A2BE-3E00B9A41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170438" y="3729590"/>
              <a:ext cx="553998" cy="27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>
                  <a:solidFill>
                    <a:schemeClr val="bg1"/>
                  </a:solidFill>
                </a:rPr>
                <a:t>t</a:t>
              </a:r>
              <a:r>
                <a:rPr lang="en-US" altLang="nl-NL" sz="2400" i="0" baseline="-25000" dirty="0">
                  <a:solidFill>
                    <a:schemeClr val="bg1"/>
                  </a:solidFill>
                </a:rPr>
                <a:t>1</a:t>
              </a:r>
              <a:endParaRPr lang="nl-NL" altLang="nl-NL" sz="2400" i="0" dirty="0">
                <a:solidFill>
                  <a:schemeClr val="bg1"/>
                </a:solidFill>
              </a:endParaRPr>
            </a:p>
          </p:txBody>
        </p:sp>
        <p:sp>
          <p:nvSpPr>
            <p:cNvPr id="80" name="Text Box 18">
              <a:extLst>
                <a:ext uri="{FF2B5EF4-FFF2-40B4-BE49-F238E27FC236}">
                  <a16:creationId xmlns:a16="http://schemas.microsoft.com/office/drawing/2014/main" id="{12C8F42D-6DF6-4B98-A439-6799D233D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8325333" y="3761919"/>
              <a:ext cx="55399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vert270"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NL" sz="2400" dirty="0">
                  <a:solidFill>
                    <a:schemeClr val="bg1"/>
                  </a:solidFill>
                </a:rPr>
                <a:t>t</a:t>
              </a:r>
              <a:r>
                <a:rPr lang="en-US" altLang="nl-NL" sz="2400" baseline="-25000" dirty="0">
                  <a:solidFill>
                    <a:schemeClr val="bg1"/>
                  </a:solidFill>
                </a:rPr>
                <a:t>r</a:t>
              </a:r>
              <a:endParaRPr lang="nl-NL" altLang="nl-NL" sz="2400" dirty="0">
                <a:solidFill>
                  <a:schemeClr val="bg1"/>
                </a:solidFill>
              </a:endParaRPr>
            </a:p>
          </p:txBody>
        </p:sp>
        <p:sp>
          <p:nvSpPr>
            <p:cNvPr id="81" name="Line 20">
              <a:extLst>
                <a:ext uri="{FF2B5EF4-FFF2-40B4-BE49-F238E27FC236}">
                  <a16:creationId xmlns:a16="http://schemas.microsoft.com/office/drawing/2014/main" id="{82D197A2-A6C8-4D5C-B0EE-167434D7FD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406530" y="1452786"/>
              <a:ext cx="838200" cy="800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21">
              <a:extLst>
                <a:ext uri="{FF2B5EF4-FFF2-40B4-BE49-F238E27FC236}">
                  <a16:creationId xmlns:a16="http://schemas.microsoft.com/office/drawing/2014/main" id="{94DD6C21-570B-4A92-A085-6BA87D7327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082680" y="1738536"/>
              <a:ext cx="762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22">
              <a:extLst>
                <a:ext uri="{FF2B5EF4-FFF2-40B4-BE49-F238E27FC236}">
                  <a16:creationId xmlns:a16="http://schemas.microsoft.com/office/drawing/2014/main" id="{5BFA1F37-FAB6-47F7-B4BC-FF752D140E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77880" y="1814736"/>
              <a:ext cx="838200" cy="76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23">
              <a:extLst>
                <a:ext uri="{FF2B5EF4-FFF2-40B4-BE49-F238E27FC236}">
                  <a16:creationId xmlns:a16="http://schemas.microsoft.com/office/drawing/2014/main" id="{800EAED8-579D-499F-A402-1A78FC2C2D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73080" y="1586136"/>
              <a:ext cx="8382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Oval 24">
              <a:extLst>
                <a:ext uri="{FF2B5EF4-FFF2-40B4-BE49-F238E27FC236}">
                  <a16:creationId xmlns:a16="http://schemas.microsoft.com/office/drawing/2014/main" id="{2F94FB7D-EE75-491C-A420-4C7EE26BF5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235080" y="5376664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vert270"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nl-NL" sz="2400" dirty="0">
                  <a:solidFill>
                    <a:schemeClr val="bg1"/>
                  </a:solidFill>
                </a:rPr>
                <a:t>t</a:t>
              </a:r>
              <a:endParaRPr lang="nl-NL" altLang="nl-NL" sz="2400" dirty="0">
                <a:solidFill>
                  <a:schemeClr val="bg1"/>
                </a:solidFill>
              </a:endParaRPr>
            </a:p>
          </p:txBody>
        </p:sp>
        <p:sp>
          <p:nvSpPr>
            <p:cNvPr id="86" name="Line 25">
              <a:extLst>
                <a:ext uri="{FF2B5EF4-FFF2-40B4-BE49-F238E27FC236}">
                  <a16:creationId xmlns:a16="http://schemas.microsoft.com/office/drawing/2014/main" id="{6BC73350-8E4A-4F98-9317-A21C2E6596D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87480" y="4386064"/>
              <a:ext cx="12192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26">
              <a:extLst>
                <a:ext uri="{FF2B5EF4-FFF2-40B4-BE49-F238E27FC236}">
                  <a16:creationId xmlns:a16="http://schemas.microsoft.com/office/drawing/2014/main" id="{9A49F001-2010-4F08-BE3F-131716B317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58880" y="4614664"/>
              <a:ext cx="1143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27">
              <a:extLst>
                <a:ext uri="{FF2B5EF4-FFF2-40B4-BE49-F238E27FC236}">
                  <a16:creationId xmlns:a16="http://schemas.microsoft.com/office/drawing/2014/main" id="{374A63CE-F680-47D5-B919-D8916B75EF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92180" y="4805164"/>
              <a:ext cx="114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28">
              <a:extLst>
                <a:ext uri="{FF2B5EF4-FFF2-40B4-BE49-F238E27FC236}">
                  <a16:creationId xmlns:a16="http://schemas.microsoft.com/office/drawing/2014/main" id="{FE7FEF91-0D9C-4C04-A284-B7C09A4EA6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701680" y="4690864"/>
              <a:ext cx="11430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30">
              <a:extLst>
                <a:ext uri="{FF2B5EF4-FFF2-40B4-BE49-F238E27FC236}">
                  <a16:creationId xmlns:a16="http://schemas.microsoft.com/office/drawing/2014/main" id="{9FA7A671-C75D-4EBE-996E-7A27F8F0A2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87480" y="2986100"/>
              <a:ext cx="10668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31">
              <a:extLst>
                <a:ext uri="{FF2B5EF4-FFF2-40B4-BE49-F238E27FC236}">
                  <a16:creationId xmlns:a16="http://schemas.microsoft.com/office/drawing/2014/main" id="{17564A43-8684-4E1C-8402-8845F51AF3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49441" y="3162300"/>
              <a:ext cx="881063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Oval 12">
              <a:extLst>
                <a:ext uri="{FF2B5EF4-FFF2-40B4-BE49-F238E27FC236}">
                  <a16:creationId xmlns:a16="http://schemas.microsoft.com/office/drawing/2014/main" id="{0E01FA6E-B7E5-4455-85B8-B11DF1D147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263780" y="4005064"/>
              <a:ext cx="228600" cy="2286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nl-NL" sz="2400"/>
            </a:p>
          </p:txBody>
        </p:sp>
        <p:sp>
          <p:nvSpPr>
            <p:cNvPr id="93" name="Oval 19">
              <a:extLst>
                <a:ext uri="{FF2B5EF4-FFF2-40B4-BE49-F238E27FC236}">
                  <a16:creationId xmlns:a16="http://schemas.microsoft.com/office/drawing/2014/main" id="{1964C482-A3F2-459A-90A0-FAD23ACDBE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078447" y="1052736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vert270"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nl-NL" sz="2400" dirty="0">
                  <a:solidFill>
                    <a:schemeClr val="bg1"/>
                  </a:solidFill>
                </a:rPr>
                <a:t>s</a:t>
              </a:r>
              <a:endParaRPr lang="nl-NL" altLang="nl-NL" sz="2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Non-negative arc costs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4192488"/>
              </a:xfrm>
            </p:spPr>
            <p:txBody>
              <a:bodyPr/>
              <a:lstStyle/>
              <a:p>
                <a:r>
                  <a:rPr lang="en-GB" altLang="en-US" dirty="0"/>
                  <a:t>It is possible to transform an input to the case where all costs are non-negative</a:t>
                </a:r>
              </a:p>
              <a:p>
                <a:pPr lvl="1"/>
                <a:r>
                  <a:rPr lang="en-GB" altLang="en-US" dirty="0"/>
                  <a:t>Assume bounded capacity (or transform to this case)</a:t>
                </a:r>
              </a:p>
              <a:p>
                <a:pPr lvl="1"/>
                <a:r>
                  <a:rPr lang="en-GB" altLang="en-US" dirty="0"/>
                  <a:t>Transform to the super-source/sink model of the previous slide (even if there is only one source/sink) </a:t>
                </a:r>
              </a:p>
              <a:p>
                <a:pPr lvl="1"/>
                <a:r>
                  <a:rPr lang="en-GB" altLang="en-US" dirty="0"/>
                  <a:t>Then apply the following modification for each negative-cost arc:</a:t>
                </a:r>
              </a:p>
              <a:p>
                <a:pPr lvl="1"/>
                <a:endParaRPr lang="en-GB" altLang="en-US" dirty="0"/>
              </a:p>
              <a:p>
                <a:pPr lvl="1"/>
                <a:endParaRPr lang="en-GB" altLang="en-US" dirty="0"/>
              </a:p>
              <a:p>
                <a:pPr lvl="1"/>
                <a:endParaRPr lang="en-GB" altLang="en-US" sz="800" dirty="0"/>
              </a:p>
              <a:p>
                <a:pPr lvl="1"/>
                <a:endParaRPr lang="en-GB" altLang="en-US" dirty="0"/>
              </a:p>
              <a:p>
                <a:pPr lvl="1"/>
                <a:endParaRPr lang="en-GB" altLang="en-US" dirty="0"/>
              </a:p>
              <a:p>
                <a:pPr marL="457200" lvl="1" indent="0">
                  <a:buNone/>
                </a:pPr>
                <a:endParaRPr lang="en-GB" altLang="en-US" dirty="0"/>
              </a:p>
              <a:p>
                <a:pPr lvl="1"/>
                <a:endParaRPr lang="en-GB" altLang="en-US" sz="800" dirty="0"/>
              </a:p>
              <a:p>
                <a:pPr lvl="1"/>
                <a:r>
                  <a:rPr lang="en-GB" altLang="en-US" dirty="0"/>
                  <a:t>Add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altLang="en-US" dirty="0"/>
                  <a:t> to the required flow value and subtract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altLang="en-US" dirty="0"/>
                  <a:t> from the computed solution cost</a:t>
                </a:r>
              </a:p>
            </p:txBody>
          </p:sp>
        </mc:Choice>
        <mc:Fallback xmlns="">
          <p:sp>
            <p:nvSpPr>
              <p:cNvPr id="819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4192488"/>
              </a:xfrm>
              <a:blipFill>
                <a:blip r:embed="rId3"/>
                <a:stretch>
                  <a:fillRect l="-165" t="-727" r="-1154" b="-436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A6AC6E8-223D-415F-A040-12B96A9EB80D}"/>
              </a:ext>
            </a:extLst>
          </p:cNvPr>
          <p:cNvGrpSpPr/>
          <p:nvPr/>
        </p:nvGrpSpPr>
        <p:grpSpPr>
          <a:xfrm>
            <a:off x="2857500" y="3528802"/>
            <a:ext cx="3429000" cy="721630"/>
            <a:chOff x="2514600" y="4188924"/>
            <a:chExt cx="3429000" cy="721630"/>
          </a:xfrm>
        </p:grpSpPr>
        <p:sp>
          <p:nvSpPr>
            <p:cNvPr id="8199" name="Oval 4"/>
            <p:cNvSpPr>
              <a:spLocks noChangeArrowheads="1"/>
            </p:cNvSpPr>
            <p:nvPr/>
          </p:nvSpPr>
          <p:spPr bwMode="auto">
            <a:xfrm>
              <a:off x="2514600" y="42672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b</a:t>
              </a:r>
              <a:endParaRPr lang="nl-NL" altLang="en-US" sz="2400" dirty="0"/>
            </a:p>
          </p:txBody>
        </p:sp>
        <p:sp>
          <p:nvSpPr>
            <p:cNvPr id="8200" name="Oval 5"/>
            <p:cNvSpPr>
              <a:spLocks noChangeArrowheads="1"/>
            </p:cNvSpPr>
            <p:nvPr/>
          </p:nvSpPr>
          <p:spPr bwMode="auto">
            <a:xfrm>
              <a:off x="5410200" y="42672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a</a:t>
              </a:r>
              <a:endParaRPr lang="nl-NL" altLang="en-US" sz="2400" dirty="0"/>
            </a:p>
          </p:txBody>
        </p:sp>
        <p:sp>
          <p:nvSpPr>
            <p:cNvPr id="8205" name="Line 10"/>
            <p:cNvSpPr>
              <a:spLocks noChangeShapeType="1"/>
            </p:cNvSpPr>
            <p:nvPr/>
          </p:nvSpPr>
          <p:spPr bwMode="auto">
            <a:xfrm flipH="1" flipV="1">
              <a:off x="3048000" y="4527478"/>
              <a:ext cx="2332499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0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726538" y="4188924"/>
                  <a:ext cx="1053302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Cost:</a:t>
                  </a:r>
                  <a:r>
                    <a:rPr lang="en-US" alt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en-US" sz="16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820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6538" y="4188924"/>
                  <a:ext cx="1053302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2907" t="-7273" b="-2181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1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616059" y="4572000"/>
                  <a:ext cx="1333121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Capacity: </a:t>
                  </a:r>
                  <a14:m>
                    <m:oMath xmlns:m="http://schemas.openxmlformats.org/officeDocument/2006/math">
                      <m:r>
                        <a:rPr lang="en-US" altLang="en-US" sz="16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8210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16059" y="4572000"/>
                  <a:ext cx="1333121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826" t="-7273" b="-2181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222743-B507-4B86-8AA0-87266B2E149E}"/>
              </a:ext>
            </a:extLst>
          </p:cNvPr>
          <p:cNvGrpSpPr/>
          <p:nvPr/>
        </p:nvGrpSpPr>
        <p:grpSpPr>
          <a:xfrm>
            <a:off x="1282239" y="4780132"/>
            <a:ext cx="7315200" cy="737100"/>
            <a:chOff x="914400" y="5304284"/>
            <a:chExt cx="7315200" cy="737100"/>
          </a:xfrm>
        </p:grpSpPr>
        <p:sp>
          <p:nvSpPr>
            <p:cNvPr id="8207" name="Line 12"/>
            <p:cNvSpPr>
              <a:spLocks noChangeShapeType="1"/>
            </p:cNvSpPr>
            <p:nvPr/>
          </p:nvSpPr>
          <p:spPr bwMode="auto">
            <a:xfrm flipV="1">
              <a:off x="3124200" y="5676899"/>
              <a:ext cx="2286000" cy="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196" name="Line 13"/>
            <p:cNvSpPr>
              <a:spLocks noChangeShapeType="1"/>
            </p:cNvSpPr>
            <p:nvPr/>
          </p:nvSpPr>
          <p:spPr bwMode="auto">
            <a:xfrm>
              <a:off x="5943600" y="5683319"/>
              <a:ext cx="1752600" cy="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Oval 6"/>
            <p:cNvSpPr>
              <a:spLocks noChangeArrowheads="1"/>
            </p:cNvSpPr>
            <p:nvPr/>
          </p:nvSpPr>
          <p:spPr bwMode="auto">
            <a:xfrm>
              <a:off x="914400" y="54102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s</a:t>
              </a:r>
              <a:endParaRPr lang="nl-NL" altLang="en-US" sz="2400"/>
            </a:p>
          </p:txBody>
        </p:sp>
        <p:sp>
          <p:nvSpPr>
            <p:cNvPr id="8202" name="Oval 7"/>
            <p:cNvSpPr>
              <a:spLocks noChangeArrowheads="1"/>
            </p:cNvSpPr>
            <p:nvPr/>
          </p:nvSpPr>
          <p:spPr bwMode="auto">
            <a:xfrm>
              <a:off x="2807782" y="54102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b</a:t>
              </a:r>
              <a:endParaRPr lang="nl-NL" altLang="en-US" sz="2400"/>
            </a:p>
          </p:txBody>
        </p:sp>
        <p:sp>
          <p:nvSpPr>
            <p:cNvPr id="8203" name="Oval 8"/>
            <p:cNvSpPr>
              <a:spLocks noChangeArrowheads="1"/>
            </p:cNvSpPr>
            <p:nvPr/>
          </p:nvSpPr>
          <p:spPr bwMode="auto">
            <a:xfrm>
              <a:off x="5410200" y="54102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a</a:t>
              </a:r>
              <a:endParaRPr lang="nl-NL" altLang="en-US" sz="2400"/>
            </a:p>
          </p:txBody>
        </p:sp>
        <p:sp>
          <p:nvSpPr>
            <p:cNvPr id="8204" name="Oval 9"/>
            <p:cNvSpPr>
              <a:spLocks noChangeArrowheads="1"/>
            </p:cNvSpPr>
            <p:nvPr/>
          </p:nvSpPr>
          <p:spPr bwMode="auto">
            <a:xfrm>
              <a:off x="7696200" y="54102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t</a:t>
              </a:r>
              <a:endParaRPr lang="nl-NL" altLang="en-US" sz="2400"/>
            </a:p>
          </p:txBody>
        </p:sp>
        <p:sp>
          <p:nvSpPr>
            <p:cNvPr id="8206" name="Line 11"/>
            <p:cNvSpPr>
              <a:spLocks noChangeShapeType="1"/>
            </p:cNvSpPr>
            <p:nvPr/>
          </p:nvSpPr>
          <p:spPr bwMode="auto">
            <a:xfrm flipV="1">
              <a:off x="1447800" y="5676899"/>
              <a:ext cx="1359982" cy="4445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1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681233" y="5353533"/>
                  <a:ext cx="918841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Cost: </a:t>
                  </a:r>
                  <a14:m>
                    <m:oMath xmlns:m="http://schemas.openxmlformats.org/officeDocument/2006/math">
                      <m:r>
                        <a:rPr lang="en-US" alt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8215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1233" y="5353533"/>
                  <a:ext cx="918841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2649" t="-7143" b="-1964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21">
                  <a:extLst>
                    <a:ext uri="{FF2B5EF4-FFF2-40B4-BE49-F238E27FC236}">
                      <a16:creationId xmlns:a16="http://schemas.microsoft.com/office/drawing/2014/main" id="{282DC2EF-BA91-4CEA-AFB9-30AEE8E682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49349" y="5358398"/>
                  <a:ext cx="918841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Cost: </a:t>
                  </a:r>
                  <a14:m>
                    <m:oMath xmlns:m="http://schemas.openxmlformats.org/officeDocument/2006/math">
                      <m:r>
                        <a:rPr lang="en-US" alt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28" name="Text Box 21">
                  <a:extLst>
                    <a:ext uri="{FF2B5EF4-FFF2-40B4-BE49-F238E27FC236}">
                      <a16:creationId xmlns:a16="http://schemas.microsoft.com/office/drawing/2014/main" id="{282DC2EF-BA91-4CEA-AFB9-30AEE8E68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49349" y="5358398"/>
                  <a:ext cx="918841" cy="338554"/>
                </a:xfrm>
                <a:prstGeom prst="rect">
                  <a:avLst/>
                </a:prstGeom>
                <a:blipFill>
                  <a:blip r:embed="rId7"/>
                  <a:stretch>
                    <a:fillRect l="-3311" t="-7143" b="-1964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6">
                  <a:extLst>
                    <a:ext uri="{FF2B5EF4-FFF2-40B4-BE49-F238E27FC236}">
                      <a16:creationId xmlns:a16="http://schemas.microsoft.com/office/drawing/2014/main" id="{4514BF83-78FC-4EC3-B926-6A3ED50FAC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67857" y="5702830"/>
                  <a:ext cx="1333121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Capacity: </a:t>
                  </a:r>
                  <a14:m>
                    <m:oMath xmlns:m="http://schemas.openxmlformats.org/officeDocument/2006/math">
                      <m:r>
                        <a:rPr lang="en-US" altLang="en-US" sz="16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29" name="Text Box 16">
                  <a:extLst>
                    <a:ext uri="{FF2B5EF4-FFF2-40B4-BE49-F238E27FC236}">
                      <a16:creationId xmlns:a16="http://schemas.microsoft.com/office/drawing/2014/main" id="{4514BF83-78FC-4EC3-B926-6A3ED50FA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67857" y="5702830"/>
                  <a:ext cx="1333121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1826" t="-7273" b="-2181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6">
                  <a:extLst>
                    <a:ext uri="{FF2B5EF4-FFF2-40B4-BE49-F238E27FC236}">
                      <a16:creationId xmlns:a16="http://schemas.microsoft.com/office/drawing/2014/main" id="{212099F7-0A69-42FF-8DDB-D3B3E8D48D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00105" y="5684420"/>
                  <a:ext cx="1333121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Capacity: </a:t>
                  </a:r>
                  <a14:m>
                    <m:oMath xmlns:m="http://schemas.openxmlformats.org/officeDocument/2006/math">
                      <m:r>
                        <a:rPr lang="en-US" altLang="en-US" sz="16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30" name="Text Box 16">
                  <a:extLst>
                    <a:ext uri="{FF2B5EF4-FFF2-40B4-BE49-F238E27FC236}">
                      <a16:creationId xmlns:a16="http://schemas.microsoft.com/office/drawing/2014/main" id="{212099F7-0A69-42FF-8DDB-D3B3E8D48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00105" y="5684420"/>
                  <a:ext cx="1333121" cy="338554"/>
                </a:xfrm>
                <a:prstGeom prst="rect">
                  <a:avLst/>
                </a:prstGeom>
                <a:blipFill>
                  <a:blip r:embed="rId9"/>
                  <a:stretch>
                    <a:fillRect l="-1826" t="-7273" b="-20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16">
                  <a:extLst>
                    <a:ext uri="{FF2B5EF4-FFF2-40B4-BE49-F238E27FC236}">
                      <a16:creationId xmlns:a16="http://schemas.microsoft.com/office/drawing/2014/main" id="{B0EEACB1-EF76-495F-8BC7-193F1AFD2E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76946" y="5676899"/>
                  <a:ext cx="1333121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Capacity: </a:t>
                  </a:r>
                  <a14:m>
                    <m:oMath xmlns:m="http://schemas.openxmlformats.org/officeDocument/2006/math">
                      <m:r>
                        <a:rPr lang="en-US" altLang="en-US" sz="16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31" name="Text Box 16">
                  <a:extLst>
                    <a:ext uri="{FF2B5EF4-FFF2-40B4-BE49-F238E27FC236}">
                      <a16:creationId xmlns:a16="http://schemas.microsoft.com/office/drawing/2014/main" id="{B0EEACB1-EF76-495F-8BC7-193F1AFD2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76946" y="5676899"/>
                  <a:ext cx="1333121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2294" t="-7143" b="-1964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4">
                  <a:extLst>
                    <a:ext uri="{FF2B5EF4-FFF2-40B4-BE49-F238E27FC236}">
                      <a16:creationId xmlns:a16="http://schemas.microsoft.com/office/drawing/2014/main" id="{6E031B42-99B5-4CA8-B40B-EA252E09B4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01752" y="5304284"/>
                  <a:ext cx="899413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Cost:</a:t>
                  </a:r>
                  <a:r>
                    <a:rPr lang="en-US" alt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nl-NL" altLang="en-US" sz="1600" dirty="0"/>
                </a:p>
              </p:txBody>
            </p:sp>
          </mc:Choice>
          <mc:Fallback xmlns="">
            <p:sp>
              <p:nvSpPr>
                <p:cNvPr id="32" name="Text Box 14">
                  <a:extLst>
                    <a:ext uri="{FF2B5EF4-FFF2-40B4-BE49-F238E27FC236}">
                      <a16:creationId xmlns:a16="http://schemas.microsoft.com/office/drawing/2014/main" id="{6E031B42-99B5-4CA8-B40B-EA252E09B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01752" y="5304284"/>
                  <a:ext cx="899413" cy="338554"/>
                </a:xfrm>
                <a:prstGeom prst="rect">
                  <a:avLst/>
                </a:prstGeom>
                <a:blipFill>
                  <a:blip r:embed="rId11"/>
                  <a:stretch>
                    <a:fillRect l="-3378" t="-7143" b="-1964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D658297D-7164-44FF-8B60-6654F68CC0D3}"/>
              </a:ext>
            </a:extLst>
          </p:cNvPr>
          <p:cNvSpPr/>
          <p:nvPr/>
        </p:nvSpPr>
        <p:spPr bwMode="auto">
          <a:xfrm rot="5400000">
            <a:off x="4320334" y="4270418"/>
            <a:ext cx="504507" cy="503252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COST FLOW: </a:t>
            </a:r>
          </a:p>
          <a:p>
            <a:r>
              <a:rPr lang="en-US" dirty="0"/>
              <a:t>APPLICATIONS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572068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Applications</a:t>
            </a:r>
          </a:p>
        </p:txBody>
      </p:sp>
      <p:sp>
        <p:nvSpPr>
          <p:cNvPr id="9221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Transport problems</a:t>
            </a:r>
          </a:p>
          <a:p>
            <a:pPr lvl="1"/>
            <a:r>
              <a:rPr lang="en-GB" altLang="en-US" dirty="0"/>
              <a:t>Minimum cost container flows</a:t>
            </a:r>
          </a:p>
          <a:p>
            <a:r>
              <a:rPr lang="en-GB" altLang="en-US" dirty="0"/>
              <a:t>Minimum cost bipartite matchings</a:t>
            </a:r>
          </a:p>
          <a:p>
            <a:endParaRPr lang="en-GB" altLang="en-US" dirty="0"/>
          </a:p>
          <a:p>
            <a:r>
              <a:rPr lang="en-GB" altLang="en-US" dirty="0"/>
              <a:t>Reconstruction of Left Ventricle from X-ray projections</a:t>
            </a:r>
          </a:p>
          <a:p>
            <a:pPr lvl="1"/>
            <a:r>
              <a:rPr lang="en-GB" altLang="en-US" dirty="0"/>
              <a:t>Input: 2d bit array (image) for which are known:</a:t>
            </a:r>
          </a:p>
          <a:p>
            <a:pPr lvl="2"/>
            <a:r>
              <a:rPr lang="en-GB" altLang="en-US" dirty="0"/>
              <a:t>Sums of column values (per column)</a:t>
            </a:r>
          </a:p>
          <a:p>
            <a:pPr lvl="2"/>
            <a:r>
              <a:rPr lang="en-GB" altLang="en-US" dirty="0"/>
              <a:t>Sums of row values (per row)</a:t>
            </a:r>
          </a:p>
          <a:p>
            <a:pPr lvl="2"/>
            <a:r>
              <a:rPr lang="en-GB" altLang="en-US" dirty="0"/>
              <a:t>Probabilities for each bit</a:t>
            </a:r>
          </a:p>
          <a:p>
            <a:pPr lvl="1"/>
            <a:r>
              <a:rPr lang="en-GB" altLang="en-US" dirty="0"/>
              <a:t>Look for image with correct row and column sums of maximum probability</a:t>
            </a:r>
          </a:p>
          <a:p>
            <a:pPr lvl="1"/>
            <a:r>
              <a:rPr lang="en-GB" altLang="en-US" dirty="0"/>
              <a:t>Can be modelled as minimum cost flow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Application: optimal loading </a:t>
            </a:r>
            <a:br>
              <a:rPr lang="en-GB" altLang="en-US" dirty="0"/>
            </a:br>
            <a:r>
              <a:rPr lang="en-GB" altLang="en-US" dirty="0"/>
              <a:t>of hopping airplane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14F37C3-63CC-45A3-91CB-31A8C94C2B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391400" cy="205739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Problem:</a:t>
                </a:r>
              </a:p>
              <a:p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baseline="-25000" dirty="0" err="1" smtClean="0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altLang="en-US" dirty="0"/>
                  <a:t> be the number of passengers/goods that can be transported from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dirty="0"/>
                  <a:t> to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en-US" dirty="0"/>
              </a:p>
              <a:p>
                <a:r>
                  <a:rPr lang="en-US" altLang="en-US" dirty="0"/>
                  <a:t>Each passenger/good gives a profit of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baseline="-25000" dirty="0" err="1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endParaRPr lang="en-US" altLang="en-US" baseline="-25000" dirty="0"/>
              </a:p>
              <a:p>
                <a:r>
                  <a:rPr lang="en-US" altLang="en-US" dirty="0"/>
                  <a:t>The plane can never carry more than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dirty="0"/>
                  <a:t> passengers/goods</a:t>
                </a:r>
              </a:p>
              <a:p>
                <a:r>
                  <a:rPr lang="en-US" altLang="en-US" dirty="0"/>
                  <a:t>What is the maximum profit flight plan?</a:t>
                </a:r>
                <a:endParaRPr lang="nl-NL" altLang="en-US" dirty="0"/>
              </a:p>
              <a:p>
                <a:endParaRPr lang="en-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14F37C3-63CC-45A3-91CB-31A8C94C2B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2057399"/>
              </a:xfrm>
              <a:blipFill>
                <a:blip r:embed="rId3"/>
                <a:stretch>
                  <a:fillRect l="-660" t="-148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DA593C9-3189-4E27-8C87-1E1043166D71}"/>
              </a:ext>
            </a:extLst>
          </p:cNvPr>
          <p:cNvGrpSpPr/>
          <p:nvPr/>
        </p:nvGrpSpPr>
        <p:grpSpPr>
          <a:xfrm>
            <a:off x="2963639" y="1537688"/>
            <a:ext cx="5867400" cy="381000"/>
            <a:chOff x="1447800" y="1524000"/>
            <a:chExt cx="5867400" cy="381000"/>
          </a:xfrm>
        </p:grpSpPr>
        <p:sp>
          <p:nvSpPr>
            <p:cNvPr id="10245" name="Oval 4"/>
            <p:cNvSpPr>
              <a:spLocks noChangeArrowheads="1"/>
            </p:cNvSpPr>
            <p:nvPr/>
          </p:nvSpPr>
          <p:spPr bwMode="auto">
            <a:xfrm>
              <a:off x="144780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1</a:t>
              </a:r>
              <a:endParaRPr lang="nl-NL" altLang="en-US" sz="2400" dirty="0"/>
            </a:p>
          </p:txBody>
        </p:sp>
        <p:sp>
          <p:nvSpPr>
            <p:cNvPr id="10246" name="Line 5"/>
            <p:cNvSpPr>
              <a:spLocks noChangeShapeType="1"/>
            </p:cNvSpPr>
            <p:nvPr/>
          </p:nvSpPr>
          <p:spPr bwMode="auto">
            <a:xfrm>
              <a:off x="1828800" y="1700808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7" name="Oval 6"/>
            <p:cNvSpPr>
              <a:spLocks noChangeArrowheads="1"/>
            </p:cNvSpPr>
            <p:nvPr/>
          </p:nvSpPr>
          <p:spPr bwMode="auto">
            <a:xfrm>
              <a:off x="236220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2</a:t>
              </a:r>
              <a:endParaRPr lang="nl-NL" altLang="en-US" sz="2400" dirty="0"/>
            </a:p>
          </p:txBody>
        </p:sp>
        <p:sp>
          <p:nvSpPr>
            <p:cNvPr id="10248" name="Line 7"/>
            <p:cNvSpPr>
              <a:spLocks noChangeShapeType="1"/>
            </p:cNvSpPr>
            <p:nvPr/>
          </p:nvSpPr>
          <p:spPr bwMode="auto">
            <a:xfrm>
              <a:off x="2743200" y="1700808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Oval 8"/>
            <p:cNvSpPr>
              <a:spLocks noChangeArrowheads="1"/>
            </p:cNvSpPr>
            <p:nvPr/>
          </p:nvSpPr>
          <p:spPr bwMode="auto">
            <a:xfrm>
              <a:off x="327660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3</a:t>
              </a:r>
            </a:p>
          </p:txBody>
        </p:sp>
        <p:sp>
          <p:nvSpPr>
            <p:cNvPr id="10250" name="Line 9"/>
            <p:cNvSpPr>
              <a:spLocks noChangeShapeType="1"/>
            </p:cNvSpPr>
            <p:nvPr/>
          </p:nvSpPr>
          <p:spPr bwMode="auto">
            <a:xfrm>
              <a:off x="3657600" y="1700808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Oval 10"/>
            <p:cNvSpPr>
              <a:spLocks noChangeArrowheads="1"/>
            </p:cNvSpPr>
            <p:nvPr/>
          </p:nvSpPr>
          <p:spPr bwMode="auto">
            <a:xfrm>
              <a:off x="419100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252" name="Line 11"/>
            <p:cNvSpPr>
              <a:spLocks noChangeShapeType="1"/>
            </p:cNvSpPr>
            <p:nvPr/>
          </p:nvSpPr>
          <p:spPr bwMode="auto">
            <a:xfrm>
              <a:off x="4572000" y="1700808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Oval 12"/>
            <p:cNvSpPr>
              <a:spLocks noChangeArrowheads="1"/>
            </p:cNvSpPr>
            <p:nvPr/>
          </p:nvSpPr>
          <p:spPr bwMode="auto">
            <a:xfrm>
              <a:off x="510540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254" name="Line 13"/>
            <p:cNvSpPr>
              <a:spLocks noChangeShapeType="1"/>
            </p:cNvSpPr>
            <p:nvPr/>
          </p:nvSpPr>
          <p:spPr bwMode="auto">
            <a:xfrm>
              <a:off x="5486400" y="1700808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Oval 14"/>
            <p:cNvSpPr>
              <a:spLocks noChangeArrowheads="1"/>
            </p:cNvSpPr>
            <p:nvPr/>
          </p:nvSpPr>
          <p:spPr bwMode="auto">
            <a:xfrm>
              <a:off x="601980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256" name="Line 15"/>
            <p:cNvSpPr>
              <a:spLocks noChangeShapeType="1"/>
            </p:cNvSpPr>
            <p:nvPr/>
          </p:nvSpPr>
          <p:spPr bwMode="auto">
            <a:xfrm>
              <a:off x="6400800" y="1700808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7" name="Oval 16"/>
            <p:cNvSpPr>
              <a:spLocks noChangeArrowheads="1"/>
            </p:cNvSpPr>
            <p:nvPr/>
          </p:nvSpPr>
          <p:spPr bwMode="auto">
            <a:xfrm>
              <a:off x="693420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cs typeface="Times New Roman" panose="02020603050405020304" pitchFamily="18" charset="0"/>
                </a:rPr>
                <a:t>n</a:t>
              </a:r>
              <a:endParaRPr lang="nl-NL" altLang="en-US" sz="2400" dirty="0"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84" name="Text Box 48"/>
              <p:cNvSpPr txBox="1">
                <a:spLocks noChangeArrowheads="1"/>
              </p:cNvSpPr>
              <p:nvPr/>
            </p:nvSpPr>
            <p:spPr bwMode="auto">
              <a:xfrm>
                <a:off x="4339883" y="4163398"/>
                <a:ext cx="2233240" cy="190385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/>
                  <a:t>Capacity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800" i="0" dirty="0"/>
                  <a:t> </a:t>
                </a:r>
                <a:r>
                  <a:rPr lang="en-US" altLang="en-US" sz="1800" i="0" dirty="0">
                    <a:latin typeface="Symbol" pitchFamily="18" charset="2"/>
                  </a:rPr>
                  <a:t>®</a:t>
                </a:r>
                <a:r>
                  <a:rPr lang="en-US" altLang="en-US" sz="1800" i="0" dirty="0"/>
                  <a:t>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1800" i="0" dirty="0"/>
                  <a:t>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en-US" sz="1800" dirty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/>
                  <a:t>Node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altLang="en-US" sz="1800" dirty="0"/>
                  <a:t> has supply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1800" i="1" baseline="-25000" dirty="0" err="1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endParaRPr lang="en-US" altLang="en-US" sz="1800" baseline="-25000" dirty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/>
                  <a:t>Cost from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altLang="en-US" sz="1800" dirty="0"/>
                  <a:t> to i: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8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1800" i="1" baseline="-25000" dirty="0" err="1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endParaRPr lang="en-US" altLang="en-US" sz="1800" dirty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/>
                  <a:t>Node i has demand </a:t>
                </a:r>
                <a:br>
                  <a:rPr lang="en-US" altLang="en-US" sz="18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nl-NL" altLang="en-US" sz="1800" dirty="0"/>
              </a:p>
            </p:txBody>
          </p:sp>
        </mc:Choice>
        <mc:Fallback xmlns="">
          <p:sp>
            <p:nvSpPr>
              <p:cNvPr id="10284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9883" y="4163398"/>
                <a:ext cx="2233240" cy="1903855"/>
              </a:xfrm>
              <a:prstGeom prst="rect">
                <a:avLst/>
              </a:prstGeom>
              <a:blipFill>
                <a:blip r:embed="rId4"/>
                <a:stretch>
                  <a:fillRect l="-2180" t="-223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85" name="Text Box 49"/>
              <p:cNvSpPr txBox="1">
                <a:spLocks noChangeArrowheads="1"/>
              </p:cNvSpPr>
              <p:nvPr/>
            </p:nvSpPr>
            <p:spPr bwMode="auto">
              <a:xfrm>
                <a:off x="7013844" y="4572000"/>
                <a:ext cx="1717137" cy="92333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/>
                  <a:t>All other arcs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/>
                  <a:t>infinite capacity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/>
                  <a:t>All other costs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nl-NL" altLang="en-US" sz="1800" dirty="0"/>
              </a:p>
            </p:txBody>
          </p:sp>
        </mc:Choice>
        <mc:Fallback xmlns="">
          <p:sp>
            <p:nvSpPr>
              <p:cNvPr id="10285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3844" y="4572000"/>
                <a:ext cx="1717137" cy="923330"/>
              </a:xfrm>
              <a:prstGeom prst="rect">
                <a:avLst/>
              </a:prstGeom>
              <a:blipFill>
                <a:blip r:embed="rId5"/>
                <a:stretch>
                  <a:fillRect l="-2837" t="-3289" r="-1064" b="-921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DCF5FEC-E543-4D4A-A36B-B6E13FA21A13}"/>
              </a:ext>
            </a:extLst>
          </p:cNvPr>
          <p:cNvGrpSpPr/>
          <p:nvPr/>
        </p:nvGrpSpPr>
        <p:grpSpPr>
          <a:xfrm>
            <a:off x="371475" y="4114800"/>
            <a:ext cx="3124200" cy="1828800"/>
            <a:chOff x="371475" y="4114800"/>
            <a:chExt cx="3124200" cy="1828800"/>
          </a:xfrm>
        </p:grpSpPr>
        <p:sp>
          <p:nvSpPr>
            <p:cNvPr id="10259" name="Oval 21"/>
            <p:cNvSpPr>
              <a:spLocks noChangeArrowheads="1"/>
            </p:cNvSpPr>
            <p:nvPr/>
          </p:nvSpPr>
          <p:spPr bwMode="auto">
            <a:xfrm>
              <a:off x="371475" y="5562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1</a:t>
              </a:r>
              <a:endParaRPr lang="nl-NL" altLang="en-US" sz="2400"/>
            </a:p>
          </p:txBody>
        </p:sp>
        <p:sp>
          <p:nvSpPr>
            <p:cNvPr id="10260" name="Line 22"/>
            <p:cNvSpPr>
              <a:spLocks noChangeShapeType="1"/>
            </p:cNvSpPr>
            <p:nvPr/>
          </p:nvSpPr>
          <p:spPr bwMode="auto">
            <a:xfrm>
              <a:off x="752475" y="5715000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1" name="Oval 23"/>
            <p:cNvSpPr>
              <a:spLocks noChangeArrowheads="1"/>
            </p:cNvSpPr>
            <p:nvPr/>
          </p:nvSpPr>
          <p:spPr bwMode="auto">
            <a:xfrm>
              <a:off x="1285875" y="5562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2</a:t>
              </a:r>
              <a:endParaRPr lang="nl-NL" altLang="en-US" sz="2400"/>
            </a:p>
          </p:txBody>
        </p:sp>
        <p:sp>
          <p:nvSpPr>
            <p:cNvPr id="10262" name="Line 24"/>
            <p:cNvSpPr>
              <a:spLocks noChangeShapeType="1"/>
            </p:cNvSpPr>
            <p:nvPr/>
          </p:nvSpPr>
          <p:spPr bwMode="auto">
            <a:xfrm>
              <a:off x="1666875" y="5715000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3" name="Oval 25"/>
            <p:cNvSpPr>
              <a:spLocks noChangeArrowheads="1"/>
            </p:cNvSpPr>
            <p:nvPr/>
          </p:nvSpPr>
          <p:spPr bwMode="auto">
            <a:xfrm>
              <a:off x="2200275" y="5562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3</a:t>
              </a:r>
              <a:endParaRPr lang="nl-NL" altLang="en-US" sz="2400"/>
            </a:p>
          </p:txBody>
        </p:sp>
        <p:sp>
          <p:nvSpPr>
            <p:cNvPr id="10264" name="Line 26"/>
            <p:cNvSpPr>
              <a:spLocks noChangeShapeType="1"/>
            </p:cNvSpPr>
            <p:nvPr/>
          </p:nvSpPr>
          <p:spPr bwMode="auto">
            <a:xfrm>
              <a:off x="2581275" y="5715000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5" name="Oval 27"/>
            <p:cNvSpPr>
              <a:spLocks noChangeArrowheads="1"/>
            </p:cNvSpPr>
            <p:nvPr/>
          </p:nvSpPr>
          <p:spPr bwMode="auto">
            <a:xfrm>
              <a:off x="3114675" y="5562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4</a:t>
              </a:r>
              <a:endParaRPr lang="nl-NL" altLang="en-US" sz="2400"/>
            </a:p>
          </p:txBody>
        </p:sp>
        <p:sp>
          <p:nvSpPr>
            <p:cNvPr id="10269" name="Line 31"/>
            <p:cNvSpPr>
              <a:spLocks noChangeShapeType="1"/>
            </p:cNvSpPr>
            <p:nvPr/>
          </p:nvSpPr>
          <p:spPr bwMode="auto">
            <a:xfrm flipV="1">
              <a:off x="600075" y="5334000"/>
              <a:ext cx="228600" cy="228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0" name="Line 32"/>
            <p:cNvSpPr>
              <a:spLocks noChangeShapeType="1"/>
            </p:cNvSpPr>
            <p:nvPr/>
          </p:nvSpPr>
          <p:spPr bwMode="auto">
            <a:xfrm flipV="1">
              <a:off x="1590675" y="5334000"/>
              <a:ext cx="228600" cy="228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Line 33"/>
            <p:cNvSpPr>
              <a:spLocks noChangeShapeType="1"/>
            </p:cNvSpPr>
            <p:nvPr/>
          </p:nvSpPr>
          <p:spPr bwMode="auto">
            <a:xfrm flipV="1">
              <a:off x="2505075" y="5334000"/>
              <a:ext cx="228600" cy="228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2" name="Line 34"/>
            <p:cNvSpPr>
              <a:spLocks noChangeShapeType="1"/>
            </p:cNvSpPr>
            <p:nvPr/>
          </p:nvSpPr>
          <p:spPr bwMode="auto">
            <a:xfrm>
              <a:off x="1133475" y="5334000"/>
              <a:ext cx="228600" cy="2286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Line 35"/>
            <p:cNvSpPr>
              <a:spLocks noChangeShapeType="1"/>
            </p:cNvSpPr>
            <p:nvPr/>
          </p:nvSpPr>
          <p:spPr bwMode="auto">
            <a:xfrm>
              <a:off x="2047875" y="5334000"/>
              <a:ext cx="228600" cy="2286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Line 36"/>
            <p:cNvSpPr>
              <a:spLocks noChangeShapeType="1"/>
            </p:cNvSpPr>
            <p:nvPr/>
          </p:nvSpPr>
          <p:spPr bwMode="auto">
            <a:xfrm>
              <a:off x="2962275" y="5334000"/>
              <a:ext cx="228600" cy="2286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5" name="Oval 37"/>
            <p:cNvSpPr>
              <a:spLocks noChangeArrowheads="1"/>
            </p:cNvSpPr>
            <p:nvPr/>
          </p:nvSpPr>
          <p:spPr bwMode="auto">
            <a:xfrm>
              <a:off x="600075" y="4572000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13</a:t>
              </a:r>
              <a:endParaRPr lang="nl-NL" altLang="en-US" sz="2400" dirty="0"/>
            </a:p>
          </p:txBody>
        </p:sp>
        <p:sp>
          <p:nvSpPr>
            <p:cNvPr id="10276" name="Oval 38"/>
            <p:cNvSpPr>
              <a:spLocks noChangeArrowheads="1"/>
            </p:cNvSpPr>
            <p:nvPr/>
          </p:nvSpPr>
          <p:spPr bwMode="auto">
            <a:xfrm>
              <a:off x="371475" y="4114800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14</a:t>
              </a:r>
              <a:endParaRPr lang="nl-NL" altLang="en-US" sz="2400" dirty="0"/>
            </a:p>
          </p:txBody>
        </p:sp>
        <p:sp>
          <p:nvSpPr>
            <p:cNvPr id="10277" name="Oval 39"/>
            <p:cNvSpPr>
              <a:spLocks noChangeArrowheads="1"/>
            </p:cNvSpPr>
            <p:nvPr/>
          </p:nvSpPr>
          <p:spPr bwMode="auto">
            <a:xfrm>
              <a:off x="1666875" y="4191000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24</a:t>
              </a:r>
              <a:endParaRPr lang="nl-NL" altLang="en-US" sz="2400"/>
            </a:p>
          </p:txBody>
        </p:sp>
        <p:sp>
          <p:nvSpPr>
            <p:cNvPr id="10278" name="Line 42"/>
            <p:cNvSpPr>
              <a:spLocks noChangeShapeType="1"/>
            </p:cNvSpPr>
            <p:nvPr/>
          </p:nvSpPr>
          <p:spPr bwMode="auto">
            <a:xfrm flipV="1">
              <a:off x="523875" y="4953000"/>
              <a:ext cx="228600" cy="609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9" name="Line 43"/>
            <p:cNvSpPr>
              <a:spLocks noChangeShapeType="1"/>
            </p:cNvSpPr>
            <p:nvPr/>
          </p:nvSpPr>
          <p:spPr bwMode="auto">
            <a:xfrm>
              <a:off x="904875" y="4876800"/>
              <a:ext cx="1295400" cy="7620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0" name="Line 44"/>
            <p:cNvSpPr>
              <a:spLocks noChangeShapeType="1"/>
            </p:cNvSpPr>
            <p:nvPr/>
          </p:nvSpPr>
          <p:spPr bwMode="auto">
            <a:xfrm>
              <a:off x="752475" y="4419600"/>
              <a:ext cx="2362200" cy="12192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1" name="Line 45"/>
            <p:cNvSpPr>
              <a:spLocks noChangeShapeType="1"/>
            </p:cNvSpPr>
            <p:nvPr/>
          </p:nvSpPr>
          <p:spPr bwMode="auto">
            <a:xfrm>
              <a:off x="1983432" y="4547588"/>
              <a:ext cx="1143000" cy="10668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2" name="Line 46"/>
            <p:cNvSpPr>
              <a:spLocks noChangeShapeType="1"/>
            </p:cNvSpPr>
            <p:nvPr/>
          </p:nvSpPr>
          <p:spPr bwMode="auto">
            <a:xfrm flipV="1">
              <a:off x="1514475" y="4572000"/>
              <a:ext cx="228600" cy="990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3" name="Line 47"/>
            <p:cNvSpPr>
              <a:spLocks noChangeShapeType="1"/>
            </p:cNvSpPr>
            <p:nvPr/>
          </p:nvSpPr>
          <p:spPr bwMode="auto">
            <a:xfrm flipV="1">
              <a:off x="447675" y="4495800"/>
              <a:ext cx="0" cy="10668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6" name="Oval 28"/>
            <p:cNvSpPr>
              <a:spLocks noChangeArrowheads="1"/>
            </p:cNvSpPr>
            <p:nvPr/>
          </p:nvSpPr>
          <p:spPr bwMode="auto">
            <a:xfrm>
              <a:off x="828675" y="5029200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12</a:t>
              </a:r>
              <a:endParaRPr lang="nl-NL" altLang="en-US" sz="2400" dirty="0"/>
            </a:p>
          </p:txBody>
        </p:sp>
        <p:sp>
          <p:nvSpPr>
            <p:cNvPr id="10267" name="Oval 29"/>
            <p:cNvSpPr>
              <a:spLocks noChangeArrowheads="1"/>
            </p:cNvSpPr>
            <p:nvPr/>
          </p:nvSpPr>
          <p:spPr bwMode="auto">
            <a:xfrm>
              <a:off x="1743075" y="5029200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23</a:t>
              </a:r>
              <a:endParaRPr lang="nl-NL" altLang="en-US" sz="2400" dirty="0"/>
            </a:p>
          </p:txBody>
        </p:sp>
        <p:sp>
          <p:nvSpPr>
            <p:cNvPr id="10268" name="Oval 30"/>
            <p:cNvSpPr>
              <a:spLocks noChangeArrowheads="1"/>
            </p:cNvSpPr>
            <p:nvPr/>
          </p:nvSpPr>
          <p:spPr bwMode="auto">
            <a:xfrm>
              <a:off x="2657475" y="5029200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34</a:t>
              </a:r>
              <a:endParaRPr lang="nl-NL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4" grpId="0" animBg="1"/>
      <p:bldP spid="1028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C637-BCA0-4526-ADB3-AD86C592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separate demands and supplies to standard min-cost flow</a:t>
            </a:r>
            <a:endParaRPr lang="nl-NL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0727AA0-5885-4288-BE41-C77C408FD081}"/>
              </a:ext>
            </a:extLst>
          </p:cNvPr>
          <p:cNvGrpSpPr/>
          <p:nvPr/>
        </p:nvGrpSpPr>
        <p:grpSpPr>
          <a:xfrm>
            <a:off x="1763688" y="1700808"/>
            <a:ext cx="5121395" cy="4235251"/>
            <a:chOff x="2555776" y="2129036"/>
            <a:chExt cx="5121395" cy="4235251"/>
          </a:xfrm>
        </p:grpSpPr>
        <p:sp>
          <p:nvSpPr>
            <p:cNvPr id="7" name="Oval 21">
              <a:extLst>
                <a:ext uri="{FF2B5EF4-FFF2-40B4-BE49-F238E27FC236}">
                  <a16:creationId xmlns:a16="http://schemas.microsoft.com/office/drawing/2014/main" id="{6C5EB16D-DF9D-4862-9F71-7D5919B4A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728592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1</a:t>
              </a:r>
              <a:endParaRPr lang="nl-NL" altLang="en-US" sz="2400"/>
            </a:p>
          </p:txBody>
        </p:sp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E680F323-5518-47EF-A59F-4667E63AE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4880992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23">
              <a:extLst>
                <a:ext uri="{FF2B5EF4-FFF2-40B4-BE49-F238E27FC236}">
                  <a16:creationId xmlns:a16="http://schemas.microsoft.com/office/drawing/2014/main" id="{8B5499D7-B35A-4845-97D9-0C2B6B398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728592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2</a:t>
              </a:r>
              <a:endParaRPr lang="nl-NL" altLang="en-US" sz="2400"/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2FF7AA73-1247-4909-9AE4-D210604B8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4880992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25">
              <a:extLst>
                <a:ext uri="{FF2B5EF4-FFF2-40B4-BE49-F238E27FC236}">
                  <a16:creationId xmlns:a16="http://schemas.microsoft.com/office/drawing/2014/main" id="{B8B1A0BE-B37A-472A-B443-43FAD092A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728592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3</a:t>
              </a:r>
              <a:endParaRPr lang="nl-NL" altLang="en-US" sz="2400"/>
            </a:p>
          </p:txBody>
        </p:sp>
        <p:sp>
          <p:nvSpPr>
            <p:cNvPr id="12" name="Line 26">
              <a:extLst>
                <a:ext uri="{FF2B5EF4-FFF2-40B4-BE49-F238E27FC236}">
                  <a16:creationId xmlns:a16="http://schemas.microsoft.com/office/drawing/2014/main" id="{037DC65B-B1AB-46ED-836A-815CB7C35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4880992"/>
              <a:ext cx="5334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27">
              <a:extLst>
                <a:ext uri="{FF2B5EF4-FFF2-40B4-BE49-F238E27FC236}">
                  <a16:creationId xmlns:a16="http://schemas.microsoft.com/office/drawing/2014/main" id="{71A505EC-574E-49A5-A006-CF0E8D290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728592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4</a:t>
              </a:r>
              <a:endParaRPr lang="nl-NL" altLang="en-US" sz="2400"/>
            </a:p>
          </p:txBody>
        </p:sp>
        <p:sp>
          <p:nvSpPr>
            <p:cNvPr id="17" name="Line 31">
              <a:extLst>
                <a:ext uri="{FF2B5EF4-FFF2-40B4-BE49-F238E27FC236}">
                  <a16:creationId xmlns:a16="http://schemas.microsoft.com/office/drawing/2014/main" id="{242D7C8A-16E2-4BD8-8BCE-0DA58ECF2B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4200" y="4499992"/>
              <a:ext cx="228600" cy="228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37B94D90-8792-40B0-A79C-BE6888F513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4800" y="4499992"/>
              <a:ext cx="228600" cy="228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83E8B4A6-9C90-446F-BBED-03EDC5DC6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29200" y="4499992"/>
              <a:ext cx="228600" cy="228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34">
              <a:extLst>
                <a:ext uri="{FF2B5EF4-FFF2-40B4-BE49-F238E27FC236}">
                  <a16:creationId xmlns:a16="http://schemas.microsoft.com/office/drawing/2014/main" id="{1196D72F-FEF9-4EA7-9DD1-9241F2E29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4499992"/>
              <a:ext cx="228600" cy="2286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35">
              <a:extLst>
                <a:ext uri="{FF2B5EF4-FFF2-40B4-BE49-F238E27FC236}">
                  <a16:creationId xmlns:a16="http://schemas.microsoft.com/office/drawing/2014/main" id="{2327890A-D99D-420B-8328-7EDFCB8C7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4499992"/>
              <a:ext cx="228600" cy="2286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36">
              <a:extLst>
                <a:ext uri="{FF2B5EF4-FFF2-40B4-BE49-F238E27FC236}">
                  <a16:creationId xmlns:a16="http://schemas.microsoft.com/office/drawing/2014/main" id="{F76AECB5-2498-4727-80CF-7C1B1482D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4499992"/>
              <a:ext cx="228600" cy="2286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42">
              <a:extLst>
                <a:ext uri="{FF2B5EF4-FFF2-40B4-BE49-F238E27FC236}">
                  <a16:creationId xmlns:a16="http://schemas.microsoft.com/office/drawing/2014/main" id="{D72BADE9-CF44-4B2D-82D2-B9316AE3C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000" y="4118992"/>
              <a:ext cx="228600" cy="609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43">
              <a:extLst>
                <a:ext uri="{FF2B5EF4-FFF2-40B4-BE49-F238E27FC236}">
                  <a16:creationId xmlns:a16="http://schemas.microsoft.com/office/drawing/2014/main" id="{952DD9CA-C6FF-4B6D-A559-3219DF08E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4042792"/>
              <a:ext cx="1295400" cy="76200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44">
              <a:extLst>
                <a:ext uri="{FF2B5EF4-FFF2-40B4-BE49-F238E27FC236}">
                  <a16:creationId xmlns:a16="http://schemas.microsoft.com/office/drawing/2014/main" id="{B08CE5F2-68F2-4E43-8ABA-BEDAE91F8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3549589"/>
              <a:ext cx="2362200" cy="1255203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45">
              <a:extLst>
                <a:ext uri="{FF2B5EF4-FFF2-40B4-BE49-F238E27FC236}">
                  <a16:creationId xmlns:a16="http://schemas.microsoft.com/office/drawing/2014/main" id="{B110C3B7-1BD9-4DF9-997B-ACBCADB5D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3100" y="3704222"/>
              <a:ext cx="1155700" cy="101845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46">
              <a:extLst>
                <a:ext uri="{FF2B5EF4-FFF2-40B4-BE49-F238E27FC236}">
                  <a16:creationId xmlns:a16="http://schemas.microsoft.com/office/drawing/2014/main" id="{AA15EF5D-ADE4-45FB-970D-F0FA05DAEB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8600" y="3737992"/>
              <a:ext cx="241300" cy="990600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47">
              <a:extLst>
                <a:ext uri="{FF2B5EF4-FFF2-40B4-BE49-F238E27FC236}">
                  <a16:creationId xmlns:a16="http://schemas.microsoft.com/office/drawing/2014/main" id="{4DADBBEA-9412-4C56-A8D1-9993B9ED9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800" y="3607767"/>
              <a:ext cx="106728" cy="1120825"/>
            </a:xfrm>
            <a:prstGeom prst="line">
              <a:avLst/>
            </a:prstGeom>
            <a:ln>
              <a:headEnd type="triangle" w="med" len="med"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3D78A675-7FD7-43AB-AB32-166CEF5EA99C}"/>
                    </a:ext>
                  </a:extLst>
                </p:cNvPr>
                <p:cNvSpPr/>
                <p:nvPr/>
              </p:nvSpPr>
              <p:spPr bwMode="auto">
                <a:xfrm>
                  <a:off x="4324927" y="5660975"/>
                  <a:ext cx="762000" cy="703312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kumimoji="0" lang="nl-NL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3D78A675-7FD7-43AB-AB32-166CEF5EA9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4927" y="5660975"/>
                  <a:ext cx="762000" cy="70331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0878A84-BD9F-4358-BE4E-252C875AB18F}"/>
                </a:ext>
              </a:extLst>
            </p:cNvPr>
            <p:cNvCxnSpPr>
              <a:stCxn id="32" idx="3"/>
              <a:endCxn id="24" idx="7"/>
            </p:cNvCxnSpPr>
            <p:nvPr/>
          </p:nvCxnSpPr>
          <p:spPr bwMode="auto">
            <a:xfrm flipH="1">
              <a:off x="3220804" y="2729350"/>
              <a:ext cx="840488" cy="60723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81C83D2-A197-484D-8988-4CD7E61126C4}"/>
                </a:ext>
              </a:extLst>
            </p:cNvPr>
            <p:cNvCxnSpPr>
              <a:stCxn id="32" idx="4"/>
              <a:endCxn id="23" idx="7"/>
            </p:cNvCxnSpPr>
            <p:nvPr/>
          </p:nvCxnSpPr>
          <p:spPr bwMode="auto">
            <a:xfrm flipH="1">
              <a:off x="3449404" y="2832348"/>
              <a:ext cx="881296" cy="96144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2338F8C-DD25-4092-B538-368C8FC16AA0}"/>
                </a:ext>
              </a:extLst>
            </p:cNvPr>
            <p:cNvCxnSpPr>
              <a:stCxn id="32" idx="4"/>
              <a:endCxn id="14" idx="7"/>
            </p:cNvCxnSpPr>
            <p:nvPr/>
          </p:nvCxnSpPr>
          <p:spPr bwMode="auto">
            <a:xfrm flipH="1">
              <a:off x="3678004" y="2832348"/>
              <a:ext cx="652696" cy="141864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69B4CDB-D767-40BD-A25E-1B50ACB65D81}"/>
                </a:ext>
              </a:extLst>
            </p:cNvPr>
            <p:cNvCxnSpPr>
              <a:stCxn id="32" idx="4"/>
              <a:endCxn id="25" idx="0"/>
            </p:cNvCxnSpPr>
            <p:nvPr/>
          </p:nvCxnSpPr>
          <p:spPr bwMode="auto">
            <a:xfrm>
              <a:off x="4330700" y="2832348"/>
              <a:ext cx="50800" cy="52464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17B7086-174A-4702-A81C-F9185155A3D8}"/>
                </a:ext>
              </a:extLst>
            </p:cNvPr>
            <p:cNvCxnSpPr>
              <a:cxnSpLocks/>
              <a:endCxn id="16" idx="0"/>
            </p:cNvCxnSpPr>
            <p:nvPr/>
          </p:nvCxnSpPr>
          <p:spPr bwMode="auto">
            <a:xfrm>
              <a:off x="4559300" y="2564904"/>
              <a:ext cx="812800" cy="163028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51FF3DB-6977-4741-A8D6-C3E3B9B60D5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59300" y="2480692"/>
              <a:ext cx="0" cy="179070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CAC2644-415A-41B5-9132-49EE5DFD5FEC}"/>
                </a:ext>
              </a:extLst>
            </p:cNvPr>
            <p:cNvCxnSpPr>
              <a:stCxn id="9" idx="4"/>
              <a:endCxn id="33" idx="1"/>
            </p:cNvCxnSpPr>
            <p:nvPr/>
          </p:nvCxnSpPr>
          <p:spPr bwMode="auto">
            <a:xfrm>
              <a:off x="4000500" y="5109592"/>
              <a:ext cx="436019" cy="654381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D7505D3-FAC6-4B0F-AB1F-3D9B7E136D33}"/>
                </a:ext>
              </a:extLst>
            </p:cNvPr>
            <p:cNvCxnSpPr>
              <a:cxnSpLocks/>
              <a:stCxn id="11" idx="4"/>
              <a:endCxn id="33" idx="0"/>
            </p:cNvCxnSpPr>
            <p:nvPr/>
          </p:nvCxnSpPr>
          <p:spPr bwMode="auto">
            <a:xfrm flipH="1">
              <a:off x="4705927" y="5109592"/>
              <a:ext cx="208973" cy="551383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D0AE79C-9455-4C0D-BD37-AD2AF0BCD08F}"/>
                </a:ext>
              </a:extLst>
            </p:cNvPr>
            <p:cNvCxnSpPr>
              <a:cxnSpLocks/>
              <a:stCxn id="13" idx="4"/>
              <a:endCxn id="33" idx="7"/>
            </p:cNvCxnSpPr>
            <p:nvPr/>
          </p:nvCxnSpPr>
          <p:spPr bwMode="auto">
            <a:xfrm flipH="1">
              <a:off x="4975335" y="5109592"/>
              <a:ext cx="853965" cy="654381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CDAA607-AB6E-421E-929E-2A78271BDDA9}"/>
                </a:ext>
              </a:extLst>
            </p:cNvPr>
            <p:cNvSpPr txBox="1"/>
            <p:nvPr/>
          </p:nvSpPr>
          <p:spPr>
            <a:xfrm>
              <a:off x="3347864" y="4767535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endParaRPr lang="nl-NL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AF2F4B9-B798-4F3F-97C3-1527B2088EF7}"/>
                </a:ext>
              </a:extLst>
            </p:cNvPr>
            <p:cNvSpPr txBox="1"/>
            <p:nvPr/>
          </p:nvSpPr>
          <p:spPr>
            <a:xfrm>
              <a:off x="4285714" y="4767535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endParaRPr lang="nl-NL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1130D31-1CAE-4365-B8A8-164BC74FB0AA}"/>
                </a:ext>
              </a:extLst>
            </p:cNvPr>
            <p:cNvSpPr txBox="1"/>
            <p:nvPr/>
          </p:nvSpPr>
          <p:spPr>
            <a:xfrm>
              <a:off x="5158100" y="4767535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endParaRPr lang="nl-N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0E11F85-376A-4E3D-8BE0-B90CCDFC962F}"/>
                    </a:ext>
                  </a:extLst>
                </p:cNvPr>
                <p:cNvSpPr txBox="1"/>
                <p:nvPr/>
              </p:nvSpPr>
              <p:spPr>
                <a:xfrm>
                  <a:off x="4934527" y="2937756"/>
                  <a:ext cx="6910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nl-NL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0E11F85-376A-4E3D-8BE0-B90CCDFC9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4527" y="2937756"/>
                  <a:ext cx="691023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7BBA12B-AEE7-473A-A115-9F6F10DA8F23}"/>
                    </a:ext>
                  </a:extLst>
                </p:cNvPr>
                <p:cNvSpPr txBox="1"/>
                <p:nvPr/>
              </p:nvSpPr>
              <p:spPr>
                <a:xfrm>
                  <a:off x="3184635" y="2564904"/>
                  <a:ext cx="6910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nl-NL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7BBA12B-AEE7-473A-A115-9F6F10DA8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4635" y="2564904"/>
                  <a:ext cx="69102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F264BF3-8893-467F-9116-530041E9C9A3}"/>
                    </a:ext>
                  </a:extLst>
                </p:cNvPr>
                <p:cNvSpPr txBox="1"/>
                <p:nvPr/>
              </p:nvSpPr>
              <p:spPr>
                <a:xfrm>
                  <a:off x="3635896" y="5242132"/>
                  <a:ext cx="6839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nl-NL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F264BF3-8893-467F-9116-530041E9C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896" y="5242132"/>
                  <a:ext cx="68390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2FD3659-A6AF-429A-8BA2-7BC45BE48BAE}"/>
                    </a:ext>
                  </a:extLst>
                </p:cNvPr>
                <p:cNvSpPr txBox="1"/>
                <p:nvPr/>
              </p:nvSpPr>
              <p:spPr>
                <a:xfrm>
                  <a:off x="5402317" y="5407607"/>
                  <a:ext cx="2274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nl-NL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2FD3659-A6AF-429A-8BA2-7BC45BE48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2317" y="5407607"/>
                  <a:ext cx="227485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E09C33-E451-4528-938C-EDE145629979}"/>
                    </a:ext>
                  </a:extLst>
                </p:cNvPr>
                <p:cNvSpPr txBox="1"/>
                <p:nvPr/>
              </p:nvSpPr>
              <p:spPr>
                <a:xfrm>
                  <a:off x="2555776" y="3748883"/>
                  <a:ext cx="5229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nl-NL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E09C33-E451-4528-938C-EDE1456299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5776" y="3748883"/>
                  <a:ext cx="52290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6ABF97A-4300-4AAF-907F-A8F7EEF7324D}"/>
                    </a:ext>
                  </a:extLst>
                </p:cNvPr>
                <p:cNvSpPr/>
                <p:nvPr/>
              </p:nvSpPr>
              <p:spPr bwMode="auto">
                <a:xfrm>
                  <a:off x="3949700" y="2129036"/>
                  <a:ext cx="762000" cy="703312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0" lang="nl-NL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6ABF97A-4300-4AAF-907F-A8F7EEF732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49700" y="2129036"/>
                  <a:ext cx="762000" cy="703312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8">
              <a:extLst>
                <a:ext uri="{FF2B5EF4-FFF2-40B4-BE49-F238E27FC236}">
                  <a16:creationId xmlns:a16="http://schemas.microsoft.com/office/drawing/2014/main" id="{7E27644F-57C9-413F-A3FF-B8D358931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4195192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12</a:t>
              </a:r>
              <a:endParaRPr lang="nl-NL" altLang="en-US" sz="2400"/>
            </a:p>
          </p:txBody>
        </p:sp>
        <p:sp>
          <p:nvSpPr>
            <p:cNvPr id="15" name="Oval 29">
              <a:extLst>
                <a:ext uri="{FF2B5EF4-FFF2-40B4-BE49-F238E27FC236}">
                  <a16:creationId xmlns:a16="http://schemas.microsoft.com/office/drawing/2014/main" id="{A63EEA89-B782-4178-9B01-CD5480EC1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4195192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23</a:t>
              </a:r>
              <a:endParaRPr lang="nl-NL" altLang="en-US" sz="2400"/>
            </a:p>
          </p:txBody>
        </p:sp>
        <p:sp>
          <p:nvSpPr>
            <p:cNvPr id="16" name="Oval 30">
              <a:extLst>
                <a:ext uri="{FF2B5EF4-FFF2-40B4-BE49-F238E27FC236}">
                  <a16:creationId xmlns:a16="http://schemas.microsoft.com/office/drawing/2014/main" id="{DF4DDD2D-BC32-4C5B-95AC-280683C25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4195192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34</a:t>
              </a:r>
              <a:endParaRPr lang="nl-NL" altLang="en-US" sz="2400"/>
            </a:p>
          </p:txBody>
        </p:sp>
        <p:sp>
          <p:nvSpPr>
            <p:cNvPr id="23" name="Oval 37">
              <a:extLst>
                <a:ext uri="{FF2B5EF4-FFF2-40B4-BE49-F238E27FC236}">
                  <a16:creationId xmlns:a16="http://schemas.microsoft.com/office/drawing/2014/main" id="{52DEA272-7864-41FD-9794-DB7EF84AE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737992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13</a:t>
              </a:r>
              <a:endParaRPr lang="nl-NL" altLang="en-US" sz="2400" dirty="0"/>
            </a:p>
          </p:txBody>
        </p:sp>
        <p:sp>
          <p:nvSpPr>
            <p:cNvPr id="24" name="Oval 38">
              <a:extLst>
                <a:ext uri="{FF2B5EF4-FFF2-40B4-BE49-F238E27FC236}">
                  <a16:creationId xmlns:a16="http://schemas.microsoft.com/office/drawing/2014/main" id="{978A62BB-03F5-4879-A609-3ACB52CAB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3280792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14</a:t>
              </a:r>
              <a:endParaRPr lang="nl-NL" altLang="en-US" sz="2400" dirty="0"/>
            </a:p>
          </p:txBody>
        </p:sp>
        <p:sp>
          <p:nvSpPr>
            <p:cNvPr id="25" name="Oval 39">
              <a:extLst>
                <a:ext uri="{FF2B5EF4-FFF2-40B4-BE49-F238E27FC236}">
                  <a16:creationId xmlns:a16="http://schemas.microsoft.com/office/drawing/2014/main" id="{908AFDEF-BB23-4B7D-855F-64961BCCB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3356992"/>
              <a:ext cx="381000" cy="3810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24</a:t>
              </a:r>
              <a:endParaRPr lang="nl-NL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8">
                <a:extLst>
                  <a:ext uri="{FF2B5EF4-FFF2-40B4-BE49-F238E27FC236}">
                    <a16:creationId xmlns:a16="http://schemas.microsoft.com/office/drawing/2014/main" id="{6D1091CF-3AEC-48A0-8057-2924BFDCC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6096" y="2116817"/>
                <a:ext cx="3455818" cy="83099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Cost from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4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400" i="1" baseline="-25000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endParaRPr lang="en-US" altLang="en-US" sz="2400" dirty="0">
                  <a:solidFill>
                    <a:schemeClr val="bg1"/>
                  </a:solidFill>
                  <a:latin typeface="+mn-lt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solidFill>
                      <a:schemeClr val="bg1"/>
                    </a:solidFill>
                    <a:latin typeface="+mn-lt"/>
                  </a:rPr>
                  <a:t>All other cost 0</a:t>
                </a:r>
              </a:p>
            </p:txBody>
          </p:sp>
        </mc:Choice>
        <mc:Fallback xmlns="">
          <p:sp>
            <p:nvSpPr>
              <p:cNvPr id="62" name="Text Box 48">
                <a:extLst>
                  <a:ext uri="{FF2B5EF4-FFF2-40B4-BE49-F238E27FC236}">
                    <a16:creationId xmlns:a16="http://schemas.microsoft.com/office/drawing/2014/main" id="{6D1091CF-3AEC-48A0-8057-2924BFDCC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6096" y="2116817"/>
                <a:ext cx="3455818" cy="830997"/>
              </a:xfrm>
              <a:prstGeom prst="rect">
                <a:avLst/>
              </a:prstGeom>
              <a:blipFill>
                <a:blip r:embed="rId9"/>
                <a:stretch>
                  <a:fillRect l="-2105" t="-5714" b="-1357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3429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FLOWS AND LINEAR PROGRAMMING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786405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1295-A9F0-4737-903C-EB720D76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flow and linear programming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1B4D-6F1D-4180-969B-769334FC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808912" cy="396240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Maximum flow modelled as a linear programming problem</a:t>
            </a:r>
          </a:p>
          <a:p>
            <a:r>
              <a:rPr lang="en-GB" dirty="0"/>
              <a:t>Variables:</a:t>
            </a:r>
          </a:p>
          <a:p>
            <a:pPr lvl="1"/>
            <a:r>
              <a:rPr lang="en-GB" dirty="0"/>
              <a:t>Amount of flow over each arc</a:t>
            </a:r>
          </a:p>
          <a:p>
            <a:r>
              <a:rPr lang="en-GB" dirty="0"/>
              <a:t>Constraints </a:t>
            </a:r>
            <a:r>
              <a:rPr lang="en-GB" u="sng" dirty="0"/>
              <a:t>(all linear!)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Conservation of flow</a:t>
            </a:r>
          </a:p>
          <a:p>
            <a:pPr lvl="1"/>
            <a:r>
              <a:rPr lang="en-GB" dirty="0"/>
              <a:t>Capacities on arcs</a:t>
            </a:r>
          </a:p>
          <a:p>
            <a:r>
              <a:rPr lang="en-GB" dirty="0"/>
              <a:t>Objective:</a:t>
            </a:r>
          </a:p>
          <a:p>
            <a:pPr lvl="1"/>
            <a:r>
              <a:rPr lang="en-GB" dirty="0"/>
              <a:t>Maximize flow out of source vertex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Linear programming is polynomial time (interior point method)</a:t>
            </a:r>
          </a:p>
          <a:p>
            <a:pPr lvl="1"/>
            <a:r>
              <a:rPr lang="en-GB" dirty="0"/>
              <a:t>Specialized flow algorithms are simpler and can be much faster</a:t>
            </a:r>
          </a:p>
          <a:p>
            <a:pPr lvl="1"/>
            <a:r>
              <a:rPr lang="en-GB" dirty="0"/>
              <a:t>Preflow-push is a dual algorithm: it considers feasible solutions in the LP 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408669-C7DB-47F1-AB4A-A04F1E877B17}"/>
                  </a:ext>
                </a:extLst>
              </p:cNvPr>
              <p:cNvSpPr txBox="1"/>
              <p:nvPr/>
            </p:nvSpPr>
            <p:spPr>
              <a:xfrm>
                <a:off x="5796136" y="2348880"/>
                <a:ext cx="3245140" cy="17076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/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NL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408669-C7DB-47F1-AB4A-A04F1E877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348880"/>
                <a:ext cx="3245140" cy="1707647"/>
              </a:xfrm>
              <a:prstGeom prst="rect">
                <a:avLst/>
              </a:prstGeom>
              <a:blipFill>
                <a:blip r:embed="rId3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17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1295-A9F0-4737-903C-EB720D76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Min-cost flow can be solved through linear programming as well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1B4D-6F1D-4180-969B-769334FC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808912" cy="396240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Min-cost flow modelled as a linear programming problem</a:t>
            </a:r>
          </a:p>
          <a:p>
            <a:r>
              <a:rPr lang="en-GB" dirty="0"/>
              <a:t>Variables:</a:t>
            </a:r>
          </a:p>
          <a:p>
            <a:pPr lvl="1"/>
            <a:r>
              <a:rPr lang="en-GB" dirty="0"/>
              <a:t>Amount of flow over each arc</a:t>
            </a:r>
          </a:p>
          <a:p>
            <a:r>
              <a:rPr lang="en-GB" dirty="0"/>
              <a:t>Constraints </a:t>
            </a:r>
            <a:r>
              <a:rPr lang="en-GB" u="sng" dirty="0"/>
              <a:t>(all linear!)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Conservation of flow</a:t>
            </a:r>
          </a:p>
          <a:p>
            <a:pPr lvl="1"/>
            <a:r>
              <a:rPr lang="en-GB" dirty="0"/>
              <a:t>Capacities on arcs</a:t>
            </a:r>
          </a:p>
          <a:p>
            <a:pPr lvl="1"/>
            <a:r>
              <a:rPr lang="en-GB" dirty="0"/>
              <a:t>Flow value</a:t>
            </a:r>
          </a:p>
          <a:p>
            <a:r>
              <a:rPr lang="en-GB" dirty="0"/>
              <a:t>Objective:</a:t>
            </a:r>
          </a:p>
          <a:p>
            <a:pPr lvl="1"/>
            <a:r>
              <a:rPr lang="en-GB" dirty="0"/>
              <a:t>Minimize cost of flow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Note:</a:t>
            </a:r>
          </a:p>
          <a:p>
            <a:r>
              <a:rPr lang="en-GB" dirty="0"/>
              <a:t>Many MIP solvers treat flow-constrains is a special way</a:t>
            </a:r>
          </a:p>
          <a:p>
            <a:pPr lvl="1"/>
            <a:r>
              <a:rPr lang="en-GB" dirty="0"/>
              <a:t>Very nice for flow problems with a few not-flowlike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408669-C7DB-47F1-AB4A-A04F1E877B17}"/>
                  </a:ext>
                </a:extLst>
              </p:cNvPr>
              <p:cNvSpPr txBox="1"/>
              <p:nvPr/>
            </p:nvSpPr>
            <p:spPr>
              <a:xfrm>
                <a:off x="5796136" y="2348880"/>
                <a:ext cx="3245140" cy="23798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/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GB" sz="1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NL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408669-C7DB-47F1-AB4A-A04F1E877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348880"/>
                <a:ext cx="3245140" cy="23798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60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Linear combinations of paths and cycles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39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GB" altLang="nl-NL" dirty="0"/>
                  <a:t>For a cycle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nl-NL" dirty="0"/>
                  <a:t>, let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altLang="nl-NL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alt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altLang="nl-NL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GB" altLang="nl-NL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altLang="nl-NL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altLang="nl-NL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altLang="nl-NL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  <m:mr>
                            <m:e>
                              <m:r>
                                <a:rPr lang="en-GB" altLang="nl-NL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altLang="nl-NL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altLang="nl-NL" b="0" dirty="0"/>
              </a:p>
              <a:p>
                <a:r>
                  <a:rPr lang="en-GB" altLang="nl-NL" dirty="0"/>
                  <a:t>Similarly for a path </a:t>
                </a:r>
                <a14:m>
                  <m:oMath xmlns:m="http://schemas.openxmlformats.org/officeDocument/2006/math">
                    <m:r>
                      <a:rPr lang="en-GB" altLang="nl-NL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altLang="nl-NL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nl-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nl-NL" i="1">
                        <a:latin typeface="Cambria Math" panose="02040503050406030204" pitchFamily="18" charset="0"/>
                      </a:rPr>
                      <m:t>,,</m:t>
                    </m:r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GB" altLang="nl-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alt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nl-NL" dirty="0"/>
                  <a:t>, let </a:t>
                </a:r>
                <a14:m>
                  <m:oMath xmlns:m="http://schemas.openxmlformats.org/officeDocument/2006/math">
                    <m:r>
                      <a:rPr lang="en-US" altLang="nl-N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altLang="nl-NL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altLang="nl-NL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altLang="nl-NL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altLang="nl-NL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altLang="nl-NL" dirty="0"/>
              </a:p>
              <a:p>
                <a:pPr marL="0" indent="0">
                  <a:buNone/>
                </a:pPr>
                <a:endParaRPr lang="en-GB" altLang="nl-NL" dirty="0"/>
              </a:p>
              <a:p>
                <a:r>
                  <a:rPr lang="en-GB" altLang="nl-NL" dirty="0"/>
                  <a:t>We say that a flow </a:t>
                </a:r>
                <a14:m>
                  <m:oMath xmlns:m="http://schemas.openxmlformats.org/officeDocument/2006/math">
                    <m:r>
                      <a:rPr lang="en-GB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nl-NL" dirty="0"/>
                  <a:t> is a </a:t>
                </a:r>
                <a:r>
                  <a:rPr lang="en-GB" altLang="nl-NL" dirty="0">
                    <a:solidFill>
                      <a:srgbClr val="C00000"/>
                    </a:solidFill>
                  </a:rPr>
                  <a:t>non-negative linear combination</a:t>
                </a:r>
                <a:r>
                  <a:rPr lang="en-GB" altLang="nl-NL" dirty="0"/>
                  <a:t> of the paths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nl-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nl-NL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altLang="nl-NL" dirty="0"/>
                  <a:t> and cycles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nl-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nl-NL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altLang="nl-NL" dirty="0"/>
                  <a:t> if there are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altLang="nl-NL" dirty="0"/>
                  <a:t> and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GB" altLang="nl-NL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altLang="nl-NL" dirty="0"/>
                  <a:t> </a:t>
                </a:r>
                <a:r>
                  <a:rPr lang="en-GB" altLang="nl-NL" dirty="0" err="1"/>
                  <a:t>s.t.</a:t>
                </a:r>
                <a:r>
                  <a:rPr lang="en-GB" altLang="nl-NL" dirty="0"/>
                  <a:t>:</a:t>
                </a:r>
                <a:br>
                  <a:rPr lang="en-GB" altLang="nl-NL" dirty="0"/>
                </a:br>
                <a:endParaRPr lang="en-GB" altLang="nl-NL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alt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altLang="nl-N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alt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alt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GB" altLang="nl-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altLang="nl-NL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GB" alt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alt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GB" altLang="nl-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GB" altLang="nl-NL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GB" altLang="nl-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nl-NL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altLang="nl-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altLang="nl-NL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nl-NL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GB" altLang="nl-NL" dirty="0"/>
              </a:p>
              <a:p>
                <a:r>
                  <a:rPr lang="en-GB" altLang="nl-NL" dirty="0"/>
                  <a:t>If all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nl-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nl-NL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altLang="nl-NL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nl-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nl-NL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altLang="nl-NL" dirty="0"/>
                  <a:t> are integer, this is an non-negative integer linear combination</a:t>
                </a:r>
              </a:p>
            </p:txBody>
          </p:sp>
        </mc:Choice>
        <mc:Fallback xmlns="">
          <p:sp>
            <p:nvSpPr>
              <p:cNvPr id="593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162" r="-810" b="-3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5989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A useful theorem using linearity</a:t>
            </a:r>
            <a:br>
              <a:rPr lang="en-US" altLang="nl-NL" dirty="0"/>
            </a:br>
            <a:r>
              <a:rPr lang="en-US" altLang="nl-NL" sz="1800" dirty="0"/>
              <a:t>we will need this later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39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nl-NL" b="1" dirty="0"/>
                  <a:t>Theorem</a:t>
                </a:r>
              </a:p>
              <a:p>
                <a:r>
                  <a:rPr lang="en-US" altLang="nl-NL" dirty="0"/>
                  <a:t>Let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be a circulation. Then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is a nonnegative linear combination of cycles in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nl-NL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nl-NL" dirty="0"/>
                  <a:t>Find a cycle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nl-NL" b="0" i="1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nl-NL" dirty="0"/>
                  <a:t>Let the minimum flow on any arc in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nl-NL" dirty="0"/>
                  <a:t> be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nl-NL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nl-NL" dirty="0"/>
                  <a:t>Use induction on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with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nl-NL" dirty="0"/>
                  <a:t> flow subtracted from each arc in </a:t>
                </a:r>
                <a14:m>
                  <m:oMath xmlns:m="http://schemas.openxmlformats.org/officeDocument/2006/math">
                    <m:r>
                      <a:rPr lang="en-US" altLang="nl-NL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nl-NL" dirty="0"/>
              </a:p>
              <a:p>
                <a:r>
                  <a:rPr lang="en-US" altLang="nl-NL" dirty="0"/>
                  <a:t>If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is integer, this is an </a:t>
                </a:r>
                <a:r>
                  <a:rPr lang="en-US" altLang="nl-NL" dirty="0">
                    <a:solidFill>
                      <a:srgbClr val="C00000"/>
                    </a:solidFill>
                  </a:rPr>
                  <a:t>integer </a:t>
                </a:r>
                <a:r>
                  <a:rPr lang="en-US" altLang="nl-NL" dirty="0" err="1">
                    <a:solidFill>
                      <a:srgbClr val="C00000"/>
                    </a:solidFill>
                  </a:rPr>
                  <a:t>scalared</a:t>
                </a:r>
                <a:r>
                  <a:rPr lang="en-US" altLang="nl-NL" dirty="0"/>
                  <a:t> linear combination</a:t>
                </a:r>
              </a:p>
              <a:p>
                <a:pPr marL="0" indent="0">
                  <a:buNone/>
                </a:pPr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b="1" dirty="0"/>
                  <a:t>Corollary</a:t>
                </a:r>
              </a:p>
              <a:p>
                <a:r>
                  <a:rPr lang="en-US" altLang="nl-NL" dirty="0"/>
                  <a:t>A flow is a linear combination of cycles and paths from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nl-NL" dirty="0"/>
              </a:p>
              <a:p>
                <a:pPr lvl="1"/>
                <a:r>
                  <a:rPr lang="en-US" altLang="nl-NL" dirty="0"/>
                  <a:t>Make a circulation from the flow by adding an arc from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nl-NL" dirty="0"/>
                  <a:t> to 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nl-NL" dirty="0"/>
                  <a:t> with flow value</a:t>
                </a:r>
                <a14:m>
                  <m:oMath xmlns:m="http://schemas.openxmlformats.org/officeDocument/2006/math"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. Then apply the theorem and replace the cycles with the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nl-NL" dirty="0"/>
                  <a:t> arc by paths by removing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nl-NL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altLang="nl-NL" dirty="0"/>
              </a:p>
            </p:txBody>
          </p:sp>
        </mc:Choice>
        <mc:Fallback xmlns="">
          <p:sp>
            <p:nvSpPr>
              <p:cNvPr id="593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648" t="-769" b="-153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3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3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3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3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3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3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COST FLOW: CYCLE CANCELLING ALGORITHM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117961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Residual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Rectangle 2051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1785460"/>
              </a:xfrm>
            </p:spPr>
            <p:txBody>
              <a:bodyPr/>
              <a:lstStyle/>
              <a:p>
                <a:pPr eaLnBrk="1" hangingPunct="1"/>
                <a:r>
                  <a:rPr lang="en-GB" altLang="en-US" dirty="0"/>
                  <a:t>Define the residual network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alt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</a:t>
                </a:r>
                <a:r>
                  <a:rPr lang="en-GB" altLang="en-US" dirty="0">
                    <a:solidFill>
                      <a:srgbClr val="C00000"/>
                    </a:solidFill>
                  </a:rPr>
                  <a:t>with cost</a:t>
                </a:r>
                <a:r>
                  <a:rPr lang="en-GB" altLang="en-US" dirty="0"/>
                  <a:t> of a flow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:</a:t>
                </a:r>
              </a:p>
              <a:p>
                <a:pPr lvl="1" eaLnBrk="1" hangingPunct="1"/>
                <a:r>
                  <a:rPr lang="en-GB" altLang="en-US" dirty="0"/>
                  <a:t>Capacities as for maximum flow algorithms except that we always create a reversed arc for every arc with flow in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altLang="en-US" dirty="0"/>
              </a:p>
              <a:p>
                <a:pPr lvl="1"/>
                <a:r>
                  <a:rPr lang="en-GB" altLang="en-US" dirty="0"/>
                  <a:t>If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altLang="en-US" dirty="0"/>
                  <a:t> for some arc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altLang="en-US" dirty="0"/>
                  <a:t>, then the new and reversed residual arc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altLang="en-US" dirty="0"/>
                  <a:t> has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GB" altLang="en-US" i="1" baseline="-2500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 = – 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en-US" dirty="0"/>
              </a:p>
              <a:p>
                <a:pPr lvl="1"/>
                <a:r>
                  <a:rPr lang="en-GB" altLang="en-US" dirty="0"/>
                  <a:t>Any existing arc in reverse direction remains with the current cost</a:t>
                </a:r>
              </a:p>
            </p:txBody>
          </p:sp>
        </mc:Choice>
        <mc:Fallback xmlns="">
          <p:sp>
            <p:nvSpPr>
              <p:cNvPr id="16389" name="Rectangle 20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1785460"/>
              </a:xfrm>
              <a:blipFill>
                <a:blip r:embed="rId3"/>
                <a:stretch>
                  <a:fillRect l="-165" t="-1706" b="-1501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C41186B-EBE3-4E4E-8F8C-50D4B941EFDA}"/>
              </a:ext>
            </a:extLst>
          </p:cNvPr>
          <p:cNvGrpSpPr/>
          <p:nvPr/>
        </p:nvGrpSpPr>
        <p:grpSpPr>
          <a:xfrm>
            <a:off x="1287085" y="3978074"/>
            <a:ext cx="2266914" cy="2014954"/>
            <a:chOff x="1162862" y="1752600"/>
            <a:chExt cx="2266914" cy="2014954"/>
          </a:xfrm>
        </p:grpSpPr>
        <p:sp>
          <p:nvSpPr>
            <p:cNvPr id="7" name="Freeform 2054">
              <a:extLst>
                <a:ext uri="{FF2B5EF4-FFF2-40B4-BE49-F238E27FC236}">
                  <a16:creationId xmlns:a16="http://schemas.microsoft.com/office/drawing/2014/main" id="{F480BC7A-29E2-404C-ADD1-B6F4A2C25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500" y="2108200"/>
              <a:ext cx="1485900" cy="571500"/>
            </a:xfrm>
            <a:custGeom>
              <a:avLst/>
              <a:gdLst>
                <a:gd name="T0" fmla="*/ 2147483647 w 936"/>
                <a:gd name="T1" fmla="*/ 2147483647 h 360"/>
                <a:gd name="T2" fmla="*/ 2147483647 w 936"/>
                <a:gd name="T3" fmla="*/ 2147483647 h 360"/>
                <a:gd name="T4" fmla="*/ 2147483647 w 936"/>
                <a:gd name="T5" fmla="*/ 2147483647 h 360"/>
                <a:gd name="T6" fmla="*/ 2147483647 w 936"/>
                <a:gd name="T7" fmla="*/ 2147483647 h 3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6" h="360">
                  <a:moveTo>
                    <a:pt x="72" y="352"/>
                  </a:moveTo>
                  <a:cubicBezTo>
                    <a:pt x="36" y="356"/>
                    <a:pt x="0" y="360"/>
                    <a:pt x="72" y="304"/>
                  </a:cubicBezTo>
                  <a:cubicBezTo>
                    <a:pt x="144" y="248"/>
                    <a:pt x="360" y="32"/>
                    <a:pt x="504" y="16"/>
                  </a:cubicBezTo>
                  <a:cubicBezTo>
                    <a:pt x="648" y="0"/>
                    <a:pt x="792" y="104"/>
                    <a:pt x="936" y="208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2055">
              <a:extLst>
                <a:ext uri="{FF2B5EF4-FFF2-40B4-BE49-F238E27FC236}">
                  <a16:creationId xmlns:a16="http://schemas.microsoft.com/office/drawing/2014/main" id="{FF21BDA6-1B7F-4F5F-8694-C6E681B7C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200" y="2743200"/>
              <a:ext cx="1447800" cy="635000"/>
            </a:xfrm>
            <a:custGeom>
              <a:avLst/>
              <a:gdLst>
                <a:gd name="T0" fmla="*/ 2147483647 w 912"/>
                <a:gd name="T1" fmla="*/ 0 h 400"/>
                <a:gd name="T2" fmla="*/ 2147483647 w 912"/>
                <a:gd name="T3" fmla="*/ 2147483647 h 400"/>
                <a:gd name="T4" fmla="*/ 0 w 912"/>
                <a:gd name="T5" fmla="*/ 2147483647 h 4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2" h="400">
                  <a:moveTo>
                    <a:pt x="912" y="0"/>
                  </a:moveTo>
                  <a:cubicBezTo>
                    <a:pt x="772" y="184"/>
                    <a:pt x="632" y="368"/>
                    <a:pt x="480" y="384"/>
                  </a:cubicBezTo>
                  <a:cubicBezTo>
                    <a:pt x="328" y="400"/>
                    <a:pt x="164" y="248"/>
                    <a:pt x="0" y="96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2052">
              <a:extLst>
                <a:ext uri="{FF2B5EF4-FFF2-40B4-BE49-F238E27FC236}">
                  <a16:creationId xmlns:a16="http://schemas.microsoft.com/office/drawing/2014/main" id="{15195081-9778-4B52-BDD5-87FF49F47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2438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u</a:t>
              </a:r>
              <a:endParaRPr lang="nl-NL" altLang="en-US" sz="2400" i="1" dirty="0"/>
            </a:p>
          </p:txBody>
        </p:sp>
        <p:sp>
          <p:nvSpPr>
            <p:cNvPr id="10" name="Oval 2053">
              <a:extLst>
                <a:ext uri="{FF2B5EF4-FFF2-40B4-BE49-F238E27FC236}">
                  <a16:creationId xmlns:a16="http://schemas.microsoft.com/office/drawing/2014/main" id="{64E32D3D-A912-4649-B3A5-08B8D9CAF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2438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v</a:t>
              </a:r>
              <a:endParaRPr lang="nl-NL" altLang="en-US" sz="2400" i="1" dirty="0"/>
            </a:p>
          </p:txBody>
        </p:sp>
        <p:sp>
          <p:nvSpPr>
            <p:cNvPr id="11" name="Text Box 2056">
              <a:extLst>
                <a:ext uri="{FF2B5EF4-FFF2-40B4-BE49-F238E27FC236}">
                  <a16:creationId xmlns:a16="http://schemas.microsoft.com/office/drawing/2014/main" id="{146F626A-A08F-4AD0-B7E6-B291FFDE28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862" y="1752600"/>
              <a:ext cx="203831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n-lt"/>
                </a:rPr>
                <a:t>Capacity 5, cost 3</a:t>
              </a:r>
              <a:endParaRPr lang="nl-NL" altLang="en-US" sz="1600" dirty="0">
                <a:latin typeface="+mn-lt"/>
              </a:endParaRPr>
            </a:p>
          </p:txBody>
        </p:sp>
        <p:sp>
          <p:nvSpPr>
            <p:cNvPr id="12" name="Text Box 2057">
              <a:extLst>
                <a:ext uri="{FF2B5EF4-FFF2-40B4-BE49-F238E27FC236}">
                  <a16:creationId xmlns:a16="http://schemas.microsoft.com/office/drawing/2014/main" id="{814607B5-C77B-4CF5-8F9A-E05AA21F4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462" y="3429000"/>
              <a:ext cx="203831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j-lt"/>
                </a:rPr>
                <a:t>Capacity 2, cost 6</a:t>
              </a:r>
              <a:endParaRPr lang="nl-NL" altLang="en-US" sz="1600" dirty="0">
                <a:latin typeface="+mj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058">
                <a:extLst>
                  <a:ext uri="{FF2B5EF4-FFF2-40B4-BE49-F238E27FC236}">
                    <a16:creationId xmlns:a16="http://schemas.microsoft.com/office/drawing/2014/main" id="{0C474F1C-AF3D-4D63-B769-2721E7F897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6490" y="4282953"/>
                <a:ext cx="2441694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+mj-lt"/>
                  </a:rPr>
                  <a:t>Suppose we send 1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+mj-lt"/>
                  </a:rPr>
                  <a:t>flow from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en-US" sz="1800" dirty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nl-NL" altLang="en-US" sz="18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 Box 2058">
                <a:extLst>
                  <a:ext uri="{FF2B5EF4-FFF2-40B4-BE49-F238E27FC236}">
                    <a16:creationId xmlns:a16="http://schemas.microsoft.com/office/drawing/2014/main" id="{0C474F1C-AF3D-4D63-B769-2721E7F89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6490" y="4282953"/>
                <a:ext cx="2441694" cy="646331"/>
              </a:xfrm>
              <a:prstGeom prst="rect">
                <a:avLst/>
              </a:prstGeom>
              <a:blipFill>
                <a:blip r:embed="rId4"/>
                <a:stretch>
                  <a:fillRect l="-1746" t="-5660" r="-1496" b="-141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A7B208C-3F1F-4C8F-B4B1-4020F27D1D41}"/>
              </a:ext>
            </a:extLst>
          </p:cNvPr>
          <p:cNvGrpSpPr/>
          <p:nvPr/>
        </p:nvGrpSpPr>
        <p:grpSpPr>
          <a:xfrm>
            <a:off x="6174979" y="3573016"/>
            <a:ext cx="2284464" cy="2506908"/>
            <a:chOff x="4421912" y="3276600"/>
            <a:chExt cx="2284464" cy="2506908"/>
          </a:xfrm>
        </p:grpSpPr>
        <p:sp>
          <p:nvSpPr>
            <p:cNvPr id="15" name="Freeform 2059">
              <a:extLst>
                <a:ext uri="{FF2B5EF4-FFF2-40B4-BE49-F238E27FC236}">
                  <a16:creationId xmlns:a16="http://schemas.microsoft.com/office/drawing/2014/main" id="{649E89BF-C805-4B58-9458-68AC11EDA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8700" y="3632200"/>
              <a:ext cx="1485900" cy="571500"/>
            </a:xfrm>
            <a:custGeom>
              <a:avLst/>
              <a:gdLst>
                <a:gd name="T0" fmla="*/ 2147483647 w 936"/>
                <a:gd name="T1" fmla="*/ 2147483647 h 360"/>
                <a:gd name="T2" fmla="*/ 2147483647 w 936"/>
                <a:gd name="T3" fmla="*/ 2147483647 h 360"/>
                <a:gd name="T4" fmla="*/ 2147483647 w 936"/>
                <a:gd name="T5" fmla="*/ 2147483647 h 360"/>
                <a:gd name="T6" fmla="*/ 2147483647 w 936"/>
                <a:gd name="T7" fmla="*/ 2147483647 h 3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6" h="360">
                  <a:moveTo>
                    <a:pt x="72" y="352"/>
                  </a:moveTo>
                  <a:cubicBezTo>
                    <a:pt x="36" y="356"/>
                    <a:pt x="0" y="360"/>
                    <a:pt x="72" y="304"/>
                  </a:cubicBezTo>
                  <a:cubicBezTo>
                    <a:pt x="144" y="248"/>
                    <a:pt x="360" y="32"/>
                    <a:pt x="504" y="16"/>
                  </a:cubicBezTo>
                  <a:cubicBezTo>
                    <a:pt x="648" y="0"/>
                    <a:pt x="792" y="104"/>
                    <a:pt x="936" y="208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2060">
              <a:extLst>
                <a:ext uri="{FF2B5EF4-FFF2-40B4-BE49-F238E27FC236}">
                  <a16:creationId xmlns:a16="http://schemas.microsoft.com/office/drawing/2014/main" id="{68C8D350-3FFB-4E75-85EC-1DBA5AF9D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464" y="4305172"/>
              <a:ext cx="1447800" cy="635000"/>
            </a:xfrm>
            <a:custGeom>
              <a:avLst/>
              <a:gdLst>
                <a:gd name="T0" fmla="*/ 2147483647 w 912"/>
                <a:gd name="T1" fmla="*/ 0 h 400"/>
                <a:gd name="T2" fmla="*/ 2147483647 w 912"/>
                <a:gd name="T3" fmla="*/ 2147483647 h 400"/>
                <a:gd name="T4" fmla="*/ 0 w 912"/>
                <a:gd name="T5" fmla="*/ 2147483647 h 4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2" h="400">
                  <a:moveTo>
                    <a:pt x="912" y="0"/>
                  </a:moveTo>
                  <a:cubicBezTo>
                    <a:pt x="772" y="184"/>
                    <a:pt x="632" y="368"/>
                    <a:pt x="480" y="384"/>
                  </a:cubicBezTo>
                  <a:cubicBezTo>
                    <a:pt x="328" y="400"/>
                    <a:pt x="164" y="248"/>
                    <a:pt x="0" y="96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061">
              <a:extLst>
                <a:ext uri="{FF2B5EF4-FFF2-40B4-BE49-F238E27FC236}">
                  <a16:creationId xmlns:a16="http://schemas.microsoft.com/office/drawing/2014/main" id="{D1876632-FF78-45E0-A8B1-E1D38122A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962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u</a:t>
              </a:r>
              <a:endParaRPr lang="nl-NL" altLang="en-US" sz="2400" i="1" dirty="0"/>
            </a:p>
          </p:txBody>
        </p:sp>
        <p:sp>
          <p:nvSpPr>
            <p:cNvPr id="18" name="Text Box 2063">
              <a:extLst>
                <a:ext uri="{FF2B5EF4-FFF2-40B4-BE49-F238E27FC236}">
                  <a16:creationId xmlns:a16="http://schemas.microsoft.com/office/drawing/2014/main" id="{4B159EBC-5C8F-4D7C-83EB-E05B2BE8E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062" y="3276600"/>
              <a:ext cx="203831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j-lt"/>
                </a:rPr>
                <a:t>Capacity 4, cost 3</a:t>
              </a:r>
              <a:endParaRPr lang="nl-NL" altLang="en-US" sz="1600" dirty="0">
                <a:latin typeface="+mj-lt"/>
              </a:endParaRPr>
            </a:p>
          </p:txBody>
        </p:sp>
        <p:sp>
          <p:nvSpPr>
            <p:cNvPr id="19" name="Text Box 2064">
              <a:extLst>
                <a:ext uri="{FF2B5EF4-FFF2-40B4-BE49-F238E27FC236}">
                  <a16:creationId xmlns:a16="http://schemas.microsoft.com/office/drawing/2014/main" id="{22655D19-09C0-4866-9856-959305AA6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1928" y="4240969"/>
              <a:ext cx="126887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j-lt"/>
                </a:rPr>
                <a:t>Capacity 2</a:t>
              </a:r>
              <a:br>
                <a:rPr lang="en-US" altLang="en-US" sz="1600" dirty="0">
                  <a:latin typeface="+mj-lt"/>
                </a:rPr>
              </a:br>
              <a:r>
                <a:rPr lang="en-US" altLang="en-US" sz="1600" dirty="0">
                  <a:latin typeface="+mj-lt"/>
                </a:rPr>
                <a:t>cost 6</a:t>
              </a:r>
              <a:endParaRPr lang="nl-NL" altLang="en-US" sz="1600" dirty="0">
                <a:latin typeface="+mj-lt"/>
              </a:endParaRPr>
            </a:p>
          </p:txBody>
        </p:sp>
        <p:sp>
          <p:nvSpPr>
            <p:cNvPr id="20" name="Freeform 2065">
              <a:extLst>
                <a:ext uri="{FF2B5EF4-FFF2-40B4-BE49-F238E27FC236}">
                  <a16:creationId xmlns:a16="http://schemas.microsoft.com/office/drawing/2014/main" id="{E46814F7-0D6F-416A-AF32-06092E798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000" y="4267200"/>
              <a:ext cx="1600200" cy="1320800"/>
            </a:xfrm>
            <a:custGeom>
              <a:avLst/>
              <a:gdLst>
                <a:gd name="T0" fmla="*/ 2147483647 w 1008"/>
                <a:gd name="T1" fmla="*/ 0 h 832"/>
                <a:gd name="T2" fmla="*/ 2147483647 w 1008"/>
                <a:gd name="T3" fmla="*/ 2147483647 h 832"/>
                <a:gd name="T4" fmla="*/ 2147483647 w 1008"/>
                <a:gd name="T5" fmla="*/ 2147483647 h 832"/>
                <a:gd name="T6" fmla="*/ 0 w 1008"/>
                <a:gd name="T7" fmla="*/ 2147483647 h 8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832">
                  <a:moveTo>
                    <a:pt x="1008" y="0"/>
                  </a:moveTo>
                  <a:cubicBezTo>
                    <a:pt x="912" y="304"/>
                    <a:pt x="816" y="608"/>
                    <a:pt x="672" y="720"/>
                  </a:cubicBezTo>
                  <a:cubicBezTo>
                    <a:pt x="528" y="832"/>
                    <a:pt x="256" y="768"/>
                    <a:pt x="144" y="672"/>
                  </a:cubicBezTo>
                  <a:cubicBezTo>
                    <a:pt x="32" y="576"/>
                    <a:pt x="16" y="360"/>
                    <a:pt x="0" y="144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2066">
              <a:extLst>
                <a:ext uri="{FF2B5EF4-FFF2-40B4-BE49-F238E27FC236}">
                  <a16:creationId xmlns:a16="http://schemas.microsoft.com/office/drawing/2014/main" id="{DD7D3F08-B5C6-4505-B57A-01489FA22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912" y="5444954"/>
              <a:ext cx="2131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+mj-lt"/>
                </a:rPr>
                <a:t>Capacity 1, cost -3</a:t>
              </a:r>
              <a:endParaRPr lang="nl-NL" altLang="en-US" sz="1600" dirty="0">
                <a:latin typeface="+mj-lt"/>
              </a:endParaRPr>
            </a:p>
          </p:txBody>
        </p:sp>
        <p:sp>
          <p:nvSpPr>
            <p:cNvPr id="22" name="Oval 2062">
              <a:extLst>
                <a:ext uri="{FF2B5EF4-FFF2-40B4-BE49-F238E27FC236}">
                  <a16:creationId xmlns:a16="http://schemas.microsoft.com/office/drawing/2014/main" id="{4CF4DE10-B316-46B7-AA55-FF21199DB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3962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/>
                <a:t>v</a:t>
              </a:r>
              <a:endParaRPr lang="nl-NL" altLang="en-US" sz="2400" i="1" dirty="0"/>
            </a:p>
          </p:txBody>
        </p:sp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61591FC-F630-40D7-9BB7-A962E21B4AC2}"/>
              </a:ext>
            </a:extLst>
          </p:cNvPr>
          <p:cNvSpPr/>
          <p:nvPr/>
        </p:nvSpPr>
        <p:spPr bwMode="auto">
          <a:xfrm>
            <a:off x="3885982" y="4689332"/>
            <a:ext cx="2514818" cy="824384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Cycle cancelling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GB" altLang="en-US" b="1" dirty="0"/>
                  <a:t>Algorithm</a:t>
                </a:r>
              </a:p>
              <a:p>
                <a:pPr eaLnBrk="1" hangingPunct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GB" altLang="en-US" dirty="0"/>
                  <a:t>Construct a feasible flow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in the network of value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GB" altLang="en-US" dirty="0"/>
              </a:p>
              <a:p>
                <a:pPr eaLnBrk="1" hangingPunct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GB" altLang="en-US" dirty="0"/>
                  <a:t>​</a:t>
                </a:r>
                <a:r>
                  <a:rPr lang="en-GB" altLang="en-US" b="1" dirty="0"/>
                  <a:t>while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alt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has a negative-cost cycle </a:t>
                </a:r>
                <a:r>
                  <a:rPr lang="en-GB" altLang="en-US" b="1" dirty="0"/>
                  <a:t>do</a:t>
                </a:r>
              </a:p>
              <a:p>
                <a:pPr marL="800100" lvl="1" indent="-342900" eaLnBrk="1" hangingPunct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GB" altLang="en-US" dirty="0"/>
                  <a:t>Find a negative-cost cycle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altLang="en-US" dirty="0"/>
                  <a:t> in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alt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GB" altLang="en-US" i="1" dirty="0"/>
              </a:p>
              <a:p>
                <a:pPr marL="800100" lvl="1" indent="-342900" eaLnBrk="1" hangingPunct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GB" altLang="en-US" dirty="0"/>
                  <a:t>Let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altLang="en-US" dirty="0"/>
                  <a:t> be the minimum residual capacity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altLang="en-US" i="1" baseline="-25000" dirty="0" err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of an edge on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altLang="en-US" dirty="0"/>
              </a:p>
              <a:p>
                <a:pPr marL="800100" lvl="1" indent="-342900" eaLnBrk="1" hangingPunct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GB" altLang="en-US" dirty="0"/>
                  <a:t>Add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altLang="en-US" dirty="0"/>
                  <a:t> units of flow to each edge on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dirty="0"/>
                  <a:t>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altLang="en-US" dirty="0"/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n-GB" altLang="en-US" dirty="0"/>
                  <a:t>Note that because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altLang="en-US" dirty="0"/>
                  <a:t> is a cycle, this is a new feasible flow of smaller cost</a:t>
                </a:r>
              </a:p>
              <a:p>
                <a:pPr eaLnBrk="1" hangingPunct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GB" altLang="en-US" dirty="0"/>
                  <a:t>Output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GB" altLang="en-US" dirty="0"/>
              </a:p>
            </p:txBody>
          </p:sp>
        </mc:Choice>
        <mc:Fallback xmlns="">
          <p:sp>
            <p:nvSpPr>
              <p:cNvPr id="1843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0" t="-138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A Lemma need to prove correctness</a:t>
            </a:r>
            <a:endParaRPr lang="nl-NL" alt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39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36904" cy="3962400"/>
              </a:xfrm>
            </p:spPr>
            <p:txBody>
              <a:bodyPr/>
              <a:lstStyle/>
              <a:p>
                <a:r>
                  <a:rPr lang="en-US" altLang="nl-NL" dirty="0"/>
                  <a:t>For any two flows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,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nl-NL" dirty="0"/>
                  <a:t> in a graph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nl-NL" dirty="0"/>
                  <a:t>, define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nl-NL" dirty="0"/>
                  <a:t> as:</a:t>
                </a:r>
              </a:p>
              <a:p>
                <a:pPr lvl="1">
                  <a:tabLst>
                    <a:tab pos="3409950" algn="l"/>
                  </a:tabLst>
                </a:pPr>
                <a:r>
                  <a:rPr lang="en-US" altLang="nl-NL" dirty="0"/>
                  <a:t>For any arc </a:t>
                </a:r>
                <a14:m>
                  <m:oMath xmlns:m="http://schemas.openxmlformats.org/officeDocument/2006/math">
                    <m:r>
                      <a:rPr lang="en-US" altLang="nl-NL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nl-NL" dirty="0"/>
                  <a:t>:</a:t>
                </a:r>
                <a:r>
                  <a:rPr lang="en-GB" altLang="en-US" dirty="0"/>
                  <a:t> 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altLang="en-US" dirty="0">
                            <a:latin typeface="Cambria Math" panose="02040503050406030204" pitchFamily="18" charset="0"/>
                          </a:rPr>
                          <m:t>’ – </m:t>
                        </m:r>
                        <m:r>
                          <a:rPr lang="en-GB" altLang="en-US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en-GB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alt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alt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en-US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altLang="en-US" b="0" i="1" dirty="0" smtClean="0">
                            <a:latin typeface="Cambria Math" panose="02040503050406030204" pitchFamily="18" charset="0"/>
                          </a:rPr>
                          <m:t>{0 ,</m:t>
                        </m:r>
                        <m:sSup>
                          <m:sSupPr>
                            <m:ctrlPr>
                              <a:rPr lang="en-GB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GB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)}</m:t>
                        </m:r>
                      </m:e>
                    </m:func>
                  </m:oMath>
                </a14:m>
                <a:endParaRPr lang="en-US" altLang="nl-NL" dirty="0"/>
              </a:p>
              <a:p>
                <a:pPr lvl="1">
                  <a:tabLst>
                    <a:tab pos="3409950" algn="l"/>
                  </a:tabLst>
                </a:pPr>
                <a:r>
                  <a:rPr lang="en-US" altLang="nl-NL" dirty="0"/>
                  <a:t>And its reverse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nl-NL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alt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nl-NL" dirty="0"/>
                  <a:t>: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altLang="en-US" dirty="0">
                            <a:latin typeface="Cambria Math" panose="02040503050406030204" pitchFamily="18" charset="0"/>
                          </a:rPr>
                          <m:t>’ – </m:t>
                        </m:r>
                        <m:r>
                          <a:rPr lang="en-GB" altLang="en-US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alt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alt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GB" alt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en-US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{0 ,</m:t>
                        </m:r>
                        <m:r>
                          <a:rPr lang="en-GB" altLang="en-US" i="1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GB" alt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GB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GB" alt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GB" altLang="en-US" dirty="0"/>
              </a:p>
              <a:p>
                <a:pPr>
                  <a:tabLst>
                    <a:tab pos="3409950" algn="l"/>
                  </a:tabLst>
                </a:pPr>
                <a:r>
                  <a:rPr lang="en-US" altLang="nl-NL" dirty="0"/>
                  <a:t>In words: subtract coordinate wise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, but when this is negative, send the negative part over the reverse arc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nl-N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altLang="nl-NL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GB" altLang="nl-NL" dirty="0"/>
              </a:p>
              <a:p>
                <a:pPr>
                  <a:tabLst>
                    <a:tab pos="3409950" algn="l"/>
                  </a:tabLst>
                </a:pPr>
                <a:endParaRPr lang="en-US" altLang="nl-NL" sz="500" b="1" dirty="0"/>
              </a:p>
              <a:p>
                <a:pPr marL="0" indent="0">
                  <a:buNone/>
                  <a:tabLst>
                    <a:tab pos="3409950" algn="l"/>
                  </a:tabLst>
                </a:pPr>
                <a:r>
                  <a:rPr lang="en-US" altLang="nl-NL" b="1" dirty="0"/>
                  <a:t>Lemma</a:t>
                </a:r>
                <a:endParaRPr lang="en-US" altLang="nl-NL" dirty="0"/>
              </a:p>
              <a:p>
                <a:r>
                  <a:rPr lang="en-US" altLang="nl-NL" dirty="0"/>
                  <a:t>For any two flows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,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nl-NL" dirty="0"/>
                  <a:t> in a graph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is a flow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en-US" dirty="0"/>
                  <a:t>. If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 and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have the same value, then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is a circulation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pPr lvl="1"/>
                <a:r>
                  <a:rPr lang="en-GB" altLang="en-US" u="sng" dirty="0"/>
                  <a:t>Flow</a:t>
                </a:r>
                <a:r>
                  <a:rPr lang="en-GB" altLang="en-US" dirty="0"/>
                  <a:t>: conservation of flow follows because f and f’ are flows. Arc capacity constrains are satisfied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b="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GB" alt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en-US" dirty="0"/>
                  <a:t> is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en-US" dirty="0"/>
              </a:p>
              <a:p>
                <a:pPr lvl="2"/>
                <a:r>
                  <a:rPr lang="en-GB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/>
                  <a:t> is negative,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altLang="en-US" dirty="0"/>
                  <a:t>has the required reverse capacity as it is the residual network for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GB" altLang="en-US" dirty="0"/>
              </a:p>
              <a:p>
                <a:pPr lvl="1"/>
                <a:r>
                  <a:rPr lang="en-US" altLang="en-US" u="sng" dirty="0"/>
                  <a:t>Circulation</a:t>
                </a:r>
                <a:r>
                  <a:rPr lang="en-US" altLang="en-US" dirty="0"/>
                  <a:t>: flow conservation for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en-US" dirty="0"/>
                  <a:t> except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en-US" dirty="0"/>
              </a:p>
              <a:p>
                <a:pPr lvl="2"/>
                <a:r>
                  <a:rPr lang="en-US" altLang="en-US" dirty="0"/>
                  <a:t>By subtracting </a:t>
                </a:r>
                <a:r>
                  <a:rPr lang="en-GB" altLang="en-US" dirty="0"/>
                  <a:t>we have flow conservation everywhere </a:t>
                </a:r>
                <a:r>
                  <a:rPr lang="en-US" altLang="en-US" dirty="0"/>
                  <a:t>in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altLang="en-US" dirty="0"/>
              </a:p>
              <a:p>
                <a:pPr lvl="1"/>
                <a:endParaRPr lang="en-US" altLang="nl-NL" dirty="0"/>
              </a:p>
            </p:txBody>
          </p:sp>
        </mc:Choice>
        <mc:Fallback xmlns="">
          <p:sp>
            <p:nvSpPr>
              <p:cNvPr id="593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36904" cy="3962400"/>
              </a:xfrm>
              <a:blipFill>
                <a:blip r:embed="rId3"/>
                <a:stretch>
                  <a:fillRect l="-630" t="-923" b="-923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98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3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3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3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3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cycle cancelling algorithm is 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696200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altLang="en-US" b="1" dirty="0"/>
                  <a:t>Theorem</a:t>
                </a:r>
              </a:p>
              <a:p>
                <a:r>
                  <a:rPr lang="en-GB" altLang="en-US" dirty="0"/>
                  <a:t>A flow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has minimum costs, if and only if,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en-US" dirty="0"/>
                  <a:t> has no negative-cost cycle</a:t>
                </a:r>
              </a:p>
              <a:p>
                <a:endParaRPr lang="en-GB" altLang="en-US" sz="800" dirty="0"/>
              </a:p>
              <a:p>
                <a:pPr marL="0" indent="0">
                  <a:buNone/>
                </a:pPr>
                <a:r>
                  <a:rPr lang="en-GB" altLang="en-US" b="1" dirty="0"/>
                  <a:t>Proof:</a:t>
                </a:r>
              </a:p>
              <a:p>
                <a:r>
                  <a:rPr lang="en-GB" altLang="en-US" i="1" u="sng" dirty="0"/>
                  <a:t>Only if</a:t>
                </a:r>
                <a:r>
                  <a:rPr lang="en-GB" alt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en-US" dirty="0"/>
                  <a:t> has negative-cost cycle, we can improve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(algorithm)</a:t>
                </a:r>
              </a:p>
              <a:p>
                <a:r>
                  <a:rPr lang="en-GB" altLang="en-US" i="1" u="sng" dirty="0"/>
                  <a:t>If</a:t>
                </a:r>
                <a:r>
                  <a:rPr lang="en-GB" altLang="en-US" dirty="0"/>
                  <a:t>: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en-US" dirty="0"/>
                  <a:t> has no negative-cost cycle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GB" altLang="en-US" dirty="0"/>
                  <a:t>Let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be a flow, and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en-US" dirty="0"/>
                  <a:t> an optimal flow (with the same flow value)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GB" altLang="en-US" dirty="0"/>
                  <a:t>By theorem on the last slide: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is a circulation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GB" altLang="en-US" dirty="0"/>
                  <a:t>Therefore,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altLang="en-US" dirty="0"/>
                  <a:t>is a linear combination of cycles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GB" altLang="en-US" dirty="0"/>
                  <a:t>If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is not optimal, then the total cost of these cycles is negative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GB" altLang="en-US" dirty="0"/>
                  <a:t>There must be a negative-cost cycle in this set, which is a cycle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en-US" dirty="0"/>
                  <a:t>: contradiction!</a:t>
                </a:r>
              </a:p>
            </p:txBody>
          </p:sp>
        </mc:Choice>
        <mc:Fallback xmlns="">
          <p:sp>
            <p:nvSpPr>
              <p:cNvPr id="1946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696200" cy="3962400"/>
              </a:xfrm>
              <a:blipFill>
                <a:blip r:embed="rId3"/>
                <a:stretch>
                  <a:fillRect l="-633" t="-769" r="-158" b="-753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More on the cycle cancelling algorithm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pPr marL="0" indent="0">
              <a:buNone/>
            </a:pPr>
            <a:r>
              <a:rPr lang="en-GB" altLang="en-US" b="1" dirty="0"/>
              <a:t>Corollary </a:t>
            </a:r>
            <a:r>
              <a:rPr lang="en-GB" altLang="en-US" dirty="0"/>
              <a:t>(of the correctness of the algorithm)</a:t>
            </a:r>
          </a:p>
          <a:p>
            <a:r>
              <a:rPr lang="en-GB" altLang="en-US" dirty="0"/>
              <a:t>If all capacities and target flow value are integral, then there exists an optimal integer minimum-cost flow</a:t>
            </a:r>
          </a:p>
          <a:p>
            <a:pPr lvl="1"/>
            <a:r>
              <a:rPr lang="en-GB" altLang="en-US" dirty="0"/>
              <a:t>The cycle cancelling algorithm finds an integer flow in this case</a:t>
            </a:r>
          </a:p>
          <a:p>
            <a:pPr marL="0" indent="0">
              <a:buNone/>
            </a:pPr>
            <a:endParaRPr lang="en-GB" altLang="en-US" sz="800" dirty="0"/>
          </a:p>
          <a:p>
            <a:pPr marL="0" indent="0">
              <a:buNone/>
            </a:pPr>
            <a:endParaRPr lang="en-GB" altLang="en-US" sz="800" b="1" dirty="0"/>
          </a:p>
          <a:p>
            <a:pPr marL="0" indent="0">
              <a:buNone/>
            </a:pPr>
            <a:r>
              <a:rPr lang="en-GB" altLang="en-US" b="1" dirty="0"/>
              <a:t>Notes:</a:t>
            </a:r>
          </a:p>
          <a:p>
            <a:r>
              <a:rPr lang="en-US" altLang="en-US" dirty="0"/>
              <a:t>Cycle cancelling algorithm also works with lower bounds:</a:t>
            </a:r>
          </a:p>
          <a:p>
            <a:pPr lvl="1"/>
            <a:r>
              <a:rPr lang="en-US" altLang="en-US" dirty="0"/>
              <a:t>First find a feasible flow, respecting lower bounds (see lecture on max flow)</a:t>
            </a:r>
          </a:p>
          <a:p>
            <a:pPr lvl="1"/>
            <a:r>
              <a:rPr lang="en-US" altLang="en-US" dirty="0"/>
              <a:t>Cycle cancelling part of the algorithm is the same, with the residual network defined as for flows with lower bounds</a:t>
            </a:r>
            <a:endParaRPr lang="en-GB" altLang="en-US" b="1" dirty="0"/>
          </a:p>
          <a:p>
            <a:pPr marL="0" indent="0">
              <a:buNone/>
            </a:pPr>
            <a:endParaRPr lang="en-GB" altLang="en-US" sz="800" b="1" dirty="0"/>
          </a:p>
          <a:p>
            <a:r>
              <a:rPr lang="en-GB" altLang="en-US" dirty="0"/>
              <a:t>No guarantee that the cycle cancelling algorithm uses polynomial time</a:t>
            </a:r>
          </a:p>
          <a:p>
            <a:pPr marL="0" indent="0">
              <a:buNone/>
            </a:pPr>
            <a:endParaRPr lang="en-GB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Minimum mean-cost cycle cancelling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altLang="en-US" dirty="0"/>
                  <a:t>Minimum mean-cost cycle cancelling algorithm:</a:t>
                </a:r>
              </a:p>
              <a:p>
                <a:pPr lvl="1"/>
                <a:r>
                  <a:rPr lang="en-GB" altLang="en-US" dirty="0"/>
                  <a:t>Variant of cycle cancelling algorithm</a:t>
                </a:r>
              </a:p>
              <a:p>
                <a:pPr lvl="1"/>
                <a:r>
                  <a:rPr lang="en-GB" altLang="en-US" dirty="0"/>
                  <a:t>Always use the minimum-mean-cost cycle to improve the current flow</a:t>
                </a:r>
              </a:p>
              <a:p>
                <a:pPr lvl="1"/>
                <a:r>
                  <a:rPr lang="en-GB" altLang="en-US" dirty="0"/>
                  <a:t>This gives a polynomial time algorithm</a:t>
                </a:r>
              </a:p>
              <a:p>
                <a:pPr eaLnBrk="1" hangingPunct="1"/>
                <a:endParaRPr lang="en-GB" altLang="en-US" dirty="0"/>
              </a:p>
              <a:p>
                <a:pPr eaLnBrk="1" hangingPunct="1"/>
                <a:r>
                  <a:rPr lang="en-GB" altLang="en-US" dirty="0"/>
                  <a:t>Run time (details omitted)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altLang="en-US" dirty="0"/>
                  <a:t>time to find the cycle (exercise!)</a:t>
                </a:r>
              </a:p>
              <a:p>
                <a:pPr lvl="1" eaLnBrk="1" hangingPunct="1"/>
                <a:r>
                  <a:rPr lang="en-GB" altLang="en-US" dirty="0"/>
                  <a:t>A theorem shows that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GB" alt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alt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alt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altLang="en-US" dirty="0"/>
                  <a:t>iterations are sufficient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altLang="en-US" i="1" baseline="30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alt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alt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altLang="en-US" dirty="0"/>
                  <a:t>algorithm</a:t>
                </a:r>
              </a:p>
            </p:txBody>
          </p:sp>
        </mc:Choice>
        <mc:Fallback xmlns="">
          <p:sp>
            <p:nvSpPr>
              <p:cNvPr id="2150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COST FLOW: SUCCES-SIVE SHORTEST PATHS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033272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Successive shortest paths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GB" altLang="en-US" b="1" dirty="0"/>
                  <a:t>Algorithm:</a:t>
                </a:r>
              </a:p>
              <a:p>
                <a:pPr eaLnBrk="1" hangingPunct="1">
                  <a:buFont typeface="+mj-lt"/>
                  <a:buAutoNum type="arabicPeriod"/>
                </a:pPr>
                <a:r>
                  <a:rPr lang="en-GB" altLang="en-US" dirty="0"/>
                  <a:t>Start with flow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with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)=0 </m:t>
                    </m:r>
                  </m:oMath>
                </a14:m>
                <a:r>
                  <a:rPr lang="en-GB" altLang="en-US" dirty="0"/>
                  <a:t>for all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altLang="en-US" dirty="0"/>
              </a:p>
              <a:p>
                <a:pPr eaLnBrk="1" hangingPunct="1">
                  <a:buFont typeface="+mj-lt"/>
                  <a:buAutoNum type="arabicPeriod"/>
                </a:pPr>
                <a:r>
                  <a:rPr lang="en-GB" altLang="en-US" dirty="0"/>
                  <a:t>​</a:t>
                </a:r>
                <a:r>
                  <a:rPr lang="en-GB" altLang="en-US" b="1" dirty="0"/>
                  <a:t>repeat</a:t>
                </a:r>
                <a:r>
                  <a:rPr lang="en-GB" altLang="en-US" dirty="0"/>
                  <a:t> </a:t>
                </a:r>
                <a:r>
                  <a:rPr lang="en-GB" altLang="en-US" b="1" dirty="0"/>
                  <a:t>until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GB" altLang="en-US" i="1" dirty="0"/>
              </a:p>
              <a:p>
                <a:pPr marL="800100" lvl="1" indent="-342900" eaLnBrk="1" hangingPunct="1">
                  <a:buFont typeface="+mj-lt"/>
                  <a:buAutoNum type="arabicPeriod"/>
                </a:pPr>
                <a:r>
                  <a:rPr lang="en-GB" altLang="en-US" dirty="0"/>
                  <a:t>Find the shortest path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en-US" dirty="0"/>
                  <a:t> in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alt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from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altLang="en-US" dirty="0"/>
                  <a:t> to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altLang="en-US" i="1" dirty="0"/>
                  <a:t> </a:t>
                </a:r>
                <a:r>
                  <a:rPr lang="en-GB" altLang="en-US" dirty="0"/>
                  <a:t>using costs as arc lengths</a:t>
                </a:r>
              </a:p>
              <a:p>
                <a:pPr marL="800100" lvl="1" indent="-342900" eaLnBrk="1" hangingPunct="1">
                  <a:buFont typeface="+mj-lt"/>
                  <a:buAutoNum type="arabicPeriod"/>
                </a:pPr>
                <a:r>
                  <a:rPr lang="en-GB" altLang="en-US" dirty="0"/>
                  <a:t>Let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altLang="en-US" dirty="0"/>
                  <a:t> be the minimum residual capacity of an edge on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altLang="en-US" dirty="0"/>
              </a:p>
              <a:p>
                <a:pPr marL="800100" lvl="1" indent="-342900" eaLnBrk="1" hangingPunct="1">
                  <a:buFont typeface="+mj-lt"/>
                  <a:buAutoNum type="arabicPeriod"/>
                </a:pPr>
                <a:r>
                  <a:rPr lang="en-GB" altLang="en-US" dirty="0"/>
                  <a:t>Send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alt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en-US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GB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en-US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GB" altLang="en-US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altLang="en-US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 – </m:t>
                            </m:r>
                            <m:r>
                              <a:rPr lang="en-GB" altLang="en-US" i="1" dirty="0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d>
                              <m:dPr>
                                <m:ctrlPr>
                                  <a:rPr lang="en-GB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alt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altLang="en-US" dirty="0"/>
                  <a:t>additional units of flow across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en-US" dirty="0"/>
              </a:p>
              <a:p>
                <a:pPr marL="800100" lvl="1" indent="-342900" eaLnBrk="1" hangingPunct="1">
                  <a:buFont typeface="+mj-lt"/>
                  <a:buAutoNum type="arabicPeriod"/>
                </a:pPr>
                <a:endParaRPr lang="en-GB" altLang="en-US" sz="800" dirty="0"/>
              </a:p>
              <a:p>
                <a:pPr marL="0" indent="0">
                  <a:buNone/>
                </a:pPr>
                <a:r>
                  <a:rPr lang="en-GB" altLang="en-US" b="1" dirty="0"/>
                  <a:t>Notes:</a:t>
                </a:r>
              </a:p>
              <a:p>
                <a:r>
                  <a:rPr lang="en-US" altLang="en-US" dirty="0"/>
                  <a:t>Algorithm is correct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only if</a:t>
                </a:r>
                <a:r>
                  <a:rPr lang="en-US" alt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no cycle with negative cost (correctness proof on next slides)</a:t>
                </a:r>
              </a:p>
              <a:p>
                <a:pPr lvl="1"/>
                <a:r>
                  <a:rPr lang="en-US" altLang="en-US" dirty="0"/>
                  <a:t>Example: if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 negative-cost cycle and we have a target flow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dirty="0"/>
                  <a:t>, then the algorithm gives an incorrect answer</a:t>
                </a:r>
              </a:p>
              <a:p>
                <a:r>
                  <a:rPr lang="en-US" altLang="en-US" dirty="0"/>
                  <a:t>Algorithm can require exponential time</a:t>
                </a:r>
              </a:p>
            </p:txBody>
          </p:sp>
        </mc:Choice>
        <mc:Fallback xmlns="">
          <p:sp>
            <p:nvSpPr>
              <p:cNvPr id="2355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0" t="-769" b="-661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Correctness of successive shortest paths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736904" cy="41924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Theorem</a:t>
                </a:r>
              </a:p>
              <a:p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no negative-cost cycle, then the successive shortest paths algorithm gives the minimum cost flow</a:t>
                </a:r>
              </a:p>
              <a:p>
                <a:pPr lvl="1"/>
                <a:r>
                  <a:rPr lang="en-US" altLang="en-US" dirty="0"/>
                  <a:t>Proof follows from the claim below</a:t>
                </a:r>
              </a:p>
              <a:p>
                <a:pPr lvl="1"/>
                <a:endParaRPr lang="en-US" altLang="en-US" sz="600" dirty="0"/>
              </a:p>
              <a:p>
                <a:pPr marL="0" indent="0">
                  <a:buNone/>
                </a:pPr>
                <a:r>
                  <a:rPr lang="en-US" altLang="en-US" b="1" dirty="0"/>
                  <a:t>Claim</a:t>
                </a:r>
              </a:p>
              <a:p>
                <a:r>
                  <a:rPr lang="en-US" altLang="en-US" dirty="0"/>
                  <a:t>The </a:t>
                </a:r>
                <a:r>
                  <a:rPr lang="en-US" altLang="en-US" dirty="0" err="1"/>
                  <a:t>ssp</a:t>
                </a:r>
                <a:r>
                  <a:rPr lang="en-US" altLang="en-US" dirty="0"/>
                  <a:t>-algorithm maintains the following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invariant</a:t>
                </a:r>
                <a:r>
                  <a:rPr lang="en-US" altLang="en-US" dirty="0"/>
                  <a:t>:</a:t>
                </a:r>
              </a:p>
              <a:p>
                <a:pPr lvl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no negative-cost cycle, then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has minimum cost among all flows with value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en-US" dirty="0"/>
              </a:p>
              <a:p>
                <a:pPr marL="0" indent="0">
                  <a:buNone/>
                </a:pPr>
                <a:endParaRPr lang="en-US" altLang="en-US" sz="400" dirty="0"/>
              </a:p>
              <a:p>
                <a:pPr marL="0" indent="0">
                  <a:buNone/>
                </a:pPr>
                <a:r>
                  <a:rPr lang="en-GB" altLang="en-US" b="1" dirty="0"/>
                  <a:t>Recall</a:t>
                </a:r>
              </a:p>
              <a:p>
                <a:r>
                  <a:rPr lang="en-GB" altLang="en-US" dirty="0"/>
                  <a:t>A flow </a:t>
                </a:r>
                <a14:m>
                  <m:oMath xmlns:m="http://schemas.openxmlformats.org/officeDocument/2006/math">
                    <m:r>
                      <a:rPr lang="en-GB" altLang="en-US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has minimum costs, if and only if,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en-US" dirty="0"/>
                  <a:t> has no negative-cost cycle</a:t>
                </a:r>
              </a:p>
              <a:p>
                <a:pPr lvl="1"/>
                <a:r>
                  <a:rPr lang="en-GB" altLang="en-US" dirty="0"/>
                  <a:t>This is the correctness proof of the cycle cancelling algorithm</a:t>
                </a:r>
              </a:p>
              <a:p>
                <a:r>
                  <a:rPr lang="en-US" altLang="nl-NL" dirty="0"/>
                  <a:t>For any two flows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nl-NL" dirty="0"/>
                  <a:t>,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nl-NL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nl-NL" dirty="0"/>
                  <a:t> in a graph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nl-NL" dirty="0"/>
                  <a:t>: </a:t>
                </a:r>
                <a14:m>
                  <m:oMath xmlns:m="http://schemas.openxmlformats.org/officeDocument/2006/math"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’ – </m:t>
                    </m:r>
                    <m:r>
                      <a:rPr lang="en-GB" altLang="en-US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dirty="0"/>
                  <a:t> is a flow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endParaRPr lang="en-GB" altLang="en-US" dirty="0"/>
              </a:p>
              <a:p>
                <a:pPr marL="0" indent="0"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2560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736904" cy="4192488"/>
              </a:xfrm>
              <a:blipFill>
                <a:blip r:embed="rId2"/>
                <a:stretch>
                  <a:fillRect l="-630" t="-727" b="-290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Proof of claim:</a:t>
                </a:r>
                <a:br>
                  <a:rPr lang="en-US" altLang="en-US" dirty="0"/>
                </a:br>
                <a:r>
                  <a:rPr lang="en-US" altLang="en-US" sz="1600" dirty="0"/>
                  <a:t>If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sz="1600" dirty="0"/>
                  <a:t> has no negative-cost cycle, then </a:t>
                </a:r>
                <a14:m>
                  <m:oMath xmlns:m="http://schemas.openxmlformats.org/officeDocument/2006/math">
                    <m:r>
                      <a:rPr lang="en-GB" altLang="en-US" sz="16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altLang="en-US" sz="1600" dirty="0"/>
                  <a:t> has minimum cost among all flows with value </a:t>
                </a:r>
                <a14:m>
                  <m:oMath xmlns:m="http://schemas.openxmlformats.org/officeDocument/2006/math">
                    <m:r>
                      <a:rPr lang="en-GB" altLang="en-US" sz="1600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GB" alt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en-US" sz="1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alt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GB" altLang="en-US" sz="1600" dirty="0"/>
                </a:br>
                <a:endParaRPr lang="en-US" altLang="en-US" dirty="0"/>
              </a:p>
            </p:txBody>
          </p:sp>
        </mc:Choice>
        <mc:Fallback xmlns="">
          <p:sp>
            <p:nvSpPr>
              <p:cNvPr id="2662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1170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12776"/>
                <a:ext cx="7772400" cy="4552528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  <a:defRPr/>
                </a:pPr>
                <a:r>
                  <a:rPr lang="en-US" dirty="0"/>
                  <a:t>Invariant is initially true</a:t>
                </a:r>
              </a:p>
              <a:p>
                <a:pPr lvl="1">
                  <a:defRPr/>
                </a:pPr>
                <a:r>
                  <a:rPr lang="en-US" dirty="0"/>
                  <a:t>All zero flow is optimal when there are no negative-cost cycles</a:t>
                </a:r>
              </a:p>
              <a:p>
                <a:pPr>
                  <a:buFont typeface="+mj-lt"/>
                  <a:buAutoNum type="arabicPeriod"/>
                  <a:defRPr/>
                </a:pPr>
                <a:r>
                  <a:rPr lang="en-US" dirty="0"/>
                  <a:t>Suppose we obtain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by sending flow over a path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>
                  <a:defRPr/>
                </a:pPr>
                <a:r>
                  <a:rPr lang="en-US" dirty="0"/>
                  <a:t>By the invariant: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has minimum cost for flows with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  <a:defRPr/>
                </a:pPr>
                <a:r>
                  <a:rPr lang="en-US" dirty="0"/>
                  <a:t>Suppose that there is an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dirty="0"/>
                  <a:t> that is a min-cost flow with same flow value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i="1" dirty="0"/>
                  <a:t>. </a:t>
                </a:r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′′ –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flow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i="1" dirty="0"/>
              </a:p>
              <a:p>
                <a:pPr lvl="1">
                  <a:defRPr/>
                </a:pPr>
                <a:r>
                  <a:rPr lang="en-GB" altLang="en-US" dirty="0"/>
                  <a:t>By the (repeated) theorem on the last slide: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′′ –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flow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GB" altLang="en-US" dirty="0"/>
              </a:p>
              <a:p>
                <a:pPr>
                  <a:buFont typeface="+mj-lt"/>
                  <a:buAutoNum type="arabicPeriod"/>
                  <a:defRPr/>
                </a:pPr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′′ –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can be written as a linear combination of cycles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paths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 Now:</a:t>
                </a: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i="1" u="sng" dirty="0">
                    <a:solidFill>
                      <a:schemeClr val="tx1"/>
                    </a:solidFill>
                  </a:rPr>
                  <a:t>All cycles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u="sng" dirty="0">
                    <a:solidFill>
                      <a:schemeClr val="tx1"/>
                    </a:solidFill>
                  </a:rPr>
                  <a:t> have cost at least 0</a:t>
                </a:r>
                <a:r>
                  <a:rPr lang="en-US" dirty="0"/>
                  <a:t>: otherwise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not of minimum cost</a:t>
                </a: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i="1" u="sng" dirty="0"/>
                  <a:t>All paths in this combination have cost at least the cost of </a:t>
                </a:r>
                <a14:m>
                  <m:oMath xmlns:m="http://schemas.openxmlformats.org/officeDocument/2006/math"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this is how the algorithm works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is the cost-shortest path)</a:t>
                </a: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dirty="0"/>
                  <a:t>It follows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’’–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≥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’–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’’) ≥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US" dirty="0"/>
                  <a:t>which show minimality of cost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12776"/>
                <a:ext cx="7772400" cy="4552528"/>
              </a:xfrm>
              <a:blipFill>
                <a:blip r:embed="rId4"/>
                <a:stretch>
                  <a:fillRect l="-471" t="-80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BIPARTITE MATCHING AND (MIN-COST) FLOWS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744342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6655B-49A2-ACF1-04F3-68604EDF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1880C564-6672-0FAD-4395-699D533EF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507" name="Rectangle 3">
                <a:extLst>
                  <a:ext uri="{FF2B5EF4-FFF2-40B4-BE49-F238E27FC236}">
                    <a16:creationId xmlns:a16="http://schemas.microsoft.com/office/drawing/2014/main" id="{2DB925C6-85B3-1DB8-85EE-3D4B2C18FDE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b="1" dirty="0"/>
                  <a:t>Definition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Matching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: set of edges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𝑀</m:t>
                    </m:r>
                    <m:r>
                      <a:rPr lang="en-US" alt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r>
                      <a:rPr lang="en-US" alt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𝐸</m:t>
                    </m:r>
                  </m:oMath>
                </a14:m>
                <a:r>
                  <a:rPr lang="en-US" altLang="en-US" dirty="0">
                    <a:solidFill>
                      <a:schemeClr val="tx1"/>
                    </a:solidFill>
                  </a:rPr>
                  <a:t> in an undirected graph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>
                    <a:solidFill>
                      <a:schemeClr val="tx1"/>
                    </a:solidFill>
                  </a:rPr>
                  <a:t> such that no vertex is an endpoint of more than one edge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b="1" dirty="0"/>
                  <a:t>Bipartite graph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Graph whose vertex set is partitioned into two parts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dirty="0"/>
                  <a:t>, and all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en-US" dirty="0"/>
                  <a:t> have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77507" name="Rectangle 3">
                <a:extLst>
                  <a:ext uri="{FF2B5EF4-FFF2-40B4-BE49-F238E27FC236}">
                    <a16:creationId xmlns:a16="http://schemas.microsoft.com/office/drawing/2014/main" id="{2DB925C6-85B3-1DB8-85EE-3D4B2C18F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2"/>
                <a:stretch>
                  <a:fillRect l="-627" t="-13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ine 9">
            <a:extLst>
              <a:ext uri="{FF2B5EF4-FFF2-40B4-BE49-F238E27FC236}">
                <a16:creationId xmlns:a16="http://schemas.microsoft.com/office/drawing/2014/main" id="{B566BCBA-8A2C-255B-CCB0-9C7593DD0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4812045"/>
            <a:ext cx="762000" cy="827499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800" dirty="0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85C1C408-5078-81D5-16BF-258645EFD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4953744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DC84C586-8AA5-E5DC-511E-4D95EF412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5563344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D791E72C-1133-A2C4-C0F4-2B8C137AF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4725144"/>
            <a:ext cx="685800" cy="3048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B94341C8-8406-2ABF-4741-A06D9ECA8E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9100" y="5106144"/>
            <a:ext cx="685800" cy="2286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22C6AA15-879A-75A5-689E-5E93803EA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9100" y="5715744"/>
            <a:ext cx="685800" cy="3048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4C11FCB0-7EE8-5E14-AACF-0B08AC1C0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5334744"/>
            <a:ext cx="685800" cy="3048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58CC5566-58BA-FAFF-D21F-12755E946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4648944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A11D92A0-7F88-655A-731C-4E8993927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5258544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BF2E0444-15D7-5F57-6ADE-5298FE771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5868144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199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Line 16">
            <a:extLst>
              <a:ext uri="{FF2B5EF4-FFF2-40B4-BE49-F238E27FC236}">
                <a16:creationId xmlns:a16="http://schemas.microsoft.com/office/drawing/2014/main" id="{F25EFC7C-DA96-40C0-95B8-85B4E795DD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8800" y="3984640"/>
            <a:ext cx="705799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64E69392-56BC-4FA9-81B0-E5E27EFEB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109641"/>
            <a:ext cx="762000" cy="827499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800" dirty="0"/>
          </a:p>
        </p:txBody>
      </p:sp>
      <p:sp>
        <p:nvSpPr>
          <p:cNvPr id="283677" name="Line 29"/>
          <p:cNvSpPr>
            <a:spLocks noChangeShapeType="1"/>
          </p:cNvSpPr>
          <p:nvPr/>
        </p:nvSpPr>
        <p:spPr bwMode="auto">
          <a:xfrm flipV="1">
            <a:off x="6477000" y="4632340"/>
            <a:ext cx="7620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6" name="Line 28"/>
          <p:cNvSpPr>
            <a:spLocks noChangeShapeType="1"/>
          </p:cNvSpPr>
          <p:nvPr/>
        </p:nvSpPr>
        <p:spPr bwMode="auto">
          <a:xfrm>
            <a:off x="6477000" y="4251340"/>
            <a:ext cx="7620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3" name="Line 25"/>
          <p:cNvSpPr>
            <a:spLocks noChangeShapeType="1"/>
          </p:cNvSpPr>
          <p:nvPr/>
        </p:nvSpPr>
        <p:spPr bwMode="auto">
          <a:xfrm flipV="1">
            <a:off x="4495800" y="3946540"/>
            <a:ext cx="990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5" name="Line 27"/>
          <p:cNvSpPr>
            <a:spLocks noChangeShapeType="1"/>
          </p:cNvSpPr>
          <p:nvPr/>
        </p:nvSpPr>
        <p:spPr bwMode="auto">
          <a:xfrm>
            <a:off x="4419600" y="4708540"/>
            <a:ext cx="1066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4" name="Line 26"/>
          <p:cNvSpPr>
            <a:spLocks noChangeShapeType="1"/>
          </p:cNvSpPr>
          <p:nvPr/>
        </p:nvSpPr>
        <p:spPr bwMode="auto">
          <a:xfrm flipV="1">
            <a:off x="4572000" y="4632340"/>
            <a:ext cx="9144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Matching in bipartite graphs: </a:t>
            </a:r>
            <a:br>
              <a:rPr lang="en-US" altLang="en-US" dirty="0"/>
            </a:br>
            <a:r>
              <a:rPr lang="en-US" altLang="en-US" dirty="0"/>
              <a:t>using maximum flow algorithms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Finding maximum matching in bipartite graphs:</a:t>
            </a:r>
          </a:p>
          <a:p>
            <a:pPr lvl="1"/>
            <a:r>
              <a:rPr lang="en-US" altLang="en-US" dirty="0"/>
              <a:t>Model it as a flow problem and solve it</a:t>
            </a:r>
          </a:p>
          <a:p>
            <a:pPr lvl="1"/>
            <a:r>
              <a:rPr lang="en-US" altLang="en-US" dirty="0"/>
              <a:t>Make sure algorithm finds integral flow (use proper algorithm)</a:t>
            </a:r>
          </a:p>
        </p:txBody>
      </p:sp>
      <p:sp>
        <p:nvSpPr>
          <p:cNvPr id="283655" name="Oval 7"/>
          <p:cNvSpPr>
            <a:spLocks noChangeArrowheads="1"/>
          </p:cNvSpPr>
          <p:nvPr/>
        </p:nvSpPr>
        <p:spPr bwMode="auto">
          <a:xfrm>
            <a:off x="2971800" y="42513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56" name="Oval 8"/>
          <p:cNvSpPr>
            <a:spLocks noChangeArrowheads="1"/>
          </p:cNvSpPr>
          <p:nvPr/>
        </p:nvSpPr>
        <p:spPr bwMode="auto">
          <a:xfrm>
            <a:off x="2971800" y="48609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57" name="Line 9"/>
          <p:cNvSpPr>
            <a:spLocks noChangeShapeType="1"/>
          </p:cNvSpPr>
          <p:nvPr/>
        </p:nvSpPr>
        <p:spPr bwMode="auto">
          <a:xfrm>
            <a:off x="2286000" y="4022740"/>
            <a:ext cx="685800" cy="3048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58" name="Line 10"/>
          <p:cNvSpPr>
            <a:spLocks noChangeShapeType="1"/>
          </p:cNvSpPr>
          <p:nvPr/>
        </p:nvSpPr>
        <p:spPr bwMode="auto">
          <a:xfrm flipV="1">
            <a:off x="2286000" y="4403740"/>
            <a:ext cx="685800" cy="2286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60" name="Line 12"/>
          <p:cNvSpPr>
            <a:spLocks noChangeShapeType="1"/>
          </p:cNvSpPr>
          <p:nvPr/>
        </p:nvSpPr>
        <p:spPr bwMode="auto">
          <a:xfrm flipV="1">
            <a:off x="2286000" y="5013340"/>
            <a:ext cx="685800" cy="3048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61" name="Line 13"/>
          <p:cNvSpPr>
            <a:spLocks noChangeShapeType="1"/>
          </p:cNvSpPr>
          <p:nvPr/>
        </p:nvSpPr>
        <p:spPr bwMode="auto">
          <a:xfrm>
            <a:off x="2286000" y="4632340"/>
            <a:ext cx="685800" cy="3048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52" name="Oval 4"/>
          <p:cNvSpPr>
            <a:spLocks noChangeArrowheads="1"/>
          </p:cNvSpPr>
          <p:nvPr/>
        </p:nvSpPr>
        <p:spPr bwMode="auto">
          <a:xfrm>
            <a:off x="2133600" y="39465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53" name="Oval 5"/>
          <p:cNvSpPr>
            <a:spLocks noChangeArrowheads="1"/>
          </p:cNvSpPr>
          <p:nvPr/>
        </p:nvSpPr>
        <p:spPr bwMode="auto">
          <a:xfrm>
            <a:off x="2133600" y="45561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54" name="Oval 6"/>
          <p:cNvSpPr>
            <a:spLocks noChangeArrowheads="1"/>
          </p:cNvSpPr>
          <p:nvPr/>
        </p:nvSpPr>
        <p:spPr bwMode="auto">
          <a:xfrm>
            <a:off x="2133600" y="51657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62" name="Oval 14"/>
          <p:cNvSpPr>
            <a:spLocks noChangeArrowheads="1"/>
          </p:cNvSpPr>
          <p:nvPr/>
        </p:nvSpPr>
        <p:spPr bwMode="auto">
          <a:xfrm>
            <a:off x="6324600" y="41751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63" name="Oval 15"/>
          <p:cNvSpPr>
            <a:spLocks noChangeArrowheads="1"/>
          </p:cNvSpPr>
          <p:nvPr/>
        </p:nvSpPr>
        <p:spPr bwMode="auto">
          <a:xfrm>
            <a:off x="6324600" y="47847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64" name="Line 16"/>
          <p:cNvSpPr>
            <a:spLocks noChangeShapeType="1"/>
          </p:cNvSpPr>
          <p:nvPr/>
        </p:nvSpPr>
        <p:spPr bwMode="auto">
          <a:xfrm>
            <a:off x="5638800" y="3946540"/>
            <a:ext cx="685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5" name="Line 17"/>
          <p:cNvSpPr>
            <a:spLocks noChangeShapeType="1"/>
          </p:cNvSpPr>
          <p:nvPr/>
        </p:nvSpPr>
        <p:spPr bwMode="auto">
          <a:xfrm flipV="1">
            <a:off x="5638800" y="4327540"/>
            <a:ext cx="6858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6" name="Line 18"/>
          <p:cNvSpPr>
            <a:spLocks noChangeShapeType="1"/>
          </p:cNvSpPr>
          <p:nvPr/>
        </p:nvSpPr>
        <p:spPr bwMode="auto">
          <a:xfrm flipV="1">
            <a:off x="5638800" y="4937140"/>
            <a:ext cx="685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7" name="Line 19"/>
          <p:cNvSpPr>
            <a:spLocks noChangeShapeType="1"/>
          </p:cNvSpPr>
          <p:nvPr/>
        </p:nvSpPr>
        <p:spPr bwMode="auto">
          <a:xfrm>
            <a:off x="5638800" y="4556140"/>
            <a:ext cx="685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8" name="Oval 20"/>
          <p:cNvSpPr>
            <a:spLocks noChangeArrowheads="1"/>
          </p:cNvSpPr>
          <p:nvPr/>
        </p:nvSpPr>
        <p:spPr bwMode="auto">
          <a:xfrm>
            <a:off x="5486400" y="38703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69" name="Oval 21"/>
          <p:cNvSpPr>
            <a:spLocks noChangeArrowheads="1"/>
          </p:cNvSpPr>
          <p:nvPr/>
        </p:nvSpPr>
        <p:spPr bwMode="auto">
          <a:xfrm>
            <a:off x="5486400" y="44799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3670" name="Oval 22"/>
          <p:cNvSpPr>
            <a:spLocks noChangeArrowheads="1"/>
          </p:cNvSpPr>
          <p:nvPr/>
        </p:nvSpPr>
        <p:spPr bwMode="auto">
          <a:xfrm>
            <a:off x="5486400" y="508954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671" name="Oval 23"/>
              <p:cNvSpPr>
                <a:spLocks noChangeArrowheads="1"/>
              </p:cNvSpPr>
              <p:nvPr/>
            </p:nvSpPr>
            <p:spPr bwMode="auto">
              <a:xfrm>
                <a:off x="4267200" y="4479940"/>
                <a:ext cx="381000" cy="381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altLang="en-US" dirty="0"/>
              </a:p>
            </p:txBody>
          </p:sp>
        </mc:Choice>
        <mc:Fallback xmlns="">
          <p:sp>
            <p:nvSpPr>
              <p:cNvPr id="283671" name="Oval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4479940"/>
                <a:ext cx="381000" cy="381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672" name="Oval 24"/>
              <p:cNvSpPr>
                <a:spLocks noChangeArrowheads="1"/>
              </p:cNvSpPr>
              <p:nvPr/>
            </p:nvSpPr>
            <p:spPr bwMode="auto">
              <a:xfrm>
                <a:off x="7239000" y="4403740"/>
                <a:ext cx="381000" cy="381000"/>
              </a:xfrm>
              <a:prstGeom prst="ellipse">
                <a:avLst/>
              </a:prstGeom>
              <a:solidFill>
                <a:srgbClr val="F3B927"/>
              </a:solidFill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nl-NL" altLang="en-US" dirty="0"/>
              </a:p>
            </p:txBody>
          </p:sp>
        </mc:Choice>
        <mc:Fallback xmlns="">
          <p:sp>
            <p:nvSpPr>
              <p:cNvPr id="283672" name="Oval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9000" y="4403740"/>
                <a:ext cx="381000" cy="381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678" name="Text Box 30"/>
              <p:cNvSpPr txBox="1">
                <a:spLocks noChangeArrowheads="1"/>
              </p:cNvSpPr>
              <p:nvPr/>
            </p:nvSpPr>
            <p:spPr bwMode="auto">
              <a:xfrm>
                <a:off x="6217982" y="3593614"/>
                <a:ext cx="1899879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altLang="en-US" sz="1800" dirty="0">
                    <a:latin typeface="+mj-lt"/>
                  </a:rPr>
                  <a:t>All capacities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NL" altLang="en-US" sz="1800" dirty="0">
                  <a:latin typeface="+mj-lt"/>
                </a:endParaRPr>
              </a:p>
            </p:txBody>
          </p:sp>
        </mc:Choice>
        <mc:Fallback xmlns="">
          <p:sp>
            <p:nvSpPr>
              <p:cNvPr id="283678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7982" y="3593614"/>
                <a:ext cx="1899879" cy="369332"/>
              </a:xfrm>
              <a:prstGeom prst="rect">
                <a:avLst/>
              </a:prstGeom>
              <a:blipFill>
                <a:blip r:embed="rId7"/>
                <a:stretch>
                  <a:fillRect l="-2556" t="-9836" b="-24590"/>
                </a:stretch>
              </a:blipFill>
              <a:ln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This technique works for variants too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46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>
                    <a:solidFill>
                      <a:srgbClr val="C00000"/>
                    </a:solidFill>
                  </a:rPr>
                  <a:t>Minimum cost perfect matching </a:t>
                </a:r>
                <a:r>
                  <a:rPr lang="en-US" altLang="en-US" dirty="0"/>
                  <a:t>in bipartite graphs</a:t>
                </a:r>
              </a:p>
              <a:p>
                <a:pPr lvl="1"/>
                <a:r>
                  <a:rPr lang="en-US" altLang="en-US" dirty="0"/>
                  <a:t>Perfect matching: all vertices matched</a:t>
                </a:r>
              </a:p>
              <a:p>
                <a:pPr lvl="1"/>
                <a:r>
                  <a:rPr lang="en-US" altLang="en-US" dirty="0"/>
                  <a:t>Model as min-cost maximum flow problem</a:t>
                </a:r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dirty="0">
                    <a:solidFill>
                      <a:srgbClr val="C00000"/>
                    </a:solidFill>
                  </a:rPr>
                  <a:t>-matchings </a:t>
                </a:r>
                <a:r>
                  <a:rPr lang="en-US" altLang="en-US" dirty="0"/>
                  <a:t>in bipartite graphs:</a:t>
                </a:r>
              </a:p>
              <a:p>
                <a:pPr lvl="1"/>
                <a:r>
                  <a:rPr lang="en-US" altLang="en-US" dirty="0"/>
                  <a:t>Given a graph and a function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𝑏</m:t>
                    </m:r>
                    <m:r>
                      <a:rPr lang="en-US" altLang="en-US" b="0" i="1" dirty="0" smtClean="0">
                        <a:latin typeface="Cambria Math"/>
                      </a:rPr>
                      <m:t>:</m:t>
                    </m:r>
                    <m:r>
                      <a:rPr lang="en-US" altLang="en-US" b="0" i="1" dirty="0" smtClean="0">
                        <a:latin typeface="Cambria Math"/>
                      </a:rPr>
                      <m:t>𝑉</m:t>
                    </m:r>
                    <m:r>
                      <a:rPr lang="en-US" altLang="en-US" b="0" i="1" dirty="0" smtClean="0">
                        <a:latin typeface="Cambria Math"/>
                      </a:rPr>
                      <m:t>→</m:t>
                    </m:r>
                    <m:r>
                      <a:rPr lang="en-US" altLang="en-US" b="0" i="1" dirty="0" smtClean="0">
                        <a:latin typeface="Cambria Math"/>
                        <a:ea typeface="Cambria Math"/>
                      </a:rPr>
                      <m:t>ℕ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Find a set of edges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𝑀</m:t>
                    </m:r>
                  </m:oMath>
                </a14:m>
                <a:r>
                  <a:rPr lang="en-US" altLang="en-US" dirty="0"/>
                  <a:t>, with each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altLang="en-US" dirty="0"/>
                  <a:t> endpoint of exactly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𝑏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𝑣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en-US" dirty="0"/>
                  <a:t> edges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𝑀</m:t>
                    </m:r>
                  </m:oMath>
                </a14:m>
                <a:endParaRPr lang="en-US" altLang="en-US" b="1" dirty="0"/>
              </a:p>
              <a:p>
                <a:pPr lvl="1"/>
                <a:endParaRPr lang="en-US" altLang="en-US" dirty="0"/>
              </a:p>
              <a:p>
                <a:pPr lvl="1"/>
                <a:r>
                  <a:rPr lang="en-US" altLang="en-US" dirty="0"/>
                  <a:t>(or with lower and upper bounds)</a:t>
                </a:r>
              </a:p>
            </p:txBody>
          </p:sp>
        </mc:Choice>
        <mc:Fallback xmlns="">
          <p:sp>
            <p:nvSpPr>
              <p:cNvPr id="2846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non-constructive proof of</a:t>
            </a:r>
            <a:br>
              <a:rPr lang="en-US" altLang="en-US" dirty="0"/>
            </a:br>
            <a:r>
              <a:rPr lang="en-US" altLang="en-US" dirty="0"/>
              <a:t>a well-known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69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Tx/>
                  <a:buNone/>
                </a:pPr>
                <a:r>
                  <a:rPr lang="en-US" altLang="en-US" b="1" dirty="0"/>
                  <a:t>Theorem</a:t>
                </a:r>
              </a:p>
              <a:p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be a regular bipartite graph</a:t>
                </a:r>
                <a:br>
                  <a:rPr lang="en-US" altLang="en-US" dirty="0"/>
                </a:br>
                <a:r>
                  <a:rPr lang="en-US" altLang="en-US" dirty="0"/>
                  <a:t>(all vertices the same degree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dirty="0"/>
                  <a:t>):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has a perfect matching</a:t>
                </a:r>
              </a:p>
              <a:p>
                <a:pPr>
                  <a:buFontTx/>
                  <a:buNone/>
                </a:pPr>
                <a:endParaRPr lang="en-US" altLang="en-US" b="1" dirty="0"/>
              </a:p>
              <a:p>
                <a:pPr>
                  <a:buFontTx/>
                  <a:buNone/>
                </a:pPr>
                <a:r>
                  <a:rPr lang="en-US" altLang="en-US" b="1" dirty="0"/>
                  <a:t>Proof: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Construct a flow model of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en-US" dirty="0"/>
              </a:p>
              <a:p>
                <a:pPr lvl="1">
                  <a:buFont typeface="+mj-lt"/>
                  <a:buAutoNum type="arabicPeriod"/>
                </a:pPr>
                <a:r>
                  <a:rPr lang="en-US" altLang="en-US" dirty="0"/>
                  <a:t>Set flow on arcs from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US" dirty="0"/>
                  <a:t> and arcs to</a:t>
                </a:r>
                <a:r>
                  <a:rPr lang="en-US" altLang="en-US" i="1" dirty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to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/>
              </a:p>
              <a:p>
                <a:pPr lvl="1">
                  <a:buFont typeface="+mj-lt"/>
                  <a:buAutoNum type="arabicPeriod"/>
                </a:pPr>
                <a:r>
                  <a:rPr lang="en-US" altLang="en-US" dirty="0"/>
                  <a:t>Set flow on all other arcs to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dirty="0"/>
                  <a:t>, where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dirty="0"/>
                  <a:t> is the degree of all vertices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This flow has value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en-US" dirty="0"/>
                  <a:t>, which is optimal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Hence, Ford-Fulkerson on the flow model will find an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integral</a:t>
                </a:r>
                <a:r>
                  <a:rPr lang="en-US" altLang="en-US" dirty="0"/>
                  <a:t> flow of value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This corresponds to perfect matching</a:t>
                </a:r>
              </a:p>
            </p:txBody>
          </p:sp>
        </mc:Choice>
        <mc:Fallback xmlns="">
          <p:sp>
            <p:nvSpPr>
              <p:cNvPr id="2856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495" t="-1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6041A1F-8D00-498E-8332-490E0B3B951D}"/>
              </a:ext>
            </a:extLst>
          </p:cNvPr>
          <p:cNvGrpSpPr/>
          <p:nvPr/>
        </p:nvGrpSpPr>
        <p:grpSpPr>
          <a:xfrm>
            <a:off x="5611688" y="1895872"/>
            <a:ext cx="3352800" cy="1448085"/>
            <a:chOff x="5314528" y="1895872"/>
            <a:chExt cx="3352800" cy="1448085"/>
          </a:xfrm>
        </p:grpSpPr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754E858A-89CF-41D6-960D-CCD5CBC4CF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86128" y="2657872"/>
              <a:ext cx="647699" cy="5333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57A55B0B-2539-48F9-B95B-A88A20062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6128" y="1997965"/>
              <a:ext cx="635201" cy="5837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Line 29">
              <a:extLst>
                <a:ext uri="{FF2B5EF4-FFF2-40B4-BE49-F238E27FC236}">
                  <a16:creationId xmlns:a16="http://schemas.microsoft.com/office/drawing/2014/main" id="{BFC7A045-7C17-4E04-BBF6-9651FA067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62428" y="2734062"/>
              <a:ext cx="753989" cy="4571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28">
              <a:extLst>
                <a:ext uri="{FF2B5EF4-FFF2-40B4-BE49-F238E27FC236}">
                  <a16:creationId xmlns:a16="http://schemas.microsoft.com/office/drawing/2014/main" id="{8792478A-E4B5-4F98-AFC9-FEC276273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9930" y="2048272"/>
              <a:ext cx="736398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25">
              <a:extLst>
                <a:ext uri="{FF2B5EF4-FFF2-40B4-BE49-F238E27FC236}">
                  <a16:creationId xmlns:a16="http://schemas.microsoft.com/office/drawing/2014/main" id="{D7CF3C91-BCBF-4789-A269-0CAB7B693E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43128" y="1972072"/>
              <a:ext cx="9906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9557138F-8819-4083-AD8D-B50BC8CB9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6928" y="2734072"/>
              <a:ext cx="10668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26">
              <a:extLst>
                <a:ext uri="{FF2B5EF4-FFF2-40B4-BE49-F238E27FC236}">
                  <a16:creationId xmlns:a16="http://schemas.microsoft.com/office/drawing/2014/main" id="{A8BCE8D3-6269-4AB6-B486-2590D26D9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19328" y="2657872"/>
              <a:ext cx="914400" cy="76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53D25E6E-2745-4EFD-8B9D-1B95E71A5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3828" y="1895872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AB9EEBEC-4755-4B43-86EF-723ED91EC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1330" y="2505472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93D827AD-CD1E-4E58-826E-261734D78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62328" y="1988839"/>
              <a:ext cx="5715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2DD43CA8-3FCB-41BD-84A1-6E06D48FB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86128" y="2048272"/>
              <a:ext cx="635201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144F8AEF-A93A-448B-9B18-6B06F197D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86128" y="3250704"/>
              <a:ext cx="635201" cy="16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31163878-FF6A-4B7A-AE4E-A1130599B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6128" y="2581671"/>
              <a:ext cx="635201" cy="609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7C559D79-3D03-4758-9C36-FB1AAFD9E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3728" y="1895872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5892F70F-FF8F-4BB6-95E2-1303C21EA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3728" y="2505472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6B2AD662-FF23-416D-BD1A-A3368E014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3728" y="3115072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23">
                  <a:extLst>
                    <a:ext uri="{FF2B5EF4-FFF2-40B4-BE49-F238E27FC236}">
                      <a16:creationId xmlns:a16="http://schemas.microsoft.com/office/drawing/2014/main" id="{C83A7421-7E8D-4900-AAD2-EB1BA5761C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4528" y="2505472"/>
                  <a:ext cx="381000" cy="3810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4"/>
                </a:lnRef>
                <a:fillRef idx="3">
                  <a:schemeClr val="accent4"/>
                </a:fillRef>
                <a:effectRef idx="3">
                  <a:schemeClr val="accent4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nl-NL" altLang="en-US" dirty="0"/>
                </a:p>
              </p:txBody>
            </p:sp>
          </mc:Choice>
          <mc:Fallback xmlns="">
            <p:sp>
              <p:nvSpPr>
                <p:cNvPr id="18" name="Oval 23">
                  <a:extLst>
                    <a:ext uri="{FF2B5EF4-FFF2-40B4-BE49-F238E27FC236}">
                      <a16:creationId xmlns:a16="http://schemas.microsoft.com/office/drawing/2014/main" id="{C83A7421-7E8D-4900-AAD2-EB1BA5761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14528" y="2505472"/>
                  <a:ext cx="381000" cy="381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24">
                  <a:extLst>
                    <a:ext uri="{FF2B5EF4-FFF2-40B4-BE49-F238E27FC236}">
                      <a16:creationId xmlns:a16="http://schemas.microsoft.com/office/drawing/2014/main" id="{96189ACB-87A9-4F15-AE5B-CE836D52A8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86328" y="2429272"/>
                  <a:ext cx="381000" cy="381000"/>
                </a:xfrm>
                <a:prstGeom prst="ellipse">
                  <a:avLst/>
                </a:prstGeom>
                <a:solidFill>
                  <a:srgbClr val="F3B927"/>
                </a:solid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4"/>
                </a:lnRef>
                <a:fillRef idx="3">
                  <a:schemeClr val="accent4"/>
                </a:fillRef>
                <a:effectRef idx="3">
                  <a:schemeClr val="accent4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nl-NL" altLang="en-US" dirty="0"/>
                </a:p>
              </p:txBody>
            </p:sp>
          </mc:Choice>
          <mc:Fallback xmlns="">
            <p:sp>
              <p:nvSpPr>
                <p:cNvPr id="19" name="Oval 24">
                  <a:extLst>
                    <a:ext uri="{FF2B5EF4-FFF2-40B4-BE49-F238E27FC236}">
                      <a16:creationId xmlns:a16="http://schemas.microsoft.com/office/drawing/2014/main" id="{96189ACB-87A9-4F15-AE5B-CE836D52A8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86328" y="2429272"/>
                  <a:ext cx="381000" cy="381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BE53441B-173C-4F98-A8A1-D5D26A12C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1330" y="3115357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97B6EBA9-361C-478C-9780-C7C18612F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9931" y="2657872"/>
              <a:ext cx="7363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C947835-182C-4DA2-8303-C420D31EB59D}"/>
              </a:ext>
            </a:extLst>
          </p:cNvPr>
          <p:cNvGrpSpPr/>
          <p:nvPr/>
        </p:nvGrpSpPr>
        <p:grpSpPr>
          <a:xfrm>
            <a:off x="6805892" y="1895872"/>
            <a:ext cx="1028700" cy="1448085"/>
            <a:chOff x="8032870" y="4305158"/>
            <a:chExt cx="1028700" cy="1448085"/>
          </a:xfrm>
        </p:grpSpPr>
        <p:sp>
          <p:nvSpPr>
            <p:cNvPr id="28" name="Oval 14">
              <a:extLst>
                <a:ext uri="{FF2B5EF4-FFF2-40B4-BE49-F238E27FC236}">
                  <a16:creationId xmlns:a16="http://schemas.microsoft.com/office/drawing/2014/main" id="{F5A030C8-5F58-430E-811B-02441FC28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2970" y="4305158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15">
              <a:extLst>
                <a:ext uri="{FF2B5EF4-FFF2-40B4-BE49-F238E27FC236}">
                  <a16:creationId xmlns:a16="http://schemas.microsoft.com/office/drawing/2014/main" id="{D166BA98-69B5-4A9B-99BE-9AFF88C87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0472" y="4914758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20">
              <a:extLst>
                <a:ext uri="{FF2B5EF4-FFF2-40B4-BE49-F238E27FC236}">
                  <a16:creationId xmlns:a16="http://schemas.microsoft.com/office/drawing/2014/main" id="{8D812E91-3A17-4B9D-95D2-28DBA0858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870" y="4305158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21">
              <a:extLst>
                <a:ext uri="{FF2B5EF4-FFF2-40B4-BE49-F238E27FC236}">
                  <a16:creationId xmlns:a16="http://schemas.microsoft.com/office/drawing/2014/main" id="{43DF0BFF-1939-4651-9E1E-3986C4A16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870" y="4914758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22">
              <a:extLst>
                <a:ext uri="{FF2B5EF4-FFF2-40B4-BE49-F238E27FC236}">
                  <a16:creationId xmlns:a16="http://schemas.microsoft.com/office/drawing/2014/main" id="{0A8E72F4-F747-418D-A8C5-59E40CAF8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870" y="5524358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14">
              <a:extLst>
                <a:ext uri="{FF2B5EF4-FFF2-40B4-BE49-F238E27FC236}">
                  <a16:creationId xmlns:a16="http://schemas.microsoft.com/office/drawing/2014/main" id="{7735F489-06B4-4C14-9E3A-BE248543E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0472" y="5524643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37C946-D062-4E44-82B5-C3E2EBAE1854}"/>
                </a:ext>
              </a:extLst>
            </p:cNvPr>
            <p:cNvCxnSpPr>
              <a:cxnSpLocks/>
              <a:stCxn id="34" idx="6"/>
              <a:endCxn id="28" idx="2"/>
            </p:cNvCxnSpPr>
            <p:nvPr/>
          </p:nvCxnSpPr>
          <p:spPr bwMode="auto">
            <a:xfrm>
              <a:off x="8261470" y="4419458"/>
              <a:ext cx="571500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46C607A-D489-41D9-8484-70122814B095}"/>
                </a:ext>
              </a:extLst>
            </p:cNvPr>
            <p:cNvCxnSpPr>
              <a:cxnSpLocks/>
              <a:stCxn id="36" idx="6"/>
              <a:endCxn id="37" idx="2"/>
            </p:cNvCxnSpPr>
            <p:nvPr/>
          </p:nvCxnSpPr>
          <p:spPr bwMode="auto">
            <a:xfrm>
              <a:off x="8261470" y="5638658"/>
              <a:ext cx="559002" cy="28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2A7FADA-4488-4EEB-8068-9EB97BABBD00}"/>
                </a:ext>
              </a:extLst>
            </p:cNvPr>
            <p:cNvCxnSpPr>
              <a:cxnSpLocks/>
              <a:stCxn id="35" idx="7"/>
              <a:endCxn id="28" idx="3"/>
            </p:cNvCxnSpPr>
            <p:nvPr/>
          </p:nvCxnSpPr>
          <p:spPr bwMode="auto">
            <a:xfrm flipV="1">
              <a:off x="8227992" y="4500280"/>
              <a:ext cx="638456" cy="44795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A5BC5A1-B56A-45C0-A778-F206BA8D6F38}"/>
                </a:ext>
              </a:extLst>
            </p:cNvPr>
            <p:cNvCxnSpPr>
              <a:cxnSpLocks/>
              <a:stCxn id="35" idx="5"/>
              <a:endCxn id="37" idx="1"/>
            </p:cNvCxnSpPr>
            <p:nvPr/>
          </p:nvCxnSpPr>
          <p:spPr bwMode="auto">
            <a:xfrm>
              <a:off x="8227992" y="5109880"/>
              <a:ext cx="625958" cy="44824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70D4276-9D26-4E96-BA73-2E70948DEE62}"/>
                </a:ext>
              </a:extLst>
            </p:cNvPr>
            <p:cNvCxnSpPr>
              <a:cxnSpLocks/>
              <a:stCxn id="36" idx="7"/>
              <a:endCxn id="29" idx="3"/>
            </p:cNvCxnSpPr>
            <p:nvPr/>
          </p:nvCxnSpPr>
          <p:spPr bwMode="auto">
            <a:xfrm flipV="1">
              <a:off x="8227992" y="5109880"/>
              <a:ext cx="625958" cy="44795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9C4803B-6E6E-4727-B2CF-13785DEB9CFA}"/>
                </a:ext>
              </a:extLst>
            </p:cNvPr>
            <p:cNvCxnSpPr>
              <a:cxnSpLocks/>
              <a:stCxn id="34" idx="5"/>
              <a:endCxn id="29" idx="1"/>
            </p:cNvCxnSpPr>
            <p:nvPr/>
          </p:nvCxnSpPr>
          <p:spPr bwMode="auto">
            <a:xfrm>
              <a:off x="8227992" y="4500280"/>
              <a:ext cx="625958" cy="44795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5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5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5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5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5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5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70D4-F609-6A92-886E-17F6FCC0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F1F3-2AE6-31A4-AF38-C23E8F8C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6A55B-4915-5BF9-D1CF-EFDE21011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680002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Final Remarks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More algorithms exist:</a:t>
            </a:r>
          </a:p>
          <a:p>
            <a:pPr lvl="1"/>
            <a:r>
              <a:rPr lang="en-GB" altLang="en-US" dirty="0"/>
              <a:t>Cut cancelling</a:t>
            </a:r>
          </a:p>
          <a:p>
            <a:pPr lvl="1" eaLnBrk="1" hangingPunct="1"/>
            <a:r>
              <a:rPr lang="en-GB" altLang="en-US" dirty="0"/>
              <a:t>Scaling techniques:</a:t>
            </a:r>
          </a:p>
          <a:p>
            <a:pPr lvl="2" eaLnBrk="1" hangingPunct="1"/>
            <a:r>
              <a:rPr lang="en-GB" altLang="en-US" dirty="0"/>
              <a:t>Scaling on capacities</a:t>
            </a:r>
          </a:p>
          <a:p>
            <a:pPr lvl="2" eaLnBrk="1" hangingPunct="1"/>
            <a:r>
              <a:rPr lang="en-GB" altLang="en-US" dirty="0"/>
              <a:t>Scaling on costs</a:t>
            </a:r>
          </a:p>
          <a:p>
            <a:pPr lvl="1"/>
            <a:r>
              <a:rPr lang="en-GB" altLang="en-US" dirty="0"/>
              <a:t>Network simplex algorithm</a:t>
            </a:r>
          </a:p>
          <a:p>
            <a:pPr lvl="1"/>
            <a:r>
              <a:rPr lang="en-GB" altLang="en-US" dirty="0"/>
              <a:t>Out-of-kilter algorithm</a:t>
            </a:r>
          </a:p>
          <a:p>
            <a:pPr lvl="1"/>
            <a:r>
              <a:rPr lang="en-GB" altLang="en-US" dirty="0"/>
              <a:t>Several randomized algorithms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E0CA-0C0E-A4A9-430F-847F9A9D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 and practice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D5DA-5D28-7751-E9D1-BC404D018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Schrijver. </a:t>
            </a:r>
            <a:br>
              <a:rPr lang="en-US" dirty="0"/>
            </a:br>
            <a:r>
              <a:rPr lang="en-US" i="1" dirty="0"/>
              <a:t>Combinatorial Optimization: </a:t>
            </a:r>
            <a:r>
              <a:rPr lang="en-US" sz="1400" i="1" dirty="0" err="1"/>
              <a:t>Polyhedra</a:t>
            </a:r>
            <a:r>
              <a:rPr lang="en-US" sz="1400" i="1" dirty="0"/>
              <a:t> and Efficiency</a:t>
            </a:r>
            <a:br>
              <a:rPr lang="en-US" sz="1400" i="1" dirty="0"/>
            </a:br>
            <a:r>
              <a:rPr lang="nl-NL" sz="1600" dirty="0" err="1"/>
              <a:t>Chapter</a:t>
            </a:r>
            <a:r>
              <a:rPr lang="nl-NL" sz="1600" dirty="0"/>
              <a:t> 12</a:t>
            </a:r>
          </a:p>
          <a:p>
            <a:endParaRPr lang="nl-NL" dirty="0"/>
          </a:p>
          <a:p>
            <a:r>
              <a:rPr lang="en-US" dirty="0"/>
              <a:t>Ahuja, Magnanti, Orlin</a:t>
            </a:r>
            <a:br>
              <a:rPr lang="en-US" dirty="0"/>
            </a:br>
            <a:r>
              <a:rPr lang="en-US" i="1" dirty="0"/>
              <a:t>Network Flows</a:t>
            </a:r>
            <a:endParaRPr lang="nl-NL" i="1" dirty="0"/>
          </a:p>
          <a:p>
            <a:pPr marL="0" indent="0">
              <a:buNone/>
            </a:pPr>
            <a:endParaRPr lang="nl-NL" b="1" dirty="0"/>
          </a:p>
        </p:txBody>
      </p:sp>
      <p:pic>
        <p:nvPicPr>
          <p:cNvPr id="10" name="Picture 9" descr="A picture containing diagram&#10;&#10;Description automatically generated">
            <a:extLst>
              <a:ext uri="{FF2B5EF4-FFF2-40B4-BE49-F238E27FC236}">
                <a16:creationId xmlns:a16="http://schemas.microsoft.com/office/drawing/2014/main" id="{93995B8D-B017-5EE6-9DC1-8E7925FFB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447800"/>
            <a:ext cx="1415652" cy="2188673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3238F848-EC39-E211-F30E-B65C57F72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922219"/>
            <a:ext cx="1400412" cy="186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903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25E0AC-F748-462A-8F97-A5861139F5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NL" dirty="0"/>
              <a:t>Flows and Matching 3:</a:t>
            </a:r>
            <a:br>
              <a:rPr lang="en-US" altLang="en-NL" dirty="0"/>
            </a:br>
            <a:r>
              <a:rPr lang="en-US" altLang="en-NL" dirty="0"/>
              <a:t>Matching</a:t>
            </a:r>
            <a:endParaRPr lang="en-GB" altLang="en-NL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7C11B61-9934-471B-BAF9-2C1AE5A87F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nl-NL" dirty="0"/>
              <a:t>Advanced Algorithms 2025/2026</a:t>
            </a:r>
          </a:p>
          <a:p>
            <a:r>
              <a:rPr lang="en-US" altLang="nl-NL" dirty="0"/>
              <a:t>Johan M. M. van Rooij</a:t>
            </a:r>
          </a:p>
          <a:p>
            <a:r>
              <a:rPr lang="en-US" altLang="nl-NL" dirty="0"/>
              <a:t>Til Miltzow</a:t>
            </a:r>
          </a:p>
        </p:txBody>
      </p:sp>
    </p:spTree>
    <p:extLst>
      <p:ext uri="{BB962C8B-B14F-4D97-AF65-F5344CB8AC3E}">
        <p14:creationId xmlns:p14="http://schemas.microsoft.com/office/powerpoint/2010/main" val="21205319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CAA-AB58-456A-89BC-F23B764F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matching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269D-190F-43A7-B454-E237446B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Three topics:</a:t>
            </a:r>
          </a:p>
          <a:p>
            <a:pPr>
              <a:buFont typeface="+mj-lt"/>
              <a:buAutoNum type="arabicPeriod"/>
            </a:pPr>
            <a:r>
              <a:rPr lang="en-US" dirty="0"/>
              <a:t>Maximum flow</a:t>
            </a:r>
          </a:p>
          <a:p>
            <a:pPr>
              <a:buFont typeface="+mj-lt"/>
              <a:buAutoNum type="arabicPeriod"/>
            </a:pPr>
            <a:r>
              <a:rPr lang="en-US" dirty="0"/>
              <a:t>Minimum cost flow</a:t>
            </a:r>
            <a:endParaRPr lang="en-US" altLang="en-US" dirty="0"/>
          </a:p>
          <a:p>
            <a:pPr>
              <a:buFont typeface="+mj-lt"/>
              <a:buAutoNum type="arabicPeriod"/>
            </a:pPr>
            <a:r>
              <a:rPr lang="en-US" dirty="0"/>
              <a:t>Matching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Problem statement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Applications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Edmonds’ algorithm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Matching in regular bipartite graphs</a:t>
            </a:r>
          </a:p>
          <a:p>
            <a:pPr lvl="1">
              <a:buFont typeface="+mj-lt"/>
              <a:buAutoNum type="arabicPeriod"/>
            </a:pPr>
            <a:r>
              <a:rPr lang="en-US" altLang="en-US" dirty="0"/>
              <a:t>(Scheduling application: edge </a:t>
            </a:r>
            <a:r>
              <a:rPr lang="en-US" altLang="en-US" dirty="0" err="1"/>
              <a:t>colouring</a:t>
            </a:r>
            <a:r>
              <a:rPr lang="en-US" altLang="en-US" dirty="0"/>
              <a:t> regular bipartite graphs)</a:t>
            </a:r>
          </a:p>
          <a:p>
            <a:pPr lvl="1">
              <a:buFont typeface="+mj-lt"/>
              <a:buAutoNum type="arabicPeriod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8885796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MATCHING: PROBLEM STATEMENT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647569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b="1" dirty="0"/>
                  <a:t>Definition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Matching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: set of edges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𝑀</m:t>
                    </m:r>
                    <m:r>
                      <a:rPr lang="en-US" alt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r>
                      <a:rPr lang="en-US" alt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𝐸</m:t>
                    </m:r>
                  </m:oMath>
                </a14:m>
                <a:r>
                  <a:rPr lang="en-US" altLang="en-US" dirty="0">
                    <a:solidFill>
                      <a:schemeClr val="tx1"/>
                    </a:solidFill>
                  </a:rPr>
                  <a:t> in an undirected graph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>
                    <a:solidFill>
                      <a:schemeClr val="tx1"/>
                    </a:solidFill>
                  </a:rPr>
                  <a:t> such that no vertex is an endpoint of more than one edge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b="1" dirty="0"/>
                  <a:t>Special matchings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Maximal</a:t>
                </a:r>
                <a:r>
                  <a:rPr lang="en-US" altLang="en-US" dirty="0"/>
                  <a:t> matching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/>
                      </a:rPr>
                      <m:t>𝑀</m:t>
                    </m:r>
                    <m:r>
                      <a:rPr lang="en-US" alt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en-US" dirty="0"/>
                  <a:t> is not a matching for any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/>
                      </a:rPr>
                      <m:t>𝑒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i="1">
                        <a:latin typeface="Cambria Math"/>
                      </a:rPr>
                      <m:t>𝐸</m:t>
                    </m:r>
                  </m:oMath>
                </a14:m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Maximum</a:t>
                </a:r>
                <a:r>
                  <a:rPr lang="en-US" altLang="en-US" dirty="0"/>
                  <a:t> matching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Matching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altLang="en-US" dirty="0"/>
                  <a:t> as large as possible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Perfect</a:t>
                </a:r>
                <a:r>
                  <a:rPr lang="en-US" altLang="en-US" dirty="0"/>
                  <a:t> matching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b="0" i="1" smtClean="0">
                        <a:latin typeface="Cambria Math"/>
                      </a:rPr>
                      <m:t>𝑀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b="0" i="1" smtClean="0">
                        <a:latin typeface="Cambria Math"/>
                      </a:rPr>
                      <m:t>=</m:t>
                    </m:r>
                    <m:r>
                      <a:rPr lang="en-US" altLang="en-US" b="0" i="1" smtClean="0">
                        <a:latin typeface="Cambria Math"/>
                      </a:rPr>
                      <m:t>𝑛</m:t>
                    </m:r>
                    <m:r>
                      <a:rPr lang="en-US" altLang="en-US" b="0" i="1" smtClean="0">
                        <a:latin typeface="Cambria Math"/>
                      </a:rPr>
                      <m:t>/2</m:t>
                    </m:r>
                  </m:oMath>
                </a14:m>
                <a:r>
                  <a:rPr lang="en-US" altLang="en-US" dirty="0"/>
                  <a:t>: each vertex is endpoint of an edge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𝑀</m:t>
                    </m:r>
                  </m:oMath>
                </a14:m>
                <a:r>
                  <a:rPr lang="en-US" altLang="en-US" dirty="0"/>
                  <a:t>.</a:t>
                </a:r>
              </a:p>
            </p:txBody>
          </p:sp>
        </mc:Choice>
        <mc:Fallback xmlns="">
          <p:sp>
            <p:nvSpPr>
              <p:cNvPr id="277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2"/>
                <a:stretch>
                  <a:fillRect l="-627" t="-138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84A6-444E-43EF-9CFF-612331E84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591" y="3744381"/>
            <a:ext cx="3678002" cy="1237195"/>
          </a:xfrm>
        </p:spPr>
        <p:txBody>
          <a:bodyPr/>
          <a:lstStyle/>
          <a:p>
            <a:pPr marL="0" indent="0">
              <a:buNone/>
              <a:tabLst>
                <a:tab pos="447675" algn="l"/>
              </a:tabLst>
            </a:pPr>
            <a:r>
              <a:rPr lang="en-US" dirty="0"/>
              <a:t>	This is:</a:t>
            </a:r>
          </a:p>
          <a:p>
            <a:pPr lvl="1"/>
            <a:r>
              <a:rPr lang="en-US" dirty="0"/>
              <a:t>Not a maximal matching</a:t>
            </a:r>
          </a:p>
          <a:p>
            <a:pPr lvl="1"/>
            <a:r>
              <a:rPr lang="en-US" dirty="0"/>
              <a:t>Not a maximum matching</a:t>
            </a:r>
          </a:p>
          <a:p>
            <a:pPr lvl="1"/>
            <a:r>
              <a:rPr lang="en-US" dirty="0"/>
              <a:t>Not a perfect matching </a:t>
            </a:r>
          </a:p>
          <a:p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9FEB58-C07A-485E-96BA-54448FC55F91}"/>
              </a:ext>
            </a:extLst>
          </p:cNvPr>
          <p:cNvGrpSpPr/>
          <p:nvPr/>
        </p:nvGrpSpPr>
        <p:grpSpPr>
          <a:xfrm>
            <a:off x="1979712" y="1556792"/>
            <a:ext cx="3603776" cy="2978117"/>
            <a:chOff x="1979712" y="1556792"/>
            <a:chExt cx="3603776" cy="2978117"/>
          </a:xfrm>
        </p:grpSpPr>
        <p:sp>
          <p:nvSpPr>
            <p:cNvPr id="7" name="Oval 6"/>
            <p:cNvSpPr/>
            <p:nvPr/>
          </p:nvSpPr>
          <p:spPr bwMode="auto">
            <a:xfrm>
              <a:off x="2627784" y="1556792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851920" y="1700808"/>
              <a:ext cx="288032" cy="28803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915816" y="256490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979712" y="342900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3172272" y="3717032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4233864" y="292494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5295456" y="2132856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5295456" y="317376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4860032" y="4246877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17" name="Straight Connector 16"/>
            <p:cNvCxnSpPr>
              <a:stCxn id="7" idx="6"/>
              <a:endCxn id="8" idx="2"/>
            </p:cNvCxnSpPr>
            <p:nvPr/>
          </p:nvCxnSpPr>
          <p:spPr bwMode="auto">
            <a:xfrm>
              <a:off x="2915816" y="1700808"/>
              <a:ext cx="936104" cy="14401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Straight Connector 18"/>
            <p:cNvCxnSpPr>
              <a:endCxn id="9" idx="0"/>
            </p:cNvCxnSpPr>
            <p:nvPr/>
          </p:nvCxnSpPr>
          <p:spPr bwMode="auto">
            <a:xfrm>
              <a:off x="2771800" y="1844824"/>
              <a:ext cx="288032" cy="720080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Straight Connector 20"/>
            <p:cNvCxnSpPr>
              <a:stCxn id="9" idx="7"/>
              <a:endCxn id="8" idx="3"/>
            </p:cNvCxnSpPr>
            <p:nvPr/>
          </p:nvCxnSpPr>
          <p:spPr bwMode="auto">
            <a:xfrm flipV="1">
              <a:off x="3161667" y="1946659"/>
              <a:ext cx="732434" cy="660426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12" idx="0"/>
            </p:cNvCxnSpPr>
            <p:nvPr/>
          </p:nvCxnSpPr>
          <p:spPr bwMode="auto">
            <a:xfrm>
              <a:off x="3995936" y="1988840"/>
              <a:ext cx="381944" cy="936104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Straight Connector 25"/>
            <p:cNvCxnSpPr>
              <a:stCxn id="11" idx="7"/>
              <a:endCxn id="12" idx="3"/>
            </p:cNvCxnSpPr>
            <p:nvPr/>
          </p:nvCxnSpPr>
          <p:spPr bwMode="auto">
            <a:xfrm flipV="1">
              <a:off x="3418123" y="3170795"/>
              <a:ext cx="857922" cy="588418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Straight Connector 27"/>
            <p:cNvCxnSpPr>
              <a:endCxn id="12" idx="2"/>
            </p:cNvCxnSpPr>
            <p:nvPr/>
          </p:nvCxnSpPr>
          <p:spPr bwMode="auto">
            <a:xfrm>
              <a:off x="3203848" y="2780928"/>
              <a:ext cx="1030016" cy="288032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Straight Connector 35"/>
            <p:cNvCxnSpPr>
              <a:stCxn id="11" idx="0"/>
              <a:endCxn id="9" idx="4"/>
            </p:cNvCxnSpPr>
            <p:nvPr/>
          </p:nvCxnSpPr>
          <p:spPr bwMode="auto">
            <a:xfrm flipH="1" flipV="1">
              <a:off x="3059832" y="2852936"/>
              <a:ext cx="256456" cy="86409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Straight Connector 37"/>
            <p:cNvCxnSpPr>
              <a:stCxn id="9" idx="3"/>
              <a:endCxn id="10" idx="7"/>
            </p:cNvCxnSpPr>
            <p:nvPr/>
          </p:nvCxnSpPr>
          <p:spPr bwMode="auto">
            <a:xfrm flipH="1">
              <a:off x="2225563" y="2810755"/>
              <a:ext cx="732434" cy="66042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39"/>
            <p:cNvCxnSpPr>
              <a:stCxn id="11" idx="5"/>
              <a:endCxn id="15" idx="2"/>
            </p:cNvCxnSpPr>
            <p:nvPr/>
          </p:nvCxnSpPr>
          <p:spPr bwMode="auto">
            <a:xfrm>
              <a:off x="3418123" y="3962883"/>
              <a:ext cx="1441909" cy="428010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Connector 41"/>
            <p:cNvCxnSpPr/>
            <p:nvPr/>
          </p:nvCxnSpPr>
          <p:spPr bwMode="auto">
            <a:xfrm>
              <a:off x="4427984" y="3212976"/>
              <a:ext cx="554360" cy="1019200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12" idx="6"/>
              <a:endCxn id="14" idx="1"/>
            </p:cNvCxnSpPr>
            <p:nvPr/>
          </p:nvCxnSpPr>
          <p:spPr bwMode="auto">
            <a:xfrm>
              <a:off x="4521896" y="3068960"/>
              <a:ext cx="815741" cy="146981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Straight Connector 49"/>
            <p:cNvCxnSpPr>
              <a:stCxn id="14" idx="0"/>
              <a:endCxn id="13" idx="4"/>
            </p:cNvCxnSpPr>
            <p:nvPr/>
          </p:nvCxnSpPr>
          <p:spPr bwMode="auto">
            <a:xfrm flipV="1">
              <a:off x="5439472" y="2420888"/>
              <a:ext cx="0" cy="75287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13" idx="1"/>
              <a:endCxn id="8" idx="6"/>
            </p:cNvCxnSpPr>
            <p:nvPr/>
          </p:nvCxnSpPr>
          <p:spPr bwMode="auto">
            <a:xfrm flipH="1" flipV="1">
              <a:off x="4139952" y="1844824"/>
              <a:ext cx="1197685" cy="330213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Straight Connector 55"/>
            <p:cNvCxnSpPr>
              <a:endCxn id="10" idx="5"/>
            </p:cNvCxnSpPr>
            <p:nvPr/>
          </p:nvCxnSpPr>
          <p:spPr bwMode="auto">
            <a:xfrm flipH="1" flipV="1">
              <a:off x="2225563" y="3674851"/>
              <a:ext cx="936104" cy="186197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CCD679F-107B-486D-93F8-9B46EA3E9519}"/>
              </a:ext>
            </a:extLst>
          </p:cNvPr>
          <p:cNvSpPr/>
          <p:nvPr/>
        </p:nvSpPr>
        <p:spPr bwMode="auto">
          <a:xfrm rot="18416585">
            <a:off x="1836333" y="4180122"/>
            <a:ext cx="892794" cy="365711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74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</a:t>
            </a:r>
            <a:r>
              <a:rPr lang="en-US" dirty="0">
                <a:solidFill>
                  <a:srgbClr val="C00000"/>
                </a:solidFill>
              </a:rPr>
              <a:t>um</a:t>
            </a:r>
            <a:r>
              <a:rPr lang="en-US" dirty="0"/>
              <a:t> Matching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8B0C09-A19B-45BA-92B5-FC9AAC4F9CFC}"/>
              </a:ext>
            </a:extLst>
          </p:cNvPr>
          <p:cNvGrpSpPr/>
          <p:nvPr/>
        </p:nvGrpSpPr>
        <p:grpSpPr>
          <a:xfrm>
            <a:off x="1979712" y="1556792"/>
            <a:ext cx="3603776" cy="2978117"/>
            <a:chOff x="1979712" y="1556792"/>
            <a:chExt cx="3603776" cy="2978117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D1E7296-CBCB-4ABC-9A2F-15B4BC8D265C}"/>
                </a:ext>
              </a:extLst>
            </p:cNvPr>
            <p:cNvSpPr/>
            <p:nvPr/>
          </p:nvSpPr>
          <p:spPr bwMode="auto">
            <a:xfrm>
              <a:off x="2627784" y="1556792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B9F7D89-4E39-4143-ABE8-057182450C2E}"/>
                </a:ext>
              </a:extLst>
            </p:cNvPr>
            <p:cNvSpPr/>
            <p:nvPr/>
          </p:nvSpPr>
          <p:spPr bwMode="auto">
            <a:xfrm>
              <a:off x="3851920" y="1700808"/>
              <a:ext cx="288032" cy="28803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06FAE6-5B8C-4A6B-9EF8-799A444F81C4}"/>
                </a:ext>
              </a:extLst>
            </p:cNvPr>
            <p:cNvSpPr/>
            <p:nvPr/>
          </p:nvSpPr>
          <p:spPr bwMode="auto">
            <a:xfrm>
              <a:off x="2915816" y="256490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94C34CB-9A45-4418-94A2-38A2657D19B7}"/>
                </a:ext>
              </a:extLst>
            </p:cNvPr>
            <p:cNvSpPr/>
            <p:nvPr/>
          </p:nvSpPr>
          <p:spPr bwMode="auto">
            <a:xfrm>
              <a:off x="1979712" y="342900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C8A40D6-CC6A-4C3A-970A-531AACCFD8D7}"/>
                </a:ext>
              </a:extLst>
            </p:cNvPr>
            <p:cNvSpPr/>
            <p:nvPr/>
          </p:nvSpPr>
          <p:spPr bwMode="auto">
            <a:xfrm>
              <a:off x="3172272" y="3717032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5A8918E-8908-4E68-8C8A-0D0303B2D35A}"/>
                </a:ext>
              </a:extLst>
            </p:cNvPr>
            <p:cNvSpPr/>
            <p:nvPr/>
          </p:nvSpPr>
          <p:spPr bwMode="auto">
            <a:xfrm>
              <a:off x="4233864" y="292494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736A8A5-08E7-447C-98C9-AB2149D7BDE5}"/>
                </a:ext>
              </a:extLst>
            </p:cNvPr>
            <p:cNvSpPr/>
            <p:nvPr/>
          </p:nvSpPr>
          <p:spPr bwMode="auto">
            <a:xfrm>
              <a:off x="5295456" y="2132856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53116BD-A6B5-475F-88E2-0E0FEDD0AFBD}"/>
                </a:ext>
              </a:extLst>
            </p:cNvPr>
            <p:cNvSpPr/>
            <p:nvPr/>
          </p:nvSpPr>
          <p:spPr bwMode="auto">
            <a:xfrm>
              <a:off x="5295456" y="317376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40E9832-43AE-420D-A4AC-AD7B56B0956A}"/>
                </a:ext>
              </a:extLst>
            </p:cNvPr>
            <p:cNvSpPr/>
            <p:nvPr/>
          </p:nvSpPr>
          <p:spPr bwMode="auto">
            <a:xfrm>
              <a:off x="4860032" y="4246877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B6A4C8B-01E9-4C2D-BB2E-97E2E2836A65}"/>
                </a:ext>
              </a:extLst>
            </p:cNvPr>
            <p:cNvCxnSpPr>
              <a:stCxn id="30" idx="6"/>
              <a:endCxn id="31" idx="2"/>
            </p:cNvCxnSpPr>
            <p:nvPr/>
          </p:nvCxnSpPr>
          <p:spPr bwMode="auto">
            <a:xfrm>
              <a:off x="2915816" y="1700808"/>
              <a:ext cx="936104" cy="14401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FF473BE-4C9E-4B68-9E40-5603F8ED07D1}"/>
                </a:ext>
              </a:extLst>
            </p:cNvPr>
            <p:cNvCxnSpPr>
              <a:endCxn id="32" idx="0"/>
            </p:cNvCxnSpPr>
            <p:nvPr/>
          </p:nvCxnSpPr>
          <p:spPr bwMode="auto">
            <a:xfrm>
              <a:off x="2771800" y="1844824"/>
              <a:ext cx="288032" cy="720080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F3A66FA-52EF-4BC1-9C2A-1239C058D881}"/>
                </a:ext>
              </a:extLst>
            </p:cNvPr>
            <p:cNvCxnSpPr>
              <a:stCxn id="32" idx="7"/>
              <a:endCxn id="31" idx="3"/>
            </p:cNvCxnSpPr>
            <p:nvPr/>
          </p:nvCxnSpPr>
          <p:spPr bwMode="auto">
            <a:xfrm flipV="1">
              <a:off x="3161667" y="1946659"/>
              <a:ext cx="732434" cy="660426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8484CE6-50E9-4CE9-953B-60D4D9C5E31B}"/>
                </a:ext>
              </a:extLst>
            </p:cNvPr>
            <p:cNvCxnSpPr>
              <a:endCxn id="35" idx="0"/>
            </p:cNvCxnSpPr>
            <p:nvPr/>
          </p:nvCxnSpPr>
          <p:spPr bwMode="auto">
            <a:xfrm>
              <a:off x="3995936" y="1988840"/>
              <a:ext cx="381944" cy="936104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A2FD439-9480-4872-8C6A-3CC595F9394E}"/>
                </a:ext>
              </a:extLst>
            </p:cNvPr>
            <p:cNvCxnSpPr>
              <a:stCxn id="34" idx="7"/>
              <a:endCxn id="35" idx="3"/>
            </p:cNvCxnSpPr>
            <p:nvPr/>
          </p:nvCxnSpPr>
          <p:spPr bwMode="auto">
            <a:xfrm flipV="1">
              <a:off x="3418123" y="3170795"/>
              <a:ext cx="857922" cy="588418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1217169-ED66-40DA-9D70-50C479ED2C69}"/>
                </a:ext>
              </a:extLst>
            </p:cNvPr>
            <p:cNvCxnSpPr>
              <a:endCxn id="35" idx="2"/>
            </p:cNvCxnSpPr>
            <p:nvPr/>
          </p:nvCxnSpPr>
          <p:spPr bwMode="auto">
            <a:xfrm>
              <a:off x="3203848" y="2780928"/>
              <a:ext cx="1030016" cy="288032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9FBA621-46EF-4C26-8A42-D9971493720A}"/>
                </a:ext>
              </a:extLst>
            </p:cNvPr>
            <p:cNvCxnSpPr>
              <a:stCxn id="34" idx="0"/>
              <a:endCxn id="32" idx="4"/>
            </p:cNvCxnSpPr>
            <p:nvPr/>
          </p:nvCxnSpPr>
          <p:spPr bwMode="auto">
            <a:xfrm flipH="1" flipV="1">
              <a:off x="3059832" y="2852936"/>
              <a:ext cx="256456" cy="86409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5C92F73-57F1-409F-8FFA-BCC4293F09A9}"/>
                </a:ext>
              </a:extLst>
            </p:cNvPr>
            <p:cNvCxnSpPr>
              <a:stCxn id="32" idx="3"/>
              <a:endCxn id="33" idx="7"/>
            </p:cNvCxnSpPr>
            <p:nvPr/>
          </p:nvCxnSpPr>
          <p:spPr bwMode="auto">
            <a:xfrm flipH="1">
              <a:off x="2225563" y="2810755"/>
              <a:ext cx="732434" cy="66042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878FA65-0D8D-4320-98FF-105E27BCF172}"/>
                </a:ext>
              </a:extLst>
            </p:cNvPr>
            <p:cNvCxnSpPr>
              <a:stCxn id="34" idx="5"/>
              <a:endCxn id="41" idx="2"/>
            </p:cNvCxnSpPr>
            <p:nvPr/>
          </p:nvCxnSpPr>
          <p:spPr bwMode="auto">
            <a:xfrm>
              <a:off x="3418123" y="3962883"/>
              <a:ext cx="1441909" cy="428010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BE3EE88-4AD9-42CA-8E16-C7C95A6CDEEA}"/>
                </a:ext>
              </a:extLst>
            </p:cNvPr>
            <p:cNvCxnSpPr/>
            <p:nvPr/>
          </p:nvCxnSpPr>
          <p:spPr bwMode="auto">
            <a:xfrm>
              <a:off x="4427984" y="3212976"/>
              <a:ext cx="554360" cy="1019200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E043A7B-FE38-4077-A009-A6F22BD58C23}"/>
                </a:ext>
              </a:extLst>
            </p:cNvPr>
            <p:cNvCxnSpPr>
              <a:stCxn id="35" idx="6"/>
              <a:endCxn id="39" idx="1"/>
            </p:cNvCxnSpPr>
            <p:nvPr/>
          </p:nvCxnSpPr>
          <p:spPr bwMode="auto">
            <a:xfrm>
              <a:off x="4521896" y="3068960"/>
              <a:ext cx="815741" cy="146981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091F18E-58E7-4D80-8CC5-432F0A1C04BE}"/>
                </a:ext>
              </a:extLst>
            </p:cNvPr>
            <p:cNvCxnSpPr>
              <a:stCxn id="39" idx="0"/>
              <a:endCxn id="37" idx="4"/>
            </p:cNvCxnSpPr>
            <p:nvPr/>
          </p:nvCxnSpPr>
          <p:spPr bwMode="auto">
            <a:xfrm flipV="1">
              <a:off x="5439472" y="2420888"/>
              <a:ext cx="0" cy="75287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C01A869-7506-4C8C-BE63-66AFD061C565}"/>
                </a:ext>
              </a:extLst>
            </p:cNvPr>
            <p:cNvCxnSpPr>
              <a:stCxn id="37" idx="1"/>
              <a:endCxn id="31" idx="6"/>
            </p:cNvCxnSpPr>
            <p:nvPr/>
          </p:nvCxnSpPr>
          <p:spPr bwMode="auto">
            <a:xfrm flipH="1" flipV="1">
              <a:off x="4139952" y="1844824"/>
              <a:ext cx="1197685" cy="330213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34F736D-B2C7-4A18-B98B-0EDC7B9F58D2}"/>
                </a:ext>
              </a:extLst>
            </p:cNvPr>
            <p:cNvCxnSpPr>
              <a:endCxn id="33" idx="5"/>
            </p:cNvCxnSpPr>
            <p:nvPr/>
          </p:nvCxnSpPr>
          <p:spPr bwMode="auto">
            <a:xfrm flipH="1" flipV="1">
              <a:off x="2225563" y="3674851"/>
              <a:ext cx="936104" cy="186197"/>
            </a:xfrm>
            <a:prstGeom prst="line">
              <a:avLst/>
            </a:prstGeom>
            <a:solidFill>
              <a:srgbClr val="FFFF00"/>
            </a:solidFill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3B8FC2E6-0057-4A2F-A6DC-7079A8F18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591" y="3744381"/>
            <a:ext cx="3678002" cy="1237195"/>
          </a:xfrm>
        </p:spPr>
        <p:txBody>
          <a:bodyPr/>
          <a:lstStyle/>
          <a:p>
            <a:pPr marL="0" indent="0">
              <a:buNone/>
              <a:tabLst>
                <a:tab pos="447675" algn="l"/>
              </a:tabLst>
            </a:pPr>
            <a:r>
              <a:rPr lang="en-US" dirty="0"/>
              <a:t>	This is:</a:t>
            </a:r>
          </a:p>
          <a:p>
            <a:pPr lvl="1"/>
            <a:r>
              <a:rPr lang="en-US" dirty="0"/>
              <a:t>A maximal matching</a:t>
            </a:r>
          </a:p>
          <a:p>
            <a:pPr lvl="1"/>
            <a:r>
              <a:rPr lang="en-US" dirty="0"/>
              <a:t>A maximum matching</a:t>
            </a:r>
          </a:p>
          <a:p>
            <a:pPr lvl="1"/>
            <a:r>
              <a:rPr lang="en-US" dirty="0"/>
              <a:t>Not a perfect matching 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4287064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</a:t>
            </a:r>
            <a:r>
              <a:rPr lang="en-US" dirty="0">
                <a:solidFill>
                  <a:srgbClr val="C00000"/>
                </a:solidFill>
              </a:rPr>
              <a:t>al</a:t>
            </a:r>
            <a:r>
              <a:rPr lang="en-US" dirty="0"/>
              <a:t> Matching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627784" y="1556792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851920" y="1700808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915816" y="2564904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979712" y="3429000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3172272" y="3717032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4233864" y="2924944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295456" y="2132856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5295456" y="3173760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4860032" y="4246877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7" name="Straight Connector 16"/>
          <p:cNvCxnSpPr>
            <a:stCxn id="7" idx="6"/>
            <a:endCxn id="8" idx="2"/>
          </p:cNvCxnSpPr>
          <p:nvPr/>
        </p:nvCxnSpPr>
        <p:spPr bwMode="auto">
          <a:xfrm>
            <a:off x="2915816" y="1700808"/>
            <a:ext cx="936104" cy="144016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>
            <a:endCxn id="9" idx="0"/>
          </p:cNvCxnSpPr>
          <p:nvPr/>
        </p:nvCxnSpPr>
        <p:spPr bwMode="auto">
          <a:xfrm>
            <a:off x="2771800" y="1844824"/>
            <a:ext cx="288032" cy="720080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>
            <a:stCxn id="9" idx="7"/>
            <a:endCxn id="8" idx="3"/>
          </p:cNvCxnSpPr>
          <p:nvPr/>
        </p:nvCxnSpPr>
        <p:spPr bwMode="auto">
          <a:xfrm flipV="1">
            <a:off x="3161667" y="1946659"/>
            <a:ext cx="732434" cy="66042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12" idx="0"/>
          </p:cNvCxnSpPr>
          <p:nvPr/>
        </p:nvCxnSpPr>
        <p:spPr bwMode="auto">
          <a:xfrm>
            <a:off x="3995936" y="1988840"/>
            <a:ext cx="381944" cy="936104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>
            <a:stCxn id="11" idx="7"/>
            <a:endCxn id="12" idx="3"/>
          </p:cNvCxnSpPr>
          <p:nvPr/>
        </p:nvCxnSpPr>
        <p:spPr bwMode="auto">
          <a:xfrm flipV="1">
            <a:off x="3418123" y="3170795"/>
            <a:ext cx="857922" cy="588418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>
            <a:endCxn id="12" idx="2"/>
          </p:cNvCxnSpPr>
          <p:nvPr/>
        </p:nvCxnSpPr>
        <p:spPr bwMode="auto">
          <a:xfrm>
            <a:off x="3203848" y="2780928"/>
            <a:ext cx="1030016" cy="288032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>
            <a:stCxn id="11" idx="0"/>
            <a:endCxn id="9" idx="4"/>
          </p:cNvCxnSpPr>
          <p:nvPr/>
        </p:nvCxnSpPr>
        <p:spPr bwMode="auto">
          <a:xfrm flipH="1" flipV="1">
            <a:off x="3059832" y="2852936"/>
            <a:ext cx="256456" cy="864096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Connector 37"/>
          <p:cNvCxnSpPr>
            <a:stCxn id="9" idx="3"/>
            <a:endCxn id="10" idx="7"/>
          </p:cNvCxnSpPr>
          <p:nvPr/>
        </p:nvCxnSpPr>
        <p:spPr bwMode="auto">
          <a:xfrm flipH="1">
            <a:off x="2225563" y="2810755"/>
            <a:ext cx="732434" cy="660426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Connector 39"/>
          <p:cNvCxnSpPr>
            <a:stCxn id="11" idx="5"/>
            <a:endCxn id="15" idx="2"/>
          </p:cNvCxnSpPr>
          <p:nvPr/>
        </p:nvCxnSpPr>
        <p:spPr bwMode="auto">
          <a:xfrm>
            <a:off x="3418123" y="3962883"/>
            <a:ext cx="1441909" cy="4280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 bwMode="auto">
          <a:xfrm>
            <a:off x="4427984" y="3212976"/>
            <a:ext cx="554360" cy="1019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2" idx="6"/>
            <a:endCxn id="14" idx="1"/>
          </p:cNvCxnSpPr>
          <p:nvPr/>
        </p:nvCxnSpPr>
        <p:spPr bwMode="auto">
          <a:xfrm>
            <a:off x="4521896" y="3068960"/>
            <a:ext cx="815741" cy="14698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4" idx="0"/>
            <a:endCxn id="13" idx="4"/>
          </p:cNvCxnSpPr>
          <p:nvPr/>
        </p:nvCxnSpPr>
        <p:spPr bwMode="auto">
          <a:xfrm flipV="1">
            <a:off x="5439472" y="2420888"/>
            <a:ext cx="0" cy="75287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1"/>
            <a:endCxn id="8" idx="6"/>
          </p:cNvCxnSpPr>
          <p:nvPr/>
        </p:nvCxnSpPr>
        <p:spPr bwMode="auto">
          <a:xfrm flipH="1" flipV="1">
            <a:off x="4139952" y="1844824"/>
            <a:ext cx="1197685" cy="330213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>
            <a:endCxn id="10" idx="5"/>
          </p:cNvCxnSpPr>
          <p:nvPr/>
        </p:nvCxnSpPr>
        <p:spPr bwMode="auto">
          <a:xfrm flipH="1" flipV="1">
            <a:off x="2225563" y="3674851"/>
            <a:ext cx="936104" cy="1861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211CF86-874E-4496-A93C-ACC91D5DD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591" y="3744381"/>
            <a:ext cx="3678002" cy="1237195"/>
          </a:xfrm>
        </p:spPr>
        <p:txBody>
          <a:bodyPr/>
          <a:lstStyle/>
          <a:p>
            <a:pPr marL="0" indent="0">
              <a:buNone/>
              <a:tabLst>
                <a:tab pos="447675" algn="l"/>
              </a:tabLst>
            </a:pPr>
            <a:r>
              <a:rPr lang="en-US" dirty="0"/>
              <a:t>	This is:</a:t>
            </a:r>
          </a:p>
          <a:p>
            <a:pPr lvl="1"/>
            <a:r>
              <a:rPr lang="en-US" dirty="0"/>
              <a:t>A maximal matching</a:t>
            </a:r>
          </a:p>
          <a:p>
            <a:pPr lvl="1"/>
            <a:r>
              <a:rPr lang="en-US" dirty="0"/>
              <a:t>Not a maximum matching</a:t>
            </a:r>
          </a:p>
          <a:p>
            <a:pPr lvl="1"/>
            <a:r>
              <a:rPr lang="en-US" dirty="0"/>
              <a:t>Not a perfect matching </a:t>
            </a:r>
          </a:p>
          <a:p>
            <a:endParaRPr lang="en-N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3B6FF42-B3B5-484A-A8D2-1857DA246FCE}"/>
              </a:ext>
            </a:extLst>
          </p:cNvPr>
          <p:cNvGrpSpPr/>
          <p:nvPr/>
        </p:nvGrpSpPr>
        <p:grpSpPr>
          <a:xfrm>
            <a:off x="1979712" y="1556792"/>
            <a:ext cx="3603776" cy="2978117"/>
            <a:chOff x="1979712" y="1556792"/>
            <a:chExt cx="3603776" cy="297811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1E8F486-DE06-4A21-8E2B-326F2C029ACE}"/>
                </a:ext>
              </a:extLst>
            </p:cNvPr>
            <p:cNvSpPr/>
            <p:nvPr/>
          </p:nvSpPr>
          <p:spPr bwMode="auto">
            <a:xfrm>
              <a:off x="2627784" y="1556792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E8F46AC-53AC-40C5-A5DE-173A4E7DEE86}"/>
                </a:ext>
              </a:extLst>
            </p:cNvPr>
            <p:cNvSpPr/>
            <p:nvPr/>
          </p:nvSpPr>
          <p:spPr bwMode="auto">
            <a:xfrm>
              <a:off x="3851920" y="1700808"/>
              <a:ext cx="288032" cy="28803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B7C3570-7940-4FC5-B47C-88D9896E3A79}"/>
                </a:ext>
              </a:extLst>
            </p:cNvPr>
            <p:cNvSpPr/>
            <p:nvPr/>
          </p:nvSpPr>
          <p:spPr bwMode="auto">
            <a:xfrm>
              <a:off x="2915816" y="256490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89BEF96-C0CD-403F-AC9B-89BB8DF9F7AA}"/>
                </a:ext>
              </a:extLst>
            </p:cNvPr>
            <p:cNvSpPr/>
            <p:nvPr/>
          </p:nvSpPr>
          <p:spPr bwMode="auto">
            <a:xfrm>
              <a:off x="1979712" y="342900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97DEC5F-D198-439B-8ACE-7CE864F64B5D}"/>
                </a:ext>
              </a:extLst>
            </p:cNvPr>
            <p:cNvSpPr/>
            <p:nvPr/>
          </p:nvSpPr>
          <p:spPr bwMode="auto">
            <a:xfrm>
              <a:off x="3172272" y="3717032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E70FFA0-BFFD-4F30-9093-EB6F48BE3B1F}"/>
                </a:ext>
              </a:extLst>
            </p:cNvPr>
            <p:cNvSpPr/>
            <p:nvPr/>
          </p:nvSpPr>
          <p:spPr bwMode="auto">
            <a:xfrm>
              <a:off x="4233864" y="292494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D0C69EC-AB75-42E3-AA2D-F0CB4D6F312D}"/>
                </a:ext>
              </a:extLst>
            </p:cNvPr>
            <p:cNvSpPr/>
            <p:nvPr/>
          </p:nvSpPr>
          <p:spPr bwMode="auto">
            <a:xfrm>
              <a:off x="5295456" y="2132856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9F574FB-91C3-478F-8E59-7C088415AD6B}"/>
                </a:ext>
              </a:extLst>
            </p:cNvPr>
            <p:cNvSpPr/>
            <p:nvPr/>
          </p:nvSpPr>
          <p:spPr bwMode="auto">
            <a:xfrm>
              <a:off x="5295456" y="317376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3CBBF59-769F-465C-8F19-792487A5F140}"/>
                </a:ext>
              </a:extLst>
            </p:cNvPr>
            <p:cNvSpPr/>
            <p:nvPr/>
          </p:nvSpPr>
          <p:spPr bwMode="auto">
            <a:xfrm>
              <a:off x="4860032" y="4246877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A5AB970-FA4C-4CBB-B9DC-7817B996A1A8}"/>
                </a:ext>
              </a:extLst>
            </p:cNvPr>
            <p:cNvCxnSpPr>
              <a:stCxn id="32" idx="6"/>
              <a:endCxn id="33" idx="2"/>
            </p:cNvCxnSpPr>
            <p:nvPr/>
          </p:nvCxnSpPr>
          <p:spPr bwMode="auto">
            <a:xfrm>
              <a:off x="2915816" y="1700808"/>
              <a:ext cx="936104" cy="14401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131E1DE-2993-48B2-96DB-A38C786FDDD9}"/>
                </a:ext>
              </a:extLst>
            </p:cNvPr>
            <p:cNvCxnSpPr>
              <a:endCxn id="34" idx="0"/>
            </p:cNvCxnSpPr>
            <p:nvPr/>
          </p:nvCxnSpPr>
          <p:spPr bwMode="auto">
            <a:xfrm>
              <a:off x="2771800" y="1844824"/>
              <a:ext cx="288032" cy="720080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FB6453E-62F7-4BA8-ADDB-66390709F884}"/>
                </a:ext>
              </a:extLst>
            </p:cNvPr>
            <p:cNvCxnSpPr>
              <a:stCxn id="34" idx="7"/>
              <a:endCxn id="33" idx="3"/>
            </p:cNvCxnSpPr>
            <p:nvPr/>
          </p:nvCxnSpPr>
          <p:spPr bwMode="auto">
            <a:xfrm flipV="1">
              <a:off x="3161667" y="1946659"/>
              <a:ext cx="732434" cy="660426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E08DBA2-EAE3-4B83-8385-1B0AEA9A3A75}"/>
                </a:ext>
              </a:extLst>
            </p:cNvPr>
            <p:cNvCxnSpPr>
              <a:endCxn id="39" idx="0"/>
            </p:cNvCxnSpPr>
            <p:nvPr/>
          </p:nvCxnSpPr>
          <p:spPr bwMode="auto">
            <a:xfrm>
              <a:off x="3995936" y="1988840"/>
              <a:ext cx="381944" cy="936104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E6033BB-9E54-47B2-90BE-EA9F17DB5834}"/>
                </a:ext>
              </a:extLst>
            </p:cNvPr>
            <p:cNvCxnSpPr>
              <a:stCxn id="37" idx="7"/>
              <a:endCxn id="39" idx="3"/>
            </p:cNvCxnSpPr>
            <p:nvPr/>
          </p:nvCxnSpPr>
          <p:spPr bwMode="auto">
            <a:xfrm flipV="1">
              <a:off x="3418123" y="3170795"/>
              <a:ext cx="857922" cy="588418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7EFB742-23AF-4F07-A24F-A02935ED06D5}"/>
                </a:ext>
              </a:extLst>
            </p:cNvPr>
            <p:cNvCxnSpPr>
              <a:endCxn id="39" idx="2"/>
            </p:cNvCxnSpPr>
            <p:nvPr/>
          </p:nvCxnSpPr>
          <p:spPr bwMode="auto">
            <a:xfrm>
              <a:off x="3203848" y="2780928"/>
              <a:ext cx="1030016" cy="288032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D257B86-1113-46C6-8713-833156FFF9E1}"/>
                </a:ext>
              </a:extLst>
            </p:cNvPr>
            <p:cNvCxnSpPr>
              <a:stCxn id="37" idx="0"/>
              <a:endCxn id="34" idx="4"/>
            </p:cNvCxnSpPr>
            <p:nvPr/>
          </p:nvCxnSpPr>
          <p:spPr bwMode="auto">
            <a:xfrm flipH="1" flipV="1">
              <a:off x="3059832" y="2852936"/>
              <a:ext cx="256456" cy="86409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A346BBB-DCAF-4409-90E7-4B0C93056A84}"/>
                </a:ext>
              </a:extLst>
            </p:cNvPr>
            <p:cNvCxnSpPr>
              <a:stCxn id="34" idx="3"/>
              <a:endCxn id="35" idx="7"/>
            </p:cNvCxnSpPr>
            <p:nvPr/>
          </p:nvCxnSpPr>
          <p:spPr bwMode="auto">
            <a:xfrm flipH="1">
              <a:off x="2225563" y="2810755"/>
              <a:ext cx="732434" cy="66042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12FF22D-4593-48DA-9CD8-6527F4DC6A7B}"/>
                </a:ext>
              </a:extLst>
            </p:cNvPr>
            <p:cNvCxnSpPr>
              <a:stCxn id="37" idx="5"/>
              <a:endCxn id="44" idx="2"/>
            </p:cNvCxnSpPr>
            <p:nvPr/>
          </p:nvCxnSpPr>
          <p:spPr bwMode="auto">
            <a:xfrm>
              <a:off x="3418123" y="3962883"/>
              <a:ext cx="1441909" cy="428010"/>
            </a:xfrm>
            <a:prstGeom prst="line">
              <a:avLst/>
            </a:prstGeom>
            <a:solidFill>
              <a:srgbClr val="FFFF00"/>
            </a:solidFill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5671ED1-A11B-48DB-B83D-30B5D6E1865F}"/>
                </a:ext>
              </a:extLst>
            </p:cNvPr>
            <p:cNvCxnSpPr/>
            <p:nvPr/>
          </p:nvCxnSpPr>
          <p:spPr bwMode="auto">
            <a:xfrm>
              <a:off x="4427984" y="3212976"/>
              <a:ext cx="554360" cy="101920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DD9F5D0-F38E-47DA-A94D-1D0B28A20C90}"/>
                </a:ext>
              </a:extLst>
            </p:cNvPr>
            <p:cNvCxnSpPr>
              <a:stCxn id="39" idx="6"/>
              <a:endCxn id="43" idx="1"/>
            </p:cNvCxnSpPr>
            <p:nvPr/>
          </p:nvCxnSpPr>
          <p:spPr bwMode="auto">
            <a:xfrm>
              <a:off x="4521896" y="3068960"/>
              <a:ext cx="815741" cy="146981"/>
            </a:xfrm>
            <a:prstGeom prst="line">
              <a:avLst/>
            </a:prstGeom>
            <a:solidFill>
              <a:srgbClr val="FFFF00"/>
            </a:solidFill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42441D4-3C67-43E7-8D75-E6A769E83B9C}"/>
                </a:ext>
              </a:extLst>
            </p:cNvPr>
            <p:cNvCxnSpPr>
              <a:stCxn id="43" idx="0"/>
              <a:endCxn id="41" idx="4"/>
            </p:cNvCxnSpPr>
            <p:nvPr/>
          </p:nvCxnSpPr>
          <p:spPr bwMode="auto">
            <a:xfrm flipV="1">
              <a:off x="5439472" y="2420888"/>
              <a:ext cx="0" cy="75287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A2680C1-095C-4C3B-9B6F-E9C609A56F6C}"/>
                </a:ext>
              </a:extLst>
            </p:cNvPr>
            <p:cNvCxnSpPr>
              <a:stCxn id="41" idx="1"/>
              <a:endCxn id="33" idx="6"/>
            </p:cNvCxnSpPr>
            <p:nvPr/>
          </p:nvCxnSpPr>
          <p:spPr bwMode="auto">
            <a:xfrm flipH="1" flipV="1">
              <a:off x="4139952" y="1844824"/>
              <a:ext cx="1197685" cy="330213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A4D700D-88B2-4C57-85AE-7B6E6260353F}"/>
                </a:ext>
              </a:extLst>
            </p:cNvPr>
            <p:cNvCxnSpPr>
              <a:endCxn id="35" idx="5"/>
            </p:cNvCxnSpPr>
            <p:nvPr/>
          </p:nvCxnSpPr>
          <p:spPr bwMode="auto">
            <a:xfrm flipH="1" flipV="1">
              <a:off x="2225563" y="3674851"/>
              <a:ext cx="936104" cy="186197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754624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Matching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3851920" y="1700808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915816" y="2564904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979712" y="3429000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3172272" y="3717032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4233864" y="2924944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295456" y="2132856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5295456" y="3173760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4860032" y="4246877"/>
            <a:ext cx="288032" cy="2880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21" name="Straight Connector 20"/>
          <p:cNvCxnSpPr>
            <a:stCxn id="9" idx="7"/>
            <a:endCxn id="8" idx="3"/>
          </p:cNvCxnSpPr>
          <p:nvPr/>
        </p:nvCxnSpPr>
        <p:spPr bwMode="auto">
          <a:xfrm flipV="1">
            <a:off x="3161667" y="1946659"/>
            <a:ext cx="732434" cy="66042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12" idx="0"/>
          </p:cNvCxnSpPr>
          <p:nvPr/>
        </p:nvCxnSpPr>
        <p:spPr bwMode="auto">
          <a:xfrm>
            <a:off x="3995936" y="1988840"/>
            <a:ext cx="381944" cy="936104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>
            <a:stCxn id="11" idx="7"/>
            <a:endCxn id="12" idx="3"/>
          </p:cNvCxnSpPr>
          <p:nvPr/>
        </p:nvCxnSpPr>
        <p:spPr bwMode="auto">
          <a:xfrm flipV="1">
            <a:off x="3418123" y="3170795"/>
            <a:ext cx="857922" cy="588418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>
            <a:endCxn id="12" idx="2"/>
          </p:cNvCxnSpPr>
          <p:nvPr/>
        </p:nvCxnSpPr>
        <p:spPr bwMode="auto">
          <a:xfrm>
            <a:off x="3203848" y="2780928"/>
            <a:ext cx="1030016" cy="288032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>
            <a:stCxn id="11" idx="0"/>
            <a:endCxn id="9" idx="4"/>
          </p:cNvCxnSpPr>
          <p:nvPr/>
        </p:nvCxnSpPr>
        <p:spPr bwMode="auto">
          <a:xfrm flipH="1" flipV="1">
            <a:off x="3059832" y="2852936"/>
            <a:ext cx="256456" cy="864096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Connector 37"/>
          <p:cNvCxnSpPr>
            <a:stCxn id="9" idx="3"/>
            <a:endCxn id="10" idx="7"/>
          </p:cNvCxnSpPr>
          <p:nvPr/>
        </p:nvCxnSpPr>
        <p:spPr bwMode="auto">
          <a:xfrm flipH="1">
            <a:off x="2225563" y="2810755"/>
            <a:ext cx="732434" cy="660426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Connector 39"/>
          <p:cNvCxnSpPr>
            <a:stCxn id="11" idx="5"/>
            <a:endCxn id="15" idx="2"/>
          </p:cNvCxnSpPr>
          <p:nvPr/>
        </p:nvCxnSpPr>
        <p:spPr bwMode="auto">
          <a:xfrm>
            <a:off x="3418123" y="3962883"/>
            <a:ext cx="1441909" cy="428010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4427984" y="3212976"/>
            <a:ext cx="554360" cy="1019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2" idx="6"/>
            <a:endCxn id="14" idx="1"/>
          </p:cNvCxnSpPr>
          <p:nvPr/>
        </p:nvCxnSpPr>
        <p:spPr bwMode="auto">
          <a:xfrm>
            <a:off x="4521896" y="3068960"/>
            <a:ext cx="815741" cy="146981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>
            <a:stCxn id="14" idx="0"/>
            <a:endCxn id="13" idx="4"/>
          </p:cNvCxnSpPr>
          <p:nvPr/>
        </p:nvCxnSpPr>
        <p:spPr bwMode="auto">
          <a:xfrm flipV="1">
            <a:off x="5439472" y="2420888"/>
            <a:ext cx="0" cy="75287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1"/>
            <a:endCxn id="8" idx="6"/>
          </p:cNvCxnSpPr>
          <p:nvPr/>
        </p:nvCxnSpPr>
        <p:spPr bwMode="auto">
          <a:xfrm flipH="1" flipV="1">
            <a:off x="4139952" y="1844824"/>
            <a:ext cx="1197685" cy="330213"/>
          </a:xfrm>
          <a:prstGeom prst="lin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>
            <a:endCxn id="10" idx="5"/>
          </p:cNvCxnSpPr>
          <p:nvPr/>
        </p:nvCxnSpPr>
        <p:spPr bwMode="auto">
          <a:xfrm flipH="1" flipV="1">
            <a:off x="2225563" y="3674851"/>
            <a:ext cx="936104" cy="1861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E8FCE04-323A-4870-A506-1BB759C92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591" y="3744381"/>
            <a:ext cx="3678002" cy="1237195"/>
          </a:xfrm>
        </p:spPr>
        <p:txBody>
          <a:bodyPr/>
          <a:lstStyle/>
          <a:p>
            <a:pPr marL="0" indent="0">
              <a:buNone/>
              <a:tabLst>
                <a:tab pos="447675" algn="l"/>
              </a:tabLst>
            </a:pPr>
            <a:r>
              <a:rPr lang="en-US" dirty="0"/>
              <a:t>	This is:</a:t>
            </a:r>
          </a:p>
          <a:p>
            <a:pPr lvl="1"/>
            <a:r>
              <a:rPr lang="en-US" dirty="0"/>
              <a:t>A maximal matching</a:t>
            </a:r>
          </a:p>
          <a:p>
            <a:pPr lvl="1"/>
            <a:r>
              <a:rPr lang="en-US" dirty="0"/>
              <a:t>A maximum matching</a:t>
            </a:r>
          </a:p>
          <a:p>
            <a:pPr lvl="1"/>
            <a:r>
              <a:rPr lang="en-US" dirty="0"/>
              <a:t>A perfect matching </a:t>
            </a:r>
          </a:p>
          <a:p>
            <a:endParaRPr lang="en-NL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FE31670-617E-41DC-8833-5B4F0E82860C}"/>
              </a:ext>
            </a:extLst>
          </p:cNvPr>
          <p:cNvGrpSpPr/>
          <p:nvPr/>
        </p:nvGrpSpPr>
        <p:grpSpPr>
          <a:xfrm>
            <a:off x="1979712" y="1700808"/>
            <a:ext cx="3603776" cy="2834101"/>
            <a:chOff x="1979712" y="1700808"/>
            <a:chExt cx="3603776" cy="283410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5FD7FD0-0234-467E-BA8A-4AA2500C7863}"/>
                </a:ext>
              </a:extLst>
            </p:cNvPr>
            <p:cNvSpPr/>
            <p:nvPr/>
          </p:nvSpPr>
          <p:spPr bwMode="auto">
            <a:xfrm>
              <a:off x="3851920" y="1700808"/>
              <a:ext cx="288032" cy="28803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A91B835-BA60-4EF2-A691-58AAAB161709}"/>
                </a:ext>
              </a:extLst>
            </p:cNvPr>
            <p:cNvSpPr/>
            <p:nvPr/>
          </p:nvSpPr>
          <p:spPr bwMode="auto">
            <a:xfrm>
              <a:off x="2915816" y="256490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F0910B3-E028-43DA-8F19-7AA3A9400756}"/>
                </a:ext>
              </a:extLst>
            </p:cNvPr>
            <p:cNvSpPr/>
            <p:nvPr/>
          </p:nvSpPr>
          <p:spPr bwMode="auto">
            <a:xfrm>
              <a:off x="1979712" y="342900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AD25E79-2087-4C05-B635-ED7DE2D73793}"/>
                </a:ext>
              </a:extLst>
            </p:cNvPr>
            <p:cNvSpPr/>
            <p:nvPr/>
          </p:nvSpPr>
          <p:spPr bwMode="auto">
            <a:xfrm>
              <a:off x="3172272" y="3717032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19D85E5-DA75-46DD-8468-497BC4721172}"/>
                </a:ext>
              </a:extLst>
            </p:cNvPr>
            <p:cNvSpPr/>
            <p:nvPr/>
          </p:nvSpPr>
          <p:spPr bwMode="auto">
            <a:xfrm>
              <a:off x="4233864" y="2924944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CC4FBB9-FF77-4222-AF9E-09633EA09FD5}"/>
                </a:ext>
              </a:extLst>
            </p:cNvPr>
            <p:cNvSpPr/>
            <p:nvPr/>
          </p:nvSpPr>
          <p:spPr bwMode="auto">
            <a:xfrm>
              <a:off x="5295456" y="2132856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C99886F-78B1-4903-AF5D-C8E301BC9CDD}"/>
                </a:ext>
              </a:extLst>
            </p:cNvPr>
            <p:cNvSpPr/>
            <p:nvPr/>
          </p:nvSpPr>
          <p:spPr bwMode="auto">
            <a:xfrm>
              <a:off x="5295456" y="3173760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2F99512-9BD6-4F8B-806D-EC5B417749B0}"/>
                </a:ext>
              </a:extLst>
            </p:cNvPr>
            <p:cNvSpPr/>
            <p:nvPr/>
          </p:nvSpPr>
          <p:spPr bwMode="auto">
            <a:xfrm>
              <a:off x="4860032" y="4246877"/>
              <a:ext cx="288032" cy="288032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0F8DD30-729C-4B2D-A058-E8031AB8390F}"/>
                </a:ext>
              </a:extLst>
            </p:cNvPr>
            <p:cNvCxnSpPr>
              <a:stCxn id="32" idx="7"/>
              <a:endCxn id="31" idx="3"/>
            </p:cNvCxnSpPr>
            <p:nvPr/>
          </p:nvCxnSpPr>
          <p:spPr bwMode="auto">
            <a:xfrm flipV="1">
              <a:off x="3161667" y="1946659"/>
              <a:ext cx="732434" cy="660426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7DFB51E-CD99-46E3-94B6-C4547072FD59}"/>
                </a:ext>
              </a:extLst>
            </p:cNvPr>
            <p:cNvCxnSpPr>
              <a:endCxn id="35" idx="0"/>
            </p:cNvCxnSpPr>
            <p:nvPr/>
          </p:nvCxnSpPr>
          <p:spPr bwMode="auto">
            <a:xfrm>
              <a:off x="3995936" y="1988840"/>
              <a:ext cx="381944" cy="936104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216EC92-D5AB-4619-9E55-3A178C75EE81}"/>
                </a:ext>
              </a:extLst>
            </p:cNvPr>
            <p:cNvCxnSpPr>
              <a:stCxn id="34" idx="7"/>
              <a:endCxn id="35" idx="3"/>
            </p:cNvCxnSpPr>
            <p:nvPr/>
          </p:nvCxnSpPr>
          <p:spPr bwMode="auto">
            <a:xfrm flipV="1">
              <a:off x="3418123" y="3170795"/>
              <a:ext cx="857922" cy="588418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EB82380-B746-42D2-B14E-64A4A34D9133}"/>
                </a:ext>
              </a:extLst>
            </p:cNvPr>
            <p:cNvCxnSpPr>
              <a:endCxn id="35" idx="2"/>
            </p:cNvCxnSpPr>
            <p:nvPr/>
          </p:nvCxnSpPr>
          <p:spPr bwMode="auto">
            <a:xfrm>
              <a:off x="3203848" y="2780928"/>
              <a:ext cx="1030016" cy="288032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AEAB26-1397-4C7E-8C59-1171394DB15E}"/>
                </a:ext>
              </a:extLst>
            </p:cNvPr>
            <p:cNvCxnSpPr>
              <a:stCxn id="34" idx="0"/>
              <a:endCxn id="32" idx="4"/>
            </p:cNvCxnSpPr>
            <p:nvPr/>
          </p:nvCxnSpPr>
          <p:spPr bwMode="auto">
            <a:xfrm flipH="1" flipV="1">
              <a:off x="3059832" y="2852936"/>
              <a:ext cx="256456" cy="86409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6FF22BE-A19C-452F-A8ED-2D7E13987EE2}"/>
                </a:ext>
              </a:extLst>
            </p:cNvPr>
            <p:cNvCxnSpPr>
              <a:stCxn id="32" idx="3"/>
              <a:endCxn id="33" idx="7"/>
            </p:cNvCxnSpPr>
            <p:nvPr/>
          </p:nvCxnSpPr>
          <p:spPr bwMode="auto">
            <a:xfrm flipH="1">
              <a:off x="2225563" y="2810755"/>
              <a:ext cx="732434" cy="660426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4A31029-55B3-4DC9-A5D1-ED3C7BA836F6}"/>
                </a:ext>
              </a:extLst>
            </p:cNvPr>
            <p:cNvCxnSpPr>
              <a:stCxn id="34" idx="5"/>
              <a:endCxn id="41" idx="2"/>
            </p:cNvCxnSpPr>
            <p:nvPr/>
          </p:nvCxnSpPr>
          <p:spPr bwMode="auto">
            <a:xfrm>
              <a:off x="3418123" y="3962883"/>
              <a:ext cx="1441909" cy="428010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94AEDE-BDEC-471D-8AAC-608C3FA89CD4}"/>
                </a:ext>
              </a:extLst>
            </p:cNvPr>
            <p:cNvCxnSpPr/>
            <p:nvPr/>
          </p:nvCxnSpPr>
          <p:spPr bwMode="auto">
            <a:xfrm>
              <a:off x="4427984" y="3212976"/>
              <a:ext cx="554360" cy="1019200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CCA3F4D-7C5E-4B8A-8EB1-531BAD7F87AC}"/>
                </a:ext>
              </a:extLst>
            </p:cNvPr>
            <p:cNvCxnSpPr>
              <a:stCxn id="35" idx="6"/>
              <a:endCxn id="39" idx="1"/>
            </p:cNvCxnSpPr>
            <p:nvPr/>
          </p:nvCxnSpPr>
          <p:spPr bwMode="auto">
            <a:xfrm>
              <a:off x="4521896" y="3068960"/>
              <a:ext cx="815741" cy="146981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CB55D41-EC8A-4E21-BD99-E6D5D1450CB0}"/>
                </a:ext>
              </a:extLst>
            </p:cNvPr>
            <p:cNvCxnSpPr>
              <a:stCxn id="39" idx="0"/>
              <a:endCxn id="37" idx="4"/>
            </p:cNvCxnSpPr>
            <p:nvPr/>
          </p:nvCxnSpPr>
          <p:spPr bwMode="auto">
            <a:xfrm flipV="1">
              <a:off x="5439472" y="2420888"/>
              <a:ext cx="0" cy="75287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F05DC2C-1446-429D-A2C1-CCEF6E4DA0BB}"/>
                </a:ext>
              </a:extLst>
            </p:cNvPr>
            <p:cNvCxnSpPr>
              <a:stCxn id="37" idx="1"/>
              <a:endCxn id="31" idx="6"/>
            </p:cNvCxnSpPr>
            <p:nvPr/>
          </p:nvCxnSpPr>
          <p:spPr bwMode="auto">
            <a:xfrm flipH="1" flipV="1">
              <a:off x="4139952" y="1844824"/>
              <a:ext cx="1197685" cy="330213"/>
            </a:xfrm>
            <a:prstGeom prst="line">
              <a:avLst/>
            </a:prstGeom>
            <a:solidFill>
              <a:srgbClr val="FFFF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03DD6E9-43D4-493C-AD25-7F4D3E9C1D3D}"/>
                </a:ext>
              </a:extLst>
            </p:cNvPr>
            <p:cNvCxnSpPr>
              <a:endCxn id="33" idx="5"/>
            </p:cNvCxnSpPr>
            <p:nvPr/>
          </p:nvCxnSpPr>
          <p:spPr bwMode="auto">
            <a:xfrm flipH="1" flipV="1">
              <a:off x="2225563" y="3674851"/>
              <a:ext cx="936104" cy="186197"/>
            </a:xfrm>
            <a:prstGeom prst="line">
              <a:avLst/>
            </a:prstGeom>
            <a:solidFill>
              <a:srgbClr val="FFFF00"/>
            </a:solidFill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82953733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Matching 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853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altLang="en-US" dirty="0"/>
                  <a:t>, find: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A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maximal</a:t>
                </a:r>
                <a:r>
                  <a:rPr lang="en-US" altLang="en-US" dirty="0"/>
                  <a:t> matching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Easy (use a greedy algorithm!)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A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maximum</a:t>
                </a:r>
                <a:r>
                  <a:rPr lang="en-US" altLang="en-US" dirty="0"/>
                  <a:t> matching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Polynomial time: this lecture (not easy)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Important case: bipartite graphs (easier)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A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perfect</a:t>
                </a:r>
                <a:r>
                  <a:rPr lang="en-US" altLang="en-US" dirty="0"/>
                  <a:t> matching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Special case of maximum matching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Special case: bipartite graphs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Special case: regular bipartite graphs (Schrijver’s algorithm)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en-US" sz="800" dirty="0"/>
              </a:p>
              <a:p>
                <a:r>
                  <a:rPr lang="en-US" altLang="en-US" dirty="0"/>
                  <a:t>Above no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costs or weights</a:t>
                </a:r>
                <a:r>
                  <a:rPr lang="en-US" altLang="en-US" dirty="0"/>
                  <a:t> are associated to edges</a:t>
                </a:r>
              </a:p>
              <a:p>
                <a:pPr lvl="1"/>
                <a:r>
                  <a:rPr lang="en-US" altLang="en-US" dirty="0"/>
                  <a:t>Find maximum/perfect matching with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minimum cost</a:t>
                </a:r>
              </a:p>
              <a:p>
                <a:pPr lvl="1"/>
                <a:r>
                  <a:rPr lang="en-US" altLang="en-US" dirty="0"/>
                  <a:t>Or find a maximum weight matching</a:t>
                </a:r>
              </a:p>
              <a:p>
                <a:pPr lvl="1"/>
                <a:r>
                  <a:rPr lang="en-US" altLang="en-US" dirty="0"/>
                  <a:t>Also, polynomial time solvable, but harder (out-of-scope)</a:t>
                </a:r>
              </a:p>
              <a:p>
                <a:pPr>
                  <a:lnSpc>
                    <a:spcPct val="90000"/>
                  </a:lnSpc>
                </a:pPr>
                <a:endParaRPr lang="en-US" altLang="en-US" dirty="0"/>
              </a:p>
            </p:txBody>
          </p:sp>
        </mc:Choice>
        <mc:Fallback>
          <p:sp>
            <p:nvSpPr>
              <p:cNvPr id="2785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495" t="-1538" b="-784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D1CDA76-D4C4-4342-973E-D023AB57DF27}"/>
              </a:ext>
            </a:extLst>
          </p:cNvPr>
          <p:cNvGrpSpPr/>
          <p:nvPr/>
        </p:nvGrpSpPr>
        <p:grpSpPr>
          <a:xfrm>
            <a:off x="7411616" y="1575792"/>
            <a:ext cx="1351384" cy="1749207"/>
            <a:chOff x="7411616" y="1575792"/>
            <a:chExt cx="1351384" cy="174920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5371626-1FF1-4578-B8CC-BCA3061B1427}"/>
                </a:ext>
              </a:extLst>
            </p:cNvPr>
            <p:cNvGrpSpPr/>
            <p:nvPr/>
          </p:nvGrpSpPr>
          <p:grpSpPr>
            <a:xfrm>
              <a:off x="7411616" y="1575792"/>
              <a:ext cx="1351384" cy="1749207"/>
              <a:chOff x="7411616" y="1575792"/>
              <a:chExt cx="1351384" cy="174920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A128F3D-9D73-4672-A5C4-705F2677C43C}"/>
                  </a:ext>
                </a:extLst>
              </p:cNvPr>
              <p:cNvGrpSpPr/>
              <p:nvPr/>
            </p:nvGrpSpPr>
            <p:grpSpPr>
              <a:xfrm>
                <a:off x="7530988" y="1575792"/>
                <a:ext cx="1066800" cy="1447800"/>
                <a:chOff x="7371928" y="1752600"/>
                <a:chExt cx="1066800" cy="1447800"/>
              </a:xfrm>
            </p:grpSpPr>
            <p:sp>
              <p:nvSpPr>
                <p:cNvPr id="4" name="Oval 7">
                  <a:extLst>
                    <a:ext uri="{FF2B5EF4-FFF2-40B4-BE49-F238E27FC236}">
                      <a16:creationId xmlns:a16="http://schemas.microsoft.com/office/drawing/2014/main" id="{08360F6C-C69B-462E-8D66-8C74D35457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0128" y="20574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" name="Oval 8">
                  <a:extLst>
                    <a:ext uri="{FF2B5EF4-FFF2-40B4-BE49-F238E27FC236}">
                      <a16:creationId xmlns:a16="http://schemas.microsoft.com/office/drawing/2014/main" id="{6E6E7D1A-C801-4785-9786-EB432480F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0128" y="26670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" name="Line 9">
                  <a:extLst>
                    <a:ext uri="{FF2B5EF4-FFF2-40B4-BE49-F238E27FC236}">
                      <a16:creationId xmlns:a16="http://schemas.microsoft.com/office/drawing/2014/main" id="{B8295D60-FC9D-4C5E-ADF2-28058A6505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524328" y="1828800"/>
                  <a:ext cx="685800" cy="30480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" name="Line 10">
                  <a:extLst>
                    <a:ext uri="{FF2B5EF4-FFF2-40B4-BE49-F238E27FC236}">
                      <a16:creationId xmlns:a16="http://schemas.microsoft.com/office/drawing/2014/main" id="{08E175AE-2965-4FCB-A6E2-70EEA33C63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524328" y="2209800"/>
                  <a:ext cx="685800" cy="22860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" name="Line 12">
                  <a:extLst>
                    <a:ext uri="{FF2B5EF4-FFF2-40B4-BE49-F238E27FC236}">
                      <a16:creationId xmlns:a16="http://schemas.microsoft.com/office/drawing/2014/main" id="{2136791B-7BCA-4B49-8CDB-8BBE787AD7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524328" y="2819400"/>
                  <a:ext cx="685800" cy="30480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" name="Line 13">
                  <a:extLst>
                    <a:ext uri="{FF2B5EF4-FFF2-40B4-BE49-F238E27FC236}">
                      <a16:creationId xmlns:a16="http://schemas.microsoft.com/office/drawing/2014/main" id="{3747AAF0-544B-4F9A-BE32-A85BFEDCD7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524328" y="2438400"/>
                  <a:ext cx="685800" cy="30480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" name="Oval 4">
                  <a:extLst>
                    <a:ext uri="{FF2B5EF4-FFF2-40B4-BE49-F238E27FC236}">
                      <a16:creationId xmlns:a16="http://schemas.microsoft.com/office/drawing/2014/main" id="{13B821B9-0B47-4DA3-ABAA-E7A963E2B5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71928" y="17526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" name="Oval 5">
                  <a:extLst>
                    <a:ext uri="{FF2B5EF4-FFF2-40B4-BE49-F238E27FC236}">
                      <a16:creationId xmlns:a16="http://schemas.microsoft.com/office/drawing/2014/main" id="{621BB477-8E33-4FDC-AE6A-2F40FF1FB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71928" y="23622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" name="Oval 6">
                  <a:extLst>
                    <a:ext uri="{FF2B5EF4-FFF2-40B4-BE49-F238E27FC236}">
                      <a16:creationId xmlns:a16="http://schemas.microsoft.com/office/drawing/2014/main" id="{12CC7412-E37A-4F89-A3C9-F7589D8918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71928" y="29718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BC6AA9-4C0D-43C7-85D9-9217C3D76DB3}"/>
                  </a:ext>
                </a:extLst>
              </p:cNvPr>
              <p:cNvSpPr txBox="1"/>
              <p:nvPr/>
            </p:nvSpPr>
            <p:spPr>
              <a:xfrm>
                <a:off x="7411616" y="3048000"/>
                <a:ext cx="13513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Bipartite graph</a:t>
                </a:r>
                <a:endParaRPr lang="en-NL" sz="1200" dirty="0">
                  <a:latin typeface="+mj-lt"/>
                </a:endParaRP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06F7AB-D5AE-4CD0-AF32-8E93399CA402}"/>
                </a:ext>
              </a:extLst>
            </p:cNvPr>
            <p:cNvCxnSpPr>
              <a:cxnSpLocks/>
              <a:stCxn id="10" idx="5"/>
              <a:endCxn id="5" idx="1"/>
            </p:cNvCxnSpPr>
            <p:nvPr/>
          </p:nvCxnSpPr>
          <p:spPr bwMode="auto">
            <a:xfrm>
              <a:off x="7726110" y="1770914"/>
              <a:ext cx="676556" cy="75275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8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8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8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8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8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8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8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8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MATCHING: APPLICATIONS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235547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applications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55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General graphs:</a:t>
                </a:r>
              </a:p>
              <a:p>
                <a:r>
                  <a:rPr lang="en-US" altLang="en-US" dirty="0"/>
                  <a:t>Opponent selection for sport competitions</a:t>
                </a:r>
              </a:p>
              <a:p>
                <a:pPr lvl="1"/>
                <a:r>
                  <a:rPr lang="en-US" altLang="en-US" dirty="0"/>
                  <a:t>In a chess (or tennis, or …) club, we have </a:t>
                </a:r>
                <a:r>
                  <a:rPr lang="en-US" altLang="en-US" i="1" dirty="0"/>
                  <a:t>n</a:t>
                </a:r>
                <a:r>
                  <a:rPr lang="en-US" altLang="en-US" dirty="0"/>
                  <a:t> players, that must be paired to play a match, each week. Some players have played already to each other, and we have </a:t>
                </a:r>
                <a:r>
                  <a:rPr lang="en-US" altLang="en-US" i="1" dirty="0"/>
                  <a:t>rating </a:t>
                </a:r>
                <a:r>
                  <a:rPr lang="en-US" altLang="en-US" dirty="0"/>
                  <a:t>differences</a:t>
                </a:r>
              </a:p>
              <a:p>
                <a:pPr marL="457200" lvl="1" indent="0">
                  <a:buNone/>
                </a:pPr>
                <a:endParaRPr lang="en-US" altLang="en-US" sz="800" dirty="0"/>
              </a:p>
              <a:p>
                <a:pPr marL="0" indent="0">
                  <a:buNone/>
                </a:pPr>
                <a:r>
                  <a:rPr lang="en-US" b="1" dirty="0"/>
                  <a:t>Bipartite case:</a:t>
                </a:r>
              </a:p>
              <a:p>
                <a:r>
                  <a:rPr lang="en-US" dirty="0"/>
                  <a:t>Personnel assignment</a:t>
                </a:r>
              </a:p>
              <a:p>
                <a:pPr lvl="1"/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employees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jobs. Each employee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has a </a:t>
                </a:r>
                <a:r>
                  <a:rPr lang="en-US" i="1" dirty="0"/>
                  <a:t>proficiency index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for job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. How to maximize proficiency?</a:t>
                </a:r>
              </a:p>
              <a:p>
                <a:pPr lvl="1"/>
                <a:r>
                  <a:rPr lang="en-US" dirty="0"/>
                  <a:t>Our company is international. We have a number of jobs abroad, and a number of employees. For each combination of a job and employee, we have:</a:t>
                </a:r>
              </a:p>
              <a:p>
                <a:pPr lvl="2"/>
                <a:r>
                  <a:rPr lang="en-US" dirty="0"/>
                  <a:t>The information: can this employee do this job?</a:t>
                </a:r>
              </a:p>
              <a:p>
                <a:pPr lvl="2"/>
                <a:r>
                  <a:rPr lang="en-US" dirty="0"/>
                  <a:t>The cost of moving the employee with his family to the new location</a:t>
                </a:r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2795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0" t="-769" r="-824" b="-1061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9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9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Application: matching moving objects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dirty="0"/>
              <a:t>Moving objects, seen at two successive time moments</a:t>
            </a:r>
          </a:p>
          <a:p>
            <a:r>
              <a:rPr lang="en-US" altLang="en-US" dirty="0"/>
              <a:t>Which object came from where?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Also:</a:t>
            </a:r>
          </a:p>
          <a:p>
            <a:pPr lvl="1"/>
            <a:r>
              <a:rPr lang="en-US" altLang="en-US" dirty="0"/>
              <a:t>Tracking trains on non-remoted controlled areas</a:t>
            </a:r>
          </a:p>
        </p:txBody>
      </p:sp>
      <p:sp>
        <p:nvSpPr>
          <p:cNvPr id="281605" name="Rectangle 5"/>
          <p:cNvSpPr>
            <a:spLocks noChangeArrowheads="1"/>
          </p:cNvSpPr>
          <p:nvPr/>
        </p:nvSpPr>
        <p:spPr bwMode="auto">
          <a:xfrm>
            <a:off x="5181600" y="2209800"/>
            <a:ext cx="3124200" cy="3505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1606" name="Oval 6"/>
          <p:cNvSpPr>
            <a:spLocks noChangeArrowheads="1"/>
          </p:cNvSpPr>
          <p:nvPr/>
        </p:nvSpPr>
        <p:spPr bwMode="auto">
          <a:xfrm>
            <a:off x="5562600" y="2667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07" name="Oval 7"/>
          <p:cNvSpPr>
            <a:spLocks noChangeArrowheads="1"/>
          </p:cNvSpPr>
          <p:nvPr/>
        </p:nvSpPr>
        <p:spPr bwMode="auto">
          <a:xfrm>
            <a:off x="6477000" y="28194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08" name="Oval 8"/>
          <p:cNvSpPr>
            <a:spLocks noChangeArrowheads="1"/>
          </p:cNvSpPr>
          <p:nvPr/>
        </p:nvSpPr>
        <p:spPr bwMode="auto">
          <a:xfrm>
            <a:off x="7162800" y="3624122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09" name="Oval 9"/>
          <p:cNvSpPr>
            <a:spLocks noChangeArrowheads="1"/>
          </p:cNvSpPr>
          <p:nvPr/>
        </p:nvSpPr>
        <p:spPr bwMode="auto">
          <a:xfrm>
            <a:off x="7848600" y="4191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10" name="Oval 10"/>
          <p:cNvSpPr>
            <a:spLocks noChangeArrowheads="1"/>
          </p:cNvSpPr>
          <p:nvPr/>
        </p:nvSpPr>
        <p:spPr bwMode="auto">
          <a:xfrm>
            <a:off x="5562600" y="4876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11" name="Oval 11"/>
          <p:cNvSpPr>
            <a:spLocks noChangeArrowheads="1"/>
          </p:cNvSpPr>
          <p:nvPr/>
        </p:nvSpPr>
        <p:spPr bwMode="auto">
          <a:xfrm>
            <a:off x="5867400" y="5029200"/>
            <a:ext cx="228600" cy="228600"/>
          </a:xfrm>
          <a:prstGeom prst="ellipse">
            <a:avLst/>
          </a:prstGeom>
          <a:solidFill>
            <a:srgbClr val="F3B927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12" name="Oval 12"/>
          <p:cNvSpPr>
            <a:spLocks noChangeArrowheads="1"/>
          </p:cNvSpPr>
          <p:nvPr/>
        </p:nvSpPr>
        <p:spPr bwMode="auto">
          <a:xfrm>
            <a:off x="7391400" y="3962400"/>
            <a:ext cx="228600" cy="228600"/>
          </a:xfrm>
          <a:prstGeom prst="ellipse">
            <a:avLst/>
          </a:prstGeom>
          <a:solidFill>
            <a:srgbClr val="F3B927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13" name="Oval 13"/>
          <p:cNvSpPr>
            <a:spLocks noChangeArrowheads="1"/>
          </p:cNvSpPr>
          <p:nvPr/>
        </p:nvSpPr>
        <p:spPr bwMode="auto">
          <a:xfrm>
            <a:off x="7391400" y="3200400"/>
            <a:ext cx="228600" cy="228600"/>
          </a:xfrm>
          <a:prstGeom prst="ellipse">
            <a:avLst/>
          </a:prstGeom>
          <a:solidFill>
            <a:srgbClr val="F3B927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14" name="Oval 14"/>
          <p:cNvSpPr>
            <a:spLocks noChangeArrowheads="1"/>
          </p:cNvSpPr>
          <p:nvPr/>
        </p:nvSpPr>
        <p:spPr bwMode="auto">
          <a:xfrm>
            <a:off x="6858000" y="2514600"/>
            <a:ext cx="228600" cy="228600"/>
          </a:xfrm>
          <a:prstGeom prst="ellipse">
            <a:avLst/>
          </a:prstGeom>
          <a:solidFill>
            <a:srgbClr val="F3B927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1615" name="Oval 15"/>
          <p:cNvSpPr>
            <a:spLocks noChangeArrowheads="1"/>
          </p:cNvSpPr>
          <p:nvPr/>
        </p:nvSpPr>
        <p:spPr bwMode="auto">
          <a:xfrm>
            <a:off x="5410200" y="3429000"/>
            <a:ext cx="228600" cy="228600"/>
          </a:xfrm>
          <a:prstGeom prst="ellipse">
            <a:avLst/>
          </a:prstGeom>
          <a:solidFill>
            <a:srgbClr val="F3B927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 alt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16D78C-0AF3-4403-BB86-567F61189DBA}"/>
              </a:ext>
            </a:extLst>
          </p:cNvPr>
          <p:cNvCxnSpPr/>
          <p:nvPr/>
        </p:nvCxnSpPr>
        <p:spPr bwMode="auto">
          <a:xfrm flipH="1">
            <a:off x="5524500" y="2895600"/>
            <a:ext cx="114300" cy="5334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D24ED8-A48A-41E4-8336-87B04F0FBE6A}"/>
              </a:ext>
            </a:extLst>
          </p:cNvPr>
          <p:cNvCxnSpPr/>
          <p:nvPr/>
        </p:nvCxnSpPr>
        <p:spPr bwMode="auto">
          <a:xfrm flipV="1">
            <a:off x="6672122" y="2667000"/>
            <a:ext cx="185878" cy="18587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539D53-B070-49A2-AC23-EC1F4D33F22F}"/>
              </a:ext>
            </a:extLst>
          </p:cNvPr>
          <p:cNvCxnSpPr>
            <a:cxnSpLocks/>
          </p:cNvCxnSpPr>
          <p:nvPr/>
        </p:nvCxnSpPr>
        <p:spPr bwMode="auto">
          <a:xfrm flipV="1">
            <a:off x="7308304" y="3395522"/>
            <a:ext cx="116574" cy="2286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195E74-DD0B-4427-B4F5-087597052DA1}"/>
              </a:ext>
            </a:extLst>
          </p:cNvPr>
          <p:cNvCxnSpPr/>
          <p:nvPr/>
        </p:nvCxnSpPr>
        <p:spPr bwMode="auto">
          <a:xfrm flipH="1" flipV="1">
            <a:off x="7590434" y="4114879"/>
            <a:ext cx="262078" cy="14777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EDBA42C-119D-4E40-BB92-AB85FDE4D825}"/>
              </a:ext>
            </a:extLst>
          </p:cNvPr>
          <p:cNvCxnSpPr/>
          <p:nvPr/>
        </p:nvCxnSpPr>
        <p:spPr bwMode="auto">
          <a:xfrm>
            <a:off x="5757722" y="5071922"/>
            <a:ext cx="109678" cy="7157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1965693-2C7D-4E66-86A0-583592044893}"/>
              </a:ext>
            </a:extLst>
          </p:cNvPr>
          <p:cNvSpPr txBox="1"/>
          <p:nvPr/>
        </p:nvSpPr>
        <p:spPr>
          <a:xfrm>
            <a:off x="7391400" y="1978967"/>
            <a:ext cx="150108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Maybe…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IN GENERAL:</a:t>
            </a:r>
            <a:br>
              <a:rPr lang="en-US" dirty="0"/>
            </a:br>
            <a:r>
              <a:rPr lang="en-US" dirty="0"/>
              <a:t>EDMONDS’ ALGORITHM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6916013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Algorithm of Edmonds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828800"/>
            <a:ext cx="7391400" cy="448072"/>
          </a:xfrm>
        </p:spPr>
        <p:txBody>
          <a:bodyPr/>
          <a:lstStyle/>
          <a:p>
            <a:r>
              <a:rPr lang="en-US" altLang="en-US"/>
              <a:t>Finds maximum matching in a graph in polynomial time</a:t>
            </a:r>
          </a:p>
        </p:txBody>
      </p:sp>
      <p:pic>
        <p:nvPicPr>
          <p:cNvPr id="6" name="Picture 2" descr="edm3">
            <a:extLst>
              <a:ext uri="{FF2B5EF4-FFF2-40B4-BE49-F238E27FC236}">
                <a16:creationId xmlns:a16="http://schemas.microsoft.com/office/drawing/2014/main" id="{275EAA74-810E-4F2E-8032-06467C345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59" y="2492896"/>
            <a:ext cx="4116905" cy="308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dm1">
            <a:extLst>
              <a:ext uri="{FF2B5EF4-FFF2-40B4-BE49-F238E27FC236}">
                <a16:creationId xmlns:a16="http://schemas.microsoft.com/office/drawing/2014/main" id="{D52BCC5A-7052-472C-A056-A3F4D7C52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504" y="2515836"/>
            <a:ext cx="4086360" cy="306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DD4A65-39BB-4B31-8401-4B6A694C2B20}"/>
              </a:ext>
            </a:extLst>
          </p:cNvPr>
          <p:cNvSpPr txBox="1"/>
          <p:nvPr/>
        </p:nvSpPr>
        <p:spPr>
          <a:xfrm>
            <a:off x="5292080" y="5608147"/>
            <a:ext cx="3470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en-US" sz="1200" dirty="0">
                <a:latin typeface="+mj-lt"/>
              </a:rPr>
              <a:t>Jack </a:t>
            </a:r>
            <a:r>
              <a:rPr lang="nl-NL" altLang="en-US" sz="1200" dirty="0" err="1">
                <a:latin typeface="+mj-lt"/>
              </a:rPr>
              <a:t>Edmonds</a:t>
            </a:r>
            <a:r>
              <a:rPr lang="nl-NL" altLang="en-US" sz="1200" dirty="0">
                <a:latin typeface="+mj-lt"/>
              </a:rPr>
              <a:t>, </a:t>
            </a:r>
            <a:r>
              <a:rPr lang="en-US" altLang="en-US" sz="1200" dirty="0">
                <a:latin typeface="+mj-lt"/>
              </a:rPr>
              <a:t>Photos © Hans Bodlaender</a:t>
            </a:r>
            <a:endParaRPr lang="nl-NL" altLang="en-US" sz="2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7" name="Line 47"/>
          <p:cNvSpPr>
            <a:spLocks noChangeShapeType="1"/>
          </p:cNvSpPr>
          <p:nvPr/>
        </p:nvSpPr>
        <p:spPr bwMode="auto">
          <a:xfrm>
            <a:off x="6949008" y="5210691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43" name="Line 23"/>
          <p:cNvSpPr>
            <a:spLocks noChangeShapeType="1"/>
          </p:cNvSpPr>
          <p:nvPr/>
        </p:nvSpPr>
        <p:spPr bwMode="auto">
          <a:xfrm flipH="1">
            <a:off x="2140024" y="322800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42" name="Line 22"/>
          <p:cNvSpPr>
            <a:spLocks noChangeShapeType="1"/>
          </p:cNvSpPr>
          <p:nvPr/>
        </p:nvSpPr>
        <p:spPr bwMode="auto">
          <a:xfrm flipH="1">
            <a:off x="2444824" y="3304203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41" name="Line 21"/>
          <p:cNvSpPr>
            <a:spLocks noChangeShapeType="1"/>
          </p:cNvSpPr>
          <p:nvPr/>
        </p:nvSpPr>
        <p:spPr bwMode="auto">
          <a:xfrm>
            <a:off x="7626424" y="3228003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33" name="Line 13"/>
          <p:cNvSpPr>
            <a:spLocks noChangeShapeType="1"/>
          </p:cNvSpPr>
          <p:nvPr/>
        </p:nvSpPr>
        <p:spPr bwMode="auto">
          <a:xfrm>
            <a:off x="2825824" y="322800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34" name="Line 14"/>
          <p:cNvSpPr>
            <a:spLocks noChangeShapeType="1"/>
          </p:cNvSpPr>
          <p:nvPr/>
        </p:nvSpPr>
        <p:spPr bwMode="auto">
          <a:xfrm>
            <a:off x="3511624" y="3228003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35" name="Line 15"/>
          <p:cNvSpPr>
            <a:spLocks noChangeShapeType="1"/>
          </p:cNvSpPr>
          <p:nvPr/>
        </p:nvSpPr>
        <p:spPr bwMode="auto">
          <a:xfrm>
            <a:off x="4197424" y="322800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36" name="Line 16"/>
          <p:cNvSpPr>
            <a:spLocks noChangeShapeType="1"/>
          </p:cNvSpPr>
          <p:nvPr/>
        </p:nvSpPr>
        <p:spPr bwMode="auto">
          <a:xfrm>
            <a:off x="4883224" y="3228003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37" name="Line 17"/>
          <p:cNvSpPr>
            <a:spLocks noChangeShapeType="1"/>
          </p:cNvSpPr>
          <p:nvPr/>
        </p:nvSpPr>
        <p:spPr bwMode="auto">
          <a:xfrm>
            <a:off x="5569024" y="322800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38" name="Line 18"/>
          <p:cNvSpPr>
            <a:spLocks noChangeShapeType="1"/>
          </p:cNvSpPr>
          <p:nvPr/>
        </p:nvSpPr>
        <p:spPr bwMode="auto">
          <a:xfrm>
            <a:off x="6254824" y="3228003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39" name="Line 19"/>
          <p:cNvSpPr>
            <a:spLocks noChangeShapeType="1"/>
          </p:cNvSpPr>
          <p:nvPr/>
        </p:nvSpPr>
        <p:spPr bwMode="auto">
          <a:xfrm>
            <a:off x="6940624" y="322800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40" name="Line 20"/>
          <p:cNvSpPr>
            <a:spLocks noChangeShapeType="1"/>
          </p:cNvSpPr>
          <p:nvPr/>
        </p:nvSpPr>
        <p:spPr bwMode="auto">
          <a:xfrm>
            <a:off x="7626424" y="322800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Steps by Ford-Fulkerson on the bipartite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2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One flow-augmentation step</a:t>
                </a:r>
              </a:p>
              <a:p>
                <a:pPr lvl="1"/>
                <a:r>
                  <a:rPr lang="en-US" altLang="en-US" dirty="0"/>
                  <a:t>It considers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>
                    <a:solidFill>
                      <a:srgbClr val="C00000"/>
                    </a:solidFill>
                  </a:rPr>
                  <a:t>-augmenting path</a:t>
                </a:r>
                <a:endParaRPr lang="en-US" altLang="en-US" dirty="0"/>
              </a:p>
              <a:p>
                <a:pPr marL="457200" lvl="1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2867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24" name="Oval 4"/>
          <p:cNvSpPr>
            <a:spLocks noChangeArrowheads="1"/>
          </p:cNvSpPr>
          <p:nvPr/>
        </p:nvSpPr>
        <p:spPr bwMode="auto">
          <a:xfrm>
            <a:off x="2597224" y="3075603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25" name="Oval 5"/>
          <p:cNvSpPr>
            <a:spLocks noChangeArrowheads="1"/>
          </p:cNvSpPr>
          <p:nvPr/>
        </p:nvSpPr>
        <p:spPr bwMode="auto">
          <a:xfrm>
            <a:off x="3283024" y="3075603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26" name="Oval 6"/>
          <p:cNvSpPr>
            <a:spLocks noChangeArrowheads="1"/>
          </p:cNvSpPr>
          <p:nvPr/>
        </p:nvSpPr>
        <p:spPr bwMode="auto">
          <a:xfrm>
            <a:off x="3968824" y="3075603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27" name="Oval 7"/>
          <p:cNvSpPr>
            <a:spLocks noChangeArrowheads="1"/>
          </p:cNvSpPr>
          <p:nvPr/>
        </p:nvSpPr>
        <p:spPr bwMode="auto">
          <a:xfrm>
            <a:off x="4654624" y="3075603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28" name="Oval 8"/>
          <p:cNvSpPr>
            <a:spLocks noChangeArrowheads="1"/>
          </p:cNvSpPr>
          <p:nvPr/>
        </p:nvSpPr>
        <p:spPr bwMode="auto">
          <a:xfrm>
            <a:off x="5340424" y="3075603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29" name="Oval 9"/>
          <p:cNvSpPr>
            <a:spLocks noChangeArrowheads="1"/>
          </p:cNvSpPr>
          <p:nvPr/>
        </p:nvSpPr>
        <p:spPr bwMode="auto">
          <a:xfrm>
            <a:off x="6026224" y="3075603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30" name="Oval 10"/>
          <p:cNvSpPr>
            <a:spLocks noChangeArrowheads="1"/>
          </p:cNvSpPr>
          <p:nvPr/>
        </p:nvSpPr>
        <p:spPr bwMode="auto">
          <a:xfrm>
            <a:off x="6712024" y="3075603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32" name="Oval 12"/>
          <p:cNvSpPr>
            <a:spLocks noChangeArrowheads="1"/>
          </p:cNvSpPr>
          <p:nvPr/>
        </p:nvSpPr>
        <p:spPr bwMode="auto">
          <a:xfrm>
            <a:off x="7474024" y="3075603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44" name="Text Box 24"/>
          <p:cNvSpPr txBox="1">
            <a:spLocks noChangeArrowheads="1"/>
          </p:cNvSpPr>
          <p:nvPr/>
        </p:nvSpPr>
        <p:spPr bwMode="auto">
          <a:xfrm>
            <a:off x="916671" y="3345856"/>
            <a:ext cx="1478290" cy="646331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latin typeface="+mj-lt"/>
              </a:rPr>
              <a:t>unmatched</a:t>
            </a:r>
          </a:p>
          <a:p>
            <a:pPr algn="ctr"/>
            <a:r>
              <a:rPr lang="en-US" altLang="en-US" sz="1800" dirty="0">
                <a:latin typeface="+mj-lt"/>
              </a:rPr>
              <a:t>vertex</a:t>
            </a:r>
            <a:endParaRPr lang="nl-NL" altLang="en-US" sz="1800" dirty="0">
              <a:latin typeface="+mj-lt"/>
            </a:endParaRPr>
          </a:p>
        </p:txBody>
      </p:sp>
      <p:sp>
        <p:nvSpPr>
          <p:cNvPr id="286747" name="Line 27"/>
          <p:cNvSpPr>
            <a:spLocks noChangeShapeType="1"/>
          </p:cNvSpPr>
          <p:nvPr/>
        </p:nvSpPr>
        <p:spPr bwMode="auto">
          <a:xfrm flipH="1">
            <a:off x="2148408" y="521069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48" name="Line 28"/>
          <p:cNvSpPr>
            <a:spLocks noChangeShapeType="1"/>
          </p:cNvSpPr>
          <p:nvPr/>
        </p:nvSpPr>
        <p:spPr bwMode="auto">
          <a:xfrm flipH="1">
            <a:off x="2453208" y="5286891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49" name="Line 29"/>
          <p:cNvSpPr>
            <a:spLocks noChangeShapeType="1"/>
          </p:cNvSpPr>
          <p:nvPr/>
        </p:nvSpPr>
        <p:spPr bwMode="auto">
          <a:xfrm>
            <a:off x="7634808" y="5210691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0" name="Line 30"/>
          <p:cNvSpPr>
            <a:spLocks noChangeShapeType="1"/>
          </p:cNvSpPr>
          <p:nvPr/>
        </p:nvSpPr>
        <p:spPr bwMode="auto">
          <a:xfrm>
            <a:off x="2834208" y="521069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1" name="Line 31"/>
          <p:cNvSpPr>
            <a:spLocks noChangeShapeType="1"/>
          </p:cNvSpPr>
          <p:nvPr/>
        </p:nvSpPr>
        <p:spPr bwMode="auto">
          <a:xfrm>
            <a:off x="2834208" y="5210691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2" name="Line 32"/>
          <p:cNvSpPr>
            <a:spLocks noChangeShapeType="1"/>
          </p:cNvSpPr>
          <p:nvPr/>
        </p:nvSpPr>
        <p:spPr bwMode="auto">
          <a:xfrm>
            <a:off x="3520008" y="521069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3" name="Line 33"/>
          <p:cNvSpPr>
            <a:spLocks noChangeShapeType="1"/>
          </p:cNvSpPr>
          <p:nvPr/>
        </p:nvSpPr>
        <p:spPr bwMode="auto">
          <a:xfrm>
            <a:off x="4205808" y="5210691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54" name="Line 34"/>
          <p:cNvSpPr>
            <a:spLocks noChangeShapeType="1"/>
          </p:cNvSpPr>
          <p:nvPr/>
        </p:nvSpPr>
        <p:spPr bwMode="auto">
          <a:xfrm>
            <a:off x="4891608" y="521069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5" name="Line 35"/>
          <p:cNvSpPr>
            <a:spLocks noChangeShapeType="1"/>
          </p:cNvSpPr>
          <p:nvPr/>
        </p:nvSpPr>
        <p:spPr bwMode="auto">
          <a:xfrm>
            <a:off x="5577408" y="5210691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6" name="Line 36"/>
          <p:cNvSpPr>
            <a:spLocks noChangeShapeType="1"/>
          </p:cNvSpPr>
          <p:nvPr/>
        </p:nvSpPr>
        <p:spPr bwMode="auto">
          <a:xfrm>
            <a:off x="6263208" y="521069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7" name="Line 37"/>
          <p:cNvSpPr>
            <a:spLocks noChangeShapeType="1"/>
          </p:cNvSpPr>
          <p:nvPr/>
        </p:nvSpPr>
        <p:spPr bwMode="auto">
          <a:xfrm>
            <a:off x="7634808" y="521069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8" name="Oval 38"/>
          <p:cNvSpPr>
            <a:spLocks noChangeArrowheads="1"/>
          </p:cNvSpPr>
          <p:nvPr/>
        </p:nvSpPr>
        <p:spPr bwMode="auto">
          <a:xfrm>
            <a:off x="2605608" y="5058291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59" name="Oval 39"/>
          <p:cNvSpPr>
            <a:spLocks noChangeArrowheads="1"/>
          </p:cNvSpPr>
          <p:nvPr/>
        </p:nvSpPr>
        <p:spPr bwMode="auto">
          <a:xfrm>
            <a:off x="3291408" y="5058291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60" name="Oval 40"/>
          <p:cNvSpPr>
            <a:spLocks noChangeArrowheads="1"/>
          </p:cNvSpPr>
          <p:nvPr/>
        </p:nvSpPr>
        <p:spPr bwMode="auto">
          <a:xfrm>
            <a:off x="3977208" y="5058291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61" name="Oval 41"/>
          <p:cNvSpPr>
            <a:spLocks noChangeArrowheads="1"/>
          </p:cNvSpPr>
          <p:nvPr/>
        </p:nvSpPr>
        <p:spPr bwMode="auto">
          <a:xfrm>
            <a:off x="4663008" y="5058291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62" name="Oval 42"/>
          <p:cNvSpPr>
            <a:spLocks noChangeArrowheads="1"/>
          </p:cNvSpPr>
          <p:nvPr/>
        </p:nvSpPr>
        <p:spPr bwMode="auto">
          <a:xfrm>
            <a:off x="5348808" y="5058291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63" name="Oval 43"/>
          <p:cNvSpPr>
            <a:spLocks noChangeArrowheads="1"/>
          </p:cNvSpPr>
          <p:nvPr/>
        </p:nvSpPr>
        <p:spPr bwMode="auto">
          <a:xfrm>
            <a:off x="6034608" y="5058291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64" name="Oval 44"/>
          <p:cNvSpPr>
            <a:spLocks noChangeArrowheads="1"/>
          </p:cNvSpPr>
          <p:nvPr/>
        </p:nvSpPr>
        <p:spPr bwMode="auto">
          <a:xfrm>
            <a:off x="6720408" y="5058291"/>
            <a:ext cx="304800" cy="304800"/>
          </a:xfrm>
          <a:prstGeom prst="ellipse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765" name="Oval 45"/>
          <p:cNvSpPr>
            <a:spLocks noChangeArrowheads="1"/>
          </p:cNvSpPr>
          <p:nvPr/>
        </p:nvSpPr>
        <p:spPr bwMode="auto">
          <a:xfrm>
            <a:off x="7482408" y="5058291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1" name="Text Box 24">
            <a:extLst>
              <a:ext uri="{FF2B5EF4-FFF2-40B4-BE49-F238E27FC236}">
                <a16:creationId xmlns:a16="http://schemas.microsoft.com/office/drawing/2014/main" id="{183AF3C9-1C55-4F61-AAC8-A7DC9F973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264" y="2276872"/>
            <a:ext cx="1478290" cy="646331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latin typeface="+mj-lt"/>
              </a:rPr>
              <a:t>unmatched</a:t>
            </a:r>
          </a:p>
          <a:p>
            <a:pPr algn="ctr"/>
            <a:r>
              <a:rPr lang="en-US" altLang="en-US" sz="1800" dirty="0">
                <a:latin typeface="+mj-lt"/>
              </a:rPr>
              <a:t>vertex</a:t>
            </a:r>
            <a:endParaRPr lang="nl-NL" altLang="en-US" sz="1800" dirty="0">
              <a:latin typeface="+mj-lt"/>
            </a:endParaRPr>
          </a:p>
        </p:txBody>
      </p:sp>
      <p:sp>
        <p:nvSpPr>
          <p:cNvPr id="52" name="Text Box 24">
            <a:extLst>
              <a:ext uri="{FF2B5EF4-FFF2-40B4-BE49-F238E27FC236}">
                <a16:creationId xmlns:a16="http://schemas.microsoft.com/office/drawing/2014/main" id="{0A3587BD-82C3-45B0-8A1C-6B2F96235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424" y="3551168"/>
            <a:ext cx="3435424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en-US" sz="1800" dirty="0">
                <a:latin typeface="+mj-lt"/>
              </a:rPr>
              <a:t>matched vertices</a:t>
            </a:r>
            <a:endParaRPr lang="nl-NL" altLang="en-US" sz="1800" dirty="0">
              <a:latin typeface="+mj-lt"/>
            </a:endParaRP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9404A1B9-A6EE-4950-B42C-8066DB16DBC4}"/>
              </a:ext>
            </a:extLst>
          </p:cNvPr>
          <p:cNvSpPr/>
          <p:nvPr/>
        </p:nvSpPr>
        <p:spPr bwMode="auto">
          <a:xfrm rot="5400000">
            <a:off x="4513027" y="4267195"/>
            <a:ext cx="892794" cy="490810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54" name="Text Box 24">
            <a:extLst>
              <a:ext uri="{FF2B5EF4-FFF2-40B4-BE49-F238E27FC236}">
                <a16:creationId xmlns:a16="http://schemas.microsoft.com/office/drawing/2014/main" id="{6C227A0B-4E0A-4104-8909-102192BA2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624" y="5635922"/>
            <a:ext cx="4876800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en-US" sz="1800" dirty="0">
                <a:latin typeface="+mj-lt"/>
              </a:rPr>
              <a:t>all matched vertices</a:t>
            </a:r>
            <a:endParaRPr lang="nl-NL" altLang="en-US" sz="18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6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6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6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7" grpId="0" animBg="1"/>
      <p:bldP spid="286747" grpId="0" animBg="1"/>
      <p:bldP spid="286748" grpId="0" animBg="1"/>
      <p:bldP spid="286749" grpId="0" animBg="1"/>
      <p:bldP spid="286750" grpId="0" animBg="1"/>
      <p:bldP spid="286751" grpId="0" animBg="1"/>
      <p:bldP spid="286752" grpId="0" animBg="1"/>
      <p:bldP spid="286753" grpId="0" animBg="1"/>
      <p:bldP spid="286754" grpId="0" animBg="1"/>
      <p:bldP spid="286755" grpId="0" animBg="1"/>
      <p:bldP spid="286756" grpId="0" animBg="1"/>
      <p:bldP spid="286757" grpId="0" animBg="1"/>
      <p:bldP spid="286758" grpId="0" animBg="1"/>
      <p:bldP spid="286759" grpId="0" animBg="1"/>
      <p:bldP spid="286760" grpId="0" animBg="1"/>
      <p:bldP spid="286761" grpId="0" animBg="1"/>
      <p:bldP spid="286762" grpId="0" animBg="1"/>
      <p:bldP spid="286763" grpId="0" animBg="1"/>
      <p:bldP spid="286764" grpId="0" animBg="1"/>
      <p:bldP spid="286765" grpId="0" animBg="1"/>
      <p:bldP spid="53" grpId="0" animBg="1"/>
      <p:bldP spid="5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theorem that also works when the graph is not bipartite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747" name="Rectangle 1027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Theorem</a:t>
                </a:r>
              </a:p>
              <a:p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be a matching in graph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.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is a maximum matching, if and only if, there is no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</a:t>
                </a:r>
              </a:p>
              <a:p>
                <a:endParaRPr lang="en-US" altLang="en-US" sz="800" dirty="0"/>
              </a:p>
              <a:p>
                <a:pPr marL="0" indent="0">
                  <a:buNone/>
                </a:pPr>
                <a:r>
                  <a:rPr lang="en-US" altLang="en-US" b="1" dirty="0"/>
                  <a:t>Proof:</a:t>
                </a:r>
              </a:p>
              <a:p>
                <a:r>
                  <a:rPr lang="en-US" altLang="en-US" dirty="0"/>
                  <a:t>If there is an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path, then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is not a maximum matching as we can augment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using the path</a:t>
                </a:r>
              </a:p>
              <a:p>
                <a:r>
                  <a:rPr lang="en-US" altLang="en-US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is not a maximum matching. 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dirty="0"/>
                  <a:t> be a larger matching. Look at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en-US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altLang="en-US" dirty="0"/>
                  <a:t>:</a:t>
                </a:r>
              </a:p>
              <a:p>
                <a:pPr lvl="1"/>
                <a:r>
                  <a:rPr lang="en-US" altLang="en-US" dirty="0"/>
                  <a:t>Every node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has degree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/>
                  <a:t>, or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en-US" dirty="0"/>
                  <a:t>, i.e., it is a collection of paths and cycles </a:t>
                </a:r>
              </a:p>
              <a:p>
                <a:pPr lvl="1"/>
                <a:r>
                  <a:rPr lang="en-US" altLang="en-US" dirty="0"/>
                  <a:t>The paths and cycles have alternating edges from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and from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All cycles thus have the same number of edges from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and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Since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&gt;|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dirty="0"/>
                  <a:t>, there must be a path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with more edges from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than from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: this is an augmenting path</a:t>
                </a:r>
              </a:p>
            </p:txBody>
          </p:sp>
        </mc:Choice>
        <mc:Fallback xmlns="">
          <p:sp>
            <p:nvSpPr>
              <p:cNvPr id="287747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  <a:blipFill>
                <a:blip r:embed="rId2"/>
                <a:stretch>
                  <a:fillRect l="-642" t="-769" b="-10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7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7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7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7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7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7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7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7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87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599" y="1828800"/>
                <a:ext cx="7772401" cy="197975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>
                    <a:solidFill>
                      <a:srgbClr val="C00000"/>
                    </a:solidFill>
                  </a:rPr>
                  <a:t>-alternating walk</a:t>
                </a:r>
                <a:r>
                  <a:rPr lang="en-US" altLang="en-US" dirty="0"/>
                  <a:t>: </a:t>
                </a:r>
              </a:p>
              <a:p>
                <a:pPr lvl="1"/>
                <a:r>
                  <a:rPr lang="en-US" altLang="en-US" dirty="0"/>
                  <a:t>(Possibly non-simple) path with edges alternating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, and not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is an odd-length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simple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-alternating walk</a:t>
                </a:r>
              </a:p>
              <a:p>
                <a:pPr marL="457200" lvl="1" indent="0">
                  <a:buNone/>
                </a:pPr>
                <a:endParaRPr lang="en-US" altLang="en-US" sz="800" dirty="0"/>
              </a:p>
              <a:p>
                <a14:m>
                  <m:oMath xmlns:m="http://schemas.openxmlformats.org/officeDocument/2006/math">
                    <m:r>
                      <a:rPr lang="en-US" altLang="en-US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>
                    <a:solidFill>
                      <a:srgbClr val="C00000"/>
                    </a:solidFill>
                  </a:rPr>
                  <a:t>-flower</a:t>
                </a:r>
                <a:r>
                  <a:rPr lang="en-US" alt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-alternating walk of odd length that starts in an unmatched vertex, and ends as an odd cycle (called the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>
                    <a:solidFill>
                      <a:srgbClr val="C00000"/>
                    </a:solidFill>
                  </a:rPr>
                  <a:t>-blossom</a:t>
                </a:r>
                <a:r>
                  <a:rPr lang="en-US" altLang="en-US" dirty="0"/>
                  <a:t>)</a:t>
                </a:r>
              </a:p>
              <a:p>
                <a:pPr lvl="1"/>
                <a:r>
                  <a:rPr lang="en-US" altLang="en-US" dirty="0">
                    <a:solidFill>
                      <a:srgbClr val="C00000"/>
                    </a:solidFill>
                  </a:rPr>
                  <a:t>Stem</a:t>
                </a:r>
                <a:r>
                  <a:rPr lang="en-US" altLang="en-US" dirty="0"/>
                  <a:t> of the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-flower: the non-blossom vertices</a:t>
                </a:r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2887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599" y="1828800"/>
                <a:ext cx="7772401" cy="1979753"/>
              </a:xfrm>
              <a:blipFill>
                <a:blip r:embed="rId2"/>
                <a:stretch>
                  <a:fillRect l="-157" t="-1538" b="-1784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337045DA-21D4-4214-976B-8BC85AB4CFEE}"/>
              </a:ext>
            </a:extLst>
          </p:cNvPr>
          <p:cNvGrpSpPr/>
          <p:nvPr/>
        </p:nvGrpSpPr>
        <p:grpSpPr>
          <a:xfrm>
            <a:off x="2123728" y="4221088"/>
            <a:ext cx="5333820" cy="1872208"/>
            <a:chOff x="1828890" y="4221088"/>
            <a:chExt cx="5333820" cy="18722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798" name="Rectangle 30"/>
                <p:cNvSpPr>
                  <a:spLocks noChangeArrowheads="1"/>
                </p:cNvSpPr>
                <p:nvPr/>
              </p:nvSpPr>
              <p:spPr bwMode="auto">
                <a:xfrm>
                  <a:off x="4038690" y="4221088"/>
                  <a:ext cx="3124020" cy="1872208"/>
                </a:xfrm>
                <a:prstGeom prst="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b"/>
                <a:lstStyle/>
                <a:p>
                  <a14:m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r>
                    <a:rPr lang="en-US" altLang="en-US" dirty="0">
                      <a:solidFill>
                        <a:schemeClr val="tx1"/>
                      </a:solidFill>
                    </a:rPr>
                    <a:t>-blossom</a:t>
                  </a:r>
                  <a:endParaRPr lang="nl-NL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8798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38690" y="4221088"/>
                  <a:ext cx="3124020" cy="1872208"/>
                </a:xfrm>
                <a:prstGeom prst="rect">
                  <a:avLst/>
                </a:prstGeom>
                <a:blipFill>
                  <a:blip r:embed="rId9"/>
                  <a:stretch>
                    <a:fillRect l="-389" b="-7097"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8797" name="Line 29"/>
            <p:cNvSpPr>
              <a:spLocks noChangeShapeType="1"/>
            </p:cNvSpPr>
            <p:nvPr/>
          </p:nvSpPr>
          <p:spPr bwMode="auto">
            <a:xfrm>
              <a:off x="4953090" y="52938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96" name="Line 28"/>
            <p:cNvSpPr>
              <a:spLocks noChangeShapeType="1"/>
            </p:cNvSpPr>
            <p:nvPr/>
          </p:nvSpPr>
          <p:spPr bwMode="auto">
            <a:xfrm>
              <a:off x="6172290" y="52938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95" name="Line 27"/>
            <p:cNvSpPr>
              <a:spLocks noChangeShapeType="1"/>
            </p:cNvSpPr>
            <p:nvPr/>
          </p:nvSpPr>
          <p:spPr bwMode="auto">
            <a:xfrm>
              <a:off x="6096090" y="47604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94" name="Line 26"/>
            <p:cNvSpPr>
              <a:spLocks noChangeShapeType="1"/>
            </p:cNvSpPr>
            <p:nvPr/>
          </p:nvSpPr>
          <p:spPr bwMode="auto">
            <a:xfrm>
              <a:off x="4953090" y="47604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93" name="Line 25"/>
            <p:cNvSpPr>
              <a:spLocks noChangeShapeType="1"/>
            </p:cNvSpPr>
            <p:nvPr/>
          </p:nvSpPr>
          <p:spPr bwMode="auto">
            <a:xfrm>
              <a:off x="3886290" y="50652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92" name="Line 24"/>
            <p:cNvSpPr>
              <a:spLocks noChangeShapeType="1"/>
            </p:cNvSpPr>
            <p:nvPr/>
          </p:nvSpPr>
          <p:spPr bwMode="auto">
            <a:xfrm>
              <a:off x="2590890" y="50652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91" name="Line 23"/>
            <p:cNvSpPr>
              <a:spLocks noChangeShapeType="1"/>
            </p:cNvSpPr>
            <p:nvPr/>
          </p:nvSpPr>
          <p:spPr bwMode="auto">
            <a:xfrm>
              <a:off x="4343490" y="5065225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9" name="Line 21"/>
            <p:cNvSpPr>
              <a:spLocks noChangeShapeType="1"/>
            </p:cNvSpPr>
            <p:nvPr/>
          </p:nvSpPr>
          <p:spPr bwMode="auto">
            <a:xfrm flipH="1">
              <a:off x="4343490" y="4760425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8" name="Line 20"/>
            <p:cNvSpPr>
              <a:spLocks noChangeShapeType="1"/>
            </p:cNvSpPr>
            <p:nvPr/>
          </p:nvSpPr>
          <p:spPr bwMode="auto">
            <a:xfrm flipH="1">
              <a:off x="6705690" y="4760425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7" name="Line 19"/>
            <p:cNvSpPr>
              <a:spLocks noChangeShapeType="1"/>
            </p:cNvSpPr>
            <p:nvPr/>
          </p:nvSpPr>
          <p:spPr bwMode="auto">
            <a:xfrm>
              <a:off x="5562690" y="52938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6" name="Line 18"/>
            <p:cNvSpPr>
              <a:spLocks noChangeShapeType="1"/>
            </p:cNvSpPr>
            <p:nvPr/>
          </p:nvSpPr>
          <p:spPr bwMode="auto">
            <a:xfrm>
              <a:off x="5562690" y="47604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5" name="Line 17"/>
            <p:cNvSpPr>
              <a:spLocks noChangeShapeType="1"/>
            </p:cNvSpPr>
            <p:nvPr/>
          </p:nvSpPr>
          <p:spPr bwMode="auto">
            <a:xfrm>
              <a:off x="3276690" y="50652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4" name="Line 16"/>
            <p:cNvSpPr>
              <a:spLocks noChangeShapeType="1"/>
            </p:cNvSpPr>
            <p:nvPr/>
          </p:nvSpPr>
          <p:spPr bwMode="auto">
            <a:xfrm>
              <a:off x="1981290" y="50652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2" name="Oval 4"/>
            <p:cNvSpPr>
              <a:spLocks noChangeArrowheads="1"/>
            </p:cNvSpPr>
            <p:nvPr/>
          </p:nvSpPr>
          <p:spPr bwMode="auto">
            <a:xfrm>
              <a:off x="1828890" y="4912825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3" name="Oval 5"/>
            <p:cNvSpPr>
              <a:spLocks noChangeArrowheads="1"/>
            </p:cNvSpPr>
            <p:nvPr/>
          </p:nvSpPr>
          <p:spPr bwMode="auto">
            <a:xfrm>
              <a:off x="2438490" y="49128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4" name="Oval 6"/>
            <p:cNvSpPr>
              <a:spLocks noChangeArrowheads="1"/>
            </p:cNvSpPr>
            <p:nvPr/>
          </p:nvSpPr>
          <p:spPr bwMode="auto">
            <a:xfrm>
              <a:off x="3048090" y="49128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5" name="Oval 7"/>
            <p:cNvSpPr>
              <a:spLocks noChangeArrowheads="1"/>
            </p:cNvSpPr>
            <p:nvPr/>
          </p:nvSpPr>
          <p:spPr bwMode="auto">
            <a:xfrm>
              <a:off x="3657690" y="49128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6" name="Oval 8"/>
            <p:cNvSpPr>
              <a:spLocks noChangeArrowheads="1"/>
            </p:cNvSpPr>
            <p:nvPr/>
          </p:nvSpPr>
          <p:spPr bwMode="auto">
            <a:xfrm>
              <a:off x="47244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7" name="Oval 9"/>
            <p:cNvSpPr>
              <a:spLocks noChangeArrowheads="1"/>
            </p:cNvSpPr>
            <p:nvPr/>
          </p:nvSpPr>
          <p:spPr bwMode="auto">
            <a:xfrm>
              <a:off x="53340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8" name="Oval 10"/>
            <p:cNvSpPr>
              <a:spLocks noChangeArrowheads="1"/>
            </p:cNvSpPr>
            <p:nvPr/>
          </p:nvSpPr>
          <p:spPr bwMode="auto">
            <a:xfrm>
              <a:off x="59436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79" name="Oval 11"/>
            <p:cNvSpPr>
              <a:spLocks noChangeArrowheads="1"/>
            </p:cNvSpPr>
            <p:nvPr/>
          </p:nvSpPr>
          <p:spPr bwMode="auto">
            <a:xfrm>
              <a:off x="65532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0" name="Oval 12"/>
            <p:cNvSpPr>
              <a:spLocks noChangeArrowheads="1"/>
            </p:cNvSpPr>
            <p:nvPr/>
          </p:nvSpPr>
          <p:spPr bwMode="auto">
            <a:xfrm>
              <a:off x="65532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1" name="Oval 13"/>
            <p:cNvSpPr>
              <a:spLocks noChangeArrowheads="1"/>
            </p:cNvSpPr>
            <p:nvPr/>
          </p:nvSpPr>
          <p:spPr bwMode="auto">
            <a:xfrm>
              <a:off x="59436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2" name="Oval 14"/>
            <p:cNvSpPr>
              <a:spLocks noChangeArrowheads="1"/>
            </p:cNvSpPr>
            <p:nvPr/>
          </p:nvSpPr>
          <p:spPr bwMode="auto">
            <a:xfrm>
              <a:off x="53340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3" name="Oval 15"/>
            <p:cNvSpPr>
              <a:spLocks noChangeArrowheads="1"/>
            </p:cNvSpPr>
            <p:nvPr/>
          </p:nvSpPr>
          <p:spPr bwMode="auto">
            <a:xfrm>
              <a:off x="47244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90" name="Oval 22"/>
            <p:cNvSpPr>
              <a:spLocks noChangeArrowheads="1"/>
            </p:cNvSpPr>
            <p:nvPr/>
          </p:nvSpPr>
          <p:spPr bwMode="auto">
            <a:xfrm>
              <a:off x="4191090" y="49128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Algorithmic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7A7519-EC80-E4DD-B97E-E7B77CAEFCEE}"/>
                  </a:ext>
                </a:extLst>
              </p:cNvPr>
              <p:cNvSpPr txBox="1"/>
              <p:nvPr/>
            </p:nvSpPr>
            <p:spPr>
              <a:xfrm>
                <a:off x="1371600" y="5013176"/>
                <a:ext cx="7664896" cy="951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Webdings" panose="05030102010509060703" pitchFamily="18" charset="2"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Required ingredients (to be covered in the next slides)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Webdings" panose="05030102010509060703" pitchFamily="18" charset="2"/>
                  <a:buChar char="g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Procedure: Find either an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-augmenting path or an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-flower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Webdings" panose="05030102010509060703" pitchFamily="18" charset="2"/>
                  <a:buChar char="g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Shrinking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-blossoms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7A7519-EC80-E4DD-B97E-E7B77CAEF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013176"/>
                <a:ext cx="7664896" cy="951030"/>
              </a:xfrm>
              <a:prstGeom prst="rect">
                <a:avLst/>
              </a:prstGeom>
              <a:blipFill>
                <a:blip r:embed="rId3"/>
                <a:stretch>
                  <a:fillRect l="-636" t="-5769" b="-897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9DBCF60F-AA8E-2849-82A9-7AD046D39C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828800"/>
                <a:ext cx="7664896" cy="2968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Font typeface="Webdings" panose="05030102010509060703" pitchFamily="18" charset="2"/>
                  <a:buNone/>
                </a:pPr>
                <a:r>
                  <a:rPr lang="en-US" altLang="en-US" sz="1800" b="1" dirty="0"/>
                  <a:t>Procedure</a:t>
                </a:r>
                <a:r>
                  <a:rPr lang="en-US" altLang="en-US" sz="1800" dirty="0"/>
                  <a:t>: find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in a graph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sz="1800" dirty="0"/>
                  <a:t> if it exists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Find either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or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-flower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There is a simple procedure for this…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an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is found return it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we find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-flower: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Shrink</a:t>
                </a:r>
                <a:r>
                  <a:rPr lang="en-US" altLang="en-US" dirty="0"/>
                  <a:t> the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-blossom to obtain an equivalent smaller problem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Recursively look for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the smaller problem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If found, transform it to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en-US" dirty="0"/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no path is found: return that no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exists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9DBCF60F-AA8E-2849-82A9-7AD046D39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1828800"/>
                <a:ext cx="7664896" cy="2968352"/>
              </a:xfrm>
              <a:prstGeom prst="rect">
                <a:avLst/>
              </a:prstGeom>
              <a:blipFill>
                <a:blip r:embed="rId4"/>
                <a:stretch>
                  <a:fillRect l="-636" t="-2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94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Algorithmic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ED432-8B76-FF0A-FD37-57E14B29C52C}"/>
                  </a:ext>
                </a:extLst>
              </p:cNvPr>
              <p:cNvSpPr txBox="1"/>
              <p:nvPr/>
            </p:nvSpPr>
            <p:spPr>
              <a:xfrm>
                <a:off x="1371600" y="4869160"/>
                <a:ext cx="7664896" cy="1221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Webdings" panose="05030102010509060703" pitchFamily="18" charset="2"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Algorithm: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+mj-lt"/>
                  <a:buAutoNum type="arabicPeriod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Start with some matching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+mj-lt"/>
                  <a:buAutoNum type="arabicPeriod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While an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-augmenting path exists: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F7F7F"/>
                  </a:buClr>
                  <a:buSzPct val="85000"/>
                  <a:buFont typeface="Webdings" panose="05030102010509060703" pitchFamily="18" charset="2"/>
                  <a:buChar char="g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Augment 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 using the 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-augmenting path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ED432-8B76-FF0A-FD37-57E14B29C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869160"/>
                <a:ext cx="7664896" cy="1221873"/>
              </a:xfrm>
              <a:prstGeom prst="rect">
                <a:avLst/>
              </a:prstGeom>
              <a:blipFill>
                <a:blip r:embed="rId2"/>
                <a:stretch>
                  <a:fillRect l="-636" t="-5000" b="-55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A41F48F8-0FD5-5FDE-4167-3C53674348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828800"/>
                <a:ext cx="7664896" cy="2968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1800" b="1" dirty="0"/>
                  <a:t>Procedure</a:t>
                </a:r>
                <a:r>
                  <a:rPr lang="en-US" altLang="en-US" sz="1800" dirty="0"/>
                  <a:t>: find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in a graph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sz="1800" dirty="0"/>
                  <a:t> if it exists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Find either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or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-flower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There is a simple procedure for this…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an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is found return it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we find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-flower: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Shrink</a:t>
                </a:r>
                <a:r>
                  <a:rPr lang="en-US" altLang="en-US" dirty="0"/>
                  <a:t> the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-blossom to obtain an equivalent smaller problem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Recursively look for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the smaller problem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If found, transform it to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en-US" dirty="0"/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no path is found: return that no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exists</a:t>
                </a: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A41F48F8-0FD5-5FDE-4167-3C5367434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1828800"/>
                <a:ext cx="7664896" cy="2968352"/>
              </a:xfrm>
              <a:prstGeom prst="rect">
                <a:avLst/>
              </a:prstGeom>
              <a:blipFill>
                <a:blip r:embed="rId3"/>
                <a:stretch>
                  <a:fillRect l="-636" t="-2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Finding an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-alternating </a:t>
                </a:r>
                <a:r>
                  <a:rPr lang="en-US" u="sng" dirty="0"/>
                  <a:t>walk</a:t>
                </a:r>
                <a:r>
                  <a:rPr lang="en-US" dirty="0"/>
                  <a:t> from and to an unmatched vertex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Algorithm</a:t>
                </a:r>
                <a:r>
                  <a:rPr lang="en-US" dirty="0"/>
                  <a:t>: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 be the set of unmatched vertices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dirty="0"/>
                  <a:t> be the set of vertices adjacent to some vertex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en-US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Build digraph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 =(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dirty="0"/>
                  <a:t>with: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/>
                      <m:t>there</m:t>
                    </m:r>
                    <m:r>
                      <m:rPr>
                        <m:nor/>
                      </m:rPr>
                      <a:rPr lang="en-US" altLang="en-US"/>
                      <m:t> </m:t>
                    </m:r>
                    <m:r>
                      <m:rPr>
                        <m:nor/>
                      </m:rPr>
                      <a:rPr lang="en-US" altLang="en-US"/>
                      <m:t>is</m:t>
                    </m:r>
                    <m:r>
                      <m:rPr>
                        <m:nor/>
                      </m:rPr>
                      <a:rPr lang="en-US" altLang="en-US"/>
                      <m:t> </m:t>
                    </m:r>
                    <m:r>
                      <m:rPr>
                        <m:nor/>
                      </m:rPr>
                      <a:rPr lang="en-US" altLang="en-US"/>
                      <m:t>an</m:t>
                    </m:r>
                    <m:r>
                      <m:rPr>
                        <m:nor/>
                      </m:rPr>
                      <a:rPr lang="en-US" altLang="en-US"/>
                      <m:t> 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/>
                      <m:t>with</m:t>
                    </m:r>
                    <m:r>
                      <m:rPr>
                        <m:nor/>
                      </m:rPr>
                      <a:rPr lang="en-US" altLang="en-US"/>
                      <m:t> 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/>
                      <m:t>and</m:t>
                    </m:r>
                    <m:r>
                      <m:rPr>
                        <m:nor/>
                      </m:rPr>
                      <a:rPr lang="en-US" altLang="en-US"/>
                      <m:t> 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I.e., every arc represents traversing two alternating edges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Find a 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shortest path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from a vertex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 to a vertex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dirty="0"/>
                  <a:t>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en-US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Transform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to a path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en-US" dirty="0"/>
                  <a:t>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Pick the underlying alternating edges</a:t>
                </a:r>
              </a:p>
              <a:p>
                <a:pPr lvl="1"/>
                <a:r>
                  <a:rPr lang="en-US" altLang="en-US" dirty="0"/>
                  <a:t>Add the last edge to a vertex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en-US" dirty="0"/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is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-alternating walk between two unmatched vertices</a:t>
                </a:r>
              </a:p>
              <a:p>
                <a:pPr marL="0" indent="0">
                  <a:buNone/>
                </a:pPr>
                <a:endParaRPr lang="en-US" altLang="en-US" sz="800" dirty="0"/>
              </a:p>
              <a:p>
                <a:pPr marL="0" indent="0">
                  <a:buNone/>
                </a:pPr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dirty="0"/>
                  <a:t> is unreachable from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 in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dirty="0"/>
                  <a:t>: no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-alternating walk exists</a:t>
                </a:r>
                <a:endParaRPr lang="en-US" alt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3"/>
                <a:stretch>
                  <a:fillRect l="-627" t="-769" b="-3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91979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3586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Finding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</a:t>
                </a:r>
                <a:br>
                  <a:rPr lang="en-US" altLang="en-US" dirty="0"/>
                </a:br>
                <a:r>
                  <a:rPr lang="en-US" altLang="en-US" dirty="0"/>
                  <a:t>or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-flower</a:t>
                </a:r>
              </a:p>
            </p:txBody>
          </p:sp>
        </mc:Choice>
        <mc:Fallback xmlns="">
          <p:sp>
            <p:nvSpPr>
              <p:cNvPr id="32358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5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There are two cases for the walk </a:t>
                </a:r>
                <a14:m>
                  <m:oMath xmlns:m="http://schemas.openxmlformats.org/officeDocument/2006/math">
                    <m:r>
                      <a:rPr lang="en-US" altLang="en-US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en-US" b="1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en-US" b="1" dirty="0"/>
                  <a:t> we have found:</a:t>
                </a:r>
              </a:p>
              <a:p>
                <a:pPr marL="400050">
                  <a:buFont typeface="+mj-lt"/>
                  <a:buAutoNum type="arabicPeriod"/>
                </a:pPr>
                <a:r>
                  <a:rPr lang="en-US" altLang="en-US" dirty="0"/>
                  <a:t>​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is a simple path</a:t>
                </a:r>
              </a:p>
              <a:p>
                <a:pPr marL="800100" lvl="1"/>
                <a:r>
                  <a:rPr lang="en-US" altLang="en-US" dirty="0"/>
                  <a:t>It is an M-augmenting path</a:t>
                </a:r>
              </a:p>
              <a:p>
                <a:pPr marL="400050">
                  <a:buFont typeface="+mj-lt"/>
                  <a:buAutoNum type="arabicPeriod"/>
                </a:pPr>
                <a:r>
                  <a:rPr lang="en-GB" altLang="en-US" b="0" dirty="0"/>
                  <a:t>​</a:t>
                </a:r>
                <a14:m>
                  <m:oMath xmlns:m="http://schemas.openxmlformats.org/officeDocument/2006/math">
                    <m:r>
                      <a:rPr lang="en-GB" altLang="en-US" b="0" i="0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is not simple</a:t>
                </a:r>
              </a:p>
              <a:p>
                <a:pPr marL="800100" lvl="1"/>
                <a:r>
                  <a:rPr lang="en-US" altLang="en-US" dirty="0"/>
                  <a:t>Now look to the beginning of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until the first time a vertex is visited for the second time</a:t>
                </a:r>
              </a:p>
              <a:p>
                <a:pPr marL="800100" lvl="1"/>
                <a:r>
                  <a:rPr lang="en-US" altLang="en-US" dirty="0"/>
                  <a:t>The cycle is of odd length</a:t>
                </a:r>
              </a:p>
              <a:p>
                <a:pPr marL="1200150" lvl="2"/>
                <a:r>
                  <a:rPr lang="en-US" altLang="en-US" dirty="0"/>
                  <a:t>Even length does not happen… next slide</a:t>
                </a:r>
              </a:p>
              <a:p>
                <a:pPr marL="1200150" lvl="2"/>
                <a:r>
                  <a:rPr lang="en-US" altLang="en-US" dirty="0"/>
                  <a:t>For an odd length cycle, the stem must end in a matching edge and the walk returns there</a:t>
                </a:r>
              </a:p>
              <a:p>
                <a:pPr marL="800100" lvl="1"/>
                <a:r>
                  <a:rPr lang="en-US" altLang="en-US" dirty="0"/>
                  <a:t>We have found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-flower!</a:t>
                </a:r>
              </a:p>
              <a:p>
                <a:pPr marL="800100" lvl="1"/>
                <a:endParaRPr lang="en-US" altLang="en-US" dirty="0"/>
              </a:p>
            </p:txBody>
          </p:sp>
        </mc:Choice>
        <mc:Fallback xmlns="">
          <p:sp>
            <p:nvSpPr>
              <p:cNvPr id="3235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5"/>
                <a:stretch>
                  <a:fillRect l="-627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03ABF84-E1C9-48D7-B21B-1EC15349F644}"/>
              </a:ext>
            </a:extLst>
          </p:cNvPr>
          <p:cNvGrpSpPr/>
          <p:nvPr/>
        </p:nvGrpSpPr>
        <p:grpSpPr>
          <a:xfrm>
            <a:off x="2339752" y="5085184"/>
            <a:ext cx="5029200" cy="838200"/>
            <a:chOff x="1828890" y="4608025"/>
            <a:chExt cx="5029200" cy="838200"/>
          </a:xfrm>
        </p:grpSpPr>
        <p:sp>
          <p:nvSpPr>
            <p:cNvPr id="14" name="Line 29">
              <a:extLst>
                <a:ext uri="{FF2B5EF4-FFF2-40B4-BE49-F238E27FC236}">
                  <a16:creationId xmlns:a16="http://schemas.microsoft.com/office/drawing/2014/main" id="{E1754B7E-EA24-4603-8C4C-1FC28E421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90" y="52938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5CC5B1B0-A18A-4DFF-BE34-8224FB2D0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90" y="52938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68EDBCA3-C8E0-44D5-A05E-1BB72A61A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90" y="47604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DE153D5E-1E15-462C-B05C-1C9D8565B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90" y="47604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5">
              <a:extLst>
                <a:ext uri="{FF2B5EF4-FFF2-40B4-BE49-F238E27FC236}">
                  <a16:creationId xmlns:a16="http://schemas.microsoft.com/office/drawing/2014/main" id="{20A294AE-9CED-473F-9F0D-21300A7ED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6290" y="50652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B71405CC-1EAE-48A1-9D1A-25C0F0547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90" y="5065225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CB86730E-8153-4DEB-958D-5A0B0E5C4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90" y="5065225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06CDB954-F5FA-4BE0-876B-847F8EDFA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3490" y="4760425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3C0C251A-8875-4B09-9C04-E954053798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05690" y="4760425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7A383098-BB3D-4231-92F4-8F3344B52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90" y="52938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9409DD42-6EFA-41F6-8248-58A5B0256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90" y="47604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9849D08C-727D-4A52-87F4-4BC64D2DA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90" y="50652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7345C8BB-8806-4C32-9D1F-C8A64212D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90" y="50652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EE37D78D-0DB2-4E4A-88B2-B6223C51E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90" y="4912825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C5F6ADAB-F578-43D8-A3C8-AC221F11F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90" y="49128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6">
              <a:extLst>
                <a:ext uri="{FF2B5EF4-FFF2-40B4-BE49-F238E27FC236}">
                  <a16:creationId xmlns:a16="http://schemas.microsoft.com/office/drawing/2014/main" id="{DE21D099-4279-42C3-81FD-65C7536FD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90" y="49128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7">
              <a:extLst>
                <a:ext uri="{FF2B5EF4-FFF2-40B4-BE49-F238E27FC236}">
                  <a16:creationId xmlns:a16="http://schemas.microsoft.com/office/drawing/2014/main" id="{82C7F8F7-625E-4B35-888F-09DC444E5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90" y="49128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8">
              <a:extLst>
                <a:ext uri="{FF2B5EF4-FFF2-40B4-BE49-F238E27FC236}">
                  <a16:creationId xmlns:a16="http://schemas.microsoft.com/office/drawing/2014/main" id="{B24FE28A-E449-45FE-BF76-FFF7E73F4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9">
              <a:extLst>
                <a:ext uri="{FF2B5EF4-FFF2-40B4-BE49-F238E27FC236}">
                  <a16:creationId xmlns:a16="http://schemas.microsoft.com/office/drawing/2014/main" id="{D4665AAD-699C-4DDC-9881-86FCCB530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0">
              <a:extLst>
                <a:ext uri="{FF2B5EF4-FFF2-40B4-BE49-F238E27FC236}">
                  <a16:creationId xmlns:a16="http://schemas.microsoft.com/office/drawing/2014/main" id="{A2858263-6456-47E1-BE36-ADBAB907E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9E6ECA4E-5F26-4008-8996-439A4ED3F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90" y="46080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12">
              <a:extLst>
                <a:ext uri="{FF2B5EF4-FFF2-40B4-BE49-F238E27FC236}">
                  <a16:creationId xmlns:a16="http://schemas.microsoft.com/office/drawing/2014/main" id="{7E5D721C-719F-4F99-8E37-EEBF5176D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4B01C56A-DEBF-43B0-AB3D-8540A9F4F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14">
              <a:extLst>
                <a:ext uri="{FF2B5EF4-FFF2-40B4-BE49-F238E27FC236}">
                  <a16:creationId xmlns:a16="http://schemas.microsoft.com/office/drawing/2014/main" id="{ED61AFCD-D6DD-4DB9-B4BA-244B0685B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15">
              <a:extLst>
                <a:ext uri="{FF2B5EF4-FFF2-40B4-BE49-F238E27FC236}">
                  <a16:creationId xmlns:a16="http://schemas.microsoft.com/office/drawing/2014/main" id="{6101C38F-1C58-401F-9648-A22DA264B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90" y="51414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22">
              <a:extLst>
                <a:ext uri="{FF2B5EF4-FFF2-40B4-BE49-F238E27FC236}">
                  <a16:creationId xmlns:a16="http://schemas.microsoft.com/office/drawing/2014/main" id="{B89677B9-705F-41A3-8D0A-37964A870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90" y="4912825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3586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Finding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</a:t>
                </a:r>
                <a:br>
                  <a:rPr lang="en-US" altLang="en-US" dirty="0"/>
                </a:br>
                <a:r>
                  <a:rPr lang="en-US" altLang="en-US" dirty="0"/>
                  <a:t>or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-flower</a:t>
                </a:r>
              </a:p>
            </p:txBody>
          </p:sp>
        </mc:Choice>
        <mc:Fallback xmlns="">
          <p:sp>
            <p:nvSpPr>
              <p:cNvPr id="32358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5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</p:spPr>
            <p:txBody>
              <a:bodyPr/>
              <a:lstStyle/>
              <a:p>
                <a:pPr marL="400050">
                  <a:buFont typeface="+mj-lt"/>
                  <a:buAutoNum type="arabicPeriod" startAt="2"/>
                </a:pPr>
                <a:r>
                  <a:rPr lang="en-GB" altLang="en-US" b="0" dirty="0"/>
                  <a:t>​</a:t>
                </a:r>
                <a14:m>
                  <m:oMath xmlns:m="http://schemas.openxmlformats.org/officeDocument/2006/math">
                    <m:r>
                      <a:rPr lang="en-GB" altLang="en-US" b="0" i="0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is not simple</a:t>
                </a:r>
              </a:p>
              <a:p>
                <a:pPr marL="800100" lvl="1"/>
                <a:r>
                  <a:rPr lang="en-US" altLang="en-US" dirty="0"/>
                  <a:t>Now look to the beginning of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altLang="en-US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until the first time a vertex is visited for the second time</a:t>
                </a:r>
              </a:p>
              <a:p>
                <a:pPr marL="800100" lvl="1"/>
                <a:r>
                  <a:rPr lang="en-US" altLang="en-US" b="1" dirty="0"/>
                  <a:t>What if the cycle is of even length?</a:t>
                </a:r>
              </a:p>
              <a:p>
                <a:pPr marL="1200150" lvl="2"/>
                <a:r>
                  <a:rPr lang="en-US" altLang="en-US" dirty="0"/>
                  <a:t>The stem must end in a non-matching edge, otherwise:</a:t>
                </a:r>
              </a:p>
              <a:p>
                <a:pPr marL="1200150" lvl="2"/>
                <a:endParaRPr lang="en-US" altLang="en-US" b="1" dirty="0"/>
              </a:p>
              <a:p>
                <a:pPr marL="1200150" lvl="2"/>
                <a:endParaRPr lang="en-US" altLang="en-US" b="1" dirty="0"/>
              </a:p>
              <a:p>
                <a:pPr marL="1200150" lvl="2"/>
                <a:endParaRPr lang="en-US" altLang="en-US" b="1" dirty="0"/>
              </a:p>
              <a:p>
                <a:pPr marL="971550" lvl="2" indent="0">
                  <a:buNone/>
                </a:pPr>
                <a:endParaRPr lang="en-US" altLang="en-US" b="1" dirty="0"/>
              </a:p>
              <a:p>
                <a:pPr marL="1200150" lvl="2"/>
                <a:r>
                  <a:rPr lang="en-US" altLang="en-US" dirty="0"/>
                  <a:t>A shortest alternating walk involving an even length cycle will not use the cycle (we can cut out the cycle from the walk):</a:t>
                </a:r>
              </a:p>
            </p:txBody>
          </p:sp>
        </mc:Choice>
        <mc:Fallback xmlns="">
          <p:sp>
            <p:nvSpPr>
              <p:cNvPr id="3235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772400" cy="3962400"/>
              </a:xfrm>
              <a:blipFill>
                <a:blip r:embed="rId4"/>
                <a:stretch>
                  <a:fillRect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F466CB2-3F53-45E8-24F6-CF9D91DEC191}"/>
              </a:ext>
            </a:extLst>
          </p:cNvPr>
          <p:cNvGrpSpPr/>
          <p:nvPr/>
        </p:nvGrpSpPr>
        <p:grpSpPr>
          <a:xfrm>
            <a:off x="2570931" y="3284984"/>
            <a:ext cx="5219700" cy="859160"/>
            <a:chOff x="2725316" y="3419246"/>
            <a:chExt cx="5219700" cy="859160"/>
          </a:xfrm>
        </p:grpSpPr>
        <p:sp>
          <p:nvSpPr>
            <p:cNvPr id="4" name="Line 26">
              <a:extLst>
                <a:ext uri="{FF2B5EF4-FFF2-40B4-BE49-F238E27FC236}">
                  <a16:creationId xmlns:a16="http://schemas.microsoft.com/office/drawing/2014/main" id="{25AFEF9D-ABDF-49D0-7665-0F5BEA536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45038" y="3586256"/>
              <a:ext cx="0" cy="5333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29">
              <a:extLst>
                <a:ext uri="{FF2B5EF4-FFF2-40B4-BE49-F238E27FC236}">
                  <a16:creationId xmlns:a16="http://schemas.microsoft.com/office/drawing/2014/main" id="{E1754B7E-EA24-4603-8C4C-1FC28E421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016" y="4126006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5CC5B1B0-A18A-4DFF-BE34-8224FB2D0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9216" y="4126006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68EDBCA3-C8E0-44D5-A05E-1BB72A61A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3016" y="3592606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DE153D5E-1E15-462C-B05C-1C9D8565B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016" y="3592606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5">
              <a:extLst>
                <a:ext uri="{FF2B5EF4-FFF2-40B4-BE49-F238E27FC236}">
                  <a16:creationId xmlns:a16="http://schemas.microsoft.com/office/drawing/2014/main" id="{20A294AE-9CED-473F-9F0D-21300A7ED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716" y="357164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B71405CC-1EAE-48A1-9D1A-25C0F0547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7316" y="357164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CB86730E-8153-4DEB-958D-5A0B0E5C4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088" y="4126004"/>
              <a:ext cx="599728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06CDB954-F5FA-4BE0-876B-847F8EDFA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4088" y="3592606"/>
              <a:ext cx="5997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3C0C251A-8875-4B09-9C04-E954053798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92616" y="3592606"/>
              <a:ext cx="0" cy="609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7A383098-BB3D-4231-92F4-8F3344B52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9616" y="412600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9409DD42-6EFA-41F6-8248-58A5B0256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9616" y="359260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9849D08C-727D-4A52-87F4-4BC64D2DA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116" y="357164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7345C8BB-8806-4C32-9D1F-C8A64212D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7716" y="357164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EE37D78D-0DB2-4E4A-88B2-B6223C51E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5316" y="3419246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C5F6ADAB-F578-43D8-A3C8-AC221F11F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916" y="3419246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6">
              <a:extLst>
                <a:ext uri="{FF2B5EF4-FFF2-40B4-BE49-F238E27FC236}">
                  <a16:creationId xmlns:a16="http://schemas.microsoft.com/office/drawing/2014/main" id="{DE21D099-4279-42C3-81FD-65C7536FD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516" y="3419246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7">
              <a:extLst>
                <a:ext uri="{FF2B5EF4-FFF2-40B4-BE49-F238E27FC236}">
                  <a16:creationId xmlns:a16="http://schemas.microsoft.com/office/drawing/2014/main" id="{82C7F8F7-625E-4B35-888F-09DC444E5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116" y="3419246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8">
              <a:extLst>
                <a:ext uri="{FF2B5EF4-FFF2-40B4-BE49-F238E27FC236}">
                  <a16:creationId xmlns:a16="http://schemas.microsoft.com/office/drawing/2014/main" id="{B24FE28A-E449-45FE-BF76-FFF7E73F4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416" y="34402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9">
              <a:extLst>
                <a:ext uri="{FF2B5EF4-FFF2-40B4-BE49-F238E27FC236}">
                  <a16:creationId xmlns:a16="http://schemas.microsoft.com/office/drawing/2014/main" id="{D4665AAD-699C-4DDC-9881-86FCCB530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1016" y="34402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0">
              <a:extLst>
                <a:ext uri="{FF2B5EF4-FFF2-40B4-BE49-F238E27FC236}">
                  <a16:creationId xmlns:a16="http://schemas.microsoft.com/office/drawing/2014/main" id="{A2858263-6456-47E1-BE36-ADBAB907E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0616" y="34402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9E6ECA4E-5F26-4008-8996-439A4ED3F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0216" y="34402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12">
              <a:extLst>
                <a:ext uri="{FF2B5EF4-FFF2-40B4-BE49-F238E27FC236}">
                  <a16:creationId xmlns:a16="http://schemas.microsoft.com/office/drawing/2014/main" id="{7E5D721C-719F-4F99-8E37-EEBF5176D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0216" y="39736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4B01C56A-DEBF-43B0-AB3D-8540A9F4F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0616" y="39736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14">
              <a:extLst>
                <a:ext uri="{FF2B5EF4-FFF2-40B4-BE49-F238E27FC236}">
                  <a16:creationId xmlns:a16="http://schemas.microsoft.com/office/drawing/2014/main" id="{ED61AFCD-D6DD-4DB9-B4BA-244B0685B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1016" y="39736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15">
              <a:extLst>
                <a:ext uri="{FF2B5EF4-FFF2-40B4-BE49-F238E27FC236}">
                  <a16:creationId xmlns:a16="http://schemas.microsoft.com/office/drawing/2014/main" id="{6101C38F-1C58-401F-9648-A22DA264B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416" y="39736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22">
              <a:extLst>
                <a:ext uri="{FF2B5EF4-FFF2-40B4-BE49-F238E27FC236}">
                  <a16:creationId xmlns:a16="http://schemas.microsoft.com/office/drawing/2014/main" id="{B89677B9-705F-41A3-8D0A-37964A870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816" y="34402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" name="Oval 22">
              <a:extLst>
                <a:ext uri="{FF2B5EF4-FFF2-40B4-BE49-F238E27FC236}">
                  <a16:creationId xmlns:a16="http://schemas.microsoft.com/office/drawing/2014/main" id="{E42CC843-323B-D780-289B-AC80F9D89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888" y="397360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3F04891-5E4A-9A93-B96F-41CB75C524BB}"/>
              </a:ext>
            </a:extLst>
          </p:cNvPr>
          <p:cNvSpPr/>
          <p:nvPr/>
        </p:nvSpPr>
        <p:spPr bwMode="auto">
          <a:xfrm rot="18855523">
            <a:off x="4567869" y="3712546"/>
            <a:ext cx="390300" cy="228600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pSp>
        <p:nvGrpSpPr>
          <p:cNvPr id="323592" name="Group 323591">
            <a:extLst>
              <a:ext uri="{FF2B5EF4-FFF2-40B4-BE49-F238E27FC236}">
                <a16:creationId xmlns:a16="http://schemas.microsoft.com/office/drawing/2014/main" id="{762DCA62-B7A5-1E55-303C-362E5750B5F1}"/>
              </a:ext>
            </a:extLst>
          </p:cNvPr>
          <p:cNvGrpSpPr/>
          <p:nvPr/>
        </p:nvGrpSpPr>
        <p:grpSpPr>
          <a:xfrm>
            <a:off x="2575680" y="4941168"/>
            <a:ext cx="4591794" cy="1453179"/>
            <a:chOff x="2143919" y="5016925"/>
            <a:chExt cx="4591794" cy="1453179"/>
          </a:xfrm>
        </p:grpSpPr>
        <p:sp>
          <p:nvSpPr>
            <p:cNvPr id="323584" name="Line 17">
              <a:extLst>
                <a:ext uri="{FF2B5EF4-FFF2-40B4-BE49-F238E27FC236}">
                  <a16:creationId xmlns:a16="http://schemas.microsoft.com/office/drawing/2014/main" id="{88747A66-FE7F-C821-6A37-4711DB5859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45038" y="5770237"/>
              <a:ext cx="0" cy="5948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41C4E6-A27C-3132-311C-02C44E579BA8}"/>
                </a:ext>
              </a:extLst>
            </p:cNvPr>
            <p:cNvGrpSpPr/>
            <p:nvPr/>
          </p:nvGrpSpPr>
          <p:grpSpPr>
            <a:xfrm>
              <a:off x="2143919" y="5016925"/>
              <a:ext cx="4591794" cy="859160"/>
              <a:chOff x="3353222" y="3419246"/>
              <a:chExt cx="4591794" cy="859160"/>
            </a:xfrm>
          </p:grpSpPr>
          <p:sp>
            <p:nvSpPr>
              <p:cNvPr id="8" name="Line 26">
                <a:extLst>
                  <a:ext uri="{FF2B5EF4-FFF2-40B4-BE49-F238E27FC236}">
                    <a16:creationId xmlns:a16="http://schemas.microsoft.com/office/drawing/2014/main" id="{66C4BE66-CAE3-12DC-D935-B42A2917B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45038" y="3586256"/>
                <a:ext cx="0" cy="5333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29">
                <a:extLst>
                  <a:ext uri="{FF2B5EF4-FFF2-40B4-BE49-F238E27FC236}">
                    <a16:creationId xmlns:a16="http://schemas.microsoft.com/office/drawing/2014/main" id="{563568C0-E8B6-7746-8785-532F2C3B6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0016" y="4126006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28">
                <a:extLst>
                  <a:ext uri="{FF2B5EF4-FFF2-40B4-BE49-F238E27FC236}">
                    <a16:creationId xmlns:a16="http://schemas.microsoft.com/office/drawing/2014/main" id="{8B29BBEA-D3AF-058F-C568-8538F3AC4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59216" y="4126006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27">
                <a:extLst>
                  <a:ext uri="{FF2B5EF4-FFF2-40B4-BE49-F238E27FC236}">
                    <a16:creationId xmlns:a16="http://schemas.microsoft.com/office/drawing/2014/main" id="{0062236A-0B24-1BD1-99EC-2D89AB4C3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3016" y="3592606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26">
                <a:extLst>
                  <a:ext uri="{FF2B5EF4-FFF2-40B4-BE49-F238E27FC236}">
                    <a16:creationId xmlns:a16="http://schemas.microsoft.com/office/drawing/2014/main" id="{BECA0C3D-3AF4-89D2-4FFC-2C4A0A4EB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0016" y="3592606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F150D6E1-6F49-3CB0-6022-A2CAE9C58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5222" y="3571646"/>
                <a:ext cx="5334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23">
                <a:extLst>
                  <a:ext uri="{FF2B5EF4-FFF2-40B4-BE49-F238E27FC236}">
                    <a16:creationId xmlns:a16="http://schemas.microsoft.com/office/drawing/2014/main" id="{C99E0EB3-9A33-A21C-FE1D-D73171325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64088" y="4126004"/>
                <a:ext cx="599728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21">
                <a:extLst>
                  <a:ext uri="{FF2B5EF4-FFF2-40B4-BE49-F238E27FC236}">
                    <a16:creationId xmlns:a16="http://schemas.microsoft.com/office/drawing/2014/main" id="{7E9CF9EE-2CE3-252D-1CC5-060866669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64088" y="3592606"/>
                <a:ext cx="5997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20">
                <a:extLst>
                  <a:ext uri="{FF2B5EF4-FFF2-40B4-BE49-F238E27FC236}">
                    <a16:creationId xmlns:a16="http://schemas.microsoft.com/office/drawing/2014/main" id="{3C02CBF2-8295-9620-267E-5385733775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92616" y="3592606"/>
                <a:ext cx="0" cy="60960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19">
                <a:extLst>
                  <a:ext uri="{FF2B5EF4-FFF2-40B4-BE49-F238E27FC236}">
                    <a16:creationId xmlns:a16="http://schemas.microsoft.com/office/drawing/2014/main" id="{9D3CDE9D-5763-209F-66E7-FC63124AAE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49616" y="4126006"/>
                <a:ext cx="5334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18">
                <a:extLst>
                  <a:ext uri="{FF2B5EF4-FFF2-40B4-BE49-F238E27FC236}">
                    <a16:creationId xmlns:a16="http://schemas.microsoft.com/office/drawing/2014/main" id="{B511EC0F-6466-4273-F821-87FF6CD288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49616" y="3592606"/>
                <a:ext cx="5334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Line 17">
                <a:extLst>
                  <a:ext uri="{FF2B5EF4-FFF2-40B4-BE49-F238E27FC236}">
                    <a16:creationId xmlns:a16="http://schemas.microsoft.com/office/drawing/2014/main" id="{7F9B14A9-61E4-27D2-2E01-C202A6E0A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1022" y="3571646"/>
                <a:ext cx="533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16">
                <a:extLst>
                  <a:ext uri="{FF2B5EF4-FFF2-40B4-BE49-F238E27FC236}">
                    <a16:creationId xmlns:a16="http://schemas.microsoft.com/office/drawing/2014/main" id="{F6C85A38-6D48-51FD-D721-082E24DCE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622" y="3571646"/>
                <a:ext cx="533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Oval 4">
                <a:extLst>
                  <a:ext uri="{FF2B5EF4-FFF2-40B4-BE49-F238E27FC236}">
                    <a16:creationId xmlns:a16="http://schemas.microsoft.com/office/drawing/2014/main" id="{B06F6A13-B0F0-720B-D1DB-5FE0A38F3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3222" y="3419246"/>
                <a:ext cx="304800" cy="3048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Oval 5">
                <a:extLst>
                  <a:ext uri="{FF2B5EF4-FFF2-40B4-BE49-F238E27FC236}">
                    <a16:creationId xmlns:a16="http://schemas.microsoft.com/office/drawing/2014/main" id="{357DC9E7-A4D2-D802-4E65-70907E021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822" y="3419246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6FD704C4-6687-7251-1C5F-62169C919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422" y="3419246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Oval 8">
                <a:extLst>
                  <a:ext uri="{FF2B5EF4-FFF2-40B4-BE49-F238E27FC236}">
                    <a16:creationId xmlns:a16="http://schemas.microsoft.com/office/drawing/2014/main" id="{9D4CFD3D-3C97-73A1-D528-725DC0F94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1416" y="34402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Oval 9">
                <a:extLst>
                  <a:ext uri="{FF2B5EF4-FFF2-40B4-BE49-F238E27FC236}">
                    <a16:creationId xmlns:a16="http://schemas.microsoft.com/office/drawing/2014/main" id="{A2E76CFD-7977-2C40-BA27-449532AEA3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1016" y="34402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Oval 10">
                <a:extLst>
                  <a:ext uri="{FF2B5EF4-FFF2-40B4-BE49-F238E27FC236}">
                    <a16:creationId xmlns:a16="http://schemas.microsoft.com/office/drawing/2014/main" id="{F28F3A17-2894-126A-B7E7-2A8B0F5DA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30616" y="34402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:a16="http://schemas.microsoft.com/office/drawing/2014/main" id="{EF3035F6-A3A4-7BBE-BCE2-7FAEE8427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0216" y="34402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Oval 12">
                <a:extLst>
                  <a:ext uri="{FF2B5EF4-FFF2-40B4-BE49-F238E27FC236}">
                    <a16:creationId xmlns:a16="http://schemas.microsoft.com/office/drawing/2014/main" id="{2E8DAF7E-BC62-6A6B-717D-B99894A6F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0216" y="39736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13">
                <a:extLst>
                  <a:ext uri="{FF2B5EF4-FFF2-40B4-BE49-F238E27FC236}">
                    <a16:creationId xmlns:a16="http://schemas.microsoft.com/office/drawing/2014/main" id="{5AC4F63E-486E-CE29-C0D6-5DC8C628F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30616" y="39736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Oval 14">
                <a:extLst>
                  <a:ext uri="{FF2B5EF4-FFF2-40B4-BE49-F238E27FC236}">
                    <a16:creationId xmlns:a16="http://schemas.microsoft.com/office/drawing/2014/main" id="{81DAA58F-9440-1824-6C6D-A4A73FFD7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1016" y="39736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Oval 15">
                <a:extLst>
                  <a:ext uri="{FF2B5EF4-FFF2-40B4-BE49-F238E27FC236}">
                    <a16:creationId xmlns:a16="http://schemas.microsoft.com/office/drawing/2014/main" id="{4A552734-FC95-6D2E-CE01-B400C6450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1416" y="39736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Oval 22">
                <a:extLst>
                  <a:ext uri="{FF2B5EF4-FFF2-40B4-BE49-F238E27FC236}">
                    <a16:creationId xmlns:a16="http://schemas.microsoft.com/office/drawing/2014/main" id="{BBCF6C36-1A73-5770-7EBB-23AE44A00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1816" y="34402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Oval 22">
                <a:extLst>
                  <a:ext uri="{FF2B5EF4-FFF2-40B4-BE49-F238E27FC236}">
                    <a16:creationId xmlns:a16="http://schemas.microsoft.com/office/drawing/2014/main" id="{EAEBB78E-2722-8940-9910-7304FBF55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5888" y="3973606"/>
                <a:ext cx="304800" cy="304800"/>
              </a:xfrm>
              <a:prstGeom prst="ellipse">
                <a:avLst/>
              </a:prstGeom>
              <a:ln>
                <a:noFill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3" name="Line 24">
              <a:extLst>
                <a:ext uri="{FF2B5EF4-FFF2-40B4-BE49-F238E27FC236}">
                  <a16:creationId xmlns:a16="http://schemas.microsoft.com/office/drawing/2014/main" id="{E2B3AB92-FB02-3E0A-B4C6-2BB20FF31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382" y="631770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585" name="Line 16">
              <a:extLst>
                <a:ext uri="{FF2B5EF4-FFF2-40B4-BE49-F238E27FC236}">
                  <a16:creationId xmlns:a16="http://schemas.microsoft.com/office/drawing/2014/main" id="{50E5466B-8E80-CFF6-3915-AC2109343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0782" y="631770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588" name="Oval 4">
              <a:extLst>
                <a:ext uri="{FF2B5EF4-FFF2-40B4-BE49-F238E27FC236}">
                  <a16:creationId xmlns:a16="http://schemas.microsoft.com/office/drawing/2014/main" id="{0B69CAD5-6FFE-FC6B-E242-A9ED16E5A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382" y="6165304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589" name="Oval 5">
              <a:extLst>
                <a:ext uri="{FF2B5EF4-FFF2-40B4-BE49-F238E27FC236}">
                  <a16:creationId xmlns:a16="http://schemas.microsoft.com/office/drawing/2014/main" id="{3713774F-F9C5-9810-FB2D-C47A960B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982" y="6165304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590" name="Oval 6">
              <a:extLst>
                <a:ext uri="{FF2B5EF4-FFF2-40B4-BE49-F238E27FC236}">
                  <a16:creationId xmlns:a16="http://schemas.microsoft.com/office/drawing/2014/main" id="{6120524E-E970-20D8-DD18-CA7CE9D69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7582" y="6165304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46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081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Where were we: </a:t>
                </a:r>
                <a:br>
                  <a:rPr lang="en-US" altLang="en-US" dirty="0"/>
                </a:br>
                <a:r>
                  <a:rPr lang="en-US" altLang="en-US" dirty="0"/>
                  <a:t>if we have an </a:t>
                </a:r>
                <a14:m>
                  <m:oMath xmlns:m="http://schemas.openxmlformats.org/officeDocument/2006/math">
                    <m:r>
                      <a:rPr lang="en-GB" altLang="en-US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en-US" dirty="0"/>
                  <a:t>-alternating walk </a:t>
                </a:r>
                <a:br>
                  <a:rPr lang="en-US" altLang="en-US" dirty="0"/>
                </a:br>
                <a:r>
                  <a:rPr lang="en-US" altLang="en-US" dirty="0"/>
                  <a:t>(path or flower)</a:t>
                </a:r>
              </a:p>
            </p:txBody>
          </p:sp>
        </mc:Choice>
        <mc:Fallback xmlns="">
          <p:sp>
            <p:nvSpPr>
              <p:cNvPr id="29081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6383" b="-138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7A7519-EC80-E4DD-B97E-E7B77CAEFCEE}"/>
                  </a:ext>
                </a:extLst>
              </p:cNvPr>
              <p:cNvSpPr txBox="1"/>
              <p:nvPr/>
            </p:nvSpPr>
            <p:spPr>
              <a:xfrm>
                <a:off x="1371600" y="5013176"/>
                <a:ext cx="7664896" cy="951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Webdings" panose="05030102010509060703" pitchFamily="18" charset="2"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Required ingredients (to be covered in the next slides)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AA1328"/>
                  </a:buClr>
                  <a:buSzPct val="90000"/>
                  <a:buFont typeface="Segoe UI Symbol" panose="020B0502040204020203" pitchFamily="34" charset="0"/>
                  <a:buChar char="☑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Procedure: Find either an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-augmenting path or an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-flower</a:t>
                </a:r>
              </a:p>
              <a:p>
                <a:pPr marL="342900" lvl="0" indent="-342900" eaLnBrk="1" hangingPunct="1">
                  <a:lnSpc>
                    <a:spcPct val="90000"/>
                  </a:lnSpc>
                  <a:spcBef>
                    <a:spcPct val="20000"/>
                  </a:spcBef>
                  <a:buClr>
                    <a:srgbClr val="AA1328"/>
                  </a:buClr>
                  <a:buSzPct val="90000"/>
                  <a:buFont typeface="Webdings" panose="05030102010509060703" pitchFamily="18" charset="2"/>
                  <a:buChar char="g"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Shrinking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lang="en-US" altLang="en-US" sz="1800" dirty="0">
                    <a:solidFill>
                      <a:srgbClr val="000000"/>
                    </a:solidFill>
                    <a:latin typeface="Verdana"/>
                  </a:rPr>
                  <a:t>-blossoms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7A7519-EC80-E4DD-B97E-E7B77CAEF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013176"/>
                <a:ext cx="7664896" cy="951030"/>
              </a:xfrm>
              <a:prstGeom prst="rect">
                <a:avLst/>
              </a:prstGeom>
              <a:blipFill>
                <a:blip r:embed="rId3"/>
                <a:stretch>
                  <a:fillRect l="-636" t="-5769" b="-897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9DBCF60F-AA8E-2849-82A9-7AD046D39C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828800"/>
                <a:ext cx="7664896" cy="2968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Font typeface="Webdings" panose="05030102010509060703" pitchFamily="18" charset="2"/>
                  <a:buNone/>
                </a:pPr>
                <a:r>
                  <a:rPr lang="en-US" altLang="en-US" sz="1800" b="1" dirty="0"/>
                  <a:t>Procedure</a:t>
                </a:r>
                <a:r>
                  <a:rPr lang="en-US" altLang="en-US" sz="1800" dirty="0"/>
                  <a:t>: find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in a graph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sz="1800" dirty="0"/>
                  <a:t> if it exists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Find either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or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-flower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We have just seen a procedure for this!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an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is found return it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we find an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-flower: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>
                    <a:solidFill>
                      <a:srgbClr val="C00000"/>
                    </a:solidFill>
                  </a:rPr>
                  <a:t>Shrink</a:t>
                </a:r>
                <a:r>
                  <a:rPr lang="en-US" altLang="en-US" dirty="0"/>
                  <a:t> the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-blossom to obtain an equivalent smaller problem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Recursively look for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the smaller problem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If found, transform it to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en-US" dirty="0"/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If no path is found: return that no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1800" dirty="0"/>
                  <a:t>-augmenting path exists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9DBCF60F-AA8E-2849-82A9-7AD046D39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1828800"/>
                <a:ext cx="7664896" cy="2968352"/>
              </a:xfrm>
              <a:prstGeom prst="rect">
                <a:avLst/>
              </a:prstGeom>
              <a:blipFill>
                <a:blip r:embed="rId4"/>
                <a:stretch>
                  <a:fillRect l="-636" t="-2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81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1842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Shrinking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-blossoms</a:t>
                </a:r>
              </a:p>
            </p:txBody>
          </p:sp>
        </mc:Choice>
        <mc:Fallback xmlns="">
          <p:sp>
            <p:nvSpPr>
              <p:cNvPr id="29184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8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be a set of vertices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with matching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en-US" dirty="0"/>
                  <a:t>be the graph, obtained from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by contracting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to a single vertex</a:t>
                </a:r>
              </a:p>
              <a:p>
                <a:pPr lvl="1"/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be the matching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with all edges in with both endpoints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removed</a:t>
                </a:r>
              </a:p>
            </p:txBody>
          </p:sp>
        </mc:Choice>
        <mc:Fallback xmlns="">
          <p:sp>
            <p:nvSpPr>
              <p:cNvPr id="2918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5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ine 25"/>
          <p:cNvSpPr>
            <a:spLocks noChangeShapeType="1"/>
          </p:cNvSpPr>
          <p:nvPr/>
        </p:nvSpPr>
        <p:spPr bwMode="auto">
          <a:xfrm flipH="1">
            <a:off x="5997151" y="5195273"/>
            <a:ext cx="146644" cy="41548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39404" y="4588804"/>
            <a:ext cx="1376156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Contracted Blossom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F3DAF0-99FF-4AC8-B28A-10506E925D57}"/>
              </a:ext>
            </a:extLst>
          </p:cNvPr>
          <p:cNvGrpSpPr/>
          <p:nvPr/>
        </p:nvGrpSpPr>
        <p:grpSpPr>
          <a:xfrm>
            <a:off x="1043608" y="3356992"/>
            <a:ext cx="5639544" cy="1304528"/>
            <a:chOff x="533400" y="3933056"/>
            <a:chExt cx="5639544" cy="1304528"/>
          </a:xfrm>
        </p:grpSpPr>
        <p:sp>
          <p:nvSpPr>
            <p:cNvPr id="46" name="Line 23"/>
            <p:cNvSpPr>
              <a:spLocks noChangeShapeType="1"/>
            </p:cNvSpPr>
            <p:nvPr/>
          </p:nvSpPr>
          <p:spPr bwMode="auto">
            <a:xfrm>
              <a:off x="5410201" y="4085456"/>
              <a:ext cx="700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 flipH="1">
              <a:off x="3314700" y="4618856"/>
              <a:ext cx="266700" cy="466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29"/>
            <p:cNvSpPr>
              <a:spLocks noChangeShapeType="1"/>
            </p:cNvSpPr>
            <p:nvPr/>
          </p:nvSpPr>
          <p:spPr bwMode="auto">
            <a:xfrm>
              <a:off x="3657600" y="46188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28"/>
            <p:cNvSpPr>
              <a:spLocks noChangeShapeType="1"/>
            </p:cNvSpPr>
            <p:nvPr/>
          </p:nvSpPr>
          <p:spPr bwMode="auto">
            <a:xfrm>
              <a:off x="4876800" y="46188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27"/>
            <p:cNvSpPr>
              <a:spLocks noChangeShapeType="1"/>
            </p:cNvSpPr>
            <p:nvPr/>
          </p:nvSpPr>
          <p:spPr bwMode="auto">
            <a:xfrm>
              <a:off x="4800600" y="40854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26"/>
            <p:cNvSpPr>
              <a:spLocks noChangeShapeType="1"/>
            </p:cNvSpPr>
            <p:nvPr/>
          </p:nvSpPr>
          <p:spPr bwMode="auto">
            <a:xfrm>
              <a:off x="3657600" y="40854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25"/>
            <p:cNvSpPr>
              <a:spLocks noChangeShapeType="1"/>
            </p:cNvSpPr>
            <p:nvPr/>
          </p:nvSpPr>
          <p:spPr bwMode="auto">
            <a:xfrm>
              <a:off x="2590800" y="43902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>
              <a:off x="1295400" y="43902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23"/>
            <p:cNvSpPr>
              <a:spLocks noChangeShapeType="1"/>
            </p:cNvSpPr>
            <p:nvPr/>
          </p:nvSpPr>
          <p:spPr bwMode="auto">
            <a:xfrm>
              <a:off x="3048000" y="4390256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flipH="1">
              <a:off x="3048000" y="4085456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 flipH="1">
              <a:off x="5410200" y="4085456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4267200" y="46188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4267200" y="40854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1981200" y="43902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685800" y="43902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4"/>
            <p:cNvSpPr>
              <a:spLocks noChangeArrowheads="1"/>
            </p:cNvSpPr>
            <p:nvPr/>
          </p:nvSpPr>
          <p:spPr bwMode="auto">
            <a:xfrm>
              <a:off x="533400" y="4237856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5"/>
            <p:cNvSpPr>
              <a:spLocks noChangeArrowheads="1"/>
            </p:cNvSpPr>
            <p:nvPr/>
          </p:nvSpPr>
          <p:spPr bwMode="auto">
            <a:xfrm>
              <a:off x="1143000" y="423785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6"/>
            <p:cNvSpPr>
              <a:spLocks noChangeArrowheads="1"/>
            </p:cNvSpPr>
            <p:nvPr/>
          </p:nvSpPr>
          <p:spPr bwMode="auto">
            <a:xfrm>
              <a:off x="1752600" y="423785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2362200" y="423785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8"/>
            <p:cNvSpPr>
              <a:spLocks noChangeArrowheads="1"/>
            </p:cNvSpPr>
            <p:nvPr/>
          </p:nvSpPr>
          <p:spPr bwMode="auto">
            <a:xfrm>
              <a:off x="3429000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9"/>
            <p:cNvSpPr>
              <a:spLocks noChangeArrowheads="1"/>
            </p:cNvSpPr>
            <p:nvPr/>
          </p:nvSpPr>
          <p:spPr bwMode="auto">
            <a:xfrm>
              <a:off x="4038600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10"/>
            <p:cNvSpPr>
              <a:spLocks noChangeArrowheads="1"/>
            </p:cNvSpPr>
            <p:nvPr/>
          </p:nvSpPr>
          <p:spPr bwMode="auto">
            <a:xfrm>
              <a:off x="4648200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11"/>
            <p:cNvSpPr>
              <a:spLocks noChangeArrowheads="1"/>
            </p:cNvSpPr>
            <p:nvPr/>
          </p:nvSpPr>
          <p:spPr bwMode="auto">
            <a:xfrm>
              <a:off x="5257800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12"/>
            <p:cNvSpPr>
              <a:spLocks noChangeArrowheads="1"/>
            </p:cNvSpPr>
            <p:nvPr/>
          </p:nvSpPr>
          <p:spPr bwMode="auto">
            <a:xfrm>
              <a:off x="5257800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13"/>
            <p:cNvSpPr>
              <a:spLocks noChangeArrowheads="1"/>
            </p:cNvSpPr>
            <p:nvPr/>
          </p:nvSpPr>
          <p:spPr bwMode="auto">
            <a:xfrm>
              <a:off x="4648200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14"/>
            <p:cNvSpPr>
              <a:spLocks noChangeArrowheads="1"/>
            </p:cNvSpPr>
            <p:nvPr/>
          </p:nvSpPr>
          <p:spPr bwMode="auto">
            <a:xfrm>
              <a:off x="4038600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15"/>
            <p:cNvSpPr>
              <a:spLocks noChangeArrowheads="1"/>
            </p:cNvSpPr>
            <p:nvPr/>
          </p:nvSpPr>
          <p:spPr bwMode="auto">
            <a:xfrm>
              <a:off x="3429000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22"/>
            <p:cNvSpPr>
              <a:spLocks noChangeArrowheads="1"/>
            </p:cNvSpPr>
            <p:nvPr/>
          </p:nvSpPr>
          <p:spPr bwMode="auto">
            <a:xfrm>
              <a:off x="2895600" y="42378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3177117" y="49327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5868144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3353E8-DAB6-456A-AF70-761853AC3278}"/>
              </a:ext>
            </a:extLst>
          </p:cNvPr>
          <p:cNvGrpSpPr/>
          <p:nvPr/>
        </p:nvGrpSpPr>
        <p:grpSpPr>
          <a:xfrm>
            <a:off x="3286921" y="5690796"/>
            <a:ext cx="3331840" cy="819966"/>
            <a:chOff x="5508104" y="5343236"/>
            <a:chExt cx="3331840" cy="819966"/>
          </a:xfrm>
        </p:grpSpPr>
        <p:sp>
          <p:nvSpPr>
            <p:cNvPr id="50" name="Line 23"/>
            <p:cNvSpPr>
              <a:spLocks noChangeShapeType="1"/>
            </p:cNvSpPr>
            <p:nvPr/>
          </p:nvSpPr>
          <p:spPr bwMode="auto">
            <a:xfrm flipH="1">
              <a:off x="7796220" y="5544474"/>
              <a:ext cx="266700" cy="466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23"/>
            <p:cNvSpPr>
              <a:spLocks noChangeShapeType="1"/>
            </p:cNvSpPr>
            <p:nvPr/>
          </p:nvSpPr>
          <p:spPr bwMode="auto">
            <a:xfrm>
              <a:off x="8077201" y="5547757"/>
              <a:ext cx="700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>
              <a:off x="7565504" y="5547757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24"/>
            <p:cNvSpPr>
              <a:spLocks noChangeShapeType="1"/>
            </p:cNvSpPr>
            <p:nvPr/>
          </p:nvSpPr>
          <p:spPr bwMode="auto">
            <a:xfrm>
              <a:off x="6270104" y="5547757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7"/>
            <p:cNvSpPr>
              <a:spLocks noChangeShapeType="1"/>
            </p:cNvSpPr>
            <p:nvPr/>
          </p:nvSpPr>
          <p:spPr bwMode="auto">
            <a:xfrm>
              <a:off x="6955904" y="554775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16"/>
            <p:cNvSpPr>
              <a:spLocks noChangeShapeType="1"/>
            </p:cNvSpPr>
            <p:nvPr/>
          </p:nvSpPr>
          <p:spPr bwMode="auto">
            <a:xfrm>
              <a:off x="5660504" y="554775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4"/>
            <p:cNvSpPr>
              <a:spLocks noChangeArrowheads="1"/>
            </p:cNvSpPr>
            <p:nvPr/>
          </p:nvSpPr>
          <p:spPr bwMode="auto">
            <a:xfrm>
              <a:off x="5508104" y="5395357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auto">
            <a:xfrm>
              <a:off x="6117704" y="5395357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auto">
            <a:xfrm>
              <a:off x="6727304" y="5395357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7"/>
            <p:cNvSpPr>
              <a:spLocks noChangeArrowheads="1"/>
            </p:cNvSpPr>
            <p:nvPr/>
          </p:nvSpPr>
          <p:spPr bwMode="auto">
            <a:xfrm>
              <a:off x="7336904" y="5395357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22"/>
            <p:cNvSpPr>
              <a:spLocks noChangeArrowheads="1"/>
            </p:cNvSpPr>
            <p:nvPr/>
          </p:nvSpPr>
          <p:spPr bwMode="auto">
            <a:xfrm>
              <a:off x="7870304" y="5343236"/>
              <a:ext cx="376808" cy="402476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14"/>
            <p:cNvSpPr>
              <a:spLocks noChangeArrowheads="1"/>
            </p:cNvSpPr>
            <p:nvPr/>
          </p:nvSpPr>
          <p:spPr bwMode="auto">
            <a:xfrm>
              <a:off x="8535144" y="5395357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14"/>
            <p:cNvSpPr>
              <a:spLocks noChangeArrowheads="1"/>
            </p:cNvSpPr>
            <p:nvPr/>
          </p:nvSpPr>
          <p:spPr bwMode="auto">
            <a:xfrm>
              <a:off x="7658637" y="5858402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00234D38-3945-4440-B92F-E2BCB6541CFA}"/>
              </a:ext>
            </a:extLst>
          </p:cNvPr>
          <p:cNvSpPr/>
          <p:nvPr/>
        </p:nvSpPr>
        <p:spPr bwMode="auto">
          <a:xfrm rot="5400000">
            <a:off x="4288324" y="4774361"/>
            <a:ext cx="892794" cy="490810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" grpId="0" animBg="1"/>
      <p:bldP spid="52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286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Theorem</a:t>
                </a:r>
              </a:p>
              <a:p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be an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-blossom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. Then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path, if and only if,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</a:t>
                </a:r>
              </a:p>
              <a:p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b="1" dirty="0"/>
                  <a:t>Proof: </a:t>
                </a:r>
                <a:r>
                  <a:rPr lang="en-US" altLang="en-US" dirty="0"/>
                  <a:t>(case analysis on multiple slides)</a:t>
                </a:r>
              </a:p>
              <a:p>
                <a:r>
                  <a:rPr lang="en-US" altLang="en-US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does not traverse the vertex representing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, then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is also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does traverse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: lift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to an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. </a:t>
                </a:r>
                <a:br>
                  <a:rPr lang="en-US" altLang="en-US" dirty="0"/>
                </a:br>
                <a:r>
                  <a:rPr lang="en-US" altLang="en-US" dirty="0">
                    <a:solidFill>
                      <a:srgbClr val="C00000"/>
                    </a:solidFill>
                  </a:rPr>
                  <a:t>See next slides!</a:t>
                </a:r>
              </a:p>
            </p:txBody>
          </p:sp>
        </mc:Choice>
        <mc:Fallback xmlns="">
          <p:sp>
            <p:nvSpPr>
              <p:cNvPr id="2928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0" t="-769" r="-82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DB05E70-5E1C-440D-90ED-2E38597B06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kern="0" dirty="0"/>
                  <a:t>Case 1a: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kern="0" dirty="0"/>
                  <a:t> passes through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NL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DB05E70-5E1C-440D-90ED-2E38597B0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A917CEB-2C23-4474-BD85-5301E4C5824E}"/>
              </a:ext>
            </a:extLst>
          </p:cNvPr>
          <p:cNvGrpSpPr/>
          <p:nvPr/>
        </p:nvGrpSpPr>
        <p:grpSpPr>
          <a:xfrm>
            <a:off x="2267744" y="2172043"/>
            <a:ext cx="4594448" cy="504101"/>
            <a:chOff x="2267744" y="2463279"/>
            <a:chExt cx="4594448" cy="504101"/>
          </a:xfrm>
        </p:grpSpPr>
        <p:sp>
          <p:nvSpPr>
            <p:cNvPr id="71" name="Line 24"/>
            <p:cNvSpPr>
              <a:spLocks noChangeShapeType="1"/>
            </p:cNvSpPr>
            <p:nvPr/>
          </p:nvSpPr>
          <p:spPr bwMode="auto">
            <a:xfrm>
              <a:off x="5566792" y="277254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17"/>
            <p:cNvSpPr>
              <a:spLocks noChangeShapeType="1"/>
            </p:cNvSpPr>
            <p:nvPr/>
          </p:nvSpPr>
          <p:spPr bwMode="auto">
            <a:xfrm>
              <a:off x="4894548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>
              <a:off x="6176392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Oval 4"/>
            <p:cNvSpPr>
              <a:spLocks noChangeArrowheads="1"/>
            </p:cNvSpPr>
            <p:nvPr/>
          </p:nvSpPr>
          <p:spPr bwMode="auto">
            <a:xfrm>
              <a:off x="6557392" y="262014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Oval 5"/>
            <p:cNvSpPr>
              <a:spLocks noChangeArrowheads="1"/>
            </p:cNvSpPr>
            <p:nvPr/>
          </p:nvSpPr>
          <p:spPr bwMode="auto">
            <a:xfrm>
              <a:off x="5947792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6"/>
            <p:cNvSpPr>
              <a:spLocks noChangeArrowheads="1"/>
            </p:cNvSpPr>
            <p:nvPr/>
          </p:nvSpPr>
          <p:spPr bwMode="auto">
            <a:xfrm>
              <a:off x="5338192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25"/>
            <p:cNvSpPr>
              <a:spLocks noChangeShapeType="1"/>
            </p:cNvSpPr>
            <p:nvPr/>
          </p:nvSpPr>
          <p:spPr bwMode="auto">
            <a:xfrm>
              <a:off x="4325144" y="277254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24"/>
            <p:cNvSpPr>
              <a:spLocks noChangeShapeType="1"/>
            </p:cNvSpPr>
            <p:nvPr/>
          </p:nvSpPr>
          <p:spPr bwMode="auto">
            <a:xfrm>
              <a:off x="3029744" y="277254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17"/>
            <p:cNvSpPr>
              <a:spLocks noChangeShapeType="1"/>
            </p:cNvSpPr>
            <p:nvPr/>
          </p:nvSpPr>
          <p:spPr bwMode="auto">
            <a:xfrm>
              <a:off x="3715544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16"/>
            <p:cNvSpPr>
              <a:spLocks noChangeShapeType="1"/>
            </p:cNvSpPr>
            <p:nvPr/>
          </p:nvSpPr>
          <p:spPr bwMode="auto">
            <a:xfrm>
              <a:off x="2420144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4"/>
            <p:cNvSpPr>
              <a:spLocks noChangeArrowheads="1"/>
            </p:cNvSpPr>
            <p:nvPr/>
          </p:nvSpPr>
          <p:spPr bwMode="auto">
            <a:xfrm>
              <a:off x="2267744" y="262014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Oval 5"/>
            <p:cNvSpPr>
              <a:spLocks noChangeArrowheads="1"/>
            </p:cNvSpPr>
            <p:nvPr/>
          </p:nvSpPr>
          <p:spPr bwMode="auto">
            <a:xfrm>
              <a:off x="2877344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6"/>
            <p:cNvSpPr>
              <a:spLocks noChangeArrowheads="1"/>
            </p:cNvSpPr>
            <p:nvPr/>
          </p:nvSpPr>
          <p:spPr bwMode="auto">
            <a:xfrm>
              <a:off x="3486944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Oval 7"/>
            <p:cNvSpPr>
              <a:spLocks noChangeArrowheads="1"/>
            </p:cNvSpPr>
            <p:nvPr/>
          </p:nvSpPr>
          <p:spPr bwMode="auto">
            <a:xfrm>
              <a:off x="4096544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Oval 22"/>
            <p:cNvSpPr>
              <a:spLocks noChangeArrowheads="1"/>
            </p:cNvSpPr>
            <p:nvPr/>
          </p:nvSpPr>
          <p:spPr bwMode="auto">
            <a:xfrm>
              <a:off x="4699248" y="2564904"/>
              <a:ext cx="376808" cy="402476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420144" y="2463279"/>
              <a:ext cx="4289648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32212" y="1628800"/>
                <a:ext cx="3980656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212" y="1628800"/>
                <a:ext cx="3980656" cy="400110"/>
              </a:xfrm>
              <a:prstGeom prst="rect">
                <a:avLst/>
              </a:prstGeom>
              <a:blipFill>
                <a:blip r:embed="rId8"/>
                <a:stretch>
                  <a:fillRect t="-7463" b="-238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7923820-DAD0-4D75-80CA-6D059EAA3F27}"/>
              </a:ext>
            </a:extLst>
          </p:cNvPr>
          <p:cNvGrpSpPr/>
          <p:nvPr/>
        </p:nvGrpSpPr>
        <p:grpSpPr>
          <a:xfrm>
            <a:off x="1379963" y="4631116"/>
            <a:ext cx="6902152" cy="1008112"/>
            <a:chOff x="1331640" y="4077072"/>
            <a:chExt cx="6902152" cy="1008112"/>
          </a:xfrm>
        </p:grpSpPr>
        <p:sp>
          <p:nvSpPr>
            <p:cNvPr id="110" name="Line 24"/>
            <p:cNvSpPr>
              <a:spLocks noChangeShapeType="1"/>
            </p:cNvSpPr>
            <p:nvPr/>
          </p:nvSpPr>
          <p:spPr bwMode="auto">
            <a:xfrm>
              <a:off x="6938392" y="4420261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Line 17"/>
            <p:cNvSpPr>
              <a:spLocks noChangeShapeType="1"/>
            </p:cNvSpPr>
            <p:nvPr/>
          </p:nvSpPr>
          <p:spPr bwMode="auto">
            <a:xfrm>
              <a:off x="6266148" y="442026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Line 16"/>
            <p:cNvSpPr>
              <a:spLocks noChangeShapeType="1"/>
            </p:cNvSpPr>
            <p:nvPr/>
          </p:nvSpPr>
          <p:spPr bwMode="auto">
            <a:xfrm>
              <a:off x="7547992" y="442026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Oval 4"/>
            <p:cNvSpPr>
              <a:spLocks noChangeArrowheads="1"/>
            </p:cNvSpPr>
            <p:nvPr/>
          </p:nvSpPr>
          <p:spPr bwMode="auto">
            <a:xfrm>
              <a:off x="7928992" y="4267861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Oval 5"/>
            <p:cNvSpPr>
              <a:spLocks noChangeArrowheads="1"/>
            </p:cNvSpPr>
            <p:nvPr/>
          </p:nvSpPr>
          <p:spPr bwMode="auto">
            <a:xfrm>
              <a:off x="7319392" y="4267861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Oval 6"/>
            <p:cNvSpPr>
              <a:spLocks noChangeArrowheads="1"/>
            </p:cNvSpPr>
            <p:nvPr/>
          </p:nvSpPr>
          <p:spPr bwMode="auto">
            <a:xfrm>
              <a:off x="6709792" y="4267861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29"/>
            <p:cNvSpPr>
              <a:spLocks noChangeShapeType="1"/>
            </p:cNvSpPr>
            <p:nvPr/>
          </p:nvSpPr>
          <p:spPr bwMode="auto">
            <a:xfrm>
              <a:off x="4455840" y="493278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5675040" y="493278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27"/>
            <p:cNvSpPr>
              <a:spLocks noChangeShapeType="1"/>
            </p:cNvSpPr>
            <p:nvPr/>
          </p:nvSpPr>
          <p:spPr bwMode="auto">
            <a:xfrm>
              <a:off x="5598840" y="439938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26"/>
            <p:cNvSpPr>
              <a:spLocks noChangeShapeType="1"/>
            </p:cNvSpPr>
            <p:nvPr/>
          </p:nvSpPr>
          <p:spPr bwMode="auto">
            <a:xfrm>
              <a:off x="4455840" y="439938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3389040" y="470418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24"/>
            <p:cNvSpPr>
              <a:spLocks noChangeShapeType="1"/>
            </p:cNvSpPr>
            <p:nvPr/>
          </p:nvSpPr>
          <p:spPr bwMode="auto">
            <a:xfrm>
              <a:off x="2093640" y="470418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23"/>
            <p:cNvSpPr>
              <a:spLocks noChangeShapeType="1"/>
            </p:cNvSpPr>
            <p:nvPr/>
          </p:nvSpPr>
          <p:spPr bwMode="auto">
            <a:xfrm>
              <a:off x="3846240" y="4704184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21"/>
            <p:cNvSpPr>
              <a:spLocks noChangeShapeType="1"/>
            </p:cNvSpPr>
            <p:nvPr/>
          </p:nvSpPr>
          <p:spPr bwMode="auto">
            <a:xfrm flipH="1">
              <a:off x="3846240" y="4399384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20"/>
            <p:cNvSpPr>
              <a:spLocks noChangeShapeType="1"/>
            </p:cNvSpPr>
            <p:nvPr/>
          </p:nvSpPr>
          <p:spPr bwMode="auto">
            <a:xfrm flipH="1">
              <a:off x="6208440" y="4399384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19"/>
            <p:cNvSpPr>
              <a:spLocks noChangeShapeType="1"/>
            </p:cNvSpPr>
            <p:nvPr/>
          </p:nvSpPr>
          <p:spPr bwMode="auto">
            <a:xfrm>
              <a:off x="5065440" y="493278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Line 18"/>
            <p:cNvSpPr>
              <a:spLocks noChangeShapeType="1"/>
            </p:cNvSpPr>
            <p:nvPr/>
          </p:nvSpPr>
          <p:spPr bwMode="auto">
            <a:xfrm>
              <a:off x="5065440" y="439938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Line 17"/>
            <p:cNvSpPr>
              <a:spLocks noChangeShapeType="1"/>
            </p:cNvSpPr>
            <p:nvPr/>
          </p:nvSpPr>
          <p:spPr bwMode="auto">
            <a:xfrm>
              <a:off x="2779440" y="470418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Line 16"/>
            <p:cNvSpPr>
              <a:spLocks noChangeShapeType="1"/>
            </p:cNvSpPr>
            <p:nvPr/>
          </p:nvSpPr>
          <p:spPr bwMode="auto">
            <a:xfrm>
              <a:off x="1484040" y="470418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Oval 4"/>
            <p:cNvSpPr>
              <a:spLocks noChangeArrowheads="1"/>
            </p:cNvSpPr>
            <p:nvPr/>
          </p:nvSpPr>
          <p:spPr bwMode="auto">
            <a:xfrm>
              <a:off x="1331640" y="455178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Oval 5"/>
            <p:cNvSpPr>
              <a:spLocks noChangeArrowheads="1"/>
            </p:cNvSpPr>
            <p:nvPr/>
          </p:nvSpPr>
          <p:spPr bwMode="auto">
            <a:xfrm>
              <a:off x="1941240" y="455178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Oval 6"/>
            <p:cNvSpPr>
              <a:spLocks noChangeArrowheads="1"/>
            </p:cNvSpPr>
            <p:nvPr/>
          </p:nvSpPr>
          <p:spPr bwMode="auto">
            <a:xfrm>
              <a:off x="2550840" y="455178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Oval 7"/>
            <p:cNvSpPr>
              <a:spLocks noChangeArrowheads="1"/>
            </p:cNvSpPr>
            <p:nvPr/>
          </p:nvSpPr>
          <p:spPr bwMode="auto">
            <a:xfrm>
              <a:off x="3160440" y="455178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Oval 8"/>
            <p:cNvSpPr>
              <a:spLocks noChangeArrowheads="1"/>
            </p:cNvSpPr>
            <p:nvPr/>
          </p:nvSpPr>
          <p:spPr bwMode="auto">
            <a:xfrm>
              <a:off x="4227240" y="42469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Oval 9"/>
            <p:cNvSpPr>
              <a:spLocks noChangeArrowheads="1"/>
            </p:cNvSpPr>
            <p:nvPr/>
          </p:nvSpPr>
          <p:spPr bwMode="auto">
            <a:xfrm>
              <a:off x="4836840" y="42469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Oval 10"/>
            <p:cNvSpPr>
              <a:spLocks noChangeArrowheads="1"/>
            </p:cNvSpPr>
            <p:nvPr/>
          </p:nvSpPr>
          <p:spPr bwMode="auto">
            <a:xfrm>
              <a:off x="5446440" y="42469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Oval 11"/>
            <p:cNvSpPr>
              <a:spLocks noChangeArrowheads="1"/>
            </p:cNvSpPr>
            <p:nvPr/>
          </p:nvSpPr>
          <p:spPr bwMode="auto">
            <a:xfrm>
              <a:off x="6056040" y="42469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Oval 12"/>
            <p:cNvSpPr>
              <a:spLocks noChangeArrowheads="1"/>
            </p:cNvSpPr>
            <p:nvPr/>
          </p:nvSpPr>
          <p:spPr bwMode="auto">
            <a:xfrm>
              <a:off x="6056040" y="47803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Oval 13"/>
            <p:cNvSpPr>
              <a:spLocks noChangeArrowheads="1"/>
            </p:cNvSpPr>
            <p:nvPr/>
          </p:nvSpPr>
          <p:spPr bwMode="auto">
            <a:xfrm>
              <a:off x="5446440" y="47803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Oval 14"/>
            <p:cNvSpPr>
              <a:spLocks noChangeArrowheads="1"/>
            </p:cNvSpPr>
            <p:nvPr/>
          </p:nvSpPr>
          <p:spPr bwMode="auto">
            <a:xfrm>
              <a:off x="4836840" y="47803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Oval 15"/>
            <p:cNvSpPr>
              <a:spLocks noChangeArrowheads="1"/>
            </p:cNvSpPr>
            <p:nvPr/>
          </p:nvSpPr>
          <p:spPr bwMode="auto">
            <a:xfrm>
              <a:off x="4227240" y="47803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Oval 22"/>
            <p:cNvSpPr>
              <a:spLocks noChangeArrowheads="1"/>
            </p:cNvSpPr>
            <p:nvPr/>
          </p:nvSpPr>
          <p:spPr bwMode="auto">
            <a:xfrm>
              <a:off x="3693840" y="4551784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16" name="Straight Connector 115"/>
            <p:cNvCxnSpPr/>
            <p:nvPr/>
          </p:nvCxnSpPr>
          <p:spPr bwMode="auto">
            <a:xfrm>
              <a:off x="4439137" y="4077072"/>
              <a:ext cx="3661255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8" name="Straight Connector 117"/>
            <p:cNvCxnSpPr/>
            <p:nvPr/>
          </p:nvCxnSpPr>
          <p:spPr bwMode="auto">
            <a:xfrm>
              <a:off x="1451972" y="4399384"/>
              <a:ext cx="2339772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0" name="Straight Connector 119"/>
            <p:cNvCxnSpPr/>
            <p:nvPr/>
          </p:nvCxnSpPr>
          <p:spPr bwMode="auto">
            <a:xfrm flipV="1">
              <a:off x="3779912" y="4077072"/>
              <a:ext cx="665923" cy="322312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4681178" y="4168682"/>
                <a:ext cx="3296138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178" y="4168682"/>
                <a:ext cx="3296138" cy="400110"/>
              </a:xfrm>
              <a:prstGeom prst="rect">
                <a:avLst/>
              </a:prstGeom>
              <a:blipFill>
                <a:blip r:embed="rId7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row: Right 68">
            <a:extLst>
              <a:ext uri="{FF2B5EF4-FFF2-40B4-BE49-F238E27FC236}">
                <a16:creationId xmlns:a16="http://schemas.microsoft.com/office/drawing/2014/main" id="{F338BE22-5CF6-44F5-90D9-F0436680D6AC}"/>
              </a:ext>
            </a:extLst>
          </p:cNvPr>
          <p:cNvSpPr/>
          <p:nvPr/>
        </p:nvSpPr>
        <p:spPr bwMode="auto">
          <a:xfrm rot="5400000">
            <a:off x="3816410" y="3136754"/>
            <a:ext cx="892794" cy="490810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06557A-CA24-40D5-A979-F55028FC06A1}"/>
              </a:ext>
            </a:extLst>
          </p:cNvPr>
          <p:cNvSpPr txBox="1"/>
          <p:nvPr/>
        </p:nvSpPr>
        <p:spPr>
          <a:xfrm>
            <a:off x="304235" y="3200083"/>
            <a:ext cx="3370656" cy="101566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Q</a:t>
            </a:r>
            <a:r>
              <a:rPr lang="en-US" sz="2000" dirty="0"/>
              <a:t>: what if the path would exit the blossom one vertex to the left?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69" grpId="0" animBg="1"/>
      <p:bldP spid="7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DB05E70-5E1C-440D-90ED-2E38597B06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kern="0" dirty="0"/>
                  <a:t>Case 1b: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kern="0" dirty="0"/>
                  <a:t> passes through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NL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DB05E70-5E1C-440D-90ED-2E38597B0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A917CEB-2C23-4474-BD85-5301E4C5824E}"/>
              </a:ext>
            </a:extLst>
          </p:cNvPr>
          <p:cNvGrpSpPr/>
          <p:nvPr/>
        </p:nvGrpSpPr>
        <p:grpSpPr>
          <a:xfrm>
            <a:off x="2267744" y="2172043"/>
            <a:ext cx="4594448" cy="504101"/>
            <a:chOff x="2267744" y="2463279"/>
            <a:chExt cx="4594448" cy="504101"/>
          </a:xfrm>
        </p:grpSpPr>
        <p:sp>
          <p:nvSpPr>
            <p:cNvPr id="71" name="Line 24"/>
            <p:cNvSpPr>
              <a:spLocks noChangeShapeType="1"/>
            </p:cNvSpPr>
            <p:nvPr/>
          </p:nvSpPr>
          <p:spPr bwMode="auto">
            <a:xfrm>
              <a:off x="5566792" y="277254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17"/>
            <p:cNvSpPr>
              <a:spLocks noChangeShapeType="1"/>
            </p:cNvSpPr>
            <p:nvPr/>
          </p:nvSpPr>
          <p:spPr bwMode="auto">
            <a:xfrm>
              <a:off x="4894548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>
              <a:off x="6176392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Oval 4"/>
            <p:cNvSpPr>
              <a:spLocks noChangeArrowheads="1"/>
            </p:cNvSpPr>
            <p:nvPr/>
          </p:nvSpPr>
          <p:spPr bwMode="auto">
            <a:xfrm>
              <a:off x="6557392" y="262014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Oval 5"/>
            <p:cNvSpPr>
              <a:spLocks noChangeArrowheads="1"/>
            </p:cNvSpPr>
            <p:nvPr/>
          </p:nvSpPr>
          <p:spPr bwMode="auto">
            <a:xfrm>
              <a:off x="5947792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6"/>
            <p:cNvSpPr>
              <a:spLocks noChangeArrowheads="1"/>
            </p:cNvSpPr>
            <p:nvPr/>
          </p:nvSpPr>
          <p:spPr bwMode="auto">
            <a:xfrm>
              <a:off x="5338192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25"/>
            <p:cNvSpPr>
              <a:spLocks noChangeShapeType="1"/>
            </p:cNvSpPr>
            <p:nvPr/>
          </p:nvSpPr>
          <p:spPr bwMode="auto">
            <a:xfrm>
              <a:off x="4325144" y="277254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24"/>
            <p:cNvSpPr>
              <a:spLocks noChangeShapeType="1"/>
            </p:cNvSpPr>
            <p:nvPr/>
          </p:nvSpPr>
          <p:spPr bwMode="auto">
            <a:xfrm>
              <a:off x="3029744" y="2772544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17"/>
            <p:cNvSpPr>
              <a:spLocks noChangeShapeType="1"/>
            </p:cNvSpPr>
            <p:nvPr/>
          </p:nvSpPr>
          <p:spPr bwMode="auto">
            <a:xfrm>
              <a:off x="3715544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16"/>
            <p:cNvSpPr>
              <a:spLocks noChangeShapeType="1"/>
            </p:cNvSpPr>
            <p:nvPr/>
          </p:nvSpPr>
          <p:spPr bwMode="auto">
            <a:xfrm>
              <a:off x="2420144" y="277254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4"/>
            <p:cNvSpPr>
              <a:spLocks noChangeArrowheads="1"/>
            </p:cNvSpPr>
            <p:nvPr/>
          </p:nvSpPr>
          <p:spPr bwMode="auto">
            <a:xfrm>
              <a:off x="2267744" y="262014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Oval 5"/>
            <p:cNvSpPr>
              <a:spLocks noChangeArrowheads="1"/>
            </p:cNvSpPr>
            <p:nvPr/>
          </p:nvSpPr>
          <p:spPr bwMode="auto">
            <a:xfrm>
              <a:off x="2877344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6"/>
            <p:cNvSpPr>
              <a:spLocks noChangeArrowheads="1"/>
            </p:cNvSpPr>
            <p:nvPr/>
          </p:nvSpPr>
          <p:spPr bwMode="auto">
            <a:xfrm>
              <a:off x="3486944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Oval 7"/>
            <p:cNvSpPr>
              <a:spLocks noChangeArrowheads="1"/>
            </p:cNvSpPr>
            <p:nvPr/>
          </p:nvSpPr>
          <p:spPr bwMode="auto">
            <a:xfrm>
              <a:off x="4096544" y="262014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Oval 22"/>
            <p:cNvSpPr>
              <a:spLocks noChangeArrowheads="1"/>
            </p:cNvSpPr>
            <p:nvPr/>
          </p:nvSpPr>
          <p:spPr bwMode="auto">
            <a:xfrm>
              <a:off x="4699248" y="2564904"/>
              <a:ext cx="376808" cy="402476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420144" y="2463279"/>
              <a:ext cx="4289648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32212" y="1628800"/>
                <a:ext cx="3980656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212" y="1628800"/>
                <a:ext cx="3980656" cy="400110"/>
              </a:xfrm>
              <a:prstGeom prst="rect">
                <a:avLst/>
              </a:prstGeom>
              <a:blipFill>
                <a:blip r:embed="rId4"/>
                <a:stretch>
                  <a:fillRect t="-7463" b="-238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F2C39964-E13B-4D14-91A7-B987C13883D0}"/>
              </a:ext>
            </a:extLst>
          </p:cNvPr>
          <p:cNvGrpSpPr/>
          <p:nvPr/>
        </p:nvGrpSpPr>
        <p:grpSpPr>
          <a:xfrm>
            <a:off x="2154560" y="3609022"/>
            <a:ext cx="5225752" cy="2340258"/>
            <a:chOff x="2154560" y="3609022"/>
            <a:chExt cx="5225752" cy="2340258"/>
          </a:xfrm>
        </p:grpSpPr>
        <p:sp>
          <p:nvSpPr>
            <p:cNvPr id="70" name="Line 24">
              <a:extLst>
                <a:ext uri="{FF2B5EF4-FFF2-40B4-BE49-F238E27FC236}">
                  <a16:creationId xmlns:a16="http://schemas.microsoft.com/office/drawing/2014/main" id="{E7ADF520-2CC2-444C-AB16-93972A97C8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58053">
              <a:off x="5346804" y="4350632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66A67698-3FC6-4560-9B02-E6CFAEF167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58053">
              <a:off x="5902138" y="472946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665B8C23-99AC-4771-A24B-6C5FD606C6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58053">
              <a:off x="4843220" y="400709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Oval 4">
              <a:extLst>
                <a:ext uri="{FF2B5EF4-FFF2-40B4-BE49-F238E27FC236}">
                  <a16:creationId xmlns:a16="http://schemas.microsoft.com/office/drawing/2014/main" id="{A91E1758-C968-4707-A5CE-210182E7DD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858053">
              <a:off x="4737202" y="3704403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Oval 5">
              <a:extLst>
                <a:ext uri="{FF2B5EF4-FFF2-40B4-BE49-F238E27FC236}">
                  <a16:creationId xmlns:a16="http://schemas.microsoft.com/office/drawing/2014/main" id="{DEA91769-45D8-4077-B6DE-DA940DB27C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858053">
              <a:off x="5240786" y="4047937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Oval 6">
              <a:extLst>
                <a:ext uri="{FF2B5EF4-FFF2-40B4-BE49-F238E27FC236}">
                  <a16:creationId xmlns:a16="http://schemas.microsoft.com/office/drawing/2014/main" id="{70FC69C3-8805-4DB7-AE06-A418BABB12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858053">
              <a:off x="5744370" y="439147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29">
              <a:extLst>
                <a:ext uri="{FF2B5EF4-FFF2-40B4-BE49-F238E27FC236}">
                  <a16:creationId xmlns:a16="http://schemas.microsoft.com/office/drawing/2014/main" id="{9BD2D355-251B-4A28-9A43-F82F60EEF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8760" y="543684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28">
              <a:extLst>
                <a:ext uri="{FF2B5EF4-FFF2-40B4-BE49-F238E27FC236}">
                  <a16:creationId xmlns:a16="http://schemas.microsoft.com/office/drawing/2014/main" id="{99831DDC-F06C-44CE-8B86-DAE147C50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960" y="543684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336C4BC6-149E-4BE1-BF7D-E08A461FC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1760" y="490344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Line 26">
              <a:extLst>
                <a:ext uri="{FF2B5EF4-FFF2-40B4-BE49-F238E27FC236}">
                  <a16:creationId xmlns:a16="http://schemas.microsoft.com/office/drawing/2014/main" id="{079DF90D-2D3D-4021-A955-D4A71E91E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8760" y="490344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Line 25">
              <a:extLst>
                <a:ext uri="{FF2B5EF4-FFF2-40B4-BE49-F238E27FC236}">
                  <a16:creationId xmlns:a16="http://schemas.microsoft.com/office/drawing/2014/main" id="{5205E8F2-3FB6-4764-A33D-0D0483270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960" y="520824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Line 24">
              <a:extLst>
                <a:ext uri="{FF2B5EF4-FFF2-40B4-BE49-F238E27FC236}">
                  <a16:creationId xmlns:a16="http://schemas.microsoft.com/office/drawing/2014/main" id="{C5C4DDF4-EC7D-4F08-B2BC-8D1686E5F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6560" y="520824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Line 23">
              <a:extLst>
                <a:ext uri="{FF2B5EF4-FFF2-40B4-BE49-F238E27FC236}">
                  <a16:creationId xmlns:a16="http://schemas.microsoft.com/office/drawing/2014/main" id="{E7E7B9E2-91DE-48CE-A998-9FCA4DAEA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160" y="5208240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3AD759B4-3CA9-4966-832B-3F4BA0851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9160" y="490344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20">
              <a:extLst>
                <a:ext uri="{FF2B5EF4-FFF2-40B4-BE49-F238E27FC236}">
                  <a16:creationId xmlns:a16="http://schemas.microsoft.com/office/drawing/2014/main" id="{FADEC81B-0CD6-459D-AB8F-8D4C2BA27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31360" y="490344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Line 19">
              <a:extLst>
                <a:ext uri="{FF2B5EF4-FFF2-40B4-BE49-F238E27FC236}">
                  <a16:creationId xmlns:a16="http://schemas.microsoft.com/office/drawing/2014/main" id="{2FAEB2DB-1182-41F3-A549-2F7743AA9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8360" y="543684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Line 18">
              <a:extLst>
                <a:ext uri="{FF2B5EF4-FFF2-40B4-BE49-F238E27FC236}">
                  <a16:creationId xmlns:a16="http://schemas.microsoft.com/office/drawing/2014/main" id="{04563B51-5F64-4093-879A-FF89EDB22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8360" y="490344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Line 17">
              <a:extLst>
                <a:ext uri="{FF2B5EF4-FFF2-40B4-BE49-F238E27FC236}">
                  <a16:creationId xmlns:a16="http://schemas.microsoft.com/office/drawing/2014/main" id="{BD0A294D-D4C9-44C1-B0FF-E286F1EB0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360" y="520824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Line 16">
              <a:extLst>
                <a:ext uri="{FF2B5EF4-FFF2-40B4-BE49-F238E27FC236}">
                  <a16:creationId xmlns:a16="http://schemas.microsoft.com/office/drawing/2014/main" id="{7600902F-5B40-41F0-976F-CC7745EA0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6960" y="520824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Oval 4">
              <a:extLst>
                <a:ext uri="{FF2B5EF4-FFF2-40B4-BE49-F238E27FC236}">
                  <a16:creationId xmlns:a16="http://schemas.microsoft.com/office/drawing/2014/main" id="{C82F8E7A-46AF-4070-A586-3DE6F764E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560" y="505584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Oval 5">
              <a:extLst>
                <a:ext uri="{FF2B5EF4-FFF2-40B4-BE49-F238E27FC236}">
                  <a16:creationId xmlns:a16="http://schemas.microsoft.com/office/drawing/2014/main" id="{443659B3-4918-4D67-B40C-34AA76A6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4160" y="505584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Oval 6">
              <a:extLst>
                <a:ext uri="{FF2B5EF4-FFF2-40B4-BE49-F238E27FC236}">
                  <a16:creationId xmlns:a16="http://schemas.microsoft.com/office/drawing/2014/main" id="{47C8085A-56D3-4D05-AE84-077119674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3760" y="505584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Oval 7">
              <a:extLst>
                <a:ext uri="{FF2B5EF4-FFF2-40B4-BE49-F238E27FC236}">
                  <a16:creationId xmlns:a16="http://schemas.microsoft.com/office/drawing/2014/main" id="{552F1799-87F1-4DBE-815B-B9A3F861E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360" y="505584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Oval 8">
              <a:extLst>
                <a:ext uri="{FF2B5EF4-FFF2-40B4-BE49-F238E27FC236}">
                  <a16:creationId xmlns:a16="http://schemas.microsoft.com/office/drawing/2014/main" id="{A5AC8087-917F-4A07-A495-9952B2FFA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160" y="47510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Oval 9">
              <a:extLst>
                <a:ext uri="{FF2B5EF4-FFF2-40B4-BE49-F238E27FC236}">
                  <a16:creationId xmlns:a16="http://schemas.microsoft.com/office/drawing/2014/main" id="{2D77DF38-8C19-4E1C-A58F-FDF7D1762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760" y="47510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Oval 10">
              <a:extLst>
                <a:ext uri="{FF2B5EF4-FFF2-40B4-BE49-F238E27FC236}">
                  <a16:creationId xmlns:a16="http://schemas.microsoft.com/office/drawing/2014/main" id="{789B25FB-2254-4B7C-B594-2E32AD978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9360" y="47510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Oval 11">
              <a:extLst>
                <a:ext uri="{FF2B5EF4-FFF2-40B4-BE49-F238E27FC236}">
                  <a16:creationId xmlns:a16="http://schemas.microsoft.com/office/drawing/2014/main" id="{89790B51-2EDA-439B-BFFA-7DE5C2D5D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8960" y="47510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Oval 12">
              <a:extLst>
                <a:ext uri="{FF2B5EF4-FFF2-40B4-BE49-F238E27FC236}">
                  <a16:creationId xmlns:a16="http://schemas.microsoft.com/office/drawing/2014/main" id="{60C065A8-7709-4FF4-8769-CFC70DEB4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8960" y="52844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Oval 13">
              <a:extLst>
                <a:ext uri="{FF2B5EF4-FFF2-40B4-BE49-F238E27FC236}">
                  <a16:creationId xmlns:a16="http://schemas.microsoft.com/office/drawing/2014/main" id="{83AD51F7-338B-4C38-8AF9-7A9D7C53B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9360" y="52844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Oval 14">
              <a:extLst>
                <a:ext uri="{FF2B5EF4-FFF2-40B4-BE49-F238E27FC236}">
                  <a16:creationId xmlns:a16="http://schemas.microsoft.com/office/drawing/2014/main" id="{927E96F0-9232-4518-82E4-F3F102C34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760" y="52844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Oval 15">
              <a:extLst>
                <a:ext uri="{FF2B5EF4-FFF2-40B4-BE49-F238E27FC236}">
                  <a16:creationId xmlns:a16="http://schemas.microsoft.com/office/drawing/2014/main" id="{310BE2DF-B14B-4F18-A2F6-AC3615B02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160" y="52844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Oval 22">
              <a:extLst>
                <a:ext uri="{FF2B5EF4-FFF2-40B4-BE49-F238E27FC236}">
                  <a16:creationId xmlns:a16="http://schemas.microsoft.com/office/drawing/2014/main" id="{2B49E02C-34AB-483B-9F9D-8584737A6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760" y="505584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7603B9F-E7C3-41C2-A99B-90CDC14EF9C6}"/>
                </a:ext>
              </a:extLst>
            </p:cNvPr>
            <p:cNvCxnSpPr/>
            <p:nvPr/>
          </p:nvCxnSpPr>
          <p:spPr bwMode="auto">
            <a:xfrm>
              <a:off x="2306960" y="5585957"/>
              <a:ext cx="2339772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D39DAD4-9A3C-475D-83D4-016E6A87BADA}"/>
                </a:ext>
              </a:extLst>
            </p:cNvPr>
            <p:cNvCxnSpPr/>
            <p:nvPr/>
          </p:nvCxnSpPr>
          <p:spPr bwMode="auto">
            <a:xfrm>
              <a:off x="5166833" y="5949280"/>
              <a:ext cx="2213479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41608A9-053C-428C-84D0-2E5668EB88F1}"/>
                </a:ext>
              </a:extLst>
            </p:cNvPr>
            <p:cNvCxnSpPr/>
            <p:nvPr/>
          </p:nvCxnSpPr>
          <p:spPr bwMode="auto">
            <a:xfrm>
              <a:off x="6421760" y="4509120"/>
              <a:ext cx="958552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6AA2F4CF-6BC0-49B2-8A1A-84BC4E59C1E2}"/>
                </a:ext>
              </a:extLst>
            </p:cNvPr>
            <p:cNvCxnSpPr/>
            <p:nvPr/>
          </p:nvCxnSpPr>
          <p:spPr bwMode="auto">
            <a:xfrm flipV="1">
              <a:off x="7380312" y="4500928"/>
              <a:ext cx="0" cy="1448352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55796C3-9EB3-4C63-944B-E9D561142E4D}"/>
                </a:ext>
              </a:extLst>
            </p:cNvPr>
            <p:cNvCxnSpPr/>
            <p:nvPr/>
          </p:nvCxnSpPr>
          <p:spPr bwMode="auto">
            <a:xfrm flipH="1" flipV="1">
              <a:off x="5082182" y="3609022"/>
              <a:ext cx="1366293" cy="908484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D5C0C3B-E760-4201-9AA0-A34D91932D1E}"/>
                </a:ext>
              </a:extLst>
            </p:cNvPr>
            <p:cNvCxnSpPr/>
            <p:nvPr/>
          </p:nvCxnSpPr>
          <p:spPr bwMode="auto">
            <a:xfrm>
              <a:off x="4626727" y="5585957"/>
              <a:ext cx="552169" cy="363323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1" name="Arrow: Right 150">
            <a:extLst>
              <a:ext uri="{FF2B5EF4-FFF2-40B4-BE49-F238E27FC236}">
                <a16:creationId xmlns:a16="http://schemas.microsoft.com/office/drawing/2014/main" id="{36CB15B2-0D41-428C-8EF9-1667E40A08AF}"/>
              </a:ext>
            </a:extLst>
          </p:cNvPr>
          <p:cNvSpPr/>
          <p:nvPr/>
        </p:nvSpPr>
        <p:spPr bwMode="auto">
          <a:xfrm rot="5400000">
            <a:off x="3816410" y="3136754"/>
            <a:ext cx="892794" cy="490810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537BD60-C171-44D2-9364-BC0FC2E78458}"/>
                  </a:ext>
                </a:extLst>
              </p:cNvPr>
              <p:cNvSpPr txBox="1"/>
              <p:nvPr/>
            </p:nvSpPr>
            <p:spPr>
              <a:xfrm>
                <a:off x="5812160" y="3603350"/>
                <a:ext cx="3296138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537BD60-C171-44D2-9364-BC0FC2E78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160" y="3603350"/>
                <a:ext cx="3296138" cy="400110"/>
              </a:xfrm>
              <a:prstGeom prst="rect">
                <a:avLst/>
              </a:prstGeom>
              <a:blipFill>
                <a:blip r:embed="rId5"/>
                <a:stretch>
                  <a:fillRect t="-7463" b="-238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81FA0DA2-BCFD-4696-9C59-8C40207D17D4}"/>
              </a:ext>
            </a:extLst>
          </p:cNvPr>
          <p:cNvSpPr txBox="1"/>
          <p:nvPr/>
        </p:nvSpPr>
        <p:spPr>
          <a:xfrm>
            <a:off x="281757" y="3810552"/>
            <a:ext cx="3370656" cy="70788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Q</a:t>
            </a:r>
            <a:r>
              <a:rPr lang="en-US" sz="2000" dirty="0"/>
              <a:t>: does the path always pass through the stem?</a:t>
            </a:r>
          </a:p>
        </p:txBody>
      </p:sp>
    </p:spTree>
    <p:extLst>
      <p:ext uri="{BB962C8B-B14F-4D97-AF65-F5344CB8AC3E}">
        <p14:creationId xmlns:p14="http://schemas.microsoft.com/office/powerpoint/2010/main" val="79938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2" grpId="0" animBg="1"/>
      <p:bldP spid="15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735FAD5-C5C6-41E8-9D51-AB28C318DD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kern="0" dirty="0"/>
                  <a:t>Case 2a: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kern="0" dirty="0"/>
                  <a:t> has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kern="0" dirty="0"/>
                  <a:t> as endpoint</a:t>
                </a:r>
                <a:endParaRPr lang="en-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735FAD5-C5C6-41E8-9D51-AB28C318DD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Line 25"/>
          <p:cNvSpPr>
            <a:spLocks noChangeShapeType="1"/>
          </p:cNvSpPr>
          <p:nvPr/>
        </p:nvSpPr>
        <p:spPr bwMode="auto">
          <a:xfrm>
            <a:off x="5333256" y="2772544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24"/>
          <p:cNvSpPr>
            <a:spLocks noChangeShapeType="1"/>
          </p:cNvSpPr>
          <p:nvPr/>
        </p:nvSpPr>
        <p:spPr bwMode="auto">
          <a:xfrm>
            <a:off x="4037856" y="2772544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Line 17"/>
          <p:cNvSpPr>
            <a:spLocks noChangeShapeType="1"/>
          </p:cNvSpPr>
          <p:nvPr/>
        </p:nvSpPr>
        <p:spPr bwMode="auto">
          <a:xfrm>
            <a:off x="4723656" y="277254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Line 16"/>
          <p:cNvSpPr>
            <a:spLocks noChangeShapeType="1"/>
          </p:cNvSpPr>
          <p:nvPr/>
        </p:nvSpPr>
        <p:spPr bwMode="auto">
          <a:xfrm>
            <a:off x="3428256" y="277254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Oval 4"/>
          <p:cNvSpPr>
            <a:spLocks noChangeArrowheads="1"/>
          </p:cNvSpPr>
          <p:nvPr/>
        </p:nvSpPr>
        <p:spPr bwMode="auto">
          <a:xfrm>
            <a:off x="3275856" y="2620144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Oval 5"/>
          <p:cNvSpPr>
            <a:spLocks noChangeArrowheads="1"/>
          </p:cNvSpPr>
          <p:nvPr/>
        </p:nvSpPr>
        <p:spPr bwMode="auto">
          <a:xfrm>
            <a:off x="3885456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Oval 6"/>
          <p:cNvSpPr>
            <a:spLocks noChangeArrowheads="1"/>
          </p:cNvSpPr>
          <p:nvPr/>
        </p:nvSpPr>
        <p:spPr bwMode="auto">
          <a:xfrm>
            <a:off x="4495056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Oval 7"/>
          <p:cNvSpPr>
            <a:spLocks noChangeArrowheads="1"/>
          </p:cNvSpPr>
          <p:nvPr/>
        </p:nvSpPr>
        <p:spPr bwMode="auto">
          <a:xfrm>
            <a:off x="5104656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3428256" y="2420888"/>
            <a:ext cx="3104592" cy="0"/>
          </a:xfrm>
          <a:prstGeom prst="line">
            <a:avLst/>
          </a:prstGeom>
          <a:solidFill>
            <a:srgbClr val="FFFF00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Line 17"/>
          <p:cNvSpPr>
            <a:spLocks noChangeShapeType="1"/>
          </p:cNvSpPr>
          <p:nvPr/>
        </p:nvSpPr>
        <p:spPr bwMode="auto">
          <a:xfrm>
            <a:off x="5981514" y="277254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5752914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Oval 22"/>
          <p:cNvSpPr>
            <a:spLocks noChangeArrowheads="1"/>
          </p:cNvSpPr>
          <p:nvPr/>
        </p:nvSpPr>
        <p:spPr bwMode="auto">
          <a:xfrm>
            <a:off x="6321099" y="2571306"/>
            <a:ext cx="376808" cy="402476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FC1AB6-9DE3-4C87-8ED3-C35320142A7E}"/>
              </a:ext>
            </a:extLst>
          </p:cNvPr>
          <p:cNvGrpSpPr/>
          <p:nvPr/>
        </p:nvGrpSpPr>
        <p:grpSpPr>
          <a:xfrm>
            <a:off x="2486929" y="3717032"/>
            <a:ext cx="5336733" cy="2491918"/>
            <a:chOff x="2486929" y="3717032"/>
            <a:chExt cx="5336733" cy="24919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B019FBC-646A-4975-9650-C6799FFEA2DF}"/>
                </a:ext>
              </a:extLst>
            </p:cNvPr>
            <p:cNvGrpSpPr/>
            <p:nvPr/>
          </p:nvGrpSpPr>
          <p:grpSpPr>
            <a:xfrm rot="20662767">
              <a:off x="2486929" y="4961251"/>
              <a:ext cx="3197947" cy="1247699"/>
              <a:chOff x="2400843" y="4539360"/>
              <a:chExt cx="3197947" cy="1247699"/>
            </a:xfrm>
          </p:grpSpPr>
          <p:sp>
            <p:nvSpPr>
              <p:cNvPr id="77" name="Line 25"/>
              <p:cNvSpPr>
                <a:spLocks noChangeShapeType="1"/>
              </p:cNvSpPr>
              <p:nvPr/>
            </p:nvSpPr>
            <p:spPr bwMode="auto">
              <a:xfrm rot="21012277">
                <a:off x="4426583" y="4773206"/>
                <a:ext cx="5334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24"/>
              <p:cNvSpPr>
                <a:spLocks noChangeShapeType="1"/>
              </p:cNvSpPr>
              <p:nvPr/>
            </p:nvSpPr>
            <p:spPr bwMode="auto">
              <a:xfrm rot="21012277">
                <a:off x="3150068" y="4993593"/>
                <a:ext cx="5334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Line 17"/>
              <p:cNvSpPr>
                <a:spLocks noChangeShapeType="1"/>
              </p:cNvSpPr>
              <p:nvPr/>
            </p:nvSpPr>
            <p:spPr bwMode="auto">
              <a:xfrm rot="21012277">
                <a:off x="3825870" y="4876917"/>
                <a:ext cx="533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16"/>
              <p:cNvSpPr>
                <a:spLocks noChangeShapeType="1"/>
              </p:cNvSpPr>
              <p:nvPr/>
            </p:nvSpPr>
            <p:spPr bwMode="auto">
              <a:xfrm rot="21012277">
                <a:off x="2549355" y="5097304"/>
                <a:ext cx="533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Oval 4"/>
              <p:cNvSpPr>
                <a:spLocks noChangeArrowheads="1"/>
              </p:cNvSpPr>
              <p:nvPr/>
            </p:nvSpPr>
            <p:spPr bwMode="auto">
              <a:xfrm rot="21012277">
                <a:off x="2400843" y="4990278"/>
                <a:ext cx="304800" cy="304800"/>
              </a:xfrm>
              <a:prstGeom prst="ellipse">
                <a:avLst/>
              </a:prstGeom>
              <a:solidFill>
                <a:srgbClr val="C00000"/>
              </a:solidFill>
              <a:ln w="9525">
                <a:noFill/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Oval 5"/>
              <p:cNvSpPr>
                <a:spLocks noChangeArrowheads="1"/>
              </p:cNvSpPr>
              <p:nvPr/>
            </p:nvSpPr>
            <p:spPr bwMode="auto">
              <a:xfrm rot="21012277">
                <a:off x="3001556" y="4886566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Oval 6"/>
              <p:cNvSpPr>
                <a:spLocks noChangeArrowheads="1"/>
              </p:cNvSpPr>
              <p:nvPr/>
            </p:nvSpPr>
            <p:spPr bwMode="auto">
              <a:xfrm rot="21012277">
                <a:off x="3602269" y="4782855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Oval 7"/>
              <p:cNvSpPr>
                <a:spLocks noChangeArrowheads="1"/>
              </p:cNvSpPr>
              <p:nvPr/>
            </p:nvSpPr>
            <p:spPr bwMode="auto">
              <a:xfrm rot="21012277">
                <a:off x="4202982" y="4679144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Line 17"/>
              <p:cNvSpPr>
                <a:spLocks noChangeShapeType="1"/>
              </p:cNvSpPr>
              <p:nvPr/>
            </p:nvSpPr>
            <p:spPr bwMode="auto">
              <a:xfrm rot="21012277">
                <a:off x="5065390" y="4662918"/>
                <a:ext cx="533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Oval 6"/>
              <p:cNvSpPr>
                <a:spLocks noChangeArrowheads="1"/>
              </p:cNvSpPr>
              <p:nvPr/>
            </p:nvSpPr>
            <p:spPr bwMode="auto">
              <a:xfrm rot="21012277">
                <a:off x="4841789" y="4568855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118" name="Straight Connector 117"/>
              <p:cNvCxnSpPr/>
              <p:nvPr/>
            </p:nvCxnSpPr>
            <p:spPr bwMode="auto">
              <a:xfrm rot="937233" flipV="1">
                <a:off x="2718521" y="4539360"/>
                <a:ext cx="2528010" cy="1247699"/>
              </a:xfrm>
              <a:prstGeom prst="line">
                <a:avLst/>
              </a:prstGeom>
              <a:solidFill>
                <a:srgbClr val="FFFF00"/>
              </a:solidFill>
              <a:ln w="285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84" name="Line 29"/>
            <p:cNvSpPr>
              <a:spLocks noChangeShapeType="1"/>
            </p:cNvSpPr>
            <p:nvPr/>
          </p:nvSpPr>
          <p:spPr bwMode="auto">
            <a:xfrm>
              <a:off x="5691336" y="46188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6910536" y="46188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27"/>
            <p:cNvSpPr>
              <a:spLocks noChangeShapeType="1"/>
            </p:cNvSpPr>
            <p:nvPr/>
          </p:nvSpPr>
          <p:spPr bwMode="auto">
            <a:xfrm>
              <a:off x="6834336" y="40854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26"/>
            <p:cNvSpPr>
              <a:spLocks noChangeShapeType="1"/>
            </p:cNvSpPr>
            <p:nvPr/>
          </p:nvSpPr>
          <p:spPr bwMode="auto">
            <a:xfrm>
              <a:off x="5691336" y="40854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23"/>
            <p:cNvSpPr>
              <a:spLocks noChangeShapeType="1"/>
            </p:cNvSpPr>
            <p:nvPr/>
          </p:nvSpPr>
          <p:spPr bwMode="auto">
            <a:xfrm>
              <a:off x="5081736" y="4390256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21"/>
            <p:cNvSpPr>
              <a:spLocks noChangeShapeType="1"/>
            </p:cNvSpPr>
            <p:nvPr/>
          </p:nvSpPr>
          <p:spPr bwMode="auto">
            <a:xfrm flipH="1">
              <a:off x="5081736" y="4085456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20"/>
            <p:cNvSpPr>
              <a:spLocks noChangeShapeType="1"/>
            </p:cNvSpPr>
            <p:nvPr/>
          </p:nvSpPr>
          <p:spPr bwMode="auto">
            <a:xfrm flipH="1">
              <a:off x="7443936" y="4085456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19"/>
            <p:cNvSpPr>
              <a:spLocks noChangeShapeType="1"/>
            </p:cNvSpPr>
            <p:nvPr/>
          </p:nvSpPr>
          <p:spPr bwMode="auto">
            <a:xfrm>
              <a:off x="6300936" y="46188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Line 18"/>
            <p:cNvSpPr>
              <a:spLocks noChangeShapeType="1"/>
            </p:cNvSpPr>
            <p:nvPr/>
          </p:nvSpPr>
          <p:spPr bwMode="auto">
            <a:xfrm>
              <a:off x="6300936" y="40854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Oval 8"/>
            <p:cNvSpPr>
              <a:spLocks noChangeArrowheads="1"/>
            </p:cNvSpPr>
            <p:nvPr/>
          </p:nvSpPr>
          <p:spPr bwMode="auto">
            <a:xfrm>
              <a:off x="5462736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Oval 9"/>
            <p:cNvSpPr>
              <a:spLocks noChangeArrowheads="1"/>
            </p:cNvSpPr>
            <p:nvPr/>
          </p:nvSpPr>
          <p:spPr bwMode="auto">
            <a:xfrm>
              <a:off x="6072336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Oval 10"/>
            <p:cNvSpPr>
              <a:spLocks noChangeArrowheads="1"/>
            </p:cNvSpPr>
            <p:nvPr/>
          </p:nvSpPr>
          <p:spPr bwMode="auto">
            <a:xfrm>
              <a:off x="6681936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Oval 11"/>
            <p:cNvSpPr>
              <a:spLocks noChangeArrowheads="1"/>
            </p:cNvSpPr>
            <p:nvPr/>
          </p:nvSpPr>
          <p:spPr bwMode="auto">
            <a:xfrm>
              <a:off x="7291536" y="39330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Oval 12"/>
            <p:cNvSpPr>
              <a:spLocks noChangeArrowheads="1"/>
            </p:cNvSpPr>
            <p:nvPr/>
          </p:nvSpPr>
          <p:spPr bwMode="auto">
            <a:xfrm>
              <a:off x="7291536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Oval 13"/>
            <p:cNvSpPr>
              <a:spLocks noChangeArrowheads="1"/>
            </p:cNvSpPr>
            <p:nvPr/>
          </p:nvSpPr>
          <p:spPr bwMode="auto">
            <a:xfrm>
              <a:off x="6681936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Oval 14"/>
            <p:cNvSpPr>
              <a:spLocks noChangeArrowheads="1"/>
            </p:cNvSpPr>
            <p:nvPr/>
          </p:nvSpPr>
          <p:spPr bwMode="auto">
            <a:xfrm>
              <a:off x="6072336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Oval 15"/>
            <p:cNvSpPr>
              <a:spLocks noChangeArrowheads="1"/>
            </p:cNvSpPr>
            <p:nvPr/>
          </p:nvSpPr>
          <p:spPr bwMode="auto">
            <a:xfrm>
              <a:off x="5462736" y="44664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Oval 22"/>
            <p:cNvSpPr>
              <a:spLocks noChangeArrowheads="1"/>
            </p:cNvSpPr>
            <p:nvPr/>
          </p:nvSpPr>
          <p:spPr bwMode="auto">
            <a:xfrm>
              <a:off x="4929336" y="4237856"/>
              <a:ext cx="304800" cy="304800"/>
            </a:xfrm>
            <a:prstGeom prst="ellipse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35" name="Straight Connector 134"/>
            <p:cNvCxnSpPr/>
            <p:nvPr/>
          </p:nvCxnSpPr>
          <p:spPr bwMode="auto">
            <a:xfrm>
              <a:off x="5307003" y="4966571"/>
              <a:ext cx="2505357" cy="1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6" name="Straight Connector 135"/>
            <p:cNvCxnSpPr/>
            <p:nvPr/>
          </p:nvCxnSpPr>
          <p:spPr bwMode="auto">
            <a:xfrm flipV="1">
              <a:off x="7812360" y="3717032"/>
              <a:ext cx="0" cy="1252612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" name="Straight Connector 136"/>
            <p:cNvCxnSpPr/>
            <p:nvPr/>
          </p:nvCxnSpPr>
          <p:spPr bwMode="auto">
            <a:xfrm>
              <a:off x="5572151" y="3717032"/>
              <a:ext cx="2251511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" name="Straight Connector 137"/>
            <p:cNvCxnSpPr/>
            <p:nvPr/>
          </p:nvCxnSpPr>
          <p:spPr bwMode="auto">
            <a:xfrm flipV="1">
              <a:off x="4860032" y="3717032"/>
              <a:ext cx="720660" cy="456787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" name="TextBox 17"/>
          <p:cNvSpPr txBox="1"/>
          <p:nvPr/>
        </p:nvSpPr>
        <p:spPr>
          <a:xfrm>
            <a:off x="485322" y="2308943"/>
            <a:ext cx="2492527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Q</a:t>
            </a:r>
            <a:r>
              <a:rPr lang="en-US" sz="2000" dirty="0"/>
              <a:t>: when does this case occur?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27E90CF3-2A74-40B4-A8BE-DC87646FE57F}"/>
              </a:ext>
            </a:extLst>
          </p:cNvPr>
          <p:cNvSpPr/>
          <p:nvPr/>
        </p:nvSpPr>
        <p:spPr bwMode="auto">
          <a:xfrm rot="5400000">
            <a:off x="4082977" y="3375372"/>
            <a:ext cx="892794" cy="490810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83A5627-9349-4EC6-968D-2BE295DF98BC}"/>
                  </a:ext>
                </a:extLst>
              </p:cNvPr>
              <p:cNvSpPr txBox="1"/>
              <p:nvPr/>
            </p:nvSpPr>
            <p:spPr>
              <a:xfrm>
                <a:off x="2899302" y="1731352"/>
                <a:ext cx="3980656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83A5627-9349-4EC6-968D-2BE295DF9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302" y="1731352"/>
                <a:ext cx="3980656" cy="400110"/>
              </a:xfrm>
              <a:prstGeom prst="rect">
                <a:avLst/>
              </a:prstGeom>
              <a:blipFill>
                <a:blip r:embed="rId5"/>
                <a:stretch>
                  <a:fillRect t="-7463" b="-238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AEA589-5B66-4A93-8F0E-E3FB8EFA0F6C}"/>
                  </a:ext>
                </a:extLst>
              </p:cNvPr>
              <p:cNvSpPr txBox="1"/>
              <p:nvPr/>
            </p:nvSpPr>
            <p:spPr>
              <a:xfrm>
                <a:off x="5473122" y="5134940"/>
                <a:ext cx="3296138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AEA589-5B66-4A93-8F0E-E3FB8EFA0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122" y="5134940"/>
                <a:ext cx="3296138" cy="400110"/>
              </a:xfrm>
              <a:prstGeom prst="rect">
                <a:avLst/>
              </a:prstGeom>
              <a:blipFill>
                <a:blip r:embed="rId6"/>
                <a:stretch>
                  <a:fillRect t="-7463" b="-238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59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1" grpId="0" animBg="1"/>
      <p:bldP spid="73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A8DB7A-FED8-4045-B2EF-5DD6698B51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kern="0" dirty="0"/>
                  <a:t>Case 2b: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kern="0" dirty="0"/>
                  <a:t> has </a:t>
                </a:r>
                <a14:m>
                  <m:oMath xmlns:m="http://schemas.openxmlformats.org/officeDocument/2006/math">
                    <m:r>
                      <a:rPr lang="en-US" altLang="en-US" i="1" kern="0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kern="0" dirty="0"/>
                  <a:t> as endpoint</a:t>
                </a:r>
                <a:endParaRPr lang="en-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A8DB7A-FED8-4045-B2EF-5DD6698B5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Line 25"/>
          <p:cNvSpPr>
            <a:spLocks noChangeShapeType="1"/>
          </p:cNvSpPr>
          <p:nvPr/>
        </p:nvSpPr>
        <p:spPr bwMode="auto">
          <a:xfrm>
            <a:off x="5333256" y="2772544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24"/>
          <p:cNvSpPr>
            <a:spLocks noChangeShapeType="1"/>
          </p:cNvSpPr>
          <p:nvPr/>
        </p:nvSpPr>
        <p:spPr bwMode="auto">
          <a:xfrm>
            <a:off x="4037856" y="2772544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Line 17"/>
          <p:cNvSpPr>
            <a:spLocks noChangeShapeType="1"/>
          </p:cNvSpPr>
          <p:nvPr/>
        </p:nvSpPr>
        <p:spPr bwMode="auto">
          <a:xfrm>
            <a:off x="4723656" y="277254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Line 16"/>
          <p:cNvSpPr>
            <a:spLocks noChangeShapeType="1"/>
          </p:cNvSpPr>
          <p:nvPr/>
        </p:nvSpPr>
        <p:spPr bwMode="auto">
          <a:xfrm>
            <a:off x="3428256" y="277254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Oval 4"/>
          <p:cNvSpPr>
            <a:spLocks noChangeArrowheads="1"/>
          </p:cNvSpPr>
          <p:nvPr/>
        </p:nvSpPr>
        <p:spPr bwMode="auto">
          <a:xfrm>
            <a:off x="3275856" y="2620144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Oval 5"/>
          <p:cNvSpPr>
            <a:spLocks noChangeArrowheads="1"/>
          </p:cNvSpPr>
          <p:nvPr/>
        </p:nvSpPr>
        <p:spPr bwMode="auto">
          <a:xfrm>
            <a:off x="3885456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Oval 6"/>
          <p:cNvSpPr>
            <a:spLocks noChangeArrowheads="1"/>
          </p:cNvSpPr>
          <p:nvPr/>
        </p:nvSpPr>
        <p:spPr bwMode="auto">
          <a:xfrm>
            <a:off x="4495056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Oval 7"/>
          <p:cNvSpPr>
            <a:spLocks noChangeArrowheads="1"/>
          </p:cNvSpPr>
          <p:nvPr/>
        </p:nvSpPr>
        <p:spPr bwMode="auto">
          <a:xfrm>
            <a:off x="5104656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3428256" y="2420888"/>
            <a:ext cx="3104592" cy="0"/>
          </a:xfrm>
          <a:prstGeom prst="line">
            <a:avLst/>
          </a:prstGeom>
          <a:solidFill>
            <a:srgbClr val="FFFF00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Line 17"/>
          <p:cNvSpPr>
            <a:spLocks noChangeShapeType="1"/>
          </p:cNvSpPr>
          <p:nvPr/>
        </p:nvSpPr>
        <p:spPr bwMode="auto">
          <a:xfrm>
            <a:off x="5981514" y="277254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5752914" y="2620144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Oval 22"/>
          <p:cNvSpPr>
            <a:spLocks noChangeArrowheads="1"/>
          </p:cNvSpPr>
          <p:nvPr/>
        </p:nvSpPr>
        <p:spPr bwMode="auto">
          <a:xfrm>
            <a:off x="6321099" y="2571306"/>
            <a:ext cx="376808" cy="402476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4EC575-627E-4D45-B945-A1A1552D92E3}"/>
              </a:ext>
            </a:extLst>
          </p:cNvPr>
          <p:cNvGrpSpPr/>
          <p:nvPr/>
        </p:nvGrpSpPr>
        <p:grpSpPr>
          <a:xfrm>
            <a:off x="3590445" y="3933056"/>
            <a:ext cx="4005891" cy="1609163"/>
            <a:chOff x="3590445" y="3933056"/>
            <a:chExt cx="4005891" cy="1609163"/>
          </a:xfrm>
        </p:grpSpPr>
        <p:sp>
          <p:nvSpPr>
            <p:cNvPr id="75" name="Line 17"/>
            <p:cNvSpPr>
              <a:spLocks noChangeShapeType="1"/>
            </p:cNvSpPr>
            <p:nvPr/>
          </p:nvSpPr>
          <p:spPr bwMode="auto">
            <a:xfrm flipV="1">
              <a:off x="6217013" y="4695056"/>
              <a:ext cx="2890" cy="640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29"/>
            <p:cNvSpPr>
              <a:spLocks noChangeShapeType="1"/>
            </p:cNvSpPr>
            <p:nvPr/>
          </p:nvSpPr>
          <p:spPr bwMode="auto">
            <a:xfrm>
              <a:off x="5691336" y="46188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6910536" y="46188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27"/>
            <p:cNvSpPr>
              <a:spLocks noChangeShapeType="1"/>
            </p:cNvSpPr>
            <p:nvPr/>
          </p:nvSpPr>
          <p:spPr bwMode="auto">
            <a:xfrm>
              <a:off x="6834336" y="40854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26"/>
            <p:cNvSpPr>
              <a:spLocks noChangeShapeType="1"/>
            </p:cNvSpPr>
            <p:nvPr/>
          </p:nvSpPr>
          <p:spPr bwMode="auto">
            <a:xfrm>
              <a:off x="5691336" y="4085456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23"/>
            <p:cNvSpPr>
              <a:spLocks noChangeShapeType="1"/>
            </p:cNvSpPr>
            <p:nvPr/>
          </p:nvSpPr>
          <p:spPr bwMode="auto">
            <a:xfrm>
              <a:off x="5081736" y="4390256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21"/>
            <p:cNvSpPr>
              <a:spLocks noChangeShapeType="1"/>
            </p:cNvSpPr>
            <p:nvPr/>
          </p:nvSpPr>
          <p:spPr bwMode="auto">
            <a:xfrm flipH="1">
              <a:off x="5081736" y="4085456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20"/>
            <p:cNvSpPr>
              <a:spLocks noChangeShapeType="1"/>
            </p:cNvSpPr>
            <p:nvPr/>
          </p:nvSpPr>
          <p:spPr bwMode="auto">
            <a:xfrm flipH="1">
              <a:off x="7443936" y="4085456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19"/>
            <p:cNvSpPr>
              <a:spLocks noChangeShapeType="1"/>
            </p:cNvSpPr>
            <p:nvPr/>
          </p:nvSpPr>
          <p:spPr bwMode="auto">
            <a:xfrm>
              <a:off x="6300936" y="46188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Line 18"/>
            <p:cNvSpPr>
              <a:spLocks noChangeShapeType="1"/>
            </p:cNvSpPr>
            <p:nvPr/>
          </p:nvSpPr>
          <p:spPr bwMode="auto">
            <a:xfrm>
              <a:off x="6300936" y="408545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Oval 8"/>
            <p:cNvSpPr>
              <a:spLocks noChangeArrowheads="1"/>
            </p:cNvSpPr>
            <p:nvPr/>
          </p:nvSpPr>
          <p:spPr bwMode="auto">
            <a:xfrm>
              <a:off x="5462736" y="39330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Oval 9"/>
            <p:cNvSpPr>
              <a:spLocks noChangeArrowheads="1"/>
            </p:cNvSpPr>
            <p:nvPr/>
          </p:nvSpPr>
          <p:spPr bwMode="auto">
            <a:xfrm>
              <a:off x="6072336" y="39330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Oval 10"/>
            <p:cNvSpPr>
              <a:spLocks noChangeArrowheads="1"/>
            </p:cNvSpPr>
            <p:nvPr/>
          </p:nvSpPr>
          <p:spPr bwMode="auto">
            <a:xfrm>
              <a:off x="6681936" y="39330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Oval 11"/>
            <p:cNvSpPr>
              <a:spLocks noChangeArrowheads="1"/>
            </p:cNvSpPr>
            <p:nvPr/>
          </p:nvSpPr>
          <p:spPr bwMode="auto">
            <a:xfrm>
              <a:off x="7291536" y="39330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Oval 12"/>
            <p:cNvSpPr>
              <a:spLocks noChangeArrowheads="1"/>
            </p:cNvSpPr>
            <p:nvPr/>
          </p:nvSpPr>
          <p:spPr bwMode="auto">
            <a:xfrm>
              <a:off x="7291536" y="44664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Oval 13"/>
            <p:cNvSpPr>
              <a:spLocks noChangeArrowheads="1"/>
            </p:cNvSpPr>
            <p:nvPr/>
          </p:nvSpPr>
          <p:spPr bwMode="auto">
            <a:xfrm>
              <a:off x="6681936" y="44664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Oval 14"/>
            <p:cNvSpPr>
              <a:spLocks noChangeArrowheads="1"/>
            </p:cNvSpPr>
            <p:nvPr/>
          </p:nvSpPr>
          <p:spPr bwMode="auto">
            <a:xfrm>
              <a:off x="6072336" y="44664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Oval 15"/>
            <p:cNvSpPr>
              <a:spLocks noChangeArrowheads="1"/>
            </p:cNvSpPr>
            <p:nvPr/>
          </p:nvSpPr>
          <p:spPr bwMode="auto">
            <a:xfrm>
              <a:off x="5462736" y="44664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Oval 22"/>
            <p:cNvSpPr>
              <a:spLocks noChangeArrowheads="1"/>
            </p:cNvSpPr>
            <p:nvPr/>
          </p:nvSpPr>
          <p:spPr bwMode="auto">
            <a:xfrm>
              <a:off x="4929336" y="4237856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25"/>
            <p:cNvSpPr>
              <a:spLocks noChangeShapeType="1"/>
            </p:cNvSpPr>
            <p:nvPr/>
          </p:nvSpPr>
          <p:spPr bwMode="auto">
            <a:xfrm>
              <a:off x="5647845" y="5389819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24"/>
            <p:cNvSpPr>
              <a:spLocks noChangeShapeType="1"/>
            </p:cNvSpPr>
            <p:nvPr/>
          </p:nvSpPr>
          <p:spPr bwMode="auto">
            <a:xfrm>
              <a:off x="4352445" y="5389819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17"/>
            <p:cNvSpPr>
              <a:spLocks noChangeShapeType="1"/>
            </p:cNvSpPr>
            <p:nvPr/>
          </p:nvSpPr>
          <p:spPr bwMode="auto">
            <a:xfrm>
              <a:off x="5038245" y="538981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16"/>
            <p:cNvSpPr>
              <a:spLocks noChangeShapeType="1"/>
            </p:cNvSpPr>
            <p:nvPr/>
          </p:nvSpPr>
          <p:spPr bwMode="auto">
            <a:xfrm>
              <a:off x="3742845" y="538981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4"/>
            <p:cNvSpPr>
              <a:spLocks noChangeArrowheads="1"/>
            </p:cNvSpPr>
            <p:nvPr/>
          </p:nvSpPr>
          <p:spPr bwMode="auto">
            <a:xfrm>
              <a:off x="3590445" y="5237419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Oval 5"/>
            <p:cNvSpPr>
              <a:spLocks noChangeArrowheads="1"/>
            </p:cNvSpPr>
            <p:nvPr/>
          </p:nvSpPr>
          <p:spPr bwMode="auto">
            <a:xfrm>
              <a:off x="4200045" y="5237419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Oval 6"/>
            <p:cNvSpPr>
              <a:spLocks noChangeArrowheads="1"/>
            </p:cNvSpPr>
            <p:nvPr/>
          </p:nvSpPr>
          <p:spPr bwMode="auto">
            <a:xfrm>
              <a:off x="4809645" y="5237419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Oval 7"/>
            <p:cNvSpPr>
              <a:spLocks noChangeArrowheads="1"/>
            </p:cNvSpPr>
            <p:nvPr/>
          </p:nvSpPr>
          <p:spPr bwMode="auto">
            <a:xfrm>
              <a:off x="5419245" y="5237419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4" name="Straight Connector 73"/>
            <p:cNvCxnSpPr/>
            <p:nvPr/>
          </p:nvCxnSpPr>
          <p:spPr bwMode="auto">
            <a:xfrm>
              <a:off x="3734461" y="5115272"/>
              <a:ext cx="2322211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" name="Oval 6"/>
            <p:cNvSpPr>
              <a:spLocks noChangeArrowheads="1"/>
            </p:cNvSpPr>
            <p:nvPr/>
          </p:nvSpPr>
          <p:spPr bwMode="auto">
            <a:xfrm>
              <a:off x="6067503" y="5237419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89" name="Straight Connector 88"/>
            <p:cNvCxnSpPr/>
            <p:nvPr/>
          </p:nvCxnSpPr>
          <p:spPr bwMode="auto">
            <a:xfrm flipH="1" flipV="1">
              <a:off x="6054526" y="4827240"/>
              <a:ext cx="2146" cy="288032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Straight Connector 94"/>
            <p:cNvCxnSpPr/>
            <p:nvPr/>
          </p:nvCxnSpPr>
          <p:spPr bwMode="auto">
            <a:xfrm flipH="1" flipV="1">
              <a:off x="4979525" y="4653136"/>
              <a:ext cx="483211" cy="182488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Straight Connector 95"/>
            <p:cNvCxnSpPr/>
            <p:nvPr/>
          </p:nvCxnSpPr>
          <p:spPr bwMode="auto">
            <a:xfrm>
              <a:off x="5451905" y="4835624"/>
              <a:ext cx="603694" cy="0"/>
            </a:xfrm>
            <a:prstGeom prst="line">
              <a:avLst/>
            </a:prstGeom>
            <a:solidFill>
              <a:srgbClr val="FFFF00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F164B1B-908C-41A1-B23D-B5B5E0B5229A}"/>
              </a:ext>
            </a:extLst>
          </p:cNvPr>
          <p:cNvSpPr/>
          <p:nvPr/>
        </p:nvSpPr>
        <p:spPr bwMode="auto">
          <a:xfrm rot="5400000">
            <a:off x="4082977" y="3375372"/>
            <a:ext cx="892794" cy="490810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D9FDDB6-72E0-4928-9AFA-9EFCECA27CD0}"/>
                  </a:ext>
                </a:extLst>
              </p:cNvPr>
              <p:cNvSpPr txBox="1"/>
              <p:nvPr/>
            </p:nvSpPr>
            <p:spPr>
              <a:xfrm>
                <a:off x="2899302" y="1731352"/>
                <a:ext cx="3980656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D9FDDB6-72E0-4928-9AFA-9EFCECA27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302" y="1731352"/>
                <a:ext cx="3980656" cy="400110"/>
              </a:xfrm>
              <a:prstGeom prst="rect">
                <a:avLst/>
              </a:prstGeom>
              <a:blipFill>
                <a:blip r:embed="rId4"/>
                <a:stretch>
                  <a:fillRect t="-7463" b="-238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D87D31-B2F1-4E3E-9A4E-5501AAEEEBFD}"/>
                  </a:ext>
                </a:extLst>
              </p:cNvPr>
              <p:cNvSpPr txBox="1"/>
              <p:nvPr/>
            </p:nvSpPr>
            <p:spPr>
              <a:xfrm>
                <a:off x="1323007" y="4474189"/>
                <a:ext cx="3296138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+mj-lt"/>
                  </a:rPr>
                  <a:t>-Augmenting Path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D87D31-B2F1-4E3E-9A4E-5501AAEEE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7" y="4474189"/>
                <a:ext cx="3296138" cy="400110"/>
              </a:xfrm>
              <a:prstGeom prst="rect">
                <a:avLst/>
              </a:prstGeom>
              <a:blipFill>
                <a:blip r:embed="rId5"/>
                <a:stretch>
                  <a:fillRect t="-8955" b="-238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29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7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8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</p:spPr>
            <p:txBody>
              <a:bodyPr/>
              <a:lstStyle/>
              <a:p>
                <a:r>
                  <a:rPr lang="en-US" altLang="en-US" dirty="0"/>
                  <a:t>We have proven, for any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-blossom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:</a:t>
                </a:r>
              </a:p>
              <a:p>
                <a:pPr lvl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path, then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</a:t>
                </a:r>
              </a:p>
              <a:p>
                <a:endParaRPr lang="en-US" altLang="en-US" sz="800" dirty="0"/>
              </a:p>
              <a:p>
                <a:r>
                  <a:rPr lang="en-US" altLang="en-US" dirty="0"/>
                  <a:t>To prove the converse:</a:t>
                </a:r>
              </a:p>
              <a:p>
                <a:pPr lvl="1"/>
                <a:r>
                  <a:rPr lang="en-US" altLang="en-US" dirty="0"/>
                  <a:t>We make sure that the blossom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has an unmatched vertex: if not, flip the stem to obtain matching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We prove that if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-augmenting path, then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</a:t>
                </a:r>
              </a:p>
              <a:p>
                <a:pPr marL="457200" lvl="1" indent="0">
                  <a:buNone/>
                </a:pPr>
                <a:endParaRPr lang="en-US" altLang="en-US" dirty="0"/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Note: for any matchings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with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’|</m:t>
                    </m:r>
                  </m:oMath>
                </a14:m>
                <a:r>
                  <a:rPr lang="en-US" altLang="en-US" dirty="0"/>
                  <a:t> in a graph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path, if and only if,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-augmenting path</a:t>
                </a:r>
              </a:p>
            </p:txBody>
          </p:sp>
        </mc:Choice>
        <mc:Fallback xmlns="">
          <p:sp>
            <p:nvSpPr>
              <p:cNvPr id="293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  <a:blipFill>
                <a:blip r:embed="rId2"/>
                <a:stretch>
                  <a:fillRect l="-161" t="-769" b="-969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FC5E686-E3A1-4E01-9E7F-0004CF91B607}"/>
              </a:ext>
            </a:extLst>
          </p:cNvPr>
          <p:cNvGrpSpPr/>
          <p:nvPr/>
        </p:nvGrpSpPr>
        <p:grpSpPr>
          <a:xfrm>
            <a:off x="473848" y="4320355"/>
            <a:ext cx="3810000" cy="838200"/>
            <a:chOff x="329952" y="1659880"/>
            <a:chExt cx="3810000" cy="838200"/>
          </a:xfrm>
        </p:grpSpPr>
        <p:sp>
          <p:nvSpPr>
            <p:cNvPr id="7" name="Line 29">
              <a:extLst>
                <a:ext uri="{FF2B5EF4-FFF2-40B4-BE49-F238E27FC236}">
                  <a16:creationId xmlns:a16="http://schemas.microsoft.com/office/drawing/2014/main" id="{1841B4A4-292A-4E38-94A0-3EBEE819B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152" y="234568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26">
              <a:extLst>
                <a:ext uri="{FF2B5EF4-FFF2-40B4-BE49-F238E27FC236}">
                  <a16:creationId xmlns:a16="http://schemas.microsoft.com/office/drawing/2014/main" id="{16573BE2-900A-4384-A653-8D7554BAC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152" y="181228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681CA9C5-4E81-4D6D-8BEC-A6F9E81B1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7352" y="211708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B07849AF-5026-45F6-86D3-CCC944026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1952" y="211708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23">
              <a:extLst>
                <a:ext uri="{FF2B5EF4-FFF2-40B4-BE49-F238E27FC236}">
                  <a16:creationId xmlns:a16="http://schemas.microsoft.com/office/drawing/2014/main" id="{ACB43425-4EDB-4DC0-B0FA-EC0BEC841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552" y="2117080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F238D0A5-9262-4CEA-BBE2-FBE5D68853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4552" y="181228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0F0229B0-B5D1-41AF-9A4F-659219D7C1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7552" y="181228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0A87EB8E-5C40-415E-8E3A-A56751950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752" y="211708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E427E9B5-AAAC-4CCC-9CAB-4BCFB5864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352" y="211708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4">
              <a:extLst>
                <a:ext uri="{FF2B5EF4-FFF2-40B4-BE49-F238E27FC236}">
                  <a16:creationId xmlns:a16="http://schemas.microsoft.com/office/drawing/2014/main" id="{7B86A5F0-57F6-4747-959D-21D7796EE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952" y="196468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6831A9A3-96EF-489E-B6D5-9074DE3A4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552" y="19646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6">
              <a:extLst>
                <a:ext uri="{FF2B5EF4-FFF2-40B4-BE49-F238E27FC236}">
                  <a16:creationId xmlns:a16="http://schemas.microsoft.com/office/drawing/2014/main" id="{69C9237A-7869-4676-9AE6-1A27133EC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152" y="19646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7">
              <a:extLst>
                <a:ext uri="{FF2B5EF4-FFF2-40B4-BE49-F238E27FC236}">
                  <a16:creationId xmlns:a16="http://schemas.microsoft.com/office/drawing/2014/main" id="{25C0EC6A-9FEC-4488-99F6-0F2DB8D34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752" y="19646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8">
              <a:extLst>
                <a:ext uri="{FF2B5EF4-FFF2-40B4-BE49-F238E27FC236}">
                  <a16:creationId xmlns:a16="http://schemas.microsoft.com/office/drawing/2014/main" id="{75049C7F-82D3-4AF5-9EED-26BCF7D03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5552" y="16598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9FBFCB78-C129-4EAD-854B-62DA547F0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152" y="16598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14">
              <a:extLst>
                <a:ext uri="{FF2B5EF4-FFF2-40B4-BE49-F238E27FC236}">
                  <a16:creationId xmlns:a16="http://schemas.microsoft.com/office/drawing/2014/main" id="{B083B053-296E-46F9-9FE4-991FD28E3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152" y="21932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15">
              <a:extLst>
                <a:ext uri="{FF2B5EF4-FFF2-40B4-BE49-F238E27FC236}">
                  <a16:creationId xmlns:a16="http://schemas.microsoft.com/office/drawing/2014/main" id="{40EBF1B8-151C-4A6C-AC5D-F4D69C441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5552" y="21932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E8CEE0A3-EED3-4C0B-8F48-55F1A9C43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2152" y="196468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5C397-8BA8-42B1-A1E0-90EF62721D36}"/>
              </a:ext>
            </a:extLst>
          </p:cNvPr>
          <p:cNvGrpSpPr/>
          <p:nvPr/>
        </p:nvGrpSpPr>
        <p:grpSpPr>
          <a:xfrm>
            <a:off x="5202508" y="4284115"/>
            <a:ext cx="3810000" cy="838200"/>
            <a:chOff x="4811216" y="2230760"/>
            <a:chExt cx="3810000" cy="838200"/>
          </a:xfrm>
        </p:grpSpPr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84968B26-8F91-4194-8F88-D19FC407F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416" y="29165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1CC67399-2213-42B7-AEC5-A46ACFA85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416" y="23831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6605F370-C8DF-476A-87AF-85F7FA8D4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8616" y="268796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A38A701B-FFBA-480F-92B6-CC99BB457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3216" y="268796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3681DB05-A88B-46F5-A6AD-7AC87430B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5816" y="2687960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4130E0E0-5CAF-4791-A67A-9A3C8F2C3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5816" y="238316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0">
              <a:extLst>
                <a:ext uri="{FF2B5EF4-FFF2-40B4-BE49-F238E27FC236}">
                  <a16:creationId xmlns:a16="http://schemas.microsoft.com/office/drawing/2014/main" id="{AB156B32-3BA7-4B04-A3E3-C66BBE971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8816" y="238316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17">
              <a:extLst>
                <a:ext uri="{FF2B5EF4-FFF2-40B4-BE49-F238E27FC236}">
                  <a16:creationId xmlns:a16="http://schemas.microsoft.com/office/drawing/2014/main" id="{BB977A74-B6B8-4F66-B1EB-44676C8D9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9016" y="26879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F1ECA066-F0FA-47ED-B9D3-06F41DDE2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616" y="26879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4">
              <a:extLst>
                <a:ext uri="{FF2B5EF4-FFF2-40B4-BE49-F238E27FC236}">
                  <a16:creationId xmlns:a16="http://schemas.microsoft.com/office/drawing/2014/main" id="{BB165904-3D77-4A43-B129-C475444BA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9616" y="253556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9F7C84F0-4623-457C-BFB7-C3C22E6D6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816" y="25355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6">
              <a:extLst>
                <a:ext uri="{FF2B5EF4-FFF2-40B4-BE49-F238E27FC236}">
                  <a16:creationId xmlns:a16="http://schemas.microsoft.com/office/drawing/2014/main" id="{7BC18F98-C103-402F-B5AD-96751B0EA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416" y="25355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7">
              <a:extLst>
                <a:ext uri="{FF2B5EF4-FFF2-40B4-BE49-F238E27FC236}">
                  <a16:creationId xmlns:a16="http://schemas.microsoft.com/office/drawing/2014/main" id="{15367365-CBDE-49CE-A545-3832D60C6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016" y="25355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8">
              <a:extLst>
                <a:ext uri="{FF2B5EF4-FFF2-40B4-BE49-F238E27FC236}">
                  <a16:creationId xmlns:a16="http://schemas.microsoft.com/office/drawing/2014/main" id="{B5B16C0A-D44B-4C04-BD77-075EB965F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816" y="22307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9">
              <a:extLst>
                <a:ext uri="{FF2B5EF4-FFF2-40B4-BE49-F238E27FC236}">
                  <a16:creationId xmlns:a16="http://schemas.microsoft.com/office/drawing/2014/main" id="{DF95990D-C61E-447A-8CF4-B31EAD183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416" y="22307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14">
              <a:extLst>
                <a:ext uri="{FF2B5EF4-FFF2-40B4-BE49-F238E27FC236}">
                  <a16:creationId xmlns:a16="http://schemas.microsoft.com/office/drawing/2014/main" id="{2067A27D-90ED-4C3D-BDD4-08803F51F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416" y="27641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5">
              <a:extLst>
                <a:ext uri="{FF2B5EF4-FFF2-40B4-BE49-F238E27FC236}">
                  <a16:creationId xmlns:a16="http://schemas.microsoft.com/office/drawing/2014/main" id="{2D4D5FB9-87CA-4DAA-BDEC-1CC924923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816" y="27641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22">
              <a:extLst>
                <a:ext uri="{FF2B5EF4-FFF2-40B4-BE49-F238E27FC236}">
                  <a16:creationId xmlns:a16="http://schemas.microsoft.com/office/drawing/2014/main" id="{0C1B63A1-DA14-4F7C-AC5B-69570D82C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216" y="25337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E7468477-DFB0-4897-AA84-0F1F570AAE24}"/>
              </a:ext>
            </a:extLst>
          </p:cNvPr>
          <p:cNvSpPr/>
          <p:nvPr/>
        </p:nvSpPr>
        <p:spPr bwMode="auto">
          <a:xfrm>
            <a:off x="4440508" y="4507784"/>
            <a:ext cx="619795" cy="437182"/>
          </a:xfrm>
          <a:prstGeom prst="rightArrow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0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3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3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3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3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30">
                <a:extLst>
                  <a:ext uri="{FF2B5EF4-FFF2-40B4-BE49-F238E27FC236}">
                    <a16:creationId xmlns:a16="http://schemas.microsoft.com/office/drawing/2014/main" id="{95211534-0C2B-4E09-B138-56FA17288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8299" y="5153555"/>
                <a:ext cx="1715989" cy="139964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b"/>
              <a:lstStyle/>
              <a:p>
                <a14:m>
                  <m:oMath xmlns:m="http://schemas.openxmlformats.org/officeDocument/2006/math">
                    <m:r>
                      <a:rPr lang="en-US" alt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2000" dirty="0">
                    <a:solidFill>
                      <a:schemeClr val="bg1"/>
                    </a:solidFill>
                  </a:rPr>
                  <a:t>-blossom</a:t>
                </a:r>
                <a:endParaRPr lang="nl-NL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Rectangle 30">
                <a:extLst>
                  <a:ext uri="{FF2B5EF4-FFF2-40B4-BE49-F238E27FC236}">
                    <a16:creationId xmlns:a16="http://schemas.microsoft.com/office/drawing/2014/main" id="{95211534-0C2B-4E09-B138-56FA172883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8299" y="5153555"/>
                <a:ext cx="1715989" cy="1399645"/>
              </a:xfrm>
              <a:prstGeom prst="rect">
                <a:avLst/>
              </a:prstGeom>
              <a:blipFill>
                <a:blip r:embed="rId3"/>
                <a:stretch>
                  <a:fillRect b="-732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8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To prove:</a:t>
                </a:r>
              </a:p>
              <a:p>
                <a:r>
                  <a:rPr lang="en-US" altLang="en-US" dirty="0"/>
                  <a:t>for any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-blossom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, and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 as just defined</a:t>
                </a:r>
              </a:p>
              <a:p>
                <a:pPr lvl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-augmenting path, then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′/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</a:t>
                </a:r>
              </a:p>
              <a:p>
                <a:pPr lvl="1"/>
                <a:endParaRPr lang="en-US" altLang="en-US" sz="800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-augmenting path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en-US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does not intersect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then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is 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’/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Otherwise, assume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does not start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, if not reverse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There is no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</a:t>
                </a:r>
                <a:r>
                  <a:rPr lang="en-US" altLang="en-US" sz="1400" dirty="0"/>
                  <a:t>(only an </a:t>
                </a:r>
                <a14:m>
                  <m:oMath xmlns:m="http://schemas.openxmlformats.org/officeDocument/2006/math">
                    <m:r>
                      <a:rPr lang="en-US" altLang="en-US" sz="1400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sz="1400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sz="1400" dirty="0"/>
                  <a:t>-augmenting walk) </a:t>
                </a:r>
                <a:endParaRPr lang="en-US" altLang="en-US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Since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is free in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, the part of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until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is an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’/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en-US" dirty="0"/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293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592888" cy="3962400"/>
              </a:xfrm>
              <a:blipFill>
                <a:blip r:embed="rId6"/>
                <a:stretch>
                  <a:fillRect l="-642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3D240E1F-FB03-4D30-8A4E-742F5B4D7811}"/>
              </a:ext>
            </a:extLst>
          </p:cNvPr>
          <p:cNvGrpSpPr/>
          <p:nvPr/>
        </p:nvGrpSpPr>
        <p:grpSpPr>
          <a:xfrm>
            <a:off x="3162300" y="5301208"/>
            <a:ext cx="3810000" cy="838200"/>
            <a:chOff x="4811216" y="2230760"/>
            <a:chExt cx="3810000" cy="838200"/>
          </a:xfrm>
        </p:grpSpPr>
        <p:sp>
          <p:nvSpPr>
            <p:cNvPr id="59" name="Line 29">
              <a:extLst>
                <a:ext uri="{FF2B5EF4-FFF2-40B4-BE49-F238E27FC236}">
                  <a16:creationId xmlns:a16="http://schemas.microsoft.com/office/drawing/2014/main" id="{A9A1413B-230B-4FBC-B739-C8445A5C6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416" y="29165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26">
              <a:extLst>
                <a:ext uri="{FF2B5EF4-FFF2-40B4-BE49-F238E27FC236}">
                  <a16:creationId xmlns:a16="http://schemas.microsoft.com/office/drawing/2014/main" id="{DD5CB941-D3BE-4EA5-AA47-BE477BFC7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416" y="23831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25">
              <a:extLst>
                <a:ext uri="{FF2B5EF4-FFF2-40B4-BE49-F238E27FC236}">
                  <a16:creationId xmlns:a16="http://schemas.microsoft.com/office/drawing/2014/main" id="{DAF307C7-83A6-4542-BE26-EBAE4FF73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8616" y="268796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24">
              <a:extLst>
                <a:ext uri="{FF2B5EF4-FFF2-40B4-BE49-F238E27FC236}">
                  <a16:creationId xmlns:a16="http://schemas.microsoft.com/office/drawing/2014/main" id="{ABFBBBEF-9F90-445B-B22F-276A50B07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3216" y="268796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23">
              <a:extLst>
                <a:ext uri="{FF2B5EF4-FFF2-40B4-BE49-F238E27FC236}">
                  <a16:creationId xmlns:a16="http://schemas.microsoft.com/office/drawing/2014/main" id="{D5E137CC-4E40-45D3-BBEB-E44A33A7D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5816" y="2687960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21">
              <a:extLst>
                <a:ext uri="{FF2B5EF4-FFF2-40B4-BE49-F238E27FC236}">
                  <a16:creationId xmlns:a16="http://schemas.microsoft.com/office/drawing/2014/main" id="{49CE599C-6B88-43EC-8D1E-E1B544D39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5816" y="238316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20">
              <a:extLst>
                <a:ext uri="{FF2B5EF4-FFF2-40B4-BE49-F238E27FC236}">
                  <a16:creationId xmlns:a16="http://schemas.microsoft.com/office/drawing/2014/main" id="{91A2DA40-9E17-4429-B3B5-4054BDD7B9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8816" y="238316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17">
              <a:extLst>
                <a:ext uri="{FF2B5EF4-FFF2-40B4-BE49-F238E27FC236}">
                  <a16:creationId xmlns:a16="http://schemas.microsoft.com/office/drawing/2014/main" id="{BE3A7FD1-FAAB-47C5-9C30-8FBDF7618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9016" y="26879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Line 16">
              <a:extLst>
                <a:ext uri="{FF2B5EF4-FFF2-40B4-BE49-F238E27FC236}">
                  <a16:creationId xmlns:a16="http://schemas.microsoft.com/office/drawing/2014/main" id="{0B49AEF6-54F9-4A4B-835D-49FD41DD9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616" y="2687960"/>
              <a:ext cx="533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Oval 4">
              <a:extLst>
                <a:ext uri="{FF2B5EF4-FFF2-40B4-BE49-F238E27FC236}">
                  <a16:creationId xmlns:a16="http://schemas.microsoft.com/office/drawing/2014/main" id="{20ADEF4C-71E4-4BDC-8059-038EE0D38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9616" y="253556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Oval 5">
              <a:extLst>
                <a:ext uri="{FF2B5EF4-FFF2-40B4-BE49-F238E27FC236}">
                  <a16:creationId xmlns:a16="http://schemas.microsoft.com/office/drawing/2014/main" id="{92491634-AECD-4A06-A667-DA3FF09C3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816" y="25355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Oval 6">
              <a:extLst>
                <a:ext uri="{FF2B5EF4-FFF2-40B4-BE49-F238E27FC236}">
                  <a16:creationId xmlns:a16="http://schemas.microsoft.com/office/drawing/2014/main" id="{782288AB-21F0-4DE5-9E9C-CFB87608C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416" y="25355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Oval 7">
              <a:extLst>
                <a:ext uri="{FF2B5EF4-FFF2-40B4-BE49-F238E27FC236}">
                  <a16:creationId xmlns:a16="http://schemas.microsoft.com/office/drawing/2014/main" id="{B48D133A-C9BD-4D29-9236-678933610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016" y="25355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Oval 8">
              <a:extLst>
                <a:ext uri="{FF2B5EF4-FFF2-40B4-BE49-F238E27FC236}">
                  <a16:creationId xmlns:a16="http://schemas.microsoft.com/office/drawing/2014/main" id="{DE7A2CF0-F2E5-4ECE-8091-702754FF1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816" y="22307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Oval 9">
              <a:extLst>
                <a:ext uri="{FF2B5EF4-FFF2-40B4-BE49-F238E27FC236}">
                  <a16:creationId xmlns:a16="http://schemas.microsoft.com/office/drawing/2014/main" id="{A4FF60F3-5C61-4F90-BAC8-CF879ADBC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416" y="22307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Oval 14">
              <a:extLst>
                <a:ext uri="{FF2B5EF4-FFF2-40B4-BE49-F238E27FC236}">
                  <a16:creationId xmlns:a16="http://schemas.microsoft.com/office/drawing/2014/main" id="{D813C1D7-FB67-4B40-9893-FF0C75C40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416" y="27641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Oval 15">
              <a:extLst>
                <a:ext uri="{FF2B5EF4-FFF2-40B4-BE49-F238E27FC236}">
                  <a16:creationId xmlns:a16="http://schemas.microsoft.com/office/drawing/2014/main" id="{E8EEDC2F-B532-4018-B016-60AE2E28B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816" y="276416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22">
              <a:extLst>
                <a:ext uri="{FF2B5EF4-FFF2-40B4-BE49-F238E27FC236}">
                  <a16:creationId xmlns:a16="http://schemas.microsoft.com/office/drawing/2014/main" id="{50149026-55B2-4390-9F59-0B1ED6D97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216" y="25337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Algorithm rephrased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8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4192488"/>
              </a:xfrm>
            </p:spPr>
            <p:txBody>
              <a:bodyPr/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b="1" dirty="0"/>
                  <a:t>Procedure</a:t>
                </a:r>
                <a:r>
                  <a:rPr lang="en-US" altLang="en-US" dirty="0"/>
                  <a:t>: find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in a graph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en-US" dirty="0"/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Build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dirty="0"/>
                  <a:t> to test if there is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-alternating walk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from the free vertices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 to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 of positive length (using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dirty="0"/>
                  <a:t>, etc.)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If no such walk exists: return that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is a maximum matching 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If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is found return it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If we find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-flower with blossom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Shrink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and recursively find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 in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 has no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path: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is a maximum matching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Otherwise, expand the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-augmenting path to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b="1" dirty="0"/>
                  <a:t>Algorithm:</a:t>
                </a:r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Start with some matching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en-US" dirty="0"/>
              </a:p>
              <a:p>
                <a:pPr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altLang="en-US" dirty="0"/>
                  <a:t>While an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exists: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Augment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using the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 </a:t>
                </a:r>
              </a:p>
            </p:txBody>
          </p:sp>
        </mc:Choice>
        <mc:Fallback xmlns="">
          <p:sp>
            <p:nvSpPr>
              <p:cNvPr id="2908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4192488"/>
              </a:xfrm>
              <a:blipFill>
                <a:blip r:embed="rId3"/>
                <a:stretch>
                  <a:fillRect l="-636" t="-1453" r="-716" b="-334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5810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Edmonds’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9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448872" cy="39624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A maximum matching can be found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dirty="0"/>
                  <a:t>time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iterations for augmenting the current matching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Recursion depth is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en-US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Work per recursive call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90000"/>
                  </a:lnSpc>
                </a:pPr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A perfect matching in a graph can be found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dirty="0"/>
                  <a:t>time, if it exists</a:t>
                </a:r>
              </a:p>
              <a:p>
                <a:pPr>
                  <a:lnSpc>
                    <a:spcPct val="90000"/>
                  </a:lnSpc>
                </a:pPr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Better analysis and data structures gives an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baseline="30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algorithm</a:t>
                </a:r>
              </a:p>
            </p:txBody>
          </p:sp>
        </mc:Choice>
        <mc:Fallback xmlns="">
          <p:sp>
            <p:nvSpPr>
              <p:cNvPr id="2979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448872" cy="3962400"/>
              </a:xfrm>
              <a:blipFill>
                <a:blip r:embed="rId2"/>
                <a:stretch>
                  <a:fillRect l="-164" t="-1538" r="-8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90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4264496"/>
              </a:xfrm>
            </p:spPr>
            <p:txBody>
              <a:bodyPr/>
              <a:lstStyle/>
              <a:p>
                <a:r>
                  <a:rPr lang="en-US" altLang="en-US" dirty="0"/>
                  <a:t>A similar algorithm exists for minimum </a:t>
                </a:r>
                <a:r>
                  <a:rPr lang="en-US" altLang="en-US"/>
                  <a:t>cost perfect matchings </a:t>
                </a:r>
                <a:endParaRPr lang="en-US" altLang="en-US" dirty="0"/>
              </a:p>
              <a:p>
                <a:pPr lvl="1"/>
                <a:r>
                  <a:rPr lang="en-US" altLang="en-US" dirty="0"/>
                  <a:t>This uses more involved structural ideas</a:t>
                </a:r>
                <a:br>
                  <a:rPr lang="en-US" altLang="en-US" dirty="0"/>
                </a:br>
                <a:endParaRPr lang="en-US" altLang="en-US" dirty="0"/>
              </a:p>
              <a:p>
                <a:r>
                  <a:rPr lang="en-US" altLang="en-US" dirty="0"/>
                  <a:t>Faster is also possible: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dirty="0"/>
                  <a:t>time</a:t>
                </a:r>
              </a:p>
              <a:p>
                <a:pPr lvl="1"/>
                <a:r>
                  <a:rPr lang="en-US" altLang="en-US" dirty="0"/>
                  <a:t>But this is by much more complicated algorithms</a:t>
                </a:r>
              </a:p>
              <a:p>
                <a:pPr lvl="1"/>
                <a:endParaRPr lang="en-US" altLang="en-US" dirty="0"/>
              </a:p>
              <a:p>
                <a:r>
                  <a:rPr lang="en-US" altLang="en-US" dirty="0"/>
                  <a:t>Further improvements to the run time are possible is we allow approximation and/or randomization</a:t>
                </a:r>
              </a:p>
              <a:p>
                <a:pPr marL="0" indent="0">
                  <a:buNone/>
                </a:pPr>
                <a:endParaRPr lang="en-US" altLang="en-US" dirty="0"/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2990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391400" cy="4264496"/>
              </a:xfrm>
              <a:blipFill>
                <a:blip r:embed="rId2"/>
                <a:stretch>
                  <a:fillRect l="-165" t="-71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Algorithms and Networks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IN REGULAR BIPARTITE GRAPHS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072607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Regular bipartite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Regular graph: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All vertices have the same degree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One also uses the term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dirty="0"/>
                  <a:t>-regular graph: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/>
                  <a:t>Then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dirty="0"/>
                  <a:t> is the degree of all vertices in the regular graph</a:t>
                </a:r>
              </a:p>
              <a:p>
                <a:pPr>
                  <a:lnSpc>
                    <a:spcPct val="90000"/>
                  </a:lnSpc>
                </a:pPr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endParaRPr lang="en-US" alt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b="1" dirty="0"/>
                  <a:t>Theorem </a:t>
                </a:r>
                <a:r>
                  <a:rPr lang="en-US" altLang="en-US" dirty="0"/>
                  <a:t>(recall from last time):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Each regular bipartite graph has a perfect matching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Schrijver’s algorithm finds such a perfect matching quickly</a:t>
                </a: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60" t="-13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5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5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5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5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 altLang="en-US" dirty="0"/>
              <a:t>Schrijver’s algorithm</a:t>
            </a:r>
            <a:br>
              <a:rPr lang="en-US" altLang="en-US" dirty="0"/>
            </a:br>
            <a:r>
              <a:rPr lang="en-US" altLang="en-US" sz="1800" dirty="0"/>
              <a:t>Perfect matchings in regular bipartite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03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371600" y="1828800"/>
                <a:ext cx="7391400" cy="4048472"/>
              </a:xfrm>
            </p:spPr>
            <p:txBody>
              <a:bodyPr/>
              <a:lstStyle/>
              <a:p>
                <a:r>
                  <a:rPr lang="en-US" altLang="en-US" dirty="0"/>
                  <a:t>Ingredients:</a:t>
                </a:r>
              </a:p>
              <a:p>
                <a:pPr lvl="1"/>
                <a:r>
                  <a:rPr lang="en-US" altLang="en-US" dirty="0"/>
                  <a:t>Each edge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en-US" dirty="0"/>
                  <a:t> has a weight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All weights are initialized to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en-US" dirty="0"/>
                  <a:t> denote the graph formed by the edges of positive weight</a:t>
                </a:r>
              </a:p>
              <a:p>
                <a:pPr lvl="1"/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b="1" dirty="0"/>
                  <a:t>Schrijver’s algorithm</a:t>
                </a:r>
              </a:p>
              <a:p>
                <a:r>
                  <a:rPr lang="en-US" altLang="en-US" dirty="0"/>
                  <a:t>While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en-US" dirty="0"/>
                  <a:t> has a cycle: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dirty="0"/>
                  <a:t>Take such a cycle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dirty="0"/>
                  <a:t> (which must have even length)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dirty="0"/>
                  <a:t>Split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dirty="0"/>
                  <a:t> into two matchings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dirty="0"/>
                  <a:t>, with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dirty="0"/>
                  <a:t>Increase the weight of each edge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by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dirty="0"/>
                  <a:t>Decrease the weight of each edge in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dirty="0"/>
                  <a:t> by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/>
              </a:p>
              <a:p>
                <a:pPr marL="400050"/>
                <a:r>
                  <a:rPr lang="en-US" altLang="en-US" dirty="0"/>
                  <a:t>Now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en-US" dirty="0"/>
                  <a:t> is a perfect matching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000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4048472"/>
              </a:xfrm>
              <a:blipFill>
                <a:blip r:embed="rId3"/>
                <a:stretch>
                  <a:fillRect l="-660" t="-75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AB772DD-8ABB-A40D-741D-6D1626DD948D}"/>
              </a:ext>
            </a:extLst>
          </p:cNvPr>
          <p:cNvSpPr txBox="1"/>
          <p:nvPr/>
        </p:nvSpPr>
        <p:spPr>
          <a:xfrm>
            <a:off x="1513170" y="6021288"/>
            <a:ext cx="7595334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en-US" sz="2000" dirty="0" err="1"/>
              <a:t>Eeuh</a:t>
            </a:r>
            <a:r>
              <a:rPr lang="en-US" altLang="en-US" sz="2000" dirty="0"/>
              <a:t>…. okay,… but why does this solve perfect matching?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0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0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0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0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On Schrijver’s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08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Let each vertex have degree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en-US" dirty="0"/>
              </a:p>
              <a:p>
                <a:r>
                  <a:rPr lang="en-US" altLang="en-US" dirty="0"/>
                  <a:t>Consider the following invariant: </a:t>
                </a:r>
              </a:p>
              <a:p>
                <a:pPr lvl="1"/>
                <a:r>
                  <a:rPr lang="en-US" altLang="en-US" dirty="0"/>
                  <a:t>For every vertex, the sum of the weights of the incident edges equals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Easy to see that the invariant holds throughout the execution of Schrijver’s algorithm</a:t>
                </a:r>
              </a:p>
              <a:p>
                <a:pPr lvl="1"/>
                <a:r>
                  <a:rPr lang="en-US" dirty="0"/>
                  <a:t>Weight 0 edges are fixed to not being in the perfect matching</a:t>
                </a:r>
                <a:endParaRPr lang="en-US" altLang="en-US" dirty="0"/>
              </a:p>
              <a:p>
                <a:pPr lvl="1"/>
                <a:r>
                  <a:rPr lang="en-US" dirty="0"/>
                  <a:t>Weight d edges are fixed to the perfect matching</a:t>
                </a:r>
              </a:p>
              <a:p>
                <a:endParaRPr lang="en-US" altLang="en-US" dirty="0"/>
              </a:p>
              <a:p>
                <a:r>
                  <a:rPr lang="en-US" altLang="en-US" dirty="0"/>
                  <a:t>At termination: </a:t>
                </a:r>
              </a:p>
              <a:p>
                <a:pPr lvl="1"/>
                <a:r>
                  <a:rPr lang="en-US" altLang="en-US" dirty="0"/>
                  <a:t>No cycle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i="1" baseline="-25000" dirty="0" err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Hence, by the invariant,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i="1" baseline="-25000" dirty="0" err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en-US" dirty="0"/>
                  <a:t> must be a perfect matching</a:t>
                </a:r>
              </a:p>
              <a:p>
                <a:pPr>
                  <a:buFontTx/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020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65" t="-769" r="-412" b="-2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2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2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 altLang="en-US" dirty="0"/>
              <a:t>Time analysis: finding circuits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10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371600" y="1828800"/>
                <a:ext cx="7520880" cy="41924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b="1" dirty="0"/>
                  <a:t>Finding circuits: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Keep a path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with edges of weight between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Initially pick a single vertex that has an appropriate edge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en-US" dirty="0"/>
                  <a:t> be last vertex on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en-US" dirty="0"/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​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en-US" dirty="0"/>
                  <a:t> must have edge not on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with weight between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en-US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en-US" dirty="0"/>
                  <a:t> be this edge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 is on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: we have a cycle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dirty="0"/>
                  <a:t>Apply step on cycle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dirty="0"/>
                  <a:t>Remove circuit from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, and continue with the smaller path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en-US" dirty="0"/>
                  <a:t>Otherwise, add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dirty="0"/>
                  <a:t> to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, and repeat</a:t>
                </a:r>
              </a:p>
              <a:p>
                <a:pPr marL="0" indent="0">
                  <a:buNone/>
                </a:pPr>
                <a:endParaRPr lang="en-US" altLang="en-US" sz="1200" dirty="0"/>
              </a:p>
              <a:p>
                <a:pPr marL="0" indent="0">
                  <a:buNone/>
                </a:pPr>
                <a:r>
                  <a:rPr lang="en-US" altLang="en-US" b="1" dirty="0"/>
                  <a:t>Time:</a:t>
                </a:r>
              </a:p>
              <a:p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(|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|) </m:t>
                    </m:r>
                  </m:oMath>
                </a14:m>
                <a:r>
                  <a:rPr lang="en-US" altLang="en-US" dirty="0"/>
                  <a:t>per circuit, plus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additional overhead</a:t>
                </a:r>
              </a:p>
            </p:txBody>
          </p:sp>
        </mc:Choice>
        <mc:Fallback xmlns="">
          <p:sp>
            <p:nvSpPr>
              <p:cNvPr id="303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520880" cy="4192488"/>
              </a:xfrm>
              <a:blipFill>
                <a:blip r:embed="rId3"/>
                <a:stretch>
                  <a:fillRect l="-648" t="-72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Full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4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448872" cy="3962400"/>
              </a:xfrm>
            </p:spPr>
            <p:txBody>
              <a:bodyPr/>
              <a:lstStyle/>
              <a:p>
                <a:r>
                  <a:rPr lang="en-US" altLang="en-US" dirty="0"/>
                  <a:t>Look at the sum over all edges of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𝑤</m:t>
                    </m:r>
                    <m:sSup>
                      <m:sSup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 dirty="0" smtClean="0">
                                <a:latin typeface="Cambria Math"/>
                              </a:rPr>
                              <m:t>𝑒</m:t>
                            </m:r>
                          </m:e>
                        </m:d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Each iteration using a cycle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altLang="en-US" dirty="0"/>
                  <a:t> increases this sum by at least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|</m:t>
                    </m:r>
                    <m:r>
                      <a:rPr lang="en-US" altLang="en-US" i="1" dirty="0" smtClean="0">
                        <a:latin typeface="Cambria Math"/>
                      </a:rPr>
                      <m:t>𝐶</m:t>
                    </m:r>
                    <m:r>
                      <a:rPr lang="en-US" altLang="en-US" i="1" dirty="0" smtClean="0">
                        <a:latin typeface="Cambria Math"/>
                      </a:rPr>
                      <m:t>|</m:t>
                    </m:r>
                  </m:oMath>
                </a14:m>
                <a:r>
                  <a:rPr lang="en-US" altLang="en-US" dirty="0"/>
                  <a:t> (Proof follows)</a:t>
                </a:r>
              </a:p>
              <a:p>
                <a:pPr lvl="1"/>
                <a:r>
                  <a:rPr lang="en-US" altLang="en-US" dirty="0"/>
                  <a:t>Initially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en-US" dirty="0"/>
                  <a:t>, never larger than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𝑛𝑑</m:t>
                    </m:r>
                    <m:r>
                      <a:rPr lang="en-US" altLang="en-US" i="1" baseline="30000" dirty="0">
                        <a:latin typeface="Cambria Math"/>
                      </a:rPr>
                      <m:t>2</m:t>
                    </m:r>
                  </m:oMath>
                </a14:m>
                <a:endParaRPr lang="en-US" altLang="en-US" dirty="0"/>
              </a:p>
              <a:p>
                <a:r>
                  <a:rPr lang="en-US" altLang="en-US" dirty="0"/>
                  <a:t>So, total time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𝑂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𝑛𝑑</m:t>
                    </m:r>
                    <m:r>
                      <a:rPr lang="en-US" altLang="en-US" i="1" baseline="30000" dirty="0">
                        <a:latin typeface="Cambria Math"/>
                      </a:rPr>
                      <m:t>2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i="1" dirty="0">
                        <a:latin typeface="Cambria Math"/>
                      </a:rPr>
                      <m:t>)=</m:t>
                    </m:r>
                    <m:r>
                      <a:rPr lang="en-US" altLang="en-US" i="1" dirty="0">
                        <a:latin typeface="Cambria Math"/>
                      </a:rPr>
                      <m:t>𝑂</m:t>
                    </m:r>
                    <m:r>
                      <a:rPr lang="en-US" altLang="en-US" i="1" dirty="0">
                        <a:latin typeface="Cambria Math"/>
                      </a:rPr>
                      <m:t>(</m:t>
                    </m:r>
                    <m:r>
                      <a:rPr lang="en-US" altLang="en-US" i="1" dirty="0">
                        <a:latin typeface="Cambria Math"/>
                      </a:rPr>
                      <m:t>𝑛𝑑</m:t>
                    </m:r>
                    <m:r>
                      <a:rPr lang="en-US" altLang="en-US" i="1" baseline="30000" dirty="0">
                        <a:latin typeface="Cambria Math"/>
                      </a:rPr>
                      <m:t>2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>
                        <a:latin typeface="Cambria Math"/>
                      </a:rPr>
                      <m:t>(</m:t>
                    </m:r>
                    <m:r>
                      <a:rPr lang="en-US" altLang="en-US" i="1" dirty="0" err="1">
                        <a:latin typeface="Cambria Math"/>
                      </a:rPr>
                      <m:t>𝑑𝑚</m:t>
                    </m:r>
                    <m:r>
                      <a:rPr lang="en-US" altLang="en-US" i="1" dirty="0">
                        <a:latin typeface="Cambria Math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Proof of claim:</a:t>
                </a:r>
              </a:p>
            </p:txBody>
          </p:sp>
        </mc:Choice>
        <mc:Fallback xmlns="">
          <p:sp>
            <p:nvSpPr>
              <p:cNvPr id="304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448872" cy="3962400"/>
              </a:xfrm>
              <a:blipFill>
                <a:blip r:embed="rId4"/>
                <a:stretch>
                  <a:fillRect l="-164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DED3AD6B-6E5A-4D10-8D01-EECAE777D6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7704" y="4062994"/>
          <a:ext cx="3524944" cy="66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5" imgW="1892160" imgH="355320" progId="Equation.3">
                  <p:embed/>
                </p:oleObj>
              </mc:Choice>
              <mc:Fallback>
                <p:oleObj name="Vergelijking" r:id="rId5" imgW="1892160" imgH="35532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DED3AD6B-6E5A-4D10-8D01-EECAE777D6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062994"/>
                        <a:ext cx="3524944" cy="66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712438B4-D69E-4FDE-A52A-F8EF1394E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5989" y="4812255"/>
          <a:ext cx="5874907" cy="589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7" imgW="3543120" imgH="355320" progId="Equation.3">
                  <p:embed/>
                </p:oleObj>
              </mc:Choice>
              <mc:Fallback>
                <p:oleObj name="Vergelijking" r:id="rId7" imgW="3543120" imgH="355320" progId="Equation.3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712438B4-D69E-4FDE-A52A-F8EF1394E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989" y="4812255"/>
                        <a:ext cx="5874907" cy="589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1C0DE04F-B5FE-47BE-BDFE-17327E7C3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7704" y="5539462"/>
          <a:ext cx="3432069" cy="589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70000" imgH="355320" progId="Equation.3">
                  <p:embed/>
                </p:oleObj>
              </mc:Choice>
              <mc:Fallback>
                <p:oleObj name="Equation" r:id="rId9" imgW="2070000" imgH="355320" progId="Equation.3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1C0DE04F-B5FE-47BE-BDFE-17327E7C31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539462"/>
                        <a:ext cx="3432069" cy="589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FD75-D839-474C-9551-369F3A4A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Algorithms and Networks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BB1-172A-4F06-BC40-065128887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8844656" cy="1500187"/>
          </a:xfrm>
        </p:spPr>
        <p:txBody>
          <a:bodyPr/>
          <a:lstStyle/>
          <a:p>
            <a:r>
              <a:rPr lang="en-US" dirty="0"/>
              <a:t>EDGE COLOURING REGULAR BIPARTITE GRAPHS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28079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 altLang="en-US"/>
              <a:t>Edge coloring and classroom schedules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3200400" cy="3962400"/>
          </a:xfrm>
        </p:spPr>
        <p:txBody>
          <a:bodyPr/>
          <a:lstStyle/>
          <a:p>
            <a:r>
              <a:rPr lang="en-US" altLang="en-US" dirty="0"/>
              <a:t>We have:</a:t>
            </a:r>
          </a:p>
          <a:p>
            <a:pPr lvl="1"/>
            <a:r>
              <a:rPr lang="en-US" altLang="en-US" dirty="0"/>
              <a:t>Teachers</a:t>
            </a:r>
          </a:p>
          <a:p>
            <a:pPr lvl="1"/>
            <a:r>
              <a:rPr lang="en-US" altLang="en-US" dirty="0"/>
              <a:t>Groups</a:t>
            </a:r>
          </a:p>
          <a:p>
            <a:r>
              <a:rPr lang="en-US" altLang="en-US" dirty="0"/>
              <a:t>Which teacher teaches which group is decided.</a:t>
            </a:r>
          </a:p>
          <a:p>
            <a:endParaRPr lang="en-US" altLang="en-US" sz="800" dirty="0"/>
          </a:p>
          <a:p>
            <a:r>
              <a:rPr lang="en-US" altLang="en-US" dirty="0"/>
              <a:t>Scheduling problem:</a:t>
            </a:r>
          </a:p>
          <a:p>
            <a:pPr lvl="1"/>
            <a:r>
              <a:rPr lang="en-US" altLang="en-US" dirty="0"/>
              <a:t>No teacher more than one group at a time</a:t>
            </a:r>
          </a:p>
          <a:p>
            <a:pPr lvl="1"/>
            <a:r>
              <a:rPr lang="en-US" altLang="en-US" dirty="0"/>
              <a:t>No group more than one lesson at a time</a:t>
            </a:r>
          </a:p>
          <a:p>
            <a:r>
              <a:rPr lang="en-US" altLang="en-US" dirty="0"/>
              <a:t>How many hours are needed?</a:t>
            </a:r>
          </a:p>
        </p:txBody>
      </p:sp>
      <p:graphicFrame>
        <p:nvGraphicFramePr>
          <p:cNvPr id="306180" name="Group 4"/>
          <p:cNvGraphicFramePr>
            <a:graphicFrameLocks noGrp="1"/>
          </p:cNvGraphicFramePr>
          <p:nvPr/>
        </p:nvGraphicFramePr>
        <p:xfrm>
          <a:off x="4800600" y="2590800"/>
          <a:ext cx="4114800" cy="322580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Jansen</a:t>
                      </a:r>
                      <a:endParaRPr kumimoji="0" lang="nl-NL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Petersen</a:t>
                      </a:r>
                      <a:endParaRPr kumimoji="0" lang="nl-NL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Klaassen</a:t>
                      </a:r>
                      <a:endParaRPr kumimoji="0" lang="nl-NL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1b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2a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2b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02" name="Group 2"/>
          <p:cNvGraphicFramePr>
            <a:graphicFrameLocks noGrp="1"/>
          </p:cNvGraphicFramePr>
          <p:nvPr/>
        </p:nvGraphicFramePr>
        <p:xfrm>
          <a:off x="2362200" y="1524000"/>
          <a:ext cx="4114800" cy="322580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Jansen</a:t>
                      </a:r>
                      <a:endParaRPr kumimoji="0" lang="nl-NL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Petersen</a:t>
                      </a:r>
                      <a:endParaRPr kumimoji="0" lang="nl-NL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Klaassen</a:t>
                      </a:r>
                      <a:endParaRPr kumimoji="0" lang="nl-NL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1b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9-10</a:t>
                      </a:r>
                      <a:endParaRPr kumimoji="0" lang="nl-NL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10-11</a:t>
                      </a:r>
                      <a:endParaRPr kumimoji="0" lang="nl-NL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2a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9-10</a:t>
                      </a:r>
                      <a:endParaRPr kumimoji="0" lang="nl-NL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10-11</a:t>
                      </a:r>
                      <a:endParaRPr kumimoji="0" lang="nl-NL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2b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10-11</a:t>
                      </a:r>
                      <a:endParaRPr kumimoji="0" lang="nl-NL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kumimoji="0" lang="nl-NL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9-10</a:t>
                      </a:r>
                      <a:endParaRPr kumimoji="0" lang="nl-NL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GB" altLang="en-US" dirty="0"/>
              <a:t>Edge colouring model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r>
              <a:rPr lang="en-GB" altLang="en-US" dirty="0"/>
              <a:t>Take a bipartite graph with vertices for teachers and for classes</a:t>
            </a:r>
          </a:p>
          <a:p>
            <a:r>
              <a:rPr lang="en-GB" altLang="en-US" dirty="0"/>
              <a:t>Look for a colouring of the edges such that no vertex has two incident edges with the same colour</a:t>
            </a:r>
          </a:p>
          <a:p>
            <a:r>
              <a:rPr lang="en-GB" altLang="en-US" dirty="0"/>
              <a:t>What is the minimum number of colours needed?</a:t>
            </a:r>
          </a:p>
          <a:p>
            <a:pPr lvl="1"/>
            <a:r>
              <a:rPr lang="en-GB" altLang="en-US" dirty="0"/>
              <a:t>Lower bound: maximum degree</a:t>
            </a:r>
          </a:p>
          <a:p>
            <a:pPr lvl="1"/>
            <a:r>
              <a:rPr lang="en-GB" altLang="en-US" dirty="0"/>
              <a:t>We can attain the lower bound with help of matchings!!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2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40484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altLang="en-US" b="1" dirty="0"/>
                  <a:t>Theorem</a:t>
                </a:r>
              </a:p>
              <a:p>
                <a:r>
                  <a:rPr lang="en-GB" altLang="en-US" dirty="0"/>
                  <a:t>Let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be a bipartite graph with maximum degree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dirty="0"/>
                  <a:t>. Then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has an edge colouring with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dirty="0"/>
                  <a:t> colours</a:t>
                </a:r>
              </a:p>
              <a:p>
                <a:endParaRPr lang="en-GB" altLang="en-US" sz="1200" dirty="0"/>
              </a:p>
              <a:p>
                <a:pPr marL="0" indent="0">
                  <a:buNone/>
                </a:pPr>
                <a:r>
                  <a:rPr lang="en-GB" altLang="en-US" b="1" dirty="0"/>
                  <a:t>Proof: </a:t>
                </a:r>
                <a:r>
                  <a:rPr lang="en-GB" altLang="en-US" dirty="0"/>
                  <a:t>first, we make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i="1" dirty="0"/>
                  <a:t>-</a:t>
                </a:r>
                <a:r>
                  <a:rPr lang="en-GB" altLang="en-US" dirty="0"/>
                  <a:t>regular by adding vertices and edges</a:t>
                </a:r>
              </a:p>
              <a:p>
                <a:r>
                  <a:rPr lang="en-US" altLang="en-US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dirty="0"/>
                  <a:t> has vertex sets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en-US" dirty="0"/>
                  <a:t> with edges only between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en-US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dirty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en-US" baseline="-250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en-US" dirty="0"/>
                  <a:t>, then add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dirty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dirty="0"/>
                  <a:t> isolated vertices to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en-US" dirty="0"/>
              </a:p>
              <a:p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en-US" baseline="-250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dirty="0">
                        <a:latin typeface="Cambria Math" panose="02040503050406030204" pitchFamily="18" charset="0"/>
                      </a:rPr>
                      <m:t>&gt;|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dirty="0"/>
                  <a:t>, then add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en-US" baseline="-250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dirty="0">
                        <a:latin typeface="Cambria Math" panose="02040503050406030204" pitchFamily="18" charset="0"/>
                      </a:rPr>
                      <m:t>−|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altLang="en-US" dirty="0"/>
                  <a:t>isolated vertices to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en-US" dirty="0"/>
              </a:p>
              <a:p>
                <a:r>
                  <a:rPr lang="en-US" altLang="en-US" dirty="0"/>
                  <a:t>While not every vertex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dirty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en-US" dirty="0"/>
                  <a:t> has degree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dirty="0"/>
                  <a:t>:</a:t>
                </a:r>
              </a:p>
              <a:p>
                <a:pPr lvl="1"/>
                <a:r>
                  <a:rPr lang="en-US" altLang="en-US" dirty="0"/>
                  <a:t>Find a vertex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/>
                  <a:t> of degree less than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Find a vertex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/>
                  <a:t> of degree less than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Add the edge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dirty="0"/>
                  <a:t> to the graph</a:t>
                </a:r>
              </a:p>
              <a:p>
                <a:pPr marL="0" indent="0">
                  <a:buNone/>
                </a:pPr>
                <a:r>
                  <a:rPr lang="en-US" altLang="en-US" dirty="0"/>
                  <a:t>Continues on the next slide…</a:t>
                </a:r>
              </a:p>
              <a:p>
                <a:pPr lvl="1"/>
                <a:endParaRPr lang="en-GB" altLang="en-US" dirty="0"/>
              </a:p>
            </p:txBody>
          </p:sp>
        </mc:Choice>
        <mc:Fallback xmlns="">
          <p:sp>
            <p:nvSpPr>
              <p:cNvPr id="309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0" y="1828800"/>
                <a:ext cx="7664896" cy="4048472"/>
              </a:xfrm>
              <a:blipFill>
                <a:blip r:embed="rId2"/>
                <a:stretch>
                  <a:fillRect l="-636" t="-753" r="-1352" b="-90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B22C2C2-9CF1-1718-7B25-F95FCEEDB15F}"/>
              </a:ext>
            </a:extLst>
          </p:cNvPr>
          <p:cNvGrpSpPr/>
          <p:nvPr/>
        </p:nvGrpSpPr>
        <p:grpSpPr>
          <a:xfrm>
            <a:off x="6516216" y="5013176"/>
            <a:ext cx="1636148" cy="646331"/>
            <a:chOff x="6720021" y="4038600"/>
            <a:chExt cx="1397621" cy="646331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A1B86B7D-8862-3FB4-14AD-C0EB185EB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2838" y="4038600"/>
              <a:ext cx="654804" cy="6463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en-US" sz="1800" dirty="0"/>
                <a:t>must</a:t>
              </a:r>
            </a:p>
            <a:p>
              <a:r>
                <a:rPr lang="en-US" altLang="en-US" sz="1800" dirty="0"/>
                <a:t>exist</a:t>
              </a:r>
              <a:endParaRPr lang="nl-NL" altLang="en-US" sz="1800" dirty="0"/>
            </a:p>
          </p:txBody>
        </p:sp>
        <p:sp>
          <p:nvSpPr>
            <p:cNvPr id="4" name="Line 5">
              <a:extLst>
                <a:ext uri="{FF2B5EF4-FFF2-40B4-BE49-F238E27FC236}">
                  <a16:creationId xmlns:a16="http://schemas.microsoft.com/office/drawing/2014/main" id="{87361AF0-61C6-7094-5FD8-81FA2C3FE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20021" y="4227006"/>
              <a:ext cx="747579" cy="40193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AAB061BB-8A99-03C5-0F38-F125671227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0104" y="4470648"/>
              <a:ext cx="682733" cy="3771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026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9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9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9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9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9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9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25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altLang="en-US" b="1" dirty="0"/>
                  <a:t>Theorem</a:t>
                </a:r>
              </a:p>
              <a:p>
                <a:r>
                  <a:rPr lang="en-GB" altLang="en-US" dirty="0"/>
                  <a:t>Let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be a bipartite graph with maximum degree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dirty="0"/>
                  <a:t>. Then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has an edge colouring with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dirty="0"/>
                  <a:t> colours.</a:t>
                </a:r>
              </a:p>
              <a:p>
                <a:endParaRPr lang="en-GB" altLang="en-US" dirty="0"/>
              </a:p>
              <a:p>
                <a:pPr marL="0" indent="0">
                  <a:buNone/>
                </a:pPr>
                <a:r>
                  <a:rPr lang="en-GB" altLang="en-US" b="1" dirty="0"/>
                  <a:t>Proof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en-US" dirty="0"/>
                  <a:t>Make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i="1" dirty="0"/>
                  <a:t>-</a:t>
                </a:r>
                <a:r>
                  <a:rPr lang="en-GB" altLang="en-US" dirty="0"/>
                  <a:t>regular by adding vertices and edges (</a:t>
                </a:r>
                <a:r>
                  <a:rPr lang="en-GB" altLang="en-US" dirty="0" err="1"/>
                  <a:t>prev</a:t>
                </a:r>
                <a:r>
                  <a:rPr lang="en-GB" altLang="en-US" dirty="0"/>
                  <a:t> slide)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altLang="en-US" dirty="0"/>
                  <a:t>Repeat </a:t>
                </a:r>
                <a14:m>
                  <m:oMath xmlns:m="http://schemas.openxmlformats.org/officeDocument/2006/math">
                    <m:r>
                      <a:rPr lang="en-GB" alt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dirty="0"/>
                  <a:t> times: find a perfect matching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altLang="en-US" dirty="0"/>
                  <a:t> and remove it</a:t>
                </a:r>
              </a:p>
              <a:p>
                <a:pPr lvl="1"/>
                <a:r>
                  <a:rPr lang="en-GB" altLang="en-US" dirty="0"/>
                  <a:t>This is the next colour class</a:t>
                </a:r>
              </a:p>
              <a:p>
                <a:pPr lvl="1"/>
                <a:r>
                  <a:rPr lang="en-GB" altLang="en-US" dirty="0"/>
                  <a:t>Note that the graph remains regular</a:t>
                </a:r>
              </a:p>
              <a:p>
                <a:pPr lvl="1"/>
                <a:r>
                  <a:rPr lang="en-GB" altLang="en-US" dirty="0"/>
                  <a:t>Remove the edges in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altLang="en-US" dirty="0"/>
                  <a:t> from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altLang="en-US" dirty="0"/>
              </a:p>
              <a:p>
                <a:pPr>
                  <a:buFont typeface="+mj-lt"/>
                  <a:buAutoNum type="arabicPeriod"/>
                </a:pPr>
                <a:r>
                  <a:rPr lang="en-GB" altLang="en-US" dirty="0"/>
                  <a:t>Remove all edges that did not belong to the original graph and output the colouring of the other edges</a:t>
                </a:r>
              </a:p>
              <a:p>
                <a:pPr lvl="1"/>
                <a:endParaRPr lang="en-GB" altLang="en-US" dirty="0"/>
              </a:p>
            </p:txBody>
          </p:sp>
        </mc:Choice>
        <mc:Fallback xmlns="">
          <p:sp>
            <p:nvSpPr>
              <p:cNvPr id="309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0" t="-769" r="-1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34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Carrying out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dirty="0"/>
                  <a:t> times a perfect matching algorithm in a regular graph: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times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𝑛𝑑</m:t>
                    </m:r>
                    <m:r>
                      <a:rPr lang="en-US" altLang="en-US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dirty="0"/>
                  <a:t>if we use Schrijver’s algorithm: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𝑛𝑑</m:t>
                    </m:r>
                    <m:r>
                      <a:rPr lang="en-US" altLang="en-US" b="0" i="1" baseline="30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lvl="1"/>
                <a:endParaRPr lang="en-US" altLang="en-US" dirty="0"/>
              </a:p>
              <a:p>
                <a:r>
                  <a:rPr lang="en-US" altLang="en-US" dirty="0"/>
                  <a:t>Can be done faster using other algorithms</a:t>
                </a:r>
              </a:p>
            </p:txBody>
          </p:sp>
        </mc:Choice>
        <mc:Fallback xmlns="">
          <p:sp>
            <p:nvSpPr>
              <p:cNvPr id="3133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Flows and Matchings – Advanced Algorithms</a:t>
            </a:r>
            <a:endParaRPr lang="en-US" altLang="en-US" dirty="0"/>
          </a:p>
        </p:txBody>
      </p:sp>
      <p:sp>
        <p:nvSpPr>
          <p:cNvPr id="35021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MATCHING: CONCLUSION </a:t>
            </a:r>
            <a:br>
              <a:rPr lang="en-US" altLang="en-US" dirty="0"/>
            </a:br>
            <a:r>
              <a:rPr lang="en-US" altLang="en-US" dirty="0"/>
              <a:t>AND FINAL REMARKS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 altLang="en-US" dirty="0"/>
              <a:t>Conclusion and final 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8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371600" y="1828800"/>
                <a:ext cx="7391400" cy="4552528"/>
              </a:xfrm>
            </p:spPr>
            <p:txBody>
              <a:bodyPr>
                <a:noAutofit/>
              </a:bodyPr>
              <a:lstStyle/>
              <a:p>
                <a:r>
                  <a:rPr lang="en-US" altLang="en-US" dirty="0"/>
                  <a:t>Many applications of matching! Often bipartite…</a:t>
                </a:r>
              </a:p>
              <a:p>
                <a:r>
                  <a:rPr lang="en-US" altLang="en-US" dirty="0"/>
                  <a:t>Algorithms for finding matchings:</a:t>
                </a:r>
              </a:p>
              <a:p>
                <a:pPr lvl="1"/>
                <a:r>
                  <a:rPr lang="en-US" altLang="en-US" dirty="0"/>
                  <a:t>Bipartite: flow models</a:t>
                </a:r>
              </a:p>
              <a:p>
                <a:pPr lvl="1"/>
                <a:r>
                  <a:rPr lang="en-US" altLang="en-US" dirty="0"/>
                  <a:t>Bipartite, regular: Schrijver</a:t>
                </a:r>
              </a:p>
              <a:p>
                <a:pPr lvl="1"/>
                <a:r>
                  <a:rPr lang="en-US" altLang="en-US" dirty="0"/>
                  <a:t>General: Edmonds’ algorithm using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-augmenting paths and blossom-shrinking</a:t>
                </a:r>
              </a:p>
              <a:p>
                <a:r>
                  <a:rPr lang="en-US" altLang="en-US" dirty="0"/>
                  <a:t>Minimum cost perfect matching can also be solved in polynomial time: more complex algorithm</a:t>
                </a:r>
              </a:p>
              <a:p>
                <a:pPr lvl="1"/>
                <a:r>
                  <a:rPr lang="en-US" altLang="en-US" dirty="0"/>
                  <a:t>Min cost matching on bipartite graphs is solved using minimum cost flow</a:t>
                </a:r>
              </a:p>
              <a:p>
                <a:endParaRPr lang="en-US" altLang="en-US" sz="800" dirty="0"/>
              </a:p>
              <a:p>
                <a:r>
                  <a:rPr lang="en-US" altLang="en-US" dirty="0"/>
                  <a:t>Interesting fact:</a:t>
                </a:r>
              </a:p>
              <a:p>
                <a:pPr lvl="1"/>
                <a:r>
                  <a:rPr lang="en-US" altLang="en-US" dirty="0"/>
                  <a:t>While we can find a maximum/perfect matching in polynomial time, counting the number of such matchings most likely requires exponential time (even in bipartite graphs)</a:t>
                </a:r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3328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4552528"/>
              </a:xfrm>
              <a:blipFill>
                <a:blip r:embed="rId3"/>
                <a:stretch>
                  <a:fillRect l="-165" t="-6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E0CA-0C0E-A4A9-430F-847F9A9D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 and practice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D5DA-5D28-7751-E9D1-BC404D018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Cormen</a:t>
            </a:r>
            <a:r>
              <a:rPr lang="nl-NL" dirty="0"/>
              <a:t>, </a:t>
            </a:r>
            <a:r>
              <a:rPr lang="nl-NL" dirty="0" err="1"/>
              <a:t>Leiserson</a:t>
            </a:r>
            <a:r>
              <a:rPr lang="nl-NL" dirty="0"/>
              <a:t>, </a:t>
            </a:r>
            <a:r>
              <a:rPr lang="nl-NL" dirty="0" err="1"/>
              <a:t>Rivest</a:t>
            </a:r>
            <a:r>
              <a:rPr lang="nl-NL" dirty="0"/>
              <a:t>, Stein</a:t>
            </a:r>
            <a:br>
              <a:rPr lang="nl-NL" dirty="0"/>
            </a:br>
            <a:r>
              <a:rPr lang="nl-NL" i="1" dirty="0" err="1"/>
              <a:t>Introduction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Algorithms</a:t>
            </a:r>
            <a:br>
              <a:rPr lang="nl-NL" dirty="0"/>
            </a:br>
            <a:r>
              <a:rPr lang="nl-NL" sz="1600" dirty="0"/>
              <a:t>3</a:t>
            </a:r>
            <a:r>
              <a:rPr lang="nl-NL" sz="1600" baseline="30000" dirty="0"/>
              <a:t>rd</a:t>
            </a:r>
            <a:r>
              <a:rPr lang="nl-NL" sz="1600" dirty="0"/>
              <a:t> </a:t>
            </a:r>
            <a:r>
              <a:rPr lang="nl-NL" sz="1600" dirty="0" err="1"/>
              <a:t>edition</a:t>
            </a:r>
            <a:r>
              <a:rPr lang="nl-NL" sz="1600" dirty="0"/>
              <a:t>: </a:t>
            </a:r>
            <a:r>
              <a:rPr lang="nl-NL" sz="1600" dirty="0" err="1"/>
              <a:t>Chapter</a:t>
            </a:r>
            <a:r>
              <a:rPr lang="nl-NL" sz="1600" dirty="0"/>
              <a:t> 26</a:t>
            </a:r>
            <a:br>
              <a:rPr lang="nl-NL" sz="1600" dirty="0"/>
            </a:br>
            <a:r>
              <a:rPr lang="nl-NL" sz="1600" dirty="0"/>
              <a:t>4</a:t>
            </a:r>
            <a:r>
              <a:rPr lang="nl-NL" sz="1600" baseline="30000" dirty="0"/>
              <a:t>th</a:t>
            </a:r>
            <a:r>
              <a:rPr lang="nl-NL" sz="1600" dirty="0"/>
              <a:t> </a:t>
            </a:r>
            <a:r>
              <a:rPr lang="nl-NL" sz="1600" dirty="0" err="1"/>
              <a:t>edition</a:t>
            </a:r>
            <a:r>
              <a:rPr lang="nl-NL" sz="1600" dirty="0"/>
              <a:t>: </a:t>
            </a:r>
            <a:r>
              <a:rPr lang="nl-NL" sz="1600" dirty="0" err="1"/>
              <a:t>Chapters</a:t>
            </a:r>
            <a:r>
              <a:rPr lang="nl-NL" sz="1600" dirty="0"/>
              <a:t> 24 and 25</a:t>
            </a:r>
            <a:br>
              <a:rPr lang="nl-NL" sz="1600" dirty="0"/>
            </a:br>
            <a:r>
              <a:rPr lang="nl-NL" sz="1400" dirty="0" err="1"/>
              <a:t>Only</a:t>
            </a:r>
            <a:r>
              <a:rPr lang="nl-NL" sz="1400" dirty="0"/>
              <a:t> </a:t>
            </a:r>
            <a:r>
              <a:rPr lang="nl-NL" sz="1400" dirty="0" err="1"/>
              <a:t>simple</a:t>
            </a:r>
            <a:r>
              <a:rPr lang="nl-NL" sz="1400" dirty="0"/>
              <a:t> </a:t>
            </a:r>
            <a:r>
              <a:rPr lang="nl-NL" sz="1400" dirty="0" err="1"/>
              <a:t>bipartite</a:t>
            </a:r>
            <a:r>
              <a:rPr lang="nl-NL" sz="1400" dirty="0"/>
              <a:t> stuff</a:t>
            </a:r>
            <a:br>
              <a:rPr lang="nl-NL" dirty="0"/>
            </a:br>
            <a:endParaRPr lang="nl-NL" dirty="0"/>
          </a:p>
          <a:p>
            <a:r>
              <a:rPr lang="en-US" dirty="0"/>
              <a:t>Schrijver. </a:t>
            </a:r>
            <a:br>
              <a:rPr lang="en-US" dirty="0"/>
            </a:br>
            <a:r>
              <a:rPr lang="en-US" i="1" dirty="0"/>
              <a:t>Combinatorial Optimization: </a:t>
            </a:r>
            <a:r>
              <a:rPr lang="en-US" sz="1400" i="1" dirty="0" err="1"/>
              <a:t>Polyhedra</a:t>
            </a:r>
            <a:r>
              <a:rPr lang="en-US" sz="1400" i="1" dirty="0"/>
              <a:t> and Efficiency</a:t>
            </a:r>
            <a:br>
              <a:rPr lang="en-US" sz="1400" i="1" dirty="0"/>
            </a:br>
            <a:r>
              <a:rPr lang="nl-NL" sz="1600" dirty="0" err="1"/>
              <a:t>Chapters</a:t>
            </a:r>
            <a:r>
              <a:rPr lang="nl-NL" sz="1600" dirty="0"/>
              <a:t> 16, 17 and 24</a:t>
            </a:r>
          </a:p>
          <a:p>
            <a:endParaRPr lang="nl-NL" dirty="0"/>
          </a:p>
          <a:p>
            <a:r>
              <a:rPr lang="en-US" dirty="0"/>
              <a:t>Ahuja, Magnanti, Orlin</a:t>
            </a:r>
            <a:br>
              <a:rPr lang="en-US" dirty="0"/>
            </a:br>
            <a:r>
              <a:rPr lang="en-US" i="1" dirty="0"/>
              <a:t>Network Flows</a:t>
            </a:r>
            <a:endParaRPr lang="nl-NL" i="1" dirty="0"/>
          </a:p>
          <a:p>
            <a:pPr marL="0" indent="0">
              <a:buNone/>
            </a:pPr>
            <a:endParaRPr lang="nl-NL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F647B0-5CB4-CB27-A016-A7004ABBDEDE}"/>
              </a:ext>
            </a:extLst>
          </p:cNvPr>
          <p:cNvGrpSpPr/>
          <p:nvPr/>
        </p:nvGrpSpPr>
        <p:grpSpPr>
          <a:xfrm>
            <a:off x="5972060" y="1628801"/>
            <a:ext cx="2975056" cy="1584176"/>
            <a:chOff x="5305700" y="1556792"/>
            <a:chExt cx="3760023" cy="2002160"/>
          </a:xfrm>
        </p:grpSpPr>
        <p:pic>
          <p:nvPicPr>
            <p:cNvPr id="5" name="Picture 4" descr="Logo&#10;&#10;Description automatically generated with low confidence">
              <a:extLst>
                <a:ext uri="{FF2B5EF4-FFF2-40B4-BE49-F238E27FC236}">
                  <a16:creationId xmlns:a16="http://schemas.microsoft.com/office/drawing/2014/main" id="{4340D26C-7AE0-1097-34A4-AB276C96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5700" y="1556792"/>
              <a:ext cx="1769909" cy="2002160"/>
            </a:xfrm>
            <a:prstGeom prst="rect">
              <a:avLst/>
            </a:prstGeom>
          </p:spPr>
        </p:pic>
        <p:pic>
          <p:nvPicPr>
            <p:cNvPr id="7" name="Picture 6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01460C85-7431-7B40-B920-5FE77C0DC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8304" y="1556792"/>
              <a:ext cx="1757419" cy="2002160"/>
            </a:xfrm>
            <a:prstGeom prst="rect">
              <a:avLst/>
            </a:prstGeom>
          </p:spPr>
        </p:pic>
      </p:grpSp>
      <p:pic>
        <p:nvPicPr>
          <p:cNvPr id="10" name="Picture 9" descr="A picture containing diagram&#10;&#10;Description automatically generated">
            <a:extLst>
              <a:ext uri="{FF2B5EF4-FFF2-40B4-BE49-F238E27FC236}">
                <a16:creationId xmlns:a16="http://schemas.microsoft.com/office/drawing/2014/main" id="{93995B8D-B017-5EE6-9DC1-8E7925FFB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87" y="3377204"/>
            <a:ext cx="1415652" cy="2188673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3238F848-EC39-E211-F30E-B65C57F72A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658440"/>
            <a:ext cx="1400412" cy="186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52901"/>
      </p:ext>
    </p:extLst>
  </p:cSld>
  <p:clrMapOvr>
    <a:masterClrMapping/>
  </p:clrMapOvr>
</p:sld>
</file>

<file path=ppt/theme/theme1.xml><?xml version="1.0" encoding="utf-8"?>
<a:theme xmlns:a="http://schemas.openxmlformats.org/drawingml/2006/main" name="InformationENG">
  <a:themeElements>
    <a:clrScheme name="">
      <a:dk1>
        <a:srgbClr val="000000"/>
      </a:dk1>
      <a:lt1>
        <a:srgbClr val="FFFFFF"/>
      </a:lt1>
      <a:dk2>
        <a:srgbClr val="000000"/>
      </a:dk2>
      <a:lt2>
        <a:srgbClr val="89014C"/>
      </a:lt2>
      <a:accent1>
        <a:srgbClr val="008AA3"/>
      </a:accent1>
      <a:accent2>
        <a:srgbClr val="008C6B"/>
      </a:accent2>
      <a:accent3>
        <a:srgbClr val="FFFFFF"/>
      </a:accent3>
      <a:accent4>
        <a:srgbClr val="000000"/>
      </a:accent4>
      <a:accent5>
        <a:srgbClr val="AAC4CE"/>
      </a:accent5>
      <a:accent6>
        <a:srgbClr val="007E60"/>
      </a:accent6>
      <a:hlink>
        <a:srgbClr val="AA1328"/>
      </a:hlink>
      <a:folHlink>
        <a:srgbClr val="7F7F7F"/>
      </a:folHlink>
    </a:clrScheme>
    <a:fontScheme name="InformationENG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Information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nformationENG">
  <a:themeElements>
    <a:clrScheme name="">
      <a:dk1>
        <a:srgbClr val="000000"/>
      </a:dk1>
      <a:lt1>
        <a:srgbClr val="FFFFFF"/>
      </a:lt1>
      <a:dk2>
        <a:srgbClr val="000000"/>
      </a:dk2>
      <a:lt2>
        <a:srgbClr val="89014C"/>
      </a:lt2>
      <a:accent1>
        <a:srgbClr val="008AA3"/>
      </a:accent1>
      <a:accent2>
        <a:srgbClr val="008C6B"/>
      </a:accent2>
      <a:accent3>
        <a:srgbClr val="FFFFFF"/>
      </a:accent3>
      <a:accent4>
        <a:srgbClr val="000000"/>
      </a:accent4>
      <a:accent5>
        <a:srgbClr val="AAC4CE"/>
      </a:accent5>
      <a:accent6>
        <a:srgbClr val="007E60"/>
      </a:accent6>
      <a:hlink>
        <a:srgbClr val="AA1328"/>
      </a:hlink>
      <a:folHlink>
        <a:srgbClr val="7F7F7F"/>
      </a:folHlink>
    </a:clrScheme>
    <a:fontScheme name="InformationENG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Information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Master CS versie Johan</Template>
  <TotalTime>80391</TotalTime>
  <Words>11818</Words>
  <Application>Microsoft Office PowerPoint</Application>
  <PresentationFormat>On-screen Show (4:3)</PresentationFormat>
  <Paragraphs>1636</Paragraphs>
  <Slides>141</Slides>
  <Notes>55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141</vt:i4>
      </vt:variant>
    </vt:vector>
  </HeadingPairs>
  <TitlesOfParts>
    <vt:vector size="155" baseType="lpstr">
      <vt:lpstr>Arial</vt:lpstr>
      <vt:lpstr>Calibri</vt:lpstr>
      <vt:lpstr>Cambria Math</vt:lpstr>
      <vt:lpstr>Segoe UI Symbol</vt:lpstr>
      <vt:lpstr>Symbol</vt:lpstr>
      <vt:lpstr>Times</vt:lpstr>
      <vt:lpstr>Times New Roman</vt:lpstr>
      <vt:lpstr>Verdana</vt:lpstr>
      <vt:lpstr>Webdings</vt:lpstr>
      <vt:lpstr>Wingdings</vt:lpstr>
      <vt:lpstr>InformationENG</vt:lpstr>
      <vt:lpstr>1_InformationENG</vt:lpstr>
      <vt:lpstr>Vergelijking</vt:lpstr>
      <vt:lpstr>Equation</vt:lpstr>
      <vt:lpstr>Flows and Matchings 1:  Maximum Flow</vt:lpstr>
      <vt:lpstr>Your teacher</vt:lpstr>
      <vt:lpstr>Overview: flows and matchings</vt:lpstr>
      <vt:lpstr>Overview: maximum flow</vt:lpstr>
      <vt:lpstr>Flows and Matchings – Advanced Algorithms</vt:lpstr>
      <vt:lpstr>The maximum flow problem</vt:lpstr>
      <vt:lpstr>One or more sources and sinks?</vt:lpstr>
      <vt:lpstr>A short recap on what we teach in the Bachelor</vt:lpstr>
      <vt:lpstr>Residual network</vt:lpstr>
      <vt:lpstr>Ford-Fulkerson method</vt:lpstr>
      <vt:lpstr>Exponential time… images from Wikipedia</vt:lpstr>
      <vt:lpstr>Max-flow min-cut theorem</vt:lpstr>
      <vt:lpstr>Finding minimum cuts</vt:lpstr>
      <vt:lpstr>Finding small vertex separators</vt:lpstr>
      <vt:lpstr>Flows and Matchings – Advanced Algorithms</vt:lpstr>
      <vt:lpstr>Maximum flow with lower bounds</vt:lpstr>
      <vt:lpstr>Finding flows with lower bounds</vt:lpstr>
      <vt:lpstr>Finding an admissible flow: overview</vt:lpstr>
      <vt:lpstr>Flow to circulation and back again</vt:lpstr>
      <vt:lpstr>Circulation with lower bounds to maximum flow without lower bounds</vt:lpstr>
      <vt:lpstr>Circulation with lower bounds to maximum flow and back again</vt:lpstr>
      <vt:lpstr>Example transformation</vt:lpstr>
      <vt:lpstr>Maximum flow in the new graph</vt:lpstr>
      <vt:lpstr>PowerPoint Presentation</vt:lpstr>
      <vt:lpstr>So, where were we?</vt:lpstr>
      <vt:lpstr>The last step… completes the algorithm</vt:lpstr>
      <vt:lpstr>Flows and Matchings 1:  Maximum Flow Part 2: Preflow Push</vt:lpstr>
      <vt:lpstr>Overview: maximum flow</vt:lpstr>
      <vt:lpstr>Flows and Matchings – Advanced Algorithms</vt:lpstr>
      <vt:lpstr>Applications of Flow Problems</vt:lpstr>
      <vt:lpstr>Large scale shortest paths using partitioning with natural cuts</vt:lpstr>
      <vt:lpstr>Example of natural cuts</vt:lpstr>
      <vt:lpstr>Application of flow with lower bounds: the consistent matrix rounding problem</vt:lpstr>
      <vt:lpstr>PowerPoint Presentation</vt:lpstr>
      <vt:lpstr>Flows and Matchings – Advanced Algorithms</vt:lpstr>
      <vt:lpstr>The preflow-push algorithm</vt:lpstr>
      <vt:lpstr>Preflow</vt:lpstr>
      <vt:lpstr>Height function</vt:lpstr>
      <vt:lpstr>When a preflow satisfies the height-invariant and becomes a flow…</vt:lpstr>
      <vt:lpstr>Initially: push preflow maximally  out of the source vertex</vt:lpstr>
      <vt:lpstr>The first basic operation: push flow</vt:lpstr>
      <vt:lpstr>The second basic operation: lift vertex</vt:lpstr>
      <vt:lpstr>Preflow-push algorithm</vt:lpstr>
      <vt:lpstr>Time analysis: number of lifts</vt:lpstr>
      <vt:lpstr>Time analysis: number of pushes</vt:lpstr>
      <vt:lpstr>Non-saturating pushes</vt:lpstr>
      <vt:lpstr>Algorithm</vt:lpstr>
      <vt:lpstr>Flows and Matchings – Advanced Algorithms</vt:lpstr>
      <vt:lpstr>Modification of the  generic preflow-push algorithm</vt:lpstr>
      <vt:lpstr>Goldberg’s algorithm</vt:lpstr>
      <vt:lpstr>Time analysis</vt:lpstr>
      <vt:lpstr>O(n^3) implementation</vt:lpstr>
      <vt:lpstr>Flows and Matchings – Advanced Algorithms</vt:lpstr>
      <vt:lpstr>Other preflow-push algorithms</vt:lpstr>
      <vt:lpstr>Many other flow algorithms</vt:lpstr>
      <vt:lpstr>Further reading and practice</vt:lpstr>
      <vt:lpstr>Flows and Matchings 2: Minimum Cost Flow</vt:lpstr>
      <vt:lpstr>Overview: minimum cost flow</vt:lpstr>
      <vt:lpstr>Flows and Matchings – Advanced Algorithms</vt:lpstr>
      <vt:lpstr>Minimum cost flow problem</vt:lpstr>
      <vt:lpstr>Unbounded capacities</vt:lpstr>
      <vt:lpstr>Separate demands</vt:lpstr>
      <vt:lpstr>Non-negative arc costs</vt:lpstr>
      <vt:lpstr>Flows and Matchings – Advanced Algorithms</vt:lpstr>
      <vt:lpstr>Applications</vt:lpstr>
      <vt:lpstr>Application: optimal loading  of hopping airplane</vt:lpstr>
      <vt:lpstr>From separate demands and supplies to standard min-cost flow</vt:lpstr>
      <vt:lpstr>Flows and Matchings – Advanced Algorithms</vt:lpstr>
      <vt:lpstr>A note on flow and linear programming</vt:lpstr>
      <vt:lpstr>Min-cost flow can be solved through linear programming as well</vt:lpstr>
      <vt:lpstr>Linear combinations of paths and cycles</vt:lpstr>
      <vt:lpstr>A useful theorem using linearity we will need this later</vt:lpstr>
      <vt:lpstr>Flows and Matchings – Advanced Algorithms</vt:lpstr>
      <vt:lpstr>Residual network</vt:lpstr>
      <vt:lpstr>Cycle cancelling algorithm</vt:lpstr>
      <vt:lpstr>A Lemma need to prove correctness</vt:lpstr>
      <vt:lpstr>The cycle cancelling algorithm is correct</vt:lpstr>
      <vt:lpstr>More on the cycle cancelling algorithm</vt:lpstr>
      <vt:lpstr>Minimum mean-cost cycle cancelling algorithm</vt:lpstr>
      <vt:lpstr>Flows and Matchings – Advanced Algorithms</vt:lpstr>
      <vt:lpstr>Successive shortest paths algorithm</vt:lpstr>
      <vt:lpstr>Correctness of successive shortest paths algorithm</vt:lpstr>
      <vt:lpstr>Proof of claim: If G has no negative-cost cycle, then f has minimum cost among all flows with value value(f) </vt:lpstr>
      <vt:lpstr>Flows and Matchings – Advanced Algorithms</vt:lpstr>
      <vt:lpstr>Matching</vt:lpstr>
      <vt:lpstr>Matching in bipartite graphs:  using maximum flow algorithms</vt:lpstr>
      <vt:lpstr>This technique works for variants too</vt:lpstr>
      <vt:lpstr>A simple non-constructive proof of a well-known theorem</vt:lpstr>
      <vt:lpstr>Flows and Matchings – Advanced Algorithms</vt:lpstr>
      <vt:lpstr>Final Remarks</vt:lpstr>
      <vt:lpstr>Further reading and practice</vt:lpstr>
      <vt:lpstr>Flows and Matching 3: Matching</vt:lpstr>
      <vt:lpstr>Overview: matching</vt:lpstr>
      <vt:lpstr>Flows and Matchings – Advanced Algorithms</vt:lpstr>
      <vt:lpstr>Matching</vt:lpstr>
      <vt:lpstr>Matching</vt:lpstr>
      <vt:lpstr>Maximum Matching</vt:lpstr>
      <vt:lpstr>Maximal Matching</vt:lpstr>
      <vt:lpstr>Perfect Matching</vt:lpstr>
      <vt:lpstr>Matching problems</vt:lpstr>
      <vt:lpstr>Flows and Matchings – Advanced Algorithms</vt:lpstr>
      <vt:lpstr>Examples of applications</vt:lpstr>
      <vt:lpstr>Application: matching moving objects</vt:lpstr>
      <vt:lpstr>Flows and Matchings – Advanced Algorithms</vt:lpstr>
      <vt:lpstr>Algorithm of Edmonds</vt:lpstr>
      <vt:lpstr>Steps by Ford-Fulkerson on the bipartite graph</vt:lpstr>
      <vt:lpstr>A theorem that also works when the graph is not bipartite</vt:lpstr>
      <vt:lpstr>Definitions</vt:lpstr>
      <vt:lpstr>Algorithmic idea</vt:lpstr>
      <vt:lpstr>Algorithmic idea</vt:lpstr>
      <vt:lpstr>Finding an M-alternating walk from and to an unmatched vertex</vt:lpstr>
      <vt:lpstr>Finding an M-augmenting path  or an M -flower</vt:lpstr>
      <vt:lpstr>Finding an M-augmenting path  or an M -flower</vt:lpstr>
      <vt:lpstr>Where were we:  if we have an M-alternating walk  (path or flower)</vt:lpstr>
      <vt:lpstr>Shrinking M-blossoms</vt:lpstr>
      <vt:lpstr>Theorem</vt:lpstr>
      <vt:lpstr>Case 1a: P passes through B</vt:lpstr>
      <vt:lpstr>Case 1b: P passes through B</vt:lpstr>
      <vt:lpstr>Case 2a: P has B as endpoint</vt:lpstr>
      <vt:lpstr>Case 2b: P has B as endpoint</vt:lpstr>
      <vt:lpstr>Converse</vt:lpstr>
      <vt:lpstr>Converse</vt:lpstr>
      <vt:lpstr>Algorithm rephrased</vt:lpstr>
      <vt:lpstr>Edmonds’ algorithm</vt:lpstr>
      <vt:lpstr>Improvements</vt:lpstr>
      <vt:lpstr>Flows and Matchings – Algorithms and Networks</vt:lpstr>
      <vt:lpstr>Regular bipartite graphs</vt:lpstr>
      <vt:lpstr>Schrijver’s algorithm Perfect matchings in regular bipartite graphs</vt:lpstr>
      <vt:lpstr>On Schrijver’s algorithm</vt:lpstr>
      <vt:lpstr>Time analysis: finding circuits</vt:lpstr>
      <vt:lpstr>Full time analysis</vt:lpstr>
      <vt:lpstr>Flows and Matchings – Algorithms and Networks</vt:lpstr>
      <vt:lpstr>Edge coloring and classroom schedules</vt:lpstr>
      <vt:lpstr>PowerPoint Presentation</vt:lpstr>
      <vt:lpstr>Edge colouring model</vt:lpstr>
      <vt:lpstr>A theorem</vt:lpstr>
      <vt:lpstr>A theorem</vt:lpstr>
      <vt:lpstr>Time analysis</vt:lpstr>
      <vt:lpstr>Flows and Matchings – Advanced Algorithms</vt:lpstr>
      <vt:lpstr>Conclusion and final remarks</vt:lpstr>
      <vt:lpstr>Further reading and practice</vt:lpstr>
    </vt:vector>
  </TitlesOfParts>
  <Company>UU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Information and Computing Sciences</dc:title>
  <dc:creator>Johan van Rooij</dc:creator>
  <cp:lastModifiedBy>Johan van Rooij</cp:lastModifiedBy>
  <cp:revision>349</cp:revision>
  <cp:lastPrinted>2024-02-13T07:48:58Z</cp:lastPrinted>
  <dcterms:created xsi:type="dcterms:W3CDTF">2020-11-17T10:42:15Z</dcterms:created>
  <dcterms:modified xsi:type="dcterms:W3CDTF">2026-02-24T11:24:40Z</dcterms:modified>
</cp:coreProperties>
</file>