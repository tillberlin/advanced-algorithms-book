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63" r:id="rId2"/>
  </p:sldMasterIdLst>
  <p:notesMasterIdLst>
    <p:notesMasterId r:id="rId72"/>
  </p:notesMasterIdLst>
  <p:sldIdLst>
    <p:sldId id="262" r:id="rId3"/>
    <p:sldId id="263" r:id="rId4"/>
    <p:sldId id="264" r:id="rId5"/>
    <p:sldId id="351" r:id="rId6"/>
    <p:sldId id="350" r:id="rId7"/>
    <p:sldId id="311" r:id="rId8"/>
    <p:sldId id="312" r:id="rId9"/>
    <p:sldId id="272" r:id="rId10"/>
    <p:sldId id="273" r:id="rId11"/>
    <p:sldId id="274" r:id="rId12"/>
    <p:sldId id="275" r:id="rId13"/>
    <p:sldId id="277" r:id="rId14"/>
    <p:sldId id="354" r:id="rId15"/>
    <p:sldId id="278" r:id="rId16"/>
    <p:sldId id="356" r:id="rId17"/>
    <p:sldId id="358" r:id="rId18"/>
    <p:sldId id="359" r:id="rId19"/>
    <p:sldId id="364" r:id="rId20"/>
    <p:sldId id="313" r:id="rId21"/>
    <p:sldId id="316" r:id="rId22"/>
    <p:sldId id="361" r:id="rId23"/>
    <p:sldId id="317" r:id="rId24"/>
    <p:sldId id="318" r:id="rId25"/>
    <p:sldId id="319" r:id="rId26"/>
    <p:sldId id="382" r:id="rId27"/>
    <p:sldId id="365" r:id="rId28"/>
    <p:sldId id="284" r:id="rId29"/>
    <p:sldId id="266" r:id="rId30"/>
    <p:sldId id="384" r:id="rId31"/>
    <p:sldId id="385" r:id="rId32"/>
    <p:sldId id="387" r:id="rId33"/>
    <p:sldId id="377" r:id="rId34"/>
    <p:sldId id="390" r:id="rId35"/>
    <p:sldId id="391" r:id="rId36"/>
    <p:sldId id="363" r:id="rId37"/>
    <p:sldId id="459" r:id="rId38"/>
    <p:sldId id="352" r:id="rId39"/>
    <p:sldId id="302" r:id="rId40"/>
    <p:sldId id="265" r:id="rId41"/>
    <p:sldId id="392" r:id="rId42"/>
    <p:sldId id="314" r:id="rId43"/>
    <p:sldId id="393" r:id="rId44"/>
    <p:sldId id="394" r:id="rId45"/>
    <p:sldId id="395" r:id="rId46"/>
    <p:sldId id="458" r:id="rId47"/>
    <p:sldId id="378" r:id="rId48"/>
    <p:sldId id="280" r:id="rId49"/>
    <p:sldId id="379" r:id="rId50"/>
    <p:sldId id="381" r:id="rId51"/>
    <p:sldId id="360" r:id="rId52"/>
    <p:sldId id="453" r:id="rId53"/>
    <p:sldId id="454" r:id="rId54"/>
    <p:sldId id="449" r:id="rId55"/>
    <p:sldId id="303" r:id="rId56"/>
    <p:sldId id="336" r:id="rId57"/>
    <p:sldId id="296" r:id="rId58"/>
    <p:sldId id="366" r:id="rId59"/>
    <p:sldId id="396" r:id="rId60"/>
    <p:sldId id="397" r:id="rId61"/>
    <p:sldId id="398" r:id="rId62"/>
    <p:sldId id="450" r:id="rId63"/>
    <p:sldId id="451" r:id="rId64"/>
    <p:sldId id="452" r:id="rId65"/>
    <p:sldId id="456" r:id="rId66"/>
    <p:sldId id="457" r:id="rId67"/>
    <p:sldId id="455" r:id="rId68"/>
    <p:sldId id="447" r:id="rId69"/>
    <p:sldId id="434" r:id="rId70"/>
    <p:sldId id="448" r:id="rId7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16B"/>
    <a:srgbClr val="0B4499"/>
    <a:srgbClr val="F3B927"/>
    <a:srgbClr val="008C6B"/>
    <a:srgbClr val="7F7F7F"/>
    <a:srgbClr val="FFFFFF"/>
    <a:srgbClr val="890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18" autoAdjust="0"/>
    <p:restoredTop sz="88552" autoAdjust="0"/>
  </p:normalViewPr>
  <p:slideViewPr>
    <p:cSldViewPr>
      <p:cViewPr varScale="1">
        <p:scale>
          <a:sx n="97" d="100"/>
          <a:sy n="97" d="100"/>
        </p:scale>
        <p:origin x="38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3A4A08A-3125-7454-220C-D701B75DD2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21BC9C3-5506-F984-728D-41BA4226105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E3B13BA5-C9BC-2BB9-05D2-E28FB081B31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94676344-03BD-EEB9-CC54-C9955C1451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NL" noProof="0"/>
              <a:t>Click to edit Master text styles</a:t>
            </a:r>
          </a:p>
          <a:p>
            <a:pPr lvl="1"/>
            <a:r>
              <a:rPr lang="en-US" altLang="en-NL" noProof="0"/>
              <a:t>Second level</a:t>
            </a:r>
          </a:p>
          <a:p>
            <a:pPr lvl="2"/>
            <a:r>
              <a:rPr lang="en-US" altLang="en-NL" noProof="0"/>
              <a:t>Third level</a:t>
            </a:r>
          </a:p>
          <a:p>
            <a:pPr lvl="3"/>
            <a:r>
              <a:rPr lang="en-US" altLang="en-NL" noProof="0"/>
              <a:t>Fourth level</a:t>
            </a:r>
          </a:p>
          <a:p>
            <a:pPr lvl="4"/>
            <a:r>
              <a:rPr lang="en-US" altLang="en-NL" noProof="0"/>
              <a:t>Fifth level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AB0AD528-EDC1-D297-2EC8-9F922EBACDD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B4CE3A32-3E2B-673E-D866-4D717B9708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F776FF1-AFBC-4A24-BB61-6C7BADEF4DB9}" type="slidenum">
              <a:rPr lang="en-US" altLang="en-NL"/>
              <a:pPr>
                <a:defRPr/>
              </a:pPr>
              <a:t>‹#›</a:t>
            </a:fld>
            <a:endParaRPr lang="en-US" altLang="en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Red vertices: separator. &lt;-</a:t>
            </a:r>
            <a:r>
              <a:rPr lang="en-GB" baseline="0" noProof="0" dirty="0"/>
              <a:t> Emphasis should be on the separator.</a:t>
            </a:r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Purple operations relate to</a:t>
            </a:r>
            <a:r>
              <a:rPr lang="en-GB" baseline="0" noProof="0" dirty="0"/>
              <a:t> the decomposition.</a:t>
            </a: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52FE4D-5931-45EB-97D4-2A3B1FD57BC6}" type="slidenum">
              <a:rPr lang="en-US" altLang="nl-NL" smtClean="0"/>
              <a:pPr/>
              <a:t>6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02029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52FE4D-5931-45EB-97D4-2A3B1FD57BC6}" type="slidenum">
              <a:rPr lang="en-US" altLang="nl-NL" smtClean="0"/>
              <a:pPr/>
              <a:t>7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743004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 1 vertex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baseline="0" dirty="0"/>
              <a:t> </a:t>
            </a:r>
            <a:r>
              <a:rPr lang="nl-NL" baseline="0" dirty="0" err="1"/>
              <a:t>edges</a:t>
            </a:r>
            <a:r>
              <a:rPr lang="nl-NL" baseline="0" dirty="0"/>
              <a:t>.</a:t>
            </a:r>
          </a:p>
          <a:p>
            <a:endParaRPr lang="nl-NL" baseline="0" dirty="0"/>
          </a:p>
          <a:p>
            <a:r>
              <a:rPr lang="nl-NL" baseline="0" dirty="0" err="1"/>
              <a:t>Notice</a:t>
            </a:r>
            <a:r>
              <a:rPr lang="nl-NL" baseline="0" dirty="0"/>
              <a:t> </a:t>
            </a:r>
            <a:r>
              <a:rPr lang="nl-NL" baseline="0" dirty="0" err="1"/>
              <a:t>that</a:t>
            </a:r>
            <a:r>
              <a:rPr lang="nl-NL" baseline="0" dirty="0"/>
              <a:t> b is no </a:t>
            </a:r>
            <a:r>
              <a:rPr lang="nl-NL" baseline="0" dirty="0" err="1"/>
              <a:t>longer</a:t>
            </a:r>
            <a:r>
              <a:rPr lang="nl-NL" baseline="0" dirty="0"/>
              <a:t> </a:t>
            </a:r>
            <a:r>
              <a:rPr lang="nl-NL" baseline="0" dirty="0" err="1"/>
              <a:t>connected</a:t>
            </a:r>
            <a:r>
              <a:rPr lang="nl-NL" baseline="0" dirty="0"/>
              <a:t> </a:t>
            </a:r>
            <a:r>
              <a:rPr lang="nl-NL" baseline="0" dirty="0" err="1"/>
              <a:t>to</a:t>
            </a:r>
            <a:r>
              <a:rPr lang="nl-NL" baseline="0" dirty="0"/>
              <a:t> ‘</a:t>
            </a:r>
            <a:r>
              <a:rPr lang="nl-NL" baseline="0" dirty="0" err="1"/>
              <a:t>todo</a:t>
            </a:r>
            <a:r>
              <a:rPr lang="nl-NL" baseline="0" dirty="0"/>
              <a:t>’ </a:t>
            </a:r>
            <a:r>
              <a:rPr lang="nl-NL" baseline="0" dirty="0" err="1"/>
              <a:t>vertices</a:t>
            </a:r>
            <a:r>
              <a:rPr lang="nl-NL" baseline="0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52FE4D-5931-45EB-97D4-2A3B1FD57BC6}" type="slidenum">
              <a:rPr lang="en-US" altLang="nl-NL" smtClean="0"/>
              <a:pPr/>
              <a:t>8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186608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 1 vertex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baseline="0" dirty="0"/>
              <a:t> </a:t>
            </a:r>
            <a:r>
              <a:rPr lang="nl-NL" baseline="0" dirty="0" err="1"/>
              <a:t>edges</a:t>
            </a:r>
            <a:r>
              <a:rPr lang="nl-NL" baseline="0" dirty="0"/>
              <a:t>.</a:t>
            </a:r>
          </a:p>
          <a:p>
            <a:endParaRPr lang="nl-NL" baseline="0" dirty="0"/>
          </a:p>
          <a:p>
            <a:r>
              <a:rPr lang="nl-NL" baseline="0" dirty="0" err="1"/>
              <a:t>Notice</a:t>
            </a:r>
            <a:r>
              <a:rPr lang="nl-NL" baseline="0" dirty="0"/>
              <a:t> </a:t>
            </a:r>
            <a:r>
              <a:rPr lang="nl-NL" baseline="0" dirty="0" err="1"/>
              <a:t>that</a:t>
            </a:r>
            <a:r>
              <a:rPr lang="nl-NL" baseline="0" dirty="0"/>
              <a:t> b is no </a:t>
            </a:r>
            <a:r>
              <a:rPr lang="nl-NL" baseline="0" dirty="0" err="1"/>
              <a:t>longer</a:t>
            </a:r>
            <a:r>
              <a:rPr lang="nl-NL" baseline="0" dirty="0"/>
              <a:t> </a:t>
            </a:r>
            <a:r>
              <a:rPr lang="nl-NL" baseline="0" dirty="0" err="1"/>
              <a:t>connected</a:t>
            </a:r>
            <a:r>
              <a:rPr lang="nl-NL" baseline="0" dirty="0"/>
              <a:t> </a:t>
            </a:r>
            <a:r>
              <a:rPr lang="nl-NL" baseline="0" dirty="0" err="1"/>
              <a:t>to</a:t>
            </a:r>
            <a:r>
              <a:rPr lang="nl-NL" baseline="0" dirty="0"/>
              <a:t> ‘</a:t>
            </a:r>
            <a:r>
              <a:rPr lang="nl-NL" baseline="0" dirty="0" err="1"/>
              <a:t>todo</a:t>
            </a:r>
            <a:r>
              <a:rPr lang="nl-NL" baseline="0" dirty="0"/>
              <a:t>’ </a:t>
            </a:r>
            <a:r>
              <a:rPr lang="nl-NL" baseline="0" dirty="0" err="1"/>
              <a:t>vertices</a:t>
            </a:r>
            <a:r>
              <a:rPr lang="nl-NL" baseline="0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52FE4D-5931-45EB-97D4-2A3B1FD57BC6}" type="slidenum">
              <a:rPr lang="en-US" altLang="nl-NL" smtClean="0"/>
              <a:pPr/>
              <a:t>9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334020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 1 vertex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baseline="0" dirty="0"/>
              <a:t> </a:t>
            </a:r>
            <a:r>
              <a:rPr lang="nl-NL" baseline="0" dirty="0" err="1"/>
              <a:t>edges</a:t>
            </a:r>
            <a:r>
              <a:rPr lang="nl-NL" baseline="0" dirty="0"/>
              <a:t>.</a:t>
            </a:r>
          </a:p>
          <a:p>
            <a:endParaRPr lang="nl-NL" baseline="0" dirty="0"/>
          </a:p>
          <a:p>
            <a:r>
              <a:rPr lang="nl-NL" baseline="0" dirty="0" err="1"/>
              <a:t>Notice</a:t>
            </a:r>
            <a:r>
              <a:rPr lang="nl-NL" baseline="0" dirty="0"/>
              <a:t> </a:t>
            </a:r>
            <a:r>
              <a:rPr lang="nl-NL" baseline="0" dirty="0" err="1"/>
              <a:t>that</a:t>
            </a:r>
            <a:r>
              <a:rPr lang="nl-NL" baseline="0" dirty="0"/>
              <a:t> b is no </a:t>
            </a:r>
            <a:r>
              <a:rPr lang="nl-NL" baseline="0" dirty="0" err="1"/>
              <a:t>longer</a:t>
            </a:r>
            <a:r>
              <a:rPr lang="nl-NL" baseline="0" dirty="0"/>
              <a:t> </a:t>
            </a:r>
            <a:r>
              <a:rPr lang="nl-NL" baseline="0" dirty="0" err="1"/>
              <a:t>connected</a:t>
            </a:r>
            <a:r>
              <a:rPr lang="nl-NL" baseline="0" dirty="0"/>
              <a:t> </a:t>
            </a:r>
            <a:r>
              <a:rPr lang="nl-NL" baseline="0" dirty="0" err="1"/>
              <a:t>to</a:t>
            </a:r>
            <a:r>
              <a:rPr lang="nl-NL" baseline="0" dirty="0"/>
              <a:t> ‘</a:t>
            </a:r>
            <a:r>
              <a:rPr lang="nl-NL" baseline="0" dirty="0" err="1"/>
              <a:t>todo</a:t>
            </a:r>
            <a:r>
              <a:rPr lang="nl-NL" baseline="0" dirty="0"/>
              <a:t>’ </a:t>
            </a:r>
            <a:r>
              <a:rPr lang="nl-NL" baseline="0" dirty="0" err="1"/>
              <a:t>vertices</a:t>
            </a:r>
            <a:r>
              <a:rPr lang="nl-NL" baseline="0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52FE4D-5931-45EB-97D4-2A3B1FD57BC6}" type="slidenum">
              <a:rPr lang="en-US" altLang="nl-NL" smtClean="0"/>
              <a:pPr/>
              <a:t>10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748346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Join</a:t>
            </a:r>
            <a:r>
              <a:rPr lang="nl-NL" dirty="0"/>
              <a:t>: </a:t>
            </a:r>
            <a:r>
              <a:rPr lang="nl-NL" dirty="0" err="1"/>
              <a:t>sum</a:t>
            </a:r>
            <a:r>
              <a:rPr lang="nl-NL" dirty="0"/>
              <a:t> </a:t>
            </a:r>
            <a:r>
              <a:rPr lang="nl-NL" dirty="0" err="1"/>
              <a:t>both</a:t>
            </a:r>
            <a:r>
              <a:rPr lang="nl-NL" dirty="0"/>
              <a:t> entries, </a:t>
            </a:r>
            <a:r>
              <a:rPr lang="nl-NL" dirty="0" err="1"/>
              <a:t>subtract</a:t>
            </a:r>
            <a:r>
              <a:rPr lang="nl-NL" dirty="0"/>
              <a:t> </a:t>
            </a:r>
            <a:r>
              <a:rPr lang="nl-NL" dirty="0" err="1"/>
              <a:t>nr</a:t>
            </a:r>
            <a:r>
              <a:rPr lang="nl-NL" dirty="0"/>
              <a:t> of </a:t>
            </a:r>
            <a:r>
              <a:rPr lang="nl-NL" dirty="0" err="1"/>
              <a:t>chosen</a:t>
            </a:r>
            <a:r>
              <a:rPr lang="nl-NL" dirty="0"/>
              <a:t> </a:t>
            </a:r>
            <a:r>
              <a:rPr lang="nl-NL" dirty="0" err="1"/>
              <a:t>vertices</a:t>
            </a:r>
            <a:r>
              <a:rPr lang="nl-NL" dirty="0"/>
              <a:t> on separator.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52FE4D-5931-45EB-97D4-2A3B1FD57BC6}" type="slidenum">
              <a:rPr lang="en-US" altLang="nl-NL" smtClean="0"/>
              <a:pPr/>
              <a:t>11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378274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 1 vertex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baseline="0" dirty="0"/>
              <a:t> </a:t>
            </a:r>
            <a:r>
              <a:rPr lang="nl-NL" baseline="0" dirty="0" err="1"/>
              <a:t>edges</a:t>
            </a:r>
            <a:r>
              <a:rPr lang="nl-NL" baseline="0" dirty="0"/>
              <a:t>.</a:t>
            </a:r>
          </a:p>
          <a:p>
            <a:endParaRPr lang="nl-NL" baseline="0" dirty="0"/>
          </a:p>
          <a:p>
            <a:r>
              <a:rPr lang="nl-NL" baseline="0" dirty="0" err="1"/>
              <a:t>Notice</a:t>
            </a:r>
            <a:r>
              <a:rPr lang="nl-NL" baseline="0" dirty="0"/>
              <a:t> </a:t>
            </a:r>
            <a:r>
              <a:rPr lang="nl-NL" baseline="0" dirty="0" err="1"/>
              <a:t>that</a:t>
            </a:r>
            <a:r>
              <a:rPr lang="nl-NL" baseline="0" dirty="0"/>
              <a:t> b is no </a:t>
            </a:r>
            <a:r>
              <a:rPr lang="nl-NL" baseline="0" dirty="0" err="1"/>
              <a:t>longer</a:t>
            </a:r>
            <a:r>
              <a:rPr lang="nl-NL" baseline="0" dirty="0"/>
              <a:t> </a:t>
            </a:r>
            <a:r>
              <a:rPr lang="nl-NL" baseline="0" dirty="0" err="1"/>
              <a:t>connected</a:t>
            </a:r>
            <a:r>
              <a:rPr lang="nl-NL" baseline="0" dirty="0"/>
              <a:t> </a:t>
            </a:r>
            <a:r>
              <a:rPr lang="nl-NL" baseline="0" dirty="0" err="1"/>
              <a:t>to</a:t>
            </a:r>
            <a:r>
              <a:rPr lang="nl-NL" baseline="0" dirty="0"/>
              <a:t> ‘</a:t>
            </a:r>
            <a:r>
              <a:rPr lang="nl-NL" baseline="0" dirty="0" err="1"/>
              <a:t>todo</a:t>
            </a:r>
            <a:r>
              <a:rPr lang="nl-NL" baseline="0" dirty="0"/>
              <a:t>’ </a:t>
            </a:r>
            <a:r>
              <a:rPr lang="nl-NL" baseline="0" dirty="0" err="1"/>
              <a:t>vertices</a:t>
            </a:r>
            <a:r>
              <a:rPr lang="nl-NL" baseline="0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52FE4D-5931-45EB-97D4-2A3B1FD57BC6}" type="slidenum">
              <a:rPr lang="en-US" altLang="nl-NL" smtClean="0"/>
              <a:pPr/>
              <a:t>12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08365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Five</a:t>
            </a:r>
            <a:r>
              <a:rPr lang="nl-NL" baseline="0" dirty="0"/>
              <a:t> </a:t>
            </a:r>
            <a:r>
              <a:rPr lang="nl-NL" baseline="0" dirty="0" err="1"/>
              <a:t>rules</a:t>
            </a:r>
            <a:r>
              <a:rPr lang="nl-NL" baseline="0" dirty="0"/>
              <a:t>: </a:t>
            </a:r>
            <a:r>
              <a:rPr lang="nl-NL" baseline="0" dirty="0" err="1"/>
              <a:t>forget</a:t>
            </a:r>
            <a:r>
              <a:rPr lang="nl-NL" baseline="0" dirty="0"/>
              <a:t> </a:t>
            </a:r>
            <a:r>
              <a:rPr lang="nl-NL" baseline="0" dirty="0" err="1"/>
              <a:t>only</a:t>
            </a:r>
            <a:r>
              <a:rPr lang="nl-NL" baseline="0" dirty="0"/>
              <a:t> </a:t>
            </a:r>
            <a:r>
              <a:rPr lang="nl-NL" baseline="0" dirty="0" err="1"/>
              <a:t>once</a:t>
            </a:r>
            <a:r>
              <a:rPr lang="nl-NL" baseline="0" dirty="0"/>
              <a:t> per vertex!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52FE4D-5931-45EB-97D4-2A3B1FD57BC6}" type="slidenum">
              <a:rPr lang="en-US" altLang="nl-NL" smtClean="0"/>
              <a:pPr/>
              <a:t>19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747955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2/3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≈0.817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>
                    <a:latin typeface="Cambria Math" panose="02040503050406030204" pitchFamily="18" charset="0"/>
                  </a:rPr>
                  <a:t>√(2/3)  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≈0.817</a:t>
                </a:r>
                <a:endParaRPr lang="LID4096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776FF1-AFBC-4A24-BB61-6C7BADEF4DB9}" type="slidenum">
              <a:rPr lang="en-US" altLang="en-NL" smtClean="0"/>
              <a:pPr>
                <a:defRPr/>
              </a:pPr>
              <a:t>62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1724167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Why? N-vertex graph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 grid minor (treewidth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 ) or,</a:t>
                </a:r>
                <a:r>
                  <a:rPr lang="en-US" baseline="0" dirty="0"/>
                  <a:t> treewidth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  <a:endParaRPr lang="LID4096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Why? N-vertex graph has </a:t>
                </a:r>
                <a:r>
                  <a:rPr lang="en-US" b="0" i="0">
                    <a:latin typeface="Cambria Math" panose="02040503050406030204" pitchFamily="18" charset="0"/>
                  </a:rPr>
                  <a:t>√𝑛</a:t>
                </a:r>
                <a:r>
                  <a:rPr lang="en-US" i="0">
                    <a:latin typeface="Cambria Math"/>
                  </a:rPr>
                  <a:t>×</a:t>
                </a:r>
                <a:r>
                  <a:rPr lang="en-US" b="0" i="0">
                    <a:latin typeface="Cambria Math" panose="02040503050406030204" pitchFamily="18" charset="0"/>
                  </a:rPr>
                  <a:t>√𝑛</a:t>
                </a:r>
                <a:r>
                  <a:rPr lang="en-US" dirty="0"/>
                  <a:t> grid minor (treewidth </a:t>
                </a:r>
                <a:r>
                  <a:rPr lang="en-US" b="0" i="0">
                    <a:latin typeface="Cambria Math" panose="02040503050406030204" pitchFamily="18" charset="0"/>
                  </a:rPr>
                  <a:t>√𝑛</a:t>
                </a:r>
                <a:r>
                  <a:rPr lang="en-US" dirty="0"/>
                  <a:t> ) or,</a:t>
                </a:r>
                <a:r>
                  <a:rPr lang="en-US" baseline="0" dirty="0"/>
                  <a:t> treewidth </a:t>
                </a:r>
                <a:r>
                  <a:rPr lang="en-US" b="0" i="0">
                    <a:latin typeface="Cambria Math" panose="02040503050406030204" pitchFamily="18" charset="0"/>
                  </a:rPr>
                  <a:t>5√𝑛</a:t>
                </a:r>
                <a:r>
                  <a:rPr lang="en-US" dirty="0"/>
                  <a:t> </a:t>
                </a:r>
                <a:endParaRPr lang="LID4096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776FF1-AFBC-4A24-BB61-6C7BADEF4DB9}" type="slidenum">
              <a:rPr lang="en-US" altLang="en-NL" smtClean="0"/>
              <a:pPr>
                <a:defRPr/>
              </a:pPr>
              <a:t>64</a:t>
            </a:fld>
            <a:endParaRPr lang="en-US" altLang="en-NL"/>
          </a:p>
        </p:txBody>
      </p:sp>
    </p:spTree>
    <p:extLst>
      <p:ext uri="{BB962C8B-B14F-4D97-AF65-F5344CB8AC3E}">
        <p14:creationId xmlns:p14="http://schemas.microsoft.com/office/powerpoint/2010/main" val="2946097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EB6F476F-6D8B-8A0D-BB05-F159466CD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477000"/>
            <a:ext cx="53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65298558-F6F7-4BE5-80A8-A22DEEB48574}" type="slidenum">
              <a:rPr lang="en-US" altLang="nl-NL" sz="1200">
                <a:latin typeface="Verdana" panose="020B0604030504040204" pitchFamily="34" charset="0"/>
              </a:rPr>
              <a:pPr algn="r"/>
              <a:t>‹#›</a:t>
            </a:fld>
            <a:endParaRPr lang="en-US" altLang="nl-NL" sz="1400">
              <a:latin typeface="Verdana" panose="020B0604030504040204" pitchFamily="34" charset="0"/>
            </a:endParaRPr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92DF129B-41E2-65A2-71D6-AF221D421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2057400"/>
            <a:ext cx="7010400" cy="1676400"/>
          </a:xfrm>
        </p:spPr>
        <p:txBody>
          <a:bodyPr/>
          <a:lstStyle>
            <a:lvl1pPr algn="r">
              <a:lnSpc>
                <a:spcPts val="4400"/>
              </a:lnSpc>
              <a:spcAft>
                <a:spcPts val="300"/>
              </a:spcAft>
              <a:defRPr sz="2800"/>
            </a:lvl1pPr>
          </a:lstStyle>
          <a:p>
            <a:pPr lvl="0"/>
            <a:r>
              <a:rPr lang="en-US" altLang="en-NL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3962400"/>
            <a:ext cx="6400800" cy="1752600"/>
          </a:xfrm>
        </p:spPr>
        <p:txBody>
          <a:bodyPr/>
          <a:lstStyle>
            <a:lvl1pPr marL="0" indent="0" algn="r">
              <a:buFont typeface="Webdings" panose="05030102010509060703" pitchFamily="18" charset="2"/>
              <a:buNone/>
              <a:defRPr sz="2000"/>
            </a:lvl1pPr>
          </a:lstStyle>
          <a:p>
            <a:pPr lvl="0"/>
            <a:r>
              <a:rPr lang="en-US" altLang="en-NL" noProof="0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71C53DB-FA00-846B-8F35-9555B5BEDC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362200" y="6248400"/>
            <a:ext cx="3657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  <a:endParaRPr lang="en-US" altLang="en-NL" sz="1400"/>
          </a:p>
        </p:txBody>
      </p:sp>
    </p:spTree>
    <p:extLst>
      <p:ext uri="{BB962C8B-B14F-4D97-AF65-F5344CB8AC3E}">
        <p14:creationId xmlns:p14="http://schemas.microsoft.com/office/powerpoint/2010/main" val="420236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902C3183-D1EC-E8F9-98FB-42652EADB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FD49140-B75A-5888-083A-98335019F9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663267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819400"/>
            <a:ext cx="7886700" cy="1743075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4000" b="1"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BDCFCE64-E626-D84C-B14D-D1C2BAB70C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ED26D63-458E-F1A3-C017-5DD7E27E0D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331807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408F1832-BEB0-A390-774A-2F9EE71C5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58A6F098-6B7B-7A71-0903-8514E47BBA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696173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83FF5ACA-9FE5-AE04-2185-197239658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C554C463-337C-2728-D0EB-2A8364C52F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0533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C5836404-ED12-3A93-9F6F-9F8CABCF08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F213A0FD-F87D-5378-9F6F-7F9B9B5A50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86957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>
            <a:extLst>
              <a:ext uri="{FF2B5EF4-FFF2-40B4-BE49-F238E27FC236}">
                <a16:creationId xmlns:a16="http://schemas.microsoft.com/office/drawing/2014/main" id="{7D5C142E-320C-DC90-F1DD-C5F5952155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0D68C132-E045-7C56-1B48-B76B9732F0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200451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CE64BFA-DFB4-8AD1-0D4D-A4C7A27802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E8B76012-83EE-F3BA-4860-E33ACDD13E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9885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E93EEEFB-9055-BCC7-F5FE-4023734CD5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946532D9-45B0-308E-CD41-9F69686148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69272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C9BDE36C-A2E7-4821-22A8-36B19E3179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176FE9CF-C0A2-4DB1-2746-4800EDF562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25004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04800"/>
            <a:ext cx="18478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3911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084D0577-8264-CE43-04C8-7971E1DB1E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E4E28948-7A67-D2A4-0A3F-DEB2949E64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955804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21DA02C4-CF7A-1DBC-E214-99C7D52C43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D290778-AD88-5D9A-9573-ED335DEF8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819523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r>
              <a:rPr lang="en-US" noProof="0"/>
              <a:t>Click icon to add SmartArt graphic</a:t>
            </a:r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AE668310-1FF1-4CE7-D204-20A18B9961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72E7AAB7-B66D-0CBF-62C6-296FE8FF23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860739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4BA3DB5E-9EB3-9871-8641-4D9DF1DC7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67A6C386-EC17-C095-4B75-7FBB463AA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132804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E0733-02BA-4A6C-BD8A-BFB4BBDE2D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150" y="1581151"/>
            <a:ext cx="8521700" cy="5088000"/>
          </a:xfrm>
        </p:spPr>
        <p:txBody>
          <a:bodyPr/>
          <a:lstStyle>
            <a:lvl1pPr>
              <a:spcBef>
                <a:spcPts val="0"/>
              </a:spcBef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727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02BBF2BE-1F51-4CAB-5891-F9B27CAC61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20D5D95A-C45F-44C1-BAD6-739B1F7A19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872949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819400"/>
            <a:ext cx="7886700" cy="1743075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  <a:endParaRPr lang="en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4000" b="1"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F2FD8BF1-FB59-8B32-8604-917233B779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EFDA99A-F2A2-424E-AE26-252F8B699F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785999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89237D61-A17F-4FB6-A496-8F972EE1EE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DC460F4C-851A-7CBA-CFA3-3E7F66579F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115355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B3CAA32E-2085-0258-BC9B-24197A897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6D4460BE-6B20-C628-A887-45E9218151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31420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BE6F0C7C-8AC0-BA6D-AF05-2F8D1AC3C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58BD954-3F44-472D-3902-C6EE5598A0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3930091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>
            <a:extLst>
              <a:ext uri="{FF2B5EF4-FFF2-40B4-BE49-F238E27FC236}">
                <a16:creationId xmlns:a16="http://schemas.microsoft.com/office/drawing/2014/main" id="{3237FE49-D9CA-C4DC-B2E0-16E6471914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F72A9E15-4120-42D9-F724-FD8EBD9B9C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4280851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EA0FB18-4A7E-C720-0F39-37FC016701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AC1200EF-8793-A659-964F-1ADF93FCE0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123432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5E12AF74-2BE6-64C7-7F25-3CF9725C1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C305B445-F483-EDD7-59FE-E91DE701F8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7488338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6D28BE39-7836-BC54-7649-1A6FC168A0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A01EE632-73F3-4A01-9F41-9C0BF589DA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5462817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04800"/>
            <a:ext cx="18478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3911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B0983DA5-F085-818D-3B86-3948087F24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52F07349-511C-57A2-B66F-930C9D17CE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6244695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9210C3B0-F84D-9EE8-92B6-D1FF0AA0A3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B122BB2-DA49-8101-D790-3EF9CB2B56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903712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C79F1261-8B06-72BD-8911-34B6933DB0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CE32C723-4CC7-DB51-2AF0-6744083557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24946906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1600" y="1828800"/>
            <a:ext cx="7391400" cy="3962400"/>
          </a:xfrm>
        </p:spPr>
        <p:txBody>
          <a:bodyPr/>
          <a:lstStyle/>
          <a:p>
            <a:pPr lvl="0"/>
            <a:endParaRPr lang="en-NL" noProof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071C3A56-E19E-0744-1C02-9F50AEFE56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6F185638-9EEC-B567-E3DC-C91B1A9B0D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422834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9">
            <a:extLst>
              <a:ext uri="{FF2B5EF4-FFF2-40B4-BE49-F238E27FC236}">
                <a16:creationId xmlns:a16="http://schemas.microsoft.com/office/drawing/2014/main" id="{63561AD9-7F3D-066C-5855-B998CA1A9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4">
            <a:extLst>
              <a:ext uri="{FF2B5EF4-FFF2-40B4-BE49-F238E27FC236}">
                <a16:creationId xmlns:a16="http://schemas.microsoft.com/office/drawing/2014/main" id="{11122B30-FFFB-A293-52EF-2E27B55BB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948429A6-D9A9-4E3B-B819-027C8E42A3C0}" type="slidenum">
              <a:rPr lang="en-US" altLang="nl-NL" sz="1200">
                <a:latin typeface="Verdana" panose="020B0604030504040204" pitchFamily="34" charset="0"/>
              </a:rPr>
              <a:pPr algn="r"/>
              <a:t>‹#›</a:t>
            </a:fld>
            <a:endParaRPr lang="en-US" altLang="nl-NL" sz="1400">
              <a:latin typeface="Verdana" panose="020B0604030504040204" pitchFamily="34" charset="0"/>
            </a:endParaRPr>
          </a:p>
        </p:txBody>
      </p:sp>
      <p:sp>
        <p:nvSpPr>
          <p:cNvPr id="1028" name="Rectangle 2">
            <a:extLst>
              <a:ext uri="{FF2B5EF4-FFF2-40B4-BE49-F238E27FC236}">
                <a16:creationId xmlns:a16="http://schemas.microsoft.com/office/drawing/2014/main" id="{AF650012-4EBA-851C-EC27-AD5A70908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39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Click to edit Master title style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8C90CE25-C08A-B47C-9139-E21F66B7C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828800"/>
            <a:ext cx="7391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Click to edit Master text styles</a:t>
            </a:r>
          </a:p>
          <a:p>
            <a:pPr lvl="1"/>
            <a:r>
              <a:rPr lang="en-US" altLang="nl-NL"/>
              <a:t>Second level</a:t>
            </a:r>
          </a:p>
          <a:p>
            <a:pPr lvl="2"/>
            <a:r>
              <a:rPr lang="en-US" altLang="nl-NL"/>
              <a:t>Third level</a:t>
            </a:r>
          </a:p>
          <a:p>
            <a:pPr lvl="3"/>
            <a:r>
              <a:rPr lang="en-US" altLang="nl-NL"/>
              <a:t>Fourth level</a:t>
            </a:r>
          </a:p>
          <a:p>
            <a:pPr lvl="4"/>
            <a:r>
              <a:rPr lang="en-US" altLang="nl-NL"/>
              <a:t>Fifth level</a:t>
            </a:r>
          </a:p>
        </p:txBody>
      </p:sp>
      <p:sp>
        <p:nvSpPr>
          <p:cNvPr id="1042" name="Rectangle 18">
            <a:extLst>
              <a:ext uri="{FF2B5EF4-FFF2-40B4-BE49-F238E27FC236}">
                <a16:creationId xmlns:a16="http://schemas.microsoft.com/office/drawing/2014/main" id="{8082AA4F-EAD0-2B02-CCFA-2D23F6DE35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4770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1043" name="Rectangle 19">
            <a:extLst>
              <a:ext uri="{FF2B5EF4-FFF2-40B4-BE49-F238E27FC236}">
                <a16:creationId xmlns:a16="http://schemas.microsoft.com/office/drawing/2014/main" id="{5C298013-1E28-3BC4-7948-A4918C5A94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477000"/>
            <a:ext cx="28956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706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ebdings" panose="05030102010509060703" pitchFamily="18" charset="2"/>
        <a:buChar char="g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ebdings" panose="05030102010509060703" pitchFamily="18" charset="2"/>
        <a:buChar char="g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9">
            <a:extLst>
              <a:ext uri="{FF2B5EF4-FFF2-40B4-BE49-F238E27FC236}">
                <a16:creationId xmlns:a16="http://schemas.microsoft.com/office/drawing/2014/main" id="{F7E2C30C-A9A5-C6C2-FA73-0DDD1A21D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B30B5579-AA04-1194-1F1C-A251A8B8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EECF561A-2DDA-44DE-B33D-83D9A40AC739}" type="slidenum">
              <a:rPr lang="en-US" altLang="nl-NL" sz="1200">
                <a:latin typeface="Verdana" panose="020B0604030504040204" pitchFamily="34" charset="0"/>
              </a:rPr>
              <a:pPr algn="r"/>
              <a:t>‹#›</a:t>
            </a:fld>
            <a:endParaRPr lang="en-US" altLang="nl-NL" sz="1400">
              <a:latin typeface="Verdana" panose="020B0604030504040204" pitchFamily="34" charset="0"/>
            </a:endParaRPr>
          </a:p>
        </p:txBody>
      </p:sp>
      <p:sp>
        <p:nvSpPr>
          <p:cNvPr id="2052" name="Rectangle 2">
            <a:extLst>
              <a:ext uri="{FF2B5EF4-FFF2-40B4-BE49-F238E27FC236}">
                <a16:creationId xmlns:a16="http://schemas.microsoft.com/office/drawing/2014/main" id="{8D5780DF-6D65-1E40-22D3-A757F58A9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391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Click to edit Master title style</a:t>
            </a:r>
          </a:p>
        </p:txBody>
      </p:sp>
      <p:sp>
        <p:nvSpPr>
          <p:cNvPr id="2053" name="Rectangle 3">
            <a:extLst>
              <a:ext uri="{FF2B5EF4-FFF2-40B4-BE49-F238E27FC236}">
                <a16:creationId xmlns:a16="http://schemas.microsoft.com/office/drawing/2014/main" id="{1AA91E9F-B24B-ED31-64EE-B5EF3A051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828800"/>
            <a:ext cx="7391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Click to edit Master text styles</a:t>
            </a:r>
          </a:p>
          <a:p>
            <a:pPr lvl="1"/>
            <a:r>
              <a:rPr lang="en-US" altLang="nl-NL"/>
              <a:t>Second level</a:t>
            </a:r>
          </a:p>
          <a:p>
            <a:pPr lvl="2"/>
            <a:r>
              <a:rPr lang="en-US" altLang="nl-NL"/>
              <a:t>Third level</a:t>
            </a:r>
          </a:p>
          <a:p>
            <a:pPr lvl="3"/>
            <a:r>
              <a:rPr lang="en-US" altLang="nl-NL"/>
              <a:t>Fourth level</a:t>
            </a:r>
          </a:p>
          <a:p>
            <a:pPr lvl="4"/>
            <a:r>
              <a:rPr lang="en-US" altLang="nl-NL"/>
              <a:t>Fifth level</a:t>
            </a:r>
          </a:p>
        </p:txBody>
      </p:sp>
      <p:sp>
        <p:nvSpPr>
          <p:cNvPr id="1042" name="Rectangle 18">
            <a:extLst>
              <a:ext uri="{FF2B5EF4-FFF2-40B4-BE49-F238E27FC236}">
                <a16:creationId xmlns:a16="http://schemas.microsoft.com/office/drawing/2014/main" id="{361744B4-FBED-B2D5-9AAC-73EDEF3D0A3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4770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en-NL"/>
          </a:p>
        </p:txBody>
      </p:sp>
      <p:sp>
        <p:nvSpPr>
          <p:cNvPr id="1043" name="Rectangle 19">
            <a:extLst>
              <a:ext uri="{FF2B5EF4-FFF2-40B4-BE49-F238E27FC236}">
                <a16:creationId xmlns:a16="http://schemas.microsoft.com/office/drawing/2014/main" id="{C01C7E05-FA86-BCBC-505E-A14FD818C9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477000"/>
            <a:ext cx="28956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altLang="en-NL"/>
              <a:t>Béta Template powerpoint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ebdings" panose="05030102010509060703" pitchFamily="18" charset="2"/>
        <a:buChar char="g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ebdings" panose="05030102010509060703" pitchFamily="18" charset="2"/>
        <a:buChar char="g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27.png"/><Relationship Id="rId4" Type="http://schemas.openxmlformats.org/officeDocument/2006/relationships/image" Target="../media/image6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EBD938E-CA31-0CB5-3D88-484D2FFACA6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Treewidth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CAE4F91-9620-1AF2-FFBC-1FA488841D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Advanced Algorithms 2025/2026</a:t>
            </a:r>
          </a:p>
          <a:p>
            <a:pPr eaLnBrk="1" hangingPunct="1"/>
            <a:r>
              <a:rPr lang="en-US" altLang="nl-NL" dirty="0"/>
              <a:t>Johan M. M. van Rooij</a:t>
            </a:r>
          </a:p>
          <a:p>
            <a:pPr eaLnBrk="1" hangingPunct="1"/>
            <a:r>
              <a:rPr lang="en-US" altLang="nl-NL" dirty="0"/>
              <a:t>Til Miltzow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D328-05F2-4600-03F9-5E857BCB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1E8B1-55C8-75FE-E01E-F0117188A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via dynamic programming on trees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0328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/>
              <a:t>Maximum Weight Independent Set </a:t>
            </a:r>
            <a:br>
              <a:rPr lang="en-US" dirty="0"/>
            </a:br>
            <a:r>
              <a:rPr lang="en-US" dirty="0"/>
              <a:t>on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DC0D79A2-B740-C96C-918E-CA2ED52731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b="1" dirty="0"/>
                  <a:t>Maximum </a:t>
                </a:r>
                <a:r>
                  <a:rPr lang="en-US" b="1" dirty="0"/>
                  <a:t>Weight </a:t>
                </a:r>
                <a:r>
                  <a:rPr lang="en-GB" b="1" dirty="0"/>
                  <a:t>Independent Set:</a:t>
                </a:r>
              </a:p>
              <a:p>
                <a:pPr lvl="1"/>
                <a:r>
                  <a:rPr lang="en-GB" u="sng" dirty="0"/>
                  <a:t>Instance</a:t>
                </a:r>
                <a:r>
                  <a:rPr lang="en-GB" dirty="0"/>
                  <a:t>: graph G = (V,E), weights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each vertex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:pPr lvl="1"/>
                <a:r>
                  <a:rPr lang="en-GB" u="sng" dirty="0"/>
                  <a:t>Question</a:t>
                </a:r>
                <a:r>
                  <a:rPr lang="en-GB" dirty="0"/>
                  <a:t>: find a maximum weight independent set in G?</a:t>
                </a:r>
              </a:p>
              <a:p>
                <a:pPr marL="0" indent="0">
                  <a:buNone/>
                </a:pPr>
                <a:r>
                  <a:rPr lang="en-GB" dirty="0"/>
                  <a:t>An independent set is a subset of the vertices </a:t>
                </a:r>
                <a:r>
                  <a:rPr lang="en-GB" dirty="0" err="1"/>
                  <a:t>s.t.</a:t>
                </a:r>
                <a:r>
                  <a:rPr lang="en-GB" dirty="0"/>
                  <a:t> no two vertices are adjacent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US" dirty="0"/>
                  <a:t>When the graph is a rooted tree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We solve the problem by</a:t>
                </a:r>
                <a:br>
                  <a:rPr lang="en-US" dirty="0"/>
                </a:br>
                <a:r>
                  <a:rPr lang="en-US" dirty="0"/>
                  <a:t>dynamic programming!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DC0D79A2-B740-C96C-918E-CA2ED52731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0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4F1F55-D83B-450D-A321-0FE1CED69176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D7D795A5-D5D9-2616-2CBD-312470283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8462" y="4069795"/>
            <a:ext cx="82339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20" name="Line 28">
            <a:extLst>
              <a:ext uri="{FF2B5EF4-FFF2-40B4-BE49-F238E27FC236}">
                <a16:creationId xmlns:a16="http://schemas.microsoft.com/office/drawing/2014/main" id="{E6D10548-7C14-AFE4-D681-C3CEF35A0A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8462" y="4090261"/>
            <a:ext cx="0" cy="8841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21" name="Line 29">
            <a:extLst>
              <a:ext uri="{FF2B5EF4-FFF2-40B4-BE49-F238E27FC236}">
                <a16:creationId xmlns:a16="http://schemas.microsoft.com/office/drawing/2014/main" id="{4351566B-8DFD-1619-DD2F-2C1FF928AC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5071" y="4090261"/>
            <a:ext cx="82339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26" name="Line 30">
            <a:extLst>
              <a:ext uri="{FF2B5EF4-FFF2-40B4-BE49-F238E27FC236}">
                <a16:creationId xmlns:a16="http://schemas.microsoft.com/office/drawing/2014/main" id="{1FD55C61-5D19-67CD-FB28-FFF41B02A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5071" y="4090261"/>
            <a:ext cx="0" cy="7858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27" name="Line 31">
            <a:extLst>
              <a:ext uri="{FF2B5EF4-FFF2-40B4-BE49-F238E27FC236}">
                <a16:creationId xmlns:a16="http://schemas.microsoft.com/office/drawing/2014/main" id="{14D18704-BD56-E732-FDE9-B7BA87F591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3168" y="4090261"/>
            <a:ext cx="731903" cy="39293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28" name="Line 32">
            <a:extLst>
              <a:ext uri="{FF2B5EF4-FFF2-40B4-BE49-F238E27FC236}">
                <a16:creationId xmlns:a16="http://schemas.microsoft.com/office/drawing/2014/main" id="{B903A89B-8260-EA1B-E4B8-20919AD66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168" y="4483197"/>
            <a:ext cx="731903" cy="3929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29" name="Line 33">
            <a:extLst>
              <a:ext uri="{FF2B5EF4-FFF2-40B4-BE49-F238E27FC236}">
                <a16:creationId xmlns:a16="http://schemas.microsoft.com/office/drawing/2014/main" id="{B466463D-4784-1FC2-29DD-9F073AF14A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6144" y="4876133"/>
            <a:ext cx="548927" cy="5894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31" name="Line 34">
            <a:extLst>
              <a:ext uri="{FF2B5EF4-FFF2-40B4-BE49-F238E27FC236}">
                <a16:creationId xmlns:a16="http://schemas.microsoft.com/office/drawing/2014/main" id="{A54C14D9-0A68-7BEB-D938-FA319AD53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6144" y="5465538"/>
            <a:ext cx="1006367" cy="1964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33" name="Line 35">
            <a:extLst>
              <a:ext uri="{FF2B5EF4-FFF2-40B4-BE49-F238E27FC236}">
                <a16:creationId xmlns:a16="http://schemas.microsoft.com/office/drawing/2014/main" id="{4733EB7F-B29C-03A7-2E6C-F1A901CE0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5071" y="4876133"/>
            <a:ext cx="457439" cy="7858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C7B3FFD3-1345-D54A-90D1-1A94C1E27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5071" y="4876133"/>
            <a:ext cx="82339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sz="2000"/>
          </a:p>
        </p:txBody>
      </p:sp>
      <p:sp>
        <p:nvSpPr>
          <p:cNvPr id="109" name="Oval 38">
            <a:extLst>
              <a:ext uri="{FF2B5EF4-FFF2-40B4-BE49-F238E27FC236}">
                <a16:creationId xmlns:a16="http://schemas.microsoft.com/office/drawing/2014/main" id="{CABB0B26-4A62-051A-5128-B4F195B66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192" y="4286729"/>
            <a:ext cx="365952" cy="39293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000" dirty="0"/>
              <a:t>2</a:t>
            </a:r>
          </a:p>
        </p:txBody>
      </p:sp>
      <p:sp>
        <p:nvSpPr>
          <p:cNvPr id="107" name="Oval 41">
            <a:extLst>
              <a:ext uri="{FF2B5EF4-FFF2-40B4-BE49-F238E27FC236}">
                <a16:creationId xmlns:a16="http://schemas.microsoft.com/office/drawing/2014/main" id="{CA8C5621-5405-74A9-0F96-FC5073AFE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779" y="4691945"/>
            <a:ext cx="365952" cy="39293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05" name="Oval 44">
            <a:extLst>
              <a:ext uri="{FF2B5EF4-FFF2-40B4-BE49-F238E27FC236}">
                <a16:creationId xmlns:a16="http://schemas.microsoft.com/office/drawing/2014/main" id="{94E16147-C253-22DD-DE32-2CBAFE829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758" y="5287489"/>
            <a:ext cx="365952" cy="392936"/>
          </a:xfrm>
          <a:prstGeom prst="ellipse">
            <a:avLst/>
          </a:prstGeom>
          <a:solidFill>
            <a:srgbClr val="F3B927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000" dirty="0"/>
              <a:t>3</a:t>
            </a:r>
          </a:p>
        </p:txBody>
      </p:sp>
      <p:sp>
        <p:nvSpPr>
          <p:cNvPr id="103" name="Oval 47">
            <a:extLst>
              <a:ext uri="{FF2B5EF4-FFF2-40B4-BE49-F238E27FC236}">
                <a16:creationId xmlns:a16="http://schemas.microsoft.com/office/drawing/2014/main" id="{FA7C5AD8-0AED-4C63-AB3C-5A77F1C35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347" y="5412328"/>
            <a:ext cx="365952" cy="39293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000" dirty="0"/>
              <a:t>3</a:t>
            </a:r>
          </a:p>
        </p:txBody>
      </p:sp>
      <p:sp>
        <p:nvSpPr>
          <p:cNvPr id="101" name="Oval 50">
            <a:extLst>
              <a:ext uri="{FF2B5EF4-FFF2-40B4-BE49-F238E27FC236}">
                <a16:creationId xmlns:a16="http://schemas.microsoft.com/office/drawing/2014/main" id="{57CD88A9-1A37-7648-DC94-3F4353670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5486" y="4679665"/>
            <a:ext cx="365952" cy="392936"/>
          </a:xfrm>
          <a:prstGeom prst="ellipse">
            <a:avLst/>
          </a:prstGeom>
          <a:solidFill>
            <a:srgbClr val="F3B927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000" dirty="0"/>
              <a:t>2</a:t>
            </a:r>
          </a:p>
        </p:txBody>
      </p:sp>
      <p:sp>
        <p:nvSpPr>
          <p:cNvPr id="99" name="Oval 53">
            <a:extLst>
              <a:ext uri="{FF2B5EF4-FFF2-40B4-BE49-F238E27FC236}">
                <a16:creationId xmlns:a16="http://schemas.microsoft.com/office/drawing/2014/main" id="{386DE8BB-BFDA-FF27-A6AE-46232E3B5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1723" y="3869234"/>
            <a:ext cx="365952" cy="392936"/>
          </a:xfrm>
          <a:prstGeom prst="ellipse">
            <a:avLst/>
          </a:prstGeom>
          <a:solidFill>
            <a:srgbClr val="F3B927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97" name="Oval 56">
            <a:extLst>
              <a:ext uri="{FF2B5EF4-FFF2-40B4-BE49-F238E27FC236}">
                <a16:creationId xmlns:a16="http://schemas.microsoft.com/office/drawing/2014/main" id="{BF99B06C-5C7C-45F4-9141-9A1541D66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0685" y="3861048"/>
            <a:ext cx="365952" cy="392936"/>
          </a:xfrm>
          <a:prstGeom prst="ellipse">
            <a:avLst/>
          </a:prstGeom>
          <a:solidFill>
            <a:srgbClr val="F3B927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52" name="Oval 59">
            <a:extLst>
              <a:ext uri="{FF2B5EF4-FFF2-40B4-BE49-F238E27FC236}">
                <a16:creationId xmlns:a16="http://schemas.microsoft.com/office/drawing/2014/main" id="{AF80D6D7-019B-C30E-0E01-2BEFCAB12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8828" y="3865141"/>
            <a:ext cx="365952" cy="39293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876E30-0770-D41B-DEE3-4C6CC540BC53}"/>
              </a:ext>
            </a:extLst>
          </p:cNvPr>
          <p:cNvSpPr txBox="1"/>
          <p:nvPr/>
        </p:nvSpPr>
        <p:spPr>
          <a:xfrm>
            <a:off x="6987369" y="501663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root</a:t>
            </a:r>
            <a:endParaRPr lang="LID4096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32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5" grpId="0" animBg="1"/>
      <p:bldP spid="1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FB18-480A-9A1A-A609-5D8E8478E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BC475F-FAE3-2CCD-22EA-5FA49601E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/>
              <a:t>Maximum Weight Independent Set </a:t>
            </a:r>
            <a:br>
              <a:rPr lang="en-US" dirty="0"/>
            </a:br>
            <a:r>
              <a:rPr lang="en-US" dirty="0"/>
              <a:t>on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EC237E11-B291-20E8-53E3-976BDB7FF7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the graph be a rooted tree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then: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1100" dirty="0"/>
              </a:p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as the max weight of a solution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be the subtree rooted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set of children of a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EC237E11-B291-20E8-53E3-976BDB7FF7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A192FA-EDB3-EBF2-E46D-80E430C290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4F1F55-D83B-450D-A321-0FE1CED69176}" type="slidenum">
              <a:rPr lang="nl-NL" smtClean="0"/>
              <a:pPr/>
              <a:t>4</a:t>
            </a:fld>
            <a:endParaRPr lang="nl-NL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281EF4-2A6B-F574-9CB7-954B864E5AD4}"/>
              </a:ext>
            </a:extLst>
          </p:cNvPr>
          <p:cNvGrpSpPr/>
          <p:nvPr/>
        </p:nvGrpSpPr>
        <p:grpSpPr>
          <a:xfrm>
            <a:off x="179512" y="2335079"/>
            <a:ext cx="2897312" cy="1542536"/>
            <a:chOff x="45860" y="4406744"/>
            <a:chExt cx="2897312" cy="1542536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937FD02-1893-39AE-38B9-77744C6EBCEE}"/>
                </a:ext>
              </a:extLst>
            </p:cNvPr>
            <p:cNvSpPr/>
            <p:nvPr/>
          </p:nvSpPr>
          <p:spPr>
            <a:xfrm>
              <a:off x="45860" y="4438979"/>
              <a:ext cx="2897312" cy="1510301"/>
            </a:xfrm>
            <a:custGeom>
              <a:avLst/>
              <a:gdLst>
                <a:gd name="connsiteX0" fmla="*/ 0 w 2897312"/>
                <a:gd name="connsiteY0" fmla="*/ 1510301 h 1510301"/>
                <a:gd name="connsiteX1" fmla="*/ 2897312 w 2897312"/>
                <a:gd name="connsiteY1" fmla="*/ 1510301 h 1510301"/>
                <a:gd name="connsiteX2" fmla="*/ 2188396 w 2897312"/>
                <a:gd name="connsiteY2" fmla="*/ 441789 h 1510301"/>
                <a:gd name="connsiteX3" fmla="*/ 1356189 w 2897312"/>
                <a:gd name="connsiteY3" fmla="*/ 0 h 1510301"/>
                <a:gd name="connsiteX4" fmla="*/ 421240 w 2897312"/>
                <a:gd name="connsiteY4" fmla="*/ 462337 h 1510301"/>
                <a:gd name="connsiteX5" fmla="*/ 0 w 2897312"/>
                <a:gd name="connsiteY5" fmla="*/ 1510301 h 1510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7312" h="1510301">
                  <a:moveTo>
                    <a:pt x="0" y="1510301"/>
                  </a:moveTo>
                  <a:lnTo>
                    <a:pt x="2897312" y="1510301"/>
                  </a:lnTo>
                  <a:lnTo>
                    <a:pt x="2188396" y="441789"/>
                  </a:lnTo>
                  <a:lnTo>
                    <a:pt x="1356189" y="0"/>
                  </a:lnTo>
                  <a:lnTo>
                    <a:pt x="421240" y="462337"/>
                  </a:lnTo>
                  <a:lnTo>
                    <a:pt x="0" y="1510301"/>
                  </a:lnTo>
                  <a:close/>
                </a:path>
              </a:pathLst>
            </a:cu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49E06C7-05B6-9F87-CAD3-A510D49CBBA1}"/>
                </a:ext>
              </a:extLst>
            </p:cNvPr>
            <p:cNvSpPr/>
            <p:nvPr/>
          </p:nvSpPr>
          <p:spPr>
            <a:xfrm>
              <a:off x="361593" y="5456899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31667AF-9356-9346-EAFA-380A5D85CF1F}"/>
                </a:ext>
              </a:extLst>
            </p:cNvPr>
            <p:cNvSpPr/>
            <p:nvPr/>
          </p:nvSpPr>
          <p:spPr>
            <a:xfrm>
              <a:off x="677949" y="5444962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B367483-8019-E6A2-E7EE-3F373B23CEDA}"/>
                </a:ext>
              </a:extLst>
            </p:cNvPr>
            <p:cNvSpPr/>
            <p:nvPr/>
          </p:nvSpPr>
          <p:spPr>
            <a:xfrm>
              <a:off x="1081122" y="5444962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1A7C8B7-F4F6-0353-5D39-D67EDA53A217}"/>
                </a:ext>
              </a:extLst>
            </p:cNvPr>
            <p:cNvSpPr/>
            <p:nvPr/>
          </p:nvSpPr>
          <p:spPr>
            <a:xfrm>
              <a:off x="1398029" y="5444962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B02B795-9A1D-5DDA-A9BF-BA67A73B96E4}"/>
                </a:ext>
              </a:extLst>
            </p:cNvPr>
            <p:cNvSpPr/>
            <p:nvPr/>
          </p:nvSpPr>
          <p:spPr>
            <a:xfrm>
              <a:off x="1758069" y="5444962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7C60D28-E8B5-3946-62B8-D889A256D9AA}"/>
                </a:ext>
              </a:extLst>
            </p:cNvPr>
            <p:cNvSpPr/>
            <p:nvPr/>
          </p:nvSpPr>
          <p:spPr>
            <a:xfrm>
              <a:off x="2046826" y="5444962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C703DDE-FB23-E63D-3D68-4D47244DF5A1}"/>
                </a:ext>
              </a:extLst>
            </p:cNvPr>
            <p:cNvSpPr/>
            <p:nvPr/>
          </p:nvSpPr>
          <p:spPr>
            <a:xfrm>
              <a:off x="793815" y="4979131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9EEC61F-539D-1D2B-8680-7162936825D6}"/>
                </a:ext>
              </a:extLst>
            </p:cNvPr>
            <p:cNvSpPr/>
            <p:nvPr/>
          </p:nvSpPr>
          <p:spPr>
            <a:xfrm>
              <a:off x="1381667" y="4981276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1C099D2-FD73-7FF5-C1F3-3622ECE49EB7}"/>
                </a:ext>
              </a:extLst>
            </p:cNvPr>
            <p:cNvSpPr/>
            <p:nvPr/>
          </p:nvSpPr>
          <p:spPr>
            <a:xfrm>
              <a:off x="2017951" y="4979131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3BD8730-1F20-E6ED-59B6-25658C701FA1}"/>
                </a:ext>
              </a:extLst>
            </p:cNvPr>
            <p:cNvCxnSpPr>
              <a:stCxn id="22" idx="2"/>
              <a:endCxn id="23" idx="0"/>
            </p:cNvCxnSpPr>
            <p:nvPr/>
          </p:nvCxnSpPr>
          <p:spPr>
            <a:xfrm flipH="1">
              <a:off x="865823" y="4478752"/>
              <a:ext cx="449934" cy="50037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680896F-0C5B-EFE2-EF47-7A2FD3C0C94E}"/>
                </a:ext>
              </a:extLst>
            </p:cNvPr>
            <p:cNvCxnSpPr>
              <a:stCxn id="22" idx="4"/>
              <a:endCxn id="24" idx="0"/>
            </p:cNvCxnSpPr>
            <p:nvPr/>
          </p:nvCxnSpPr>
          <p:spPr>
            <a:xfrm>
              <a:off x="1387765" y="4550760"/>
              <a:ext cx="65910" cy="4305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8DF8F68-3BEF-18AE-6FD8-95A37E92386C}"/>
                </a:ext>
              </a:extLst>
            </p:cNvPr>
            <p:cNvCxnSpPr>
              <a:stCxn id="22" idx="6"/>
              <a:endCxn id="25" idx="7"/>
            </p:cNvCxnSpPr>
            <p:nvPr/>
          </p:nvCxnSpPr>
          <p:spPr>
            <a:xfrm>
              <a:off x="1459773" y="4478752"/>
              <a:ext cx="681103" cy="52147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17529D5-2946-7AAC-E138-E7E2CC804BF5}"/>
                </a:ext>
              </a:extLst>
            </p:cNvPr>
            <p:cNvSpPr/>
            <p:nvPr/>
          </p:nvSpPr>
          <p:spPr>
            <a:xfrm>
              <a:off x="505783" y="5372954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8248AAB-DBC2-611F-CA51-C670C700F2E1}"/>
                </a:ext>
              </a:extLst>
            </p:cNvPr>
            <p:cNvSpPr/>
            <p:nvPr/>
          </p:nvSpPr>
          <p:spPr>
            <a:xfrm>
              <a:off x="793815" y="5372954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8FDE18E-7DF8-F94A-C9D8-FA36C442241C}"/>
                </a:ext>
              </a:extLst>
            </p:cNvPr>
            <p:cNvSpPr/>
            <p:nvPr/>
          </p:nvSpPr>
          <p:spPr>
            <a:xfrm>
              <a:off x="1225863" y="5372954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9E0DA5B-A17D-3D0F-E742-1253232C0B3D}"/>
                </a:ext>
              </a:extLst>
            </p:cNvPr>
            <p:cNvSpPr/>
            <p:nvPr/>
          </p:nvSpPr>
          <p:spPr>
            <a:xfrm>
              <a:off x="1513895" y="5372954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CD950C-1F7A-88C1-058F-922E45AC0DBA}"/>
                </a:ext>
              </a:extLst>
            </p:cNvPr>
            <p:cNvSpPr/>
            <p:nvPr/>
          </p:nvSpPr>
          <p:spPr>
            <a:xfrm>
              <a:off x="1873935" y="5372954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35E6F61-2927-3259-A029-8BDD86F5DF8F}"/>
                </a:ext>
              </a:extLst>
            </p:cNvPr>
            <p:cNvSpPr/>
            <p:nvPr/>
          </p:nvSpPr>
          <p:spPr>
            <a:xfrm>
              <a:off x="2161967" y="5372954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AC60A69-D89C-9CE0-6BA0-23A86EB6B0F0}"/>
                </a:ext>
              </a:extLst>
            </p:cNvPr>
            <p:cNvCxnSpPr>
              <a:stCxn id="23" idx="2"/>
              <a:endCxn id="41" idx="0"/>
            </p:cNvCxnSpPr>
            <p:nvPr/>
          </p:nvCxnSpPr>
          <p:spPr>
            <a:xfrm flipH="1">
              <a:off x="577791" y="5051139"/>
              <a:ext cx="216024" cy="3218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4BFA78A-C881-F8B6-99C1-319BC5C2C350}"/>
                </a:ext>
              </a:extLst>
            </p:cNvPr>
            <p:cNvCxnSpPr>
              <a:stCxn id="23" idx="4"/>
              <a:endCxn id="42" idx="7"/>
            </p:cNvCxnSpPr>
            <p:nvPr/>
          </p:nvCxnSpPr>
          <p:spPr>
            <a:xfrm>
              <a:off x="865823" y="5123147"/>
              <a:ext cx="50917" cy="2708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C05DCD7-7BD1-9B79-3D95-8D9D135B16A0}"/>
                </a:ext>
              </a:extLst>
            </p:cNvPr>
            <p:cNvCxnSpPr>
              <a:stCxn id="24" idx="2"/>
              <a:endCxn id="44" idx="0"/>
            </p:cNvCxnSpPr>
            <p:nvPr/>
          </p:nvCxnSpPr>
          <p:spPr>
            <a:xfrm flipH="1">
              <a:off x="1297871" y="5053284"/>
              <a:ext cx="83796" cy="31967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A2C21F6-3B5F-2BF5-1DF6-37CB5D7D0B1C}"/>
                </a:ext>
              </a:extLst>
            </p:cNvPr>
            <p:cNvCxnSpPr>
              <a:stCxn id="24" idx="4"/>
              <a:endCxn id="45" idx="0"/>
            </p:cNvCxnSpPr>
            <p:nvPr/>
          </p:nvCxnSpPr>
          <p:spPr>
            <a:xfrm>
              <a:off x="1453675" y="5125292"/>
              <a:ext cx="132228" cy="2476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4EA0FF2-5EC2-7C53-8834-4059FBAB8E14}"/>
                </a:ext>
              </a:extLst>
            </p:cNvPr>
            <p:cNvCxnSpPr>
              <a:stCxn id="25" idx="4"/>
              <a:endCxn id="46" idx="0"/>
            </p:cNvCxnSpPr>
            <p:nvPr/>
          </p:nvCxnSpPr>
          <p:spPr>
            <a:xfrm flipH="1">
              <a:off x="1945943" y="5123147"/>
              <a:ext cx="144016" cy="2498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BCD2181-7C22-1D06-5A5D-7B5CBD8EAF00}"/>
                </a:ext>
              </a:extLst>
            </p:cNvPr>
            <p:cNvCxnSpPr>
              <a:stCxn id="25" idx="5"/>
              <a:endCxn id="47" idx="7"/>
            </p:cNvCxnSpPr>
            <p:nvPr/>
          </p:nvCxnSpPr>
          <p:spPr>
            <a:xfrm>
              <a:off x="2140876" y="5102056"/>
              <a:ext cx="144016" cy="2919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129DC85-B63A-CDCA-51A4-09A5CB77830E}"/>
                </a:ext>
              </a:extLst>
            </p:cNvPr>
            <p:cNvSpPr/>
            <p:nvPr/>
          </p:nvSpPr>
          <p:spPr>
            <a:xfrm>
              <a:off x="1315757" y="4406744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00F9C1-C325-B04A-6B25-8ECF9B296288}"/>
                  </a:ext>
                </a:extLst>
              </p:cNvPr>
              <p:cNvSpPr txBox="1"/>
              <p:nvPr/>
            </p:nvSpPr>
            <p:spPr>
              <a:xfrm>
                <a:off x="2555776" y="2694353"/>
                <a:ext cx="4637039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=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en-US" sz="2600" dirty="0"/>
                  <a:t>                            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𝜔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2600" b="0" i="1" smtClean="0">
                        <a:latin typeface="Cambria Math"/>
                      </a:rPr>
                      <m:t>+</m:t>
                    </m:r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00F9C1-C325-B04A-6B25-8ECF9B296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2694353"/>
                <a:ext cx="4637039" cy="513282"/>
              </a:xfrm>
              <a:prstGeom prst="rect">
                <a:avLst/>
              </a:prstGeom>
              <a:blipFill>
                <a:blip r:embed="rId3"/>
                <a:stretch>
                  <a:fillRect l="-2365" t="-7143" b="-2857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Freeform 79">
            <a:extLst>
              <a:ext uri="{FF2B5EF4-FFF2-40B4-BE49-F238E27FC236}">
                <a16:creationId xmlns:a16="http://schemas.microsoft.com/office/drawing/2014/main" id="{989474E6-B980-C2CD-7F43-1C29583B6861}"/>
              </a:ext>
            </a:extLst>
          </p:cNvPr>
          <p:cNvSpPr/>
          <p:nvPr/>
        </p:nvSpPr>
        <p:spPr>
          <a:xfrm>
            <a:off x="7019373" y="2922452"/>
            <a:ext cx="259882" cy="462013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2BC39F76-73A0-E61C-9728-7D2CD3D71BA7}"/>
              </a:ext>
            </a:extLst>
          </p:cNvPr>
          <p:cNvSpPr/>
          <p:nvPr/>
        </p:nvSpPr>
        <p:spPr>
          <a:xfrm>
            <a:off x="7335729" y="2910515"/>
            <a:ext cx="259882" cy="462013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8990E6A1-3AD6-4ED0-68B0-423B0C4BD2E5}"/>
              </a:ext>
            </a:extLst>
          </p:cNvPr>
          <p:cNvSpPr/>
          <p:nvPr/>
        </p:nvSpPr>
        <p:spPr>
          <a:xfrm>
            <a:off x="7738902" y="2910515"/>
            <a:ext cx="259882" cy="462013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A28E05B6-2FF1-60D9-32A4-B3BF0691FF7A}"/>
              </a:ext>
            </a:extLst>
          </p:cNvPr>
          <p:cNvSpPr/>
          <p:nvPr/>
        </p:nvSpPr>
        <p:spPr>
          <a:xfrm>
            <a:off x="8055809" y="2910515"/>
            <a:ext cx="259882" cy="462013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BAEED34A-9917-66BA-FF1A-0ABD4A6C7887}"/>
              </a:ext>
            </a:extLst>
          </p:cNvPr>
          <p:cNvSpPr/>
          <p:nvPr/>
        </p:nvSpPr>
        <p:spPr>
          <a:xfrm>
            <a:off x="8415849" y="2910515"/>
            <a:ext cx="259882" cy="462013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9446B63E-5336-4B36-F6A9-2098E3B0647D}"/>
              </a:ext>
            </a:extLst>
          </p:cNvPr>
          <p:cNvSpPr/>
          <p:nvPr/>
        </p:nvSpPr>
        <p:spPr>
          <a:xfrm>
            <a:off x="8704606" y="2910515"/>
            <a:ext cx="259882" cy="462013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760C8E3-0C0B-2F04-D1AF-DEDF90A433D6}"/>
              </a:ext>
            </a:extLst>
          </p:cNvPr>
          <p:cNvSpPr/>
          <p:nvPr/>
        </p:nvSpPr>
        <p:spPr>
          <a:xfrm>
            <a:off x="7163563" y="2838507"/>
            <a:ext cx="144016" cy="144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6F12ADC-C586-D372-13F6-0109DD8F8210}"/>
              </a:ext>
            </a:extLst>
          </p:cNvPr>
          <p:cNvSpPr/>
          <p:nvPr/>
        </p:nvSpPr>
        <p:spPr>
          <a:xfrm>
            <a:off x="7451595" y="2838507"/>
            <a:ext cx="144016" cy="144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317B1D8-F9E0-EFCF-5240-DB4A3200D5BF}"/>
              </a:ext>
            </a:extLst>
          </p:cNvPr>
          <p:cNvSpPr/>
          <p:nvPr/>
        </p:nvSpPr>
        <p:spPr>
          <a:xfrm>
            <a:off x="7883643" y="2838507"/>
            <a:ext cx="144016" cy="144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6AAA7BC-55D6-F930-74B3-B81FFBE91739}"/>
              </a:ext>
            </a:extLst>
          </p:cNvPr>
          <p:cNvSpPr/>
          <p:nvPr/>
        </p:nvSpPr>
        <p:spPr>
          <a:xfrm>
            <a:off x="8171675" y="2838507"/>
            <a:ext cx="144016" cy="144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20B31A4-C66D-821F-166B-B1B699090C3C}"/>
              </a:ext>
            </a:extLst>
          </p:cNvPr>
          <p:cNvSpPr/>
          <p:nvPr/>
        </p:nvSpPr>
        <p:spPr>
          <a:xfrm>
            <a:off x="8531715" y="2838507"/>
            <a:ext cx="144016" cy="144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AAAEF43-09FA-8CE7-FA4E-00DFDF6318A2}"/>
              </a:ext>
            </a:extLst>
          </p:cNvPr>
          <p:cNvSpPr/>
          <p:nvPr/>
        </p:nvSpPr>
        <p:spPr>
          <a:xfrm>
            <a:off x="8819747" y="2838507"/>
            <a:ext cx="144016" cy="144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CBF04932-A073-CEB1-A71E-2DC6C774D366}"/>
              </a:ext>
            </a:extLst>
          </p:cNvPr>
          <p:cNvSpPr/>
          <p:nvPr/>
        </p:nvSpPr>
        <p:spPr>
          <a:xfrm>
            <a:off x="3589428" y="2335079"/>
            <a:ext cx="268578" cy="12692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A047E-F9DE-F2C6-309D-548A2E4F854D}"/>
              </a:ext>
            </a:extLst>
          </p:cNvPr>
          <p:cNvGrpSpPr/>
          <p:nvPr/>
        </p:nvGrpSpPr>
        <p:grpSpPr>
          <a:xfrm>
            <a:off x="3779013" y="2564560"/>
            <a:ext cx="1945115" cy="939781"/>
            <a:chOff x="3490981" y="4636225"/>
            <a:chExt cx="1945115" cy="939781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F6B9620-2A00-9004-82B5-9BB25FE2F852}"/>
                </a:ext>
              </a:extLst>
            </p:cNvPr>
            <p:cNvSpPr/>
            <p:nvPr/>
          </p:nvSpPr>
          <p:spPr>
            <a:xfrm>
              <a:off x="3490981" y="5113993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2F2926E-3CF8-B28D-7E5C-AA05D39F63E3}"/>
                </a:ext>
              </a:extLst>
            </p:cNvPr>
            <p:cNvSpPr/>
            <p:nvPr/>
          </p:nvSpPr>
          <p:spPr>
            <a:xfrm>
              <a:off x="3807337" y="5102056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1C2B2E5-01EE-9938-1AD7-F41007FEA6CC}"/>
                </a:ext>
              </a:extLst>
            </p:cNvPr>
            <p:cNvSpPr/>
            <p:nvPr/>
          </p:nvSpPr>
          <p:spPr>
            <a:xfrm>
              <a:off x="4210510" y="5102056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34C7FF7-681D-64E4-9001-F7460F272F79}"/>
                </a:ext>
              </a:extLst>
            </p:cNvPr>
            <p:cNvSpPr/>
            <p:nvPr/>
          </p:nvSpPr>
          <p:spPr>
            <a:xfrm>
              <a:off x="4527417" y="5102056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D411F29-3A95-429E-40C4-2B454BB32F3E}"/>
                </a:ext>
              </a:extLst>
            </p:cNvPr>
            <p:cNvSpPr/>
            <p:nvPr/>
          </p:nvSpPr>
          <p:spPr>
            <a:xfrm>
              <a:off x="4887457" y="5102056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0E41A7D-BFFB-80EB-FDA3-AB84E8F7C875}"/>
                </a:ext>
              </a:extLst>
            </p:cNvPr>
            <p:cNvSpPr/>
            <p:nvPr/>
          </p:nvSpPr>
          <p:spPr>
            <a:xfrm>
              <a:off x="5176214" y="5102056"/>
              <a:ext cx="259882" cy="462013"/>
            </a:xfrm>
            <a:custGeom>
              <a:avLst/>
              <a:gdLst>
                <a:gd name="connsiteX0" fmla="*/ 211755 w 259882"/>
                <a:gd name="connsiteY0" fmla="*/ 0 h 462013"/>
                <a:gd name="connsiteX1" fmla="*/ 0 w 259882"/>
                <a:gd name="connsiteY1" fmla="*/ 462013 h 462013"/>
                <a:gd name="connsiteX2" fmla="*/ 259882 w 259882"/>
                <a:gd name="connsiteY2" fmla="*/ 462013 h 462013"/>
                <a:gd name="connsiteX3" fmla="*/ 211755 w 259882"/>
                <a:gd name="connsiteY3" fmla="*/ 0 h 46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82" h="462013">
                  <a:moveTo>
                    <a:pt x="211755" y="0"/>
                  </a:moveTo>
                  <a:lnTo>
                    <a:pt x="0" y="462013"/>
                  </a:lnTo>
                  <a:lnTo>
                    <a:pt x="259882" y="462013"/>
                  </a:lnTo>
                  <a:lnTo>
                    <a:pt x="211755" y="0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1C13669-27AE-E0E7-83B9-6695A37C3585}"/>
                </a:ext>
              </a:extLst>
            </p:cNvPr>
            <p:cNvSpPr/>
            <p:nvPr/>
          </p:nvSpPr>
          <p:spPr>
            <a:xfrm>
              <a:off x="3923203" y="4636225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02141B2-0F54-2BBE-1FE1-B19D696D03C9}"/>
                </a:ext>
              </a:extLst>
            </p:cNvPr>
            <p:cNvSpPr/>
            <p:nvPr/>
          </p:nvSpPr>
          <p:spPr>
            <a:xfrm>
              <a:off x="4511055" y="4638370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21EA4A8-408E-16AE-F401-8DC0B813BAD1}"/>
                </a:ext>
              </a:extLst>
            </p:cNvPr>
            <p:cNvSpPr/>
            <p:nvPr/>
          </p:nvSpPr>
          <p:spPr>
            <a:xfrm>
              <a:off x="5147339" y="4636225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90FC3F0-26D2-0304-CF1E-511A50A81713}"/>
                </a:ext>
              </a:extLst>
            </p:cNvPr>
            <p:cNvSpPr/>
            <p:nvPr/>
          </p:nvSpPr>
          <p:spPr>
            <a:xfrm>
              <a:off x="3635171" y="5030048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A70ACFA-7901-5EB9-7070-5E340E496487}"/>
                </a:ext>
              </a:extLst>
            </p:cNvPr>
            <p:cNvSpPr/>
            <p:nvPr/>
          </p:nvSpPr>
          <p:spPr>
            <a:xfrm>
              <a:off x="3923203" y="5030048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D857661-AC9E-6C1B-AB3E-769313FA0439}"/>
                </a:ext>
              </a:extLst>
            </p:cNvPr>
            <p:cNvSpPr/>
            <p:nvPr/>
          </p:nvSpPr>
          <p:spPr>
            <a:xfrm>
              <a:off x="4355251" y="5030048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66BE134-F689-C240-4CD6-34C08BE18D8B}"/>
                </a:ext>
              </a:extLst>
            </p:cNvPr>
            <p:cNvSpPr/>
            <p:nvPr/>
          </p:nvSpPr>
          <p:spPr>
            <a:xfrm>
              <a:off x="4643283" y="5030048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1737816-F081-BD77-F19D-9CEDC3BA366B}"/>
                </a:ext>
              </a:extLst>
            </p:cNvPr>
            <p:cNvSpPr/>
            <p:nvPr/>
          </p:nvSpPr>
          <p:spPr>
            <a:xfrm>
              <a:off x="5003323" y="5030048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1D1D5C7-66D7-FC71-E705-9674FCD2C2FF}"/>
                </a:ext>
              </a:extLst>
            </p:cNvPr>
            <p:cNvSpPr/>
            <p:nvPr/>
          </p:nvSpPr>
          <p:spPr>
            <a:xfrm>
              <a:off x="5291355" y="5030048"/>
              <a:ext cx="144016" cy="1440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F68F94F-1C86-067C-797D-2FA87E797A93}"/>
                </a:ext>
              </a:extLst>
            </p:cNvPr>
            <p:cNvCxnSpPr>
              <a:stCxn id="70" idx="2"/>
              <a:endCxn id="73" idx="0"/>
            </p:cNvCxnSpPr>
            <p:nvPr/>
          </p:nvCxnSpPr>
          <p:spPr>
            <a:xfrm flipH="1">
              <a:off x="3707179" y="4708233"/>
              <a:ext cx="216024" cy="3218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D694342-BE3C-BB46-C035-116444594DBB}"/>
                </a:ext>
              </a:extLst>
            </p:cNvPr>
            <p:cNvCxnSpPr>
              <a:stCxn id="70" idx="4"/>
              <a:endCxn id="74" idx="7"/>
            </p:cNvCxnSpPr>
            <p:nvPr/>
          </p:nvCxnSpPr>
          <p:spPr>
            <a:xfrm>
              <a:off x="3995211" y="4780241"/>
              <a:ext cx="50917" cy="2708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AC0BBEF-0217-7AD2-B284-2F69B1D2224B}"/>
                </a:ext>
              </a:extLst>
            </p:cNvPr>
            <p:cNvCxnSpPr>
              <a:stCxn id="71" idx="2"/>
              <a:endCxn id="75" idx="0"/>
            </p:cNvCxnSpPr>
            <p:nvPr/>
          </p:nvCxnSpPr>
          <p:spPr>
            <a:xfrm flipH="1">
              <a:off x="4427259" y="4710378"/>
              <a:ext cx="83796" cy="31967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FA13663-33E8-7EE9-8764-9FC4CB908016}"/>
                </a:ext>
              </a:extLst>
            </p:cNvPr>
            <p:cNvCxnSpPr>
              <a:stCxn id="71" idx="4"/>
              <a:endCxn id="76" idx="0"/>
            </p:cNvCxnSpPr>
            <p:nvPr/>
          </p:nvCxnSpPr>
          <p:spPr>
            <a:xfrm>
              <a:off x="4583063" y="4782386"/>
              <a:ext cx="132228" cy="2476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E1F43A7-AEED-1570-4D56-969827391A48}"/>
                </a:ext>
              </a:extLst>
            </p:cNvPr>
            <p:cNvCxnSpPr>
              <a:stCxn id="72" idx="4"/>
              <a:endCxn id="77" idx="0"/>
            </p:cNvCxnSpPr>
            <p:nvPr/>
          </p:nvCxnSpPr>
          <p:spPr>
            <a:xfrm flipH="1">
              <a:off x="5075331" y="4780241"/>
              <a:ext cx="144016" cy="2498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4522324-DF5C-6531-A6BE-2EC3D4D11C14}"/>
                </a:ext>
              </a:extLst>
            </p:cNvPr>
            <p:cNvCxnSpPr>
              <a:stCxn id="72" idx="5"/>
              <a:endCxn id="78" idx="7"/>
            </p:cNvCxnSpPr>
            <p:nvPr/>
          </p:nvCxnSpPr>
          <p:spPr>
            <a:xfrm>
              <a:off x="5270264" y="4759150"/>
              <a:ext cx="144016" cy="2919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FCB2F0-5047-7B98-C6A2-ED0928A66024}"/>
                  </a:ext>
                </a:extLst>
              </p:cNvPr>
              <p:cNvSpPr txBox="1"/>
              <p:nvPr/>
            </p:nvSpPr>
            <p:spPr>
              <a:xfrm flipH="1">
                <a:off x="1464670" y="2276872"/>
                <a:ext cx="5723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FCB2F0-5047-7B98-C6A2-ED0928A66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64670" y="2276872"/>
                <a:ext cx="57232" cy="253916"/>
              </a:xfrm>
              <a:prstGeom prst="rect">
                <a:avLst/>
              </a:prstGeom>
              <a:blipFill>
                <a:blip r:embed="rId4"/>
                <a:stretch>
                  <a:fillRect l="-10000" r="-12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5A9959-8BEA-0B1C-CBCF-2F6BECF410CA}"/>
                  </a:ext>
                </a:extLst>
              </p:cNvPr>
              <p:cNvSpPr txBox="1"/>
              <p:nvPr/>
            </p:nvSpPr>
            <p:spPr>
              <a:xfrm>
                <a:off x="1698653" y="5016717"/>
                <a:ext cx="7265835" cy="932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tabLst>
                    <a:tab pos="51117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is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single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node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supHide m:val="on"/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∈</m:t>
                                            </m:r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𝑐h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</m:d>
                                          </m:sub>
                                          <m:sup/>
                                          <m:e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</m:d>
                                          </m:e>
                                        </m:nary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d>
                                          <m:dPr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</m:d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nary>
                                          <m:naryPr>
                                            <m:chr m:val="∑"/>
                                            <m:supHide m:val="on"/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∈</m:t>
                                            </m:r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𝑐h</m:t>
                                            </m:r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b>
                                          <m:sup/>
                                          <m:e>
                                            <m:nary>
                                              <m:naryPr>
                                                <m:chr m:val="∑"/>
                                                <m:supHide m:val="on"/>
                                                <m:ctrl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∈</m:t>
                                                </m:r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𝑐h</m:t>
                                                </m:r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sub>
                                              <m:sup/>
                                              <m:e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[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6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]</m:t>
                                                </m:r>
                                              </m:e>
                                            </m:nary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LID4096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5A9959-8BEA-0B1C-CBCF-2F6BECF41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653" y="5016717"/>
                <a:ext cx="7265835" cy="932563"/>
              </a:xfrm>
              <a:prstGeom prst="rect">
                <a:avLst/>
              </a:prstGeom>
              <a:blipFill>
                <a:blip r:embed="rId5"/>
                <a:stretch>
                  <a:fillRect l="-8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24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 dirty="0" err="1"/>
              <a:t>Treewidth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391400" cy="3962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graph problems that are NP-hard can be solved fast(er) on </a:t>
            </a:r>
            <a:r>
              <a:rPr lang="en-US" b="1" dirty="0"/>
              <a:t>trees</a:t>
            </a:r>
          </a:p>
          <a:p>
            <a:r>
              <a:rPr lang="en-US" dirty="0"/>
              <a:t>Or on other restricted graph classes, e.g.:</a:t>
            </a:r>
          </a:p>
          <a:p>
            <a:pPr lvl="1"/>
            <a:r>
              <a:rPr lang="en-US" dirty="0"/>
              <a:t>Series-parallel graphs</a:t>
            </a:r>
          </a:p>
          <a:p>
            <a:pPr lvl="1"/>
            <a:r>
              <a:rPr lang="en-US" dirty="0"/>
              <a:t>Planar graphs</a:t>
            </a:r>
          </a:p>
          <a:p>
            <a:pPr lvl="1"/>
            <a:r>
              <a:rPr lang="en-US" dirty="0"/>
              <a:t>Graphs of maximum degree three</a:t>
            </a:r>
          </a:p>
          <a:p>
            <a:endParaRPr lang="en-US" dirty="0"/>
          </a:p>
          <a:p>
            <a:r>
              <a:rPr lang="en-US" dirty="0"/>
              <a:t>This lecture is about a measure called </a:t>
            </a:r>
            <a:r>
              <a:rPr lang="en-US" b="1" dirty="0"/>
              <a:t>treewidth</a:t>
            </a:r>
            <a:r>
              <a:rPr lang="en-US" dirty="0"/>
              <a:t> of how `treelike’ a graph is</a:t>
            </a:r>
          </a:p>
          <a:p>
            <a:pPr lvl="1"/>
            <a:r>
              <a:rPr lang="en-US" dirty="0"/>
              <a:t>And about solving problems by dynamic programming on tree decompositions</a:t>
            </a:r>
          </a:p>
          <a:p>
            <a:pPr lvl="1"/>
            <a:r>
              <a:rPr lang="en-US" dirty="0"/>
              <a:t>This solves problems in </a:t>
            </a:r>
            <a:r>
              <a:rPr lang="en-US" b="1" dirty="0"/>
              <a:t>FPT</a:t>
            </a:r>
            <a:r>
              <a:rPr lang="en-US" dirty="0"/>
              <a:t> time with respect to the parameter treewidth</a:t>
            </a:r>
          </a:p>
          <a:p>
            <a:r>
              <a:rPr lang="en-US" dirty="0"/>
              <a:t>This directly leads to results on the above graph classes (and many more)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4F1F55-D83B-450D-A321-0FE1CED69176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80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programming:</a:t>
            </a:r>
            <a:br>
              <a:rPr lang="en-GB" dirty="0"/>
            </a:br>
            <a:r>
              <a:rPr lang="en-GB" dirty="0"/>
              <a:t>storing recursively computed optimal solutions to substructures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</p:spPr>
            <p:txBody>
              <a:bodyPr/>
              <a:lstStyle/>
              <a:p>
                <a:r>
                  <a:rPr lang="en-GB" dirty="0"/>
                  <a:t>As with trees, let us use a separator-based decomposition of the graph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r>
                  <a:rPr lang="en-GB" b="1" dirty="0">
                    <a:solidFill>
                      <a:srgbClr val="C00000"/>
                    </a:solidFill>
                  </a:rPr>
                  <a:t>Separator</a:t>
                </a:r>
                <a:r>
                  <a:rPr lang="en-GB" dirty="0"/>
                  <a:t> between part of the graph that</a:t>
                </a:r>
                <a:br>
                  <a:rPr lang="en-GB" dirty="0"/>
                </a:br>
                <a:r>
                  <a:rPr lang="en-GB" dirty="0"/>
                  <a:t>is ‘done’ and what is ‘</a:t>
                </a:r>
                <a:r>
                  <a:rPr lang="en-GB" dirty="0" err="1"/>
                  <a:t>todo</a:t>
                </a:r>
                <a:r>
                  <a:rPr lang="en-GB" dirty="0"/>
                  <a:t>’.</a:t>
                </a:r>
              </a:p>
              <a:p>
                <a:pPr lvl="1"/>
                <a:r>
                  <a:rPr lang="en-GB" dirty="0"/>
                  <a:t>The dynamic programming algorithm</a:t>
                </a:r>
                <a:br>
                  <a:rPr lang="en-GB" dirty="0"/>
                </a:br>
                <a:r>
                  <a:rPr lang="en-GB" dirty="0"/>
                  <a:t>then uses four different operations 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  <a:blipFill>
                <a:blip r:embed="rId3"/>
                <a:stretch>
                  <a:fillRect l="-203" t="-12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750496" y="2348880"/>
            <a:ext cx="2286000" cy="1676400"/>
            <a:chOff x="4128" y="816"/>
            <a:chExt cx="1440" cy="1056"/>
          </a:xfrm>
        </p:grpSpPr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28"/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30"/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3"/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7" name="Oval 38"/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" name="Text Box 39"/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6" name="Group 40"/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5" name="Oval 41"/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7" name="Group 43"/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3" name="Oval 44"/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4" name="Text Box 45"/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8" name="Group 46"/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1" name="Oval 47"/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2" name="Text Box 48"/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19" name="Group 49"/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" name="Text Box 51"/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0" name="Group 52"/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8" name="Text Box 54"/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5" name="Oval 56"/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" name="Text Box 57"/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2" name="Group 58"/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3" name="Oval 59"/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4" name="Text Box 60"/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80" name="Vrije vorm 39"/>
          <p:cNvSpPr/>
          <p:nvPr/>
        </p:nvSpPr>
        <p:spPr bwMode="auto">
          <a:xfrm>
            <a:off x="6686908" y="2611773"/>
            <a:ext cx="644237" cy="720436"/>
          </a:xfrm>
          <a:custGeom>
            <a:avLst/>
            <a:gdLst>
              <a:gd name="connsiteX0" fmla="*/ 27709 w 644237"/>
              <a:gd name="connsiteY0" fmla="*/ 720436 h 720436"/>
              <a:gd name="connsiteX1" fmla="*/ 568037 w 644237"/>
              <a:gd name="connsiteY1" fmla="*/ 498763 h 720436"/>
              <a:gd name="connsiteX2" fmla="*/ 484909 w 644237"/>
              <a:gd name="connsiteY2" fmla="*/ 96982 h 720436"/>
              <a:gd name="connsiteX3" fmla="*/ 0 w 644237"/>
              <a:gd name="connsiteY3" fmla="*/ 0 h 720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237" h="720436">
                <a:moveTo>
                  <a:pt x="27709" y="720436"/>
                </a:moveTo>
                <a:cubicBezTo>
                  <a:pt x="259773" y="661554"/>
                  <a:pt x="491837" y="602672"/>
                  <a:pt x="568037" y="498763"/>
                </a:cubicBezTo>
                <a:cubicBezTo>
                  <a:pt x="644237" y="394854"/>
                  <a:pt x="579582" y="180109"/>
                  <a:pt x="484909" y="96982"/>
                </a:cubicBezTo>
                <a:cubicBezTo>
                  <a:pt x="390236" y="13855"/>
                  <a:pt x="129309" y="20782"/>
                  <a:pt x="0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83" name="Oval 38"/>
          <p:cNvSpPr>
            <a:spLocks noChangeArrowheads="1"/>
          </p:cNvSpPr>
          <p:nvPr/>
        </p:nvSpPr>
        <p:spPr bwMode="auto">
          <a:xfrm>
            <a:off x="1636812" y="4822304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b</a:t>
            </a:r>
          </a:p>
        </p:txBody>
      </p:sp>
      <p:graphicFrame>
        <p:nvGraphicFramePr>
          <p:cNvPr id="94" name="Group 584"/>
          <p:cNvGraphicFramePr>
            <a:graphicFrameLocks noGrp="1"/>
          </p:cNvGraphicFramePr>
          <p:nvPr/>
        </p:nvGraphicFramePr>
        <p:xfrm>
          <a:off x="3563516" y="4481462"/>
          <a:ext cx="936476" cy="82296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" name="Rectangle 132"/>
          <p:cNvSpPr/>
          <p:nvPr/>
        </p:nvSpPr>
        <p:spPr bwMode="auto">
          <a:xfrm>
            <a:off x="2411760" y="6165304"/>
            <a:ext cx="4275148" cy="504056"/>
          </a:xfrm>
          <a:prstGeom prst="rect">
            <a:avLst/>
          </a:prstGeom>
          <a:solidFill>
            <a:srgbClr val="65016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Operation 1: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graph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79AF4E-CFFE-CD3F-9C81-BBEAEF32D90A}"/>
              </a:ext>
            </a:extLst>
          </p:cNvPr>
          <p:cNvSpPr txBox="1"/>
          <p:nvPr/>
        </p:nvSpPr>
        <p:spPr>
          <a:xfrm>
            <a:off x="1462931" y="3698966"/>
            <a:ext cx="220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Table indexed by whether separator nodes are in the solution</a:t>
            </a:r>
            <a:endParaRPr lang="LID4096" sz="1600" dirty="0">
              <a:solidFill>
                <a:schemeClr val="accent1"/>
              </a:solidFill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F65A0D0D-85B0-DA66-54EA-F7AFB4B4C82E}"/>
              </a:ext>
            </a:extLst>
          </p:cNvPr>
          <p:cNvSpPr/>
          <p:nvPr/>
        </p:nvSpPr>
        <p:spPr bwMode="auto">
          <a:xfrm rot="5400000">
            <a:off x="3494844" y="4040497"/>
            <a:ext cx="413568" cy="300583"/>
          </a:xfrm>
          <a:prstGeom prst="rightArrow">
            <a:avLst>
              <a:gd name="adj1" fmla="val 43663"/>
              <a:gd name="adj2" fmla="val 4049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3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133" grpId="0" animBg="1"/>
      <p:bldP spid="45" grpId="0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programming:</a:t>
            </a:r>
            <a:br>
              <a:rPr lang="en-GB" dirty="0"/>
            </a:br>
            <a:r>
              <a:rPr lang="en-GB" dirty="0"/>
              <a:t>storing recursively computed optimal solutions to substructures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</p:spPr>
            <p:txBody>
              <a:bodyPr/>
              <a:lstStyle/>
              <a:p>
                <a:r>
                  <a:rPr lang="en-GB" dirty="0"/>
                  <a:t>As with trees, let us use a separator-based decomposition of the graph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r>
                  <a:rPr lang="en-GB" b="1" dirty="0">
                    <a:solidFill>
                      <a:srgbClr val="C00000"/>
                    </a:solidFill>
                  </a:rPr>
                  <a:t>Separator</a:t>
                </a:r>
                <a:r>
                  <a:rPr lang="en-GB" dirty="0"/>
                  <a:t> between part of the graph that</a:t>
                </a:r>
                <a:br>
                  <a:rPr lang="en-GB" dirty="0"/>
                </a:br>
                <a:r>
                  <a:rPr lang="en-GB" dirty="0"/>
                  <a:t>is ‘done’ and what is ‘</a:t>
                </a:r>
                <a:r>
                  <a:rPr lang="en-GB" dirty="0" err="1"/>
                  <a:t>todo</a:t>
                </a:r>
                <a:r>
                  <a:rPr lang="en-GB" dirty="0"/>
                  <a:t>’.</a:t>
                </a:r>
              </a:p>
              <a:p>
                <a:pPr lvl="1"/>
                <a:r>
                  <a:rPr lang="en-GB" dirty="0"/>
                  <a:t>The dynamic programming algorithm</a:t>
                </a:r>
                <a:br>
                  <a:rPr lang="en-GB" dirty="0"/>
                </a:br>
                <a:r>
                  <a:rPr lang="en-GB" dirty="0"/>
                  <a:t>then uses four different operations 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  <a:blipFill>
                <a:blip r:embed="rId3"/>
                <a:stretch>
                  <a:fillRect l="-203" t="-12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ine 31">
            <a:extLst>
              <a:ext uri="{FF2B5EF4-FFF2-40B4-BE49-F238E27FC236}">
                <a16:creationId xmlns:a16="http://schemas.microsoft.com/office/drawing/2014/main" id="{ABE529CE-0CE9-7186-2DA7-2B390F8762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4409" y="4667583"/>
            <a:ext cx="609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750496" y="2348880"/>
            <a:ext cx="2286000" cy="1676400"/>
            <a:chOff x="4128" y="816"/>
            <a:chExt cx="1440" cy="1056"/>
          </a:xfrm>
        </p:grpSpPr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28"/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30"/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3"/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7" name="Oval 38"/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" name="Text Box 39"/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6" name="Group 40"/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5" name="Oval 41"/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7" name="Group 43"/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3" name="Oval 44"/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4" name="Text Box 45"/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8" name="Group 46"/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1" name="Oval 47"/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2" name="Text Box 48"/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19" name="Group 49"/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" name="Text Box 51"/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0" name="Group 52"/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8" name="Text Box 54"/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5" name="Oval 56"/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" name="Text Box 57"/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2" name="Group 58"/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3" name="Oval 59"/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4" name="Text Box 60"/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80" name="Vrije vorm 39"/>
          <p:cNvSpPr/>
          <p:nvPr/>
        </p:nvSpPr>
        <p:spPr bwMode="auto">
          <a:xfrm>
            <a:off x="6686908" y="2611773"/>
            <a:ext cx="644237" cy="720436"/>
          </a:xfrm>
          <a:custGeom>
            <a:avLst/>
            <a:gdLst>
              <a:gd name="connsiteX0" fmla="*/ 27709 w 644237"/>
              <a:gd name="connsiteY0" fmla="*/ 720436 h 720436"/>
              <a:gd name="connsiteX1" fmla="*/ 568037 w 644237"/>
              <a:gd name="connsiteY1" fmla="*/ 498763 h 720436"/>
              <a:gd name="connsiteX2" fmla="*/ 484909 w 644237"/>
              <a:gd name="connsiteY2" fmla="*/ 96982 h 720436"/>
              <a:gd name="connsiteX3" fmla="*/ 0 w 644237"/>
              <a:gd name="connsiteY3" fmla="*/ 0 h 720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237" h="720436">
                <a:moveTo>
                  <a:pt x="27709" y="720436"/>
                </a:moveTo>
                <a:cubicBezTo>
                  <a:pt x="259773" y="661554"/>
                  <a:pt x="491837" y="602672"/>
                  <a:pt x="568037" y="498763"/>
                </a:cubicBezTo>
                <a:cubicBezTo>
                  <a:pt x="644237" y="394854"/>
                  <a:pt x="579582" y="180109"/>
                  <a:pt x="484909" y="96982"/>
                </a:cubicBezTo>
                <a:cubicBezTo>
                  <a:pt x="390236" y="13855"/>
                  <a:pt x="129309" y="20782"/>
                  <a:pt x="0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81" name="Vrije vorm 40"/>
          <p:cNvSpPr/>
          <p:nvPr/>
        </p:nvSpPr>
        <p:spPr bwMode="auto">
          <a:xfrm>
            <a:off x="6728530" y="2391598"/>
            <a:ext cx="1126836" cy="983672"/>
          </a:xfrm>
          <a:custGeom>
            <a:avLst/>
            <a:gdLst>
              <a:gd name="connsiteX0" fmla="*/ 0 w 1126836"/>
              <a:gd name="connsiteY0" fmla="*/ 983672 h 983672"/>
              <a:gd name="connsiteX1" fmla="*/ 581891 w 1126836"/>
              <a:gd name="connsiteY1" fmla="*/ 692727 h 983672"/>
              <a:gd name="connsiteX2" fmla="*/ 1039091 w 1126836"/>
              <a:gd name="connsiteY2" fmla="*/ 484909 h 983672"/>
              <a:gd name="connsiteX3" fmla="*/ 1108364 w 1126836"/>
              <a:gd name="connsiteY3" fmla="*/ 0 h 98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6836" h="983672">
                <a:moveTo>
                  <a:pt x="0" y="983672"/>
                </a:moveTo>
                <a:lnTo>
                  <a:pt x="581891" y="692727"/>
                </a:lnTo>
                <a:cubicBezTo>
                  <a:pt x="755073" y="609600"/>
                  <a:pt x="951346" y="600363"/>
                  <a:pt x="1039091" y="484909"/>
                </a:cubicBezTo>
                <a:cubicBezTo>
                  <a:pt x="1126836" y="369455"/>
                  <a:pt x="1115291" y="99291"/>
                  <a:pt x="1108364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100" name="Right Arrow 99"/>
          <p:cNvSpPr/>
          <p:nvPr/>
        </p:nvSpPr>
        <p:spPr bwMode="auto">
          <a:xfrm>
            <a:off x="4716016" y="4747956"/>
            <a:ext cx="534177" cy="3397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96" name="Oval 38"/>
          <p:cNvSpPr>
            <a:spLocks noChangeArrowheads="1"/>
          </p:cNvSpPr>
          <p:nvPr/>
        </p:nvSpPr>
        <p:spPr bwMode="auto">
          <a:xfrm>
            <a:off x="2270225" y="4504578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03" name="Oval 38"/>
          <p:cNvSpPr>
            <a:spLocks noChangeArrowheads="1"/>
          </p:cNvSpPr>
          <p:nvPr/>
        </p:nvSpPr>
        <p:spPr bwMode="auto">
          <a:xfrm>
            <a:off x="1636812" y="4822304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b</a:t>
            </a:r>
          </a:p>
        </p:txBody>
      </p:sp>
      <p:graphicFrame>
        <p:nvGraphicFramePr>
          <p:cNvPr id="104" name="Group 584"/>
          <p:cNvGraphicFramePr>
            <a:graphicFrameLocks noGrp="1"/>
          </p:cNvGraphicFramePr>
          <p:nvPr/>
        </p:nvGraphicFramePr>
        <p:xfrm>
          <a:off x="3563516" y="4481462"/>
          <a:ext cx="936476" cy="82296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6" name="Rectangle 105"/>
          <p:cNvSpPr/>
          <p:nvPr/>
        </p:nvSpPr>
        <p:spPr bwMode="auto">
          <a:xfrm>
            <a:off x="2411760" y="6147902"/>
            <a:ext cx="4275148" cy="504056"/>
          </a:xfrm>
          <a:prstGeom prst="rect">
            <a:avLst/>
          </a:prstGeom>
          <a:solidFill>
            <a:srgbClr val="65016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Operation 2: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</a:t>
            </a: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vertex</a:t>
            </a:r>
          </a:p>
        </p:txBody>
      </p:sp>
      <p:graphicFrame>
        <p:nvGraphicFramePr>
          <p:cNvPr id="40" name="Group 584">
            <a:extLst>
              <a:ext uri="{FF2B5EF4-FFF2-40B4-BE49-F238E27FC236}">
                <a16:creationId xmlns:a16="http://schemas.microsoft.com/office/drawing/2014/main" id="{A42ED358-AF3C-DF3E-B009-CEEC9CF01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607382"/>
              </p:ext>
            </p:extLst>
          </p:nvPr>
        </p:nvGraphicFramePr>
        <p:xfrm>
          <a:off x="5426908" y="4481462"/>
          <a:ext cx="1260000" cy="137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67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80" grpId="0" animBg="1"/>
      <p:bldP spid="81" grpId="0" animBg="1"/>
      <p:bldP spid="100" grpId="0" animBg="1"/>
      <p:bldP spid="96" grpId="0" animBg="1"/>
      <p:bldP spid="10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Line 30"/>
          <p:cNvSpPr>
            <a:spLocks noChangeShapeType="1"/>
          </p:cNvSpPr>
          <p:nvPr/>
        </p:nvSpPr>
        <p:spPr bwMode="auto">
          <a:xfrm>
            <a:off x="2422625" y="466758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87" name="Line 32"/>
          <p:cNvSpPr>
            <a:spLocks noChangeShapeType="1"/>
          </p:cNvSpPr>
          <p:nvPr/>
        </p:nvSpPr>
        <p:spPr bwMode="auto">
          <a:xfrm>
            <a:off x="1831651" y="5023534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7" name="Line 31"/>
          <p:cNvSpPr>
            <a:spLocks noChangeShapeType="1"/>
          </p:cNvSpPr>
          <p:nvPr/>
        </p:nvSpPr>
        <p:spPr bwMode="auto">
          <a:xfrm flipV="1">
            <a:off x="1794409" y="4667583"/>
            <a:ext cx="609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programming:</a:t>
            </a:r>
            <a:br>
              <a:rPr lang="en-GB" dirty="0"/>
            </a:br>
            <a:r>
              <a:rPr lang="en-GB" dirty="0"/>
              <a:t>storing recursively computed optimal solutions to substructures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</p:spPr>
            <p:txBody>
              <a:bodyPr/>
              <a:lstStyle/>
              <a:p>
                <a:r>
                  <a:rPr lang="en-GB" dirty="0"/>
                  <a:t>As with trees, let us use a separator-based decomposition of the graph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r>
                  <a:rPr lang="en-GB" b="1" dirty="0">
                    <a:solidFill>
                      <a:srgbClr val="C00000"/>
                    </a:solidFill>
                  </a:rPr>
                  <a:t>Separator</a:t>
                </a:r>
                <a:r>
                  <a:rPr lang="en-GB" dirty="0"/>
                  <a:t> between part of the graph that</a:t>
                </a:r>
                <a:br>
                  <a:rPr lang="en-GB" dirty="0"/>
                </a:br>
                <a:r>
                  <a:rPr lang="en-GB" dirty="0"/>
                  <a:t>is ‘done’ and what is ‘</a:t>
                </a:r>
                <a:r>
                  <a:rPr lang="en-GB" dirty="0" err="1"/>
                  <a:t>todo</a:t>
                </a:r>
                <a:r>
                  <a:rPr lang="en-GB" dirty="0"/>
                  <a:t>’.</a:t>
                </a:r>
              </a:p>
              <a:p>
                <a:pPr lvl="1"/>
                <a:r>
                  <a:rPr lang="en-GB" dirty="0"/>
                  <a:t>The dynamic programming algorithm</a:t>
                </a:r>
                <a:br>
                  <a:rPr lang="en-GB" dirty="0"/>
                </a:br>
                <a:r>
                  <a:rPr lang="en-GB" dirty="0"/>
                  <a:t>then uses four different operations 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  <a:blipFill>
                <a:blip r:embed="rId3"/>
                <a:stretch>
                  <a:fillRect l="-203" t="-12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750496" y="2348880"/>
            <a:ext cx="2286000" cy="1676400"/>
            <a:chOff x="4128" y="816"/>
            <a:chExt cx="1440" cy="1056"/>
          </a:xfrm>
        </p:grpSpPr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28"/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30"/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3"/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7" name="Oval 38"/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" name="Text Box 39"/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6" name="Group 40"/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5" name="Oval 41"/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7" name="Group 43"/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3" name="Oval 44"/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4" name="Text Box 45"/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8" name="Group 46"/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1" name="Oval 47"/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2" name="Text Box 48"/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19" name="Group 49"/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" name="Text Box 51"/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0" name="Group 52"/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8" name="Text Box 54"/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5" name="Oval 56"/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" name="Text Box 57"/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2" name="Group 58"/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3" name="Oval 59"/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4" name="Text Box 60"/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81" name="Vrije vorm 40"/>
          <p:cNvSpPr/>
          <p:nvPr/>
        </p:nvSpPr>
        <p:spPr bwMode="auto">
          <a:xfrm>
            <a:off x="6728530" y="2391598"/>
            <a:ext cx="1126836" cy="983672"/>
          </a:xfrm>
          <a:custGeom>
            <a:avLst/>
            <a:gdLst>
              <a:gd name="connsiteX0" fmla="*/ 0 w 1126836"/>
              <a:gd name="connsiteY0" fmla="*/ 983672 h 983672"/>
              <a:gd name="connsiteX1" fmla="*/ 581891 w 1126836"/>
              <a:gd name="connsiteY1" fmla="*/ 692727 h 983672"/>
              <a:gd name="connsiteX2" fmla="*/ 1039091 w 1126836"/>
              <a:gd name="connsiteY2" fmla="*/ 484909 h 983672"/>
              <a:gd name="connsiteX3" fmla="*/ 1108364 w 1126836"/>
              <a:gd name="connsiteY3" fmla="*/ 0 h 98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6836" h="983672">
                <a:moveTo>
                  <a:pt x="0" y="983672"/>
                </a:moveTo>
                <a:lnTo>
                  <a:pt x="581891" y="692727"/>
                </a:lnTo>
                <a:cubicBezTo>
                  <a:pt x="755073" y="609600"/>
                  <a:pt x="951346" y="600363"/>
                  <a:pt x="1039091" y="484909"/>
                </a:cubicBezTo>
                <a:cubicBezTo>
                  <a:pt x="1126836" y="369455"/>
                  <a:pt x="1115291" y="99291"/>
                  <a:pt x="1108364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graphicFrame>
        <p:nvGraphicFramePr>
          <p:cNvPr id="94" name="Group 584"/>
          <p:cNvGraphicFramePr>
            <a:graphicFrameLocks noGrp="1"/>
          </p:cNvGraphicFramePr>
          <p:nvPr/>
        </p:nvGraphicFramePr>
        <p:xfrm>
          <a:off x="3573471" y="4481462"/>
          <a:ext cx="1260000" cy="137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sp>
        <p:nvSpPr>
          <p:cNvPr id="96" name="Oval 38"/>
          <p:cNvSpPr>
            <a:spLocks noChangeArrowheads="1"/>
          </p:cNvSpPr>
          <p:nvPr/>
        </p:nvSpPr>
        <p:spPr bwMode="auto">
          <a:xfrm>
            <a:off x="2270225" y="4504578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03" name="Oval 38"/>
          <p:cNvSpPr>
            <a:spLocks noChangeArrowheads="1"/>
          </p:cNvSpPr>
          <p:nvPr/>
        </p:nvSpPr>
        <p:spPr bwMode="auto">
          <a:xfrm>
            <a:off x="1636812" y="4822304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b</a:t>
            </a:r>
          </a:p>
        </p:txBody>
      </p:sp>
      <p:graphicFrame>
        <p:nvGraphicFramePr>
          <p:cNvPr id="46" name="Group 5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753187"/>
              </p:ext>
            </p:extLst>
          </p:nvPr>
        </p:nvGraphicFramePr>
        <p:xfrm>
          <a:off x="5857572" y="4131362"/>
          <a:ext cx="1584000" cy="246888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76132763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83227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99251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0463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20713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sp>
        <p:nvSpPr>
          <p:cNvPr id="48" name="Vrije vorm 41"/>
          <p:cNvSpPr/>
          <p:nvPr/>
        </p:nvSpPr>
        <p:spPr bwMode="auto">
          <a:xfrm>
            <a:off x="6603839" y="2433161"/>
            <a:ext cx="1302327" cy="1182254"/>
          </a:xfrm>
          <a:custGeom>
            <a:avLst/>
            <a:gdLst>
              <a:gd name="connsiteX0" fmla="*/ 0 w 1302327"/>
              <a:gd name="connsiteY0" fmla="*/ 1011382 h 1182254"/>
              <a:gd name="connsiteX1" fmla="*/ 900546 w 1302327"/>
              <a:gd name="connsiteY1" fmla="*/ 1108364 h 1182254"/>
              <a:gd name="connsiteX2" fmla="*/ 1233055 w 1302327"/>
              <a:gd name="connsiteY2" fmla="*/ 997527 h 1182254"/>
              <a:gd name="connsiteX3" fmla="*/ 1302327 w 1302327"/>
              <a:gd name="connsiteY3" fmla="*/ 0 h 118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327" h="1182254">
                <a:moveTo>
                  <a:pt x="0" y="1011382"/>
                </a:moveTo>
                <a:cubicBezTo>
                  <a:pt x="347518" y="1061027"/>
                  <a:pt x="695037" y="1110673"/>
                  <a:pt x="900546" y="1108364"/>
                </a:cubicBezTo>
                <a:cubicBezTo>
                  <a:pt x="1106055" y="1106055"/>
                  <a:pt x="1166091" y="1182254"/>
                  <a:pt x="1233055" y="997527"/>
                </a:cubicBezTo>
                <a:cubicBezTo>
                  <a:pt x="1300019" y="812800"/>
                  <a:pt x="1297709" y="191655"/>
                  <a:pt x="1302327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85" name="Oval 38"/>
          <p:cNvSpPr>
            <a:spLocks noChangeArrowheads="1"/>
          </p:cNvSpPr>
          <p:nvPr/>
        </p:nvSpPr>
        <p:spPr bwMode="auto">
          <a:xfrm>
            <a:off x="2258971" y="5146948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39" name="Right Arrow 99">
            <a:extLst>
              <a:ext uri="{FF2B5EF4-FFF2-40B4-BE49-F238E27FC236}">
                <a16:creationId xmlns:a16="http://schemas.microsoft.com/office/drawing/2014/main" id="{2E6AF2AD-20BA-38FB-742C-FC41BCB95995}"/>
              </a:ext>
            </a:extLst>
          </p:cNvPr>
          <p:cNvSpPr/>
          <p:nvPr/>
        </p:nvSpPr>
        <p:spPr bwMode="auto">
          <a:xfrm>
            <a:off x="5067300" y="5006071"/>
            <a:ext cx="534177" cy="3397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768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1" grpId="0" animBg="1"/>
      <p:bldP spid="48" grpId="0" animBg="1"/>
      <p:bldP spid="85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Group 584"/>
          <p:cNvGraphicFramePr>
            <a:graphicFrameLocks noGrp="1"/>
          </p:cNvGraphicFramePr>
          <p:nvPr/>
        </p:nvGraphicFramePr>
        <p:xfrm>
          <a:off x="3570392" y="4209927"/>
          <a:ext cx="1584000" cy="246888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76132763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83227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99251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0463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20713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programming:</a:t>
            </a:r>
            <a:br>
              <a:rPr lang="en-GB" dirty="0"/>
            </a:br>
            <a:r>
              <a:rPr lang="en-GB" dirty="0"/>
              <a:t>storing recursively computed optimal solutions to substructures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</p:spPr>
            <p:txBody>
              <a:bodyPr/>
              <a:lstStyle/>
              <a:p>
                <a:r>
                  <a:rPr lang="en-GB" dirty="0"/>
                  <a:t>As with trees, let us use a separator-based decomposition of the graph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r>
                  <a:rPr lang="en-GB" b="1" dirty="0">
                    <a:solidFill>
                      <a:srgbClr val="C00000"/>
                    </a:solidFill>
                  </a:rPr>
                  <a:t>Separator</a:t>
                </a:r>
                <a:r>
                  <a:rPr lang="en-GB" dirty="0"/>
                  <a:t> between part of the graph that</a:t>
                </a:r>
                <a:br>
                  <a:rPr lang="en-GB" dirty="0"/>
                </a:br>
                <a:r>
                  <a:rPr lang="en-GB" dirty="0"/>
                  <a:t>is ‘done’ and what is ‘</a:t>
                </a:r>
                <a:r>
                  <a:rPr lang="en-GB" dirty="0" err="1"/>
                  <a:t>todo</a:t>
                </a:r>
                <a:r>
                  <a:rPr lang="en-GB" dirty="0"/>
                  <a:t>’.</a:t>
                </a:r>
              </a:p>
              <a:p>
                <a:pPr lvl="1"/>
                <a:r>
                  <a:rPr lang="en-GB" dirty="0"/>
                  <a:t>The dynamic programming algorithm</a:t>
                </a:r>
                <a:br>
                  <a:rPr lang="en-GB" dirty="0"/>
                </a:br>
                <a:r>
                  <a:rPr lang="en-GB" dirty="0"/>
                  <a:t>then uses four different operations 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  <a:blipFill>
                <a:blip r:embed="rId3"/>
                <a:stretch>
                  <a:fillRect l="-203" t="-12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750496" y="2348880"/>
            <a:ext cx="2286000" cy="1676400"/>
            <a:chOff x="4128" y="816"/>
            <a:chExt cx="1440" cy="1056"/>
          </a:xfrm>
        </p:grpSpPr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28"/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30"/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3"/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7" name="Oval 38"/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" name="Text Box 39"/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6" name="Group 40"/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5" name="Oval 41"/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7" name="Group 43"/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3" name="Oval 44"/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4" name="Text Box 45"/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8" name="Group 46"/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1" name="Oval 47"/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2" name="Text Box 48"/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19" name="Group 49"/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" name="Text Box 51"/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0" name="Group 52"/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8" name="Text Box 54"/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5" name="Oval 56"/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" name="Text Box 57"/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2" name="Group 58"/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3" name="Oval 59"/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4" name="Text Box 60"/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48" name="Vrije vorm 41"/>
          <p:cNvSpPr/>
          <p:nvPr/>
        </p:nvSpPr>
        <p:spPr bwMode="auto">
          <a:xfrm>
            <a:off x="6603839" y="2433161"/>
            <a:ext cx="1302327" cy="1182254"/>
          </a:xfrm>
          <a:custGeom>
            <a:avLst/>
            <a:gdLst>
              <a:gd name="connsiteX0" fmla="*/ 0 w 1302327"/>
              <a:gd name="connsiteY0" fmla="*/ 1011382 h 1182254"/>
              <a:gd name="connsiteX1" fmla="*/ 900546 w 1302327"/>
              <a:gd name="connsiteY1" fmla="*/ 1108364 h 1182254"/>
              <a:gd name="connsiteX2" fmla="*/ 1233055 w 1302327"/>
              <a:gd name="connsiteY2" fmla="*/ 997527 h 1182254"/>
              <a:gd name="connsiteX3" fmla="*/ 1302327 w 1302327"/>
              <a:gd name="connsiteY3" fmla="*/ 0 h 118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327" h="1182254">
                <a:moveTo>
                  <a:pt x="0" y="1011382"/>
                </a:moveTo>
                <a:cubicBezTo>
                  <a:pt x="347518" y="1061027"/>
                  <a:pt x="695037" y="1110673"/>
                  <a:pt x="900546" y="1108364"/>
                </a:cubicBezTo>
                <a:cubicBezTo>
                  <a:pt x="1106055" y="1106055"/>
                  <a:pt x="1166091" y="1182254"/>
                  <a:pt x="1233055" y="997527"/>
                </a:cubicBezTo>
                <a:cubicBezTo>
                  <a:pt x="1300019" y="812800"/>
                  <a:pt x="1297709" y="191655"/>
                  <a:pt x="1302327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1636812" y="4504578"/>
            <a:ext cx="938213" cy="947170"/>
            <a:chOff x="1636812" y="4504578"/>
            <a:chExt cx="938213" cy="947170"/>
          </a:xfrm>
        </p:grpSpPr>
        <p:sp>
          <p:nvSpPr>
            <p:cNvPr id="86" name="Line 30"/>
            <p:cNvSpPr>
              <a:spLocks noChangeShapeType="1"/>
            </p:cNvSpPr>
            <p:nvPr/>
          </p:nvSpPr>
          <p:spPr bwMode="auto">
            <a:xfrm>
              <a:off x="2422625" y="4667583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Line 32"/>
            <p:cNvSpPr>
              <a:spLocks noChangeShapeType="1"/>
            </p:cNvSpPr>
            <p:nvPr/>
          </p:nvSpPr>
          <p:spPr bwMode="auto">
            <a:xfrm>
              <a:off x="1831651" y="5023534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Line 31"/>
            <p:cNvSpPr>
              <a:spLocks noChangeShapeType="1"/>
            </p:cNvSpPr>
            <p:nvPr/>
          </p:nvSpPr>
          <p:spPr bwMode="auto">
            <a:xfrm flipV="1">
              <a:off x="1794409" y="4667583"/>
              <a:ext cx="6096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Oval 38"/>
            <p:cNvSpPr>
              <a:spLocks noChangeArrowheads="1"/>
            </p:cNvSpPr>
            <p:nvPr/>
          </p:nvSpPr>
          <p:spPr bwMode="auto">
            <a:xfrm>
              <a:off x="2270225" y="4504578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103" name="Oval 38"/>
            <p:cNvSpPr>
              <a:spLocks noChangeArrowheads="1"/>
            </p:cNvSpPr>
            <p:nvPr/>
          </p:nvSpPr>
          <p:spPr bwMode="auto">
            <a:xfrm>
              <a:off x="1636812" y="482230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sp>
          <p:nvSpPr>
            <p:cNvPr id="85" name="Oval 38"/>
            <p:cNvSpPr>
              <a:spLocks noChangeArrowheads="1"/>
            </p:cNvSpPr>
            <p:nvPr/>
          </p:nvSpPr>
          <p:spPr bwMode="auto">
            <a:xfrm>
              <a:off x="2258971" y="5146948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50" name="Oval 38"/>
            <p:cNvSpPr>
              <a:spLocks noChangeArrowheads="1"/>
            </p:cNvSpPr>
            <p:nvPr/>
          </p:nvSpPr>
          <p:spPr bwMode="auto">
            <a:xfrm>
              <a:off x="1636812" y="4821358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b</a:t>
              </a:r>
            </a:p>
          </p:txBody>
        </p:sp>
      </p:grpSp>
      <p:sp>
        <p:nvSpPr>
          <p:cNvPr id="51" name="Right Arrow 50"/>
          <p:cNvSpPr/>
          <p:nvPr/>
        </p:nvSpPr>
        <p:spPr bwMode="auto">
          <a:xfrm>
            <a:off x="5568306" y="4974704"/>
            <a:ext cx="534177" cy="3397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graphicFrame>
        <p:nvGraphicFramePr>
          <p:cNvPr id="52" name="Group 584"/>
          <p:cNvGraphicFramePr>
            <a:graphicFrameLocks noGrp="1"/>
          </p:cNvGraphicFramePr>
          <p:nvPr/>
        </p:nvGraphicFramePr>
        <p:xfrm>
          <a:off x="6336336" y="4481462"/>
          <a:ext cx="1260000" cy="137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sp>
        <p:nvSpPr>
          <p:cNvPr id="54" name="Rectangle 53"/>
          <p:cNvSpPr/>
          <p:nvPr/>
        </p:nvSpPr>
        <p:spPr bwMode="auto">
          <a:xfrm>
            <a:off x="5292080" y="6147902"/>
            <a:ext cx="3816424" cy="504056"/>
          </a:xfrm>
          <a:prstGeom prst="rect">
            <a:avLst/>
          </a:prstGeom>
          <a:solidFill>
            <a:srgbClr val="65016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Operation 3: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forget</a:t>
            </a: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vertex</a:t>
            </a:r>
          </a:p>
        </p:txBody>
      </p:sp>
      <p:sp>
        <p:nvSpPr>
          <p:cNvPr id="53" name="Oval 38"/>
          <p:cNvSpPr>
            <a:spLocks noChangeArrowheads="1"/>
          </p:cNvSpPr>
          <p:nvPr/>
        </p:nvSpPr>
        <p:spPr bwMode="auto">
          <a:xfrm>
            <a:off x="1638668" y="4821358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0" name="Line 30">
            <a:extLst>
              <a:ext uri="{FF2B5EF4-FFF2-40B4-BE49-F238E27FC236}">
                <a16:creationId xmlns:a16="http://schemas.microsoft.com/office/drawing/2014/main" id="{E5E35CE0-6107-4262-DBB2-A84D49B11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2625" y="466758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1" name="Line 32">
            <a:extLst>
              <a:ext uri="{FF2B5EF4-FFF2-40B4-BE49-F238E27FC236}">
                <a16:creationId xmlns:a16="http://schemas.microsoft.com/office/drawing/2014/main" id="{C77E1FAF-5A83-C4D1-1343-215AC5EC3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1651" y="5023534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2" name="Line 31">
            <a:extLst>
              <a:ext uri="{FF2B5EF4-FFF2-40B4-BE49-F238E27FC236}">
                <a16:creationId xmlns:a16="http://schemas.microsoft.com/office/drawing/2014/main" id="{B9B00D8E-DAAB-A1D9-EF12-E43E2EA9B7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4409" y="4667583"/>
            <a:ext cx="609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3" name="Oval 38">
            <a:extLst>
              <a:ext uri="{FF2B5EF4-FFF2-40B4-BE49-F238E27FC236}">
                <a16:creationId xmlns:a16="http://schemas.microsoft.com/office/drawing/2014/main" id="{5AA53E2D-9616-6C14-1776-35A303E1F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225" y="4504578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44" name="Oval 38">
            <a:extLst>
              <a:ext uri="{FF2B5EF4-FFF2-40B4-BE49-F238E27FC236}">
                <a16:creationId xmlns:a16="http://schemas.microsoft.com/office/drawing/2014/main" id="{81600FD9-0423-B413-3547-5A7C44F1E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812" y="4822304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Oval 38">
            <a:extLst>
              <a:ext uri="{FF2B5EF4-FFF2-40B4-BE49-F238E27FC236}">
                <a16:creationId xmlns:a16="http://schemas.microsoft.com/office/drawing/2014/main" id="{35FAB395-C03E-F2C1-0906-58C23F261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8971" y="5146948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588AA5F9-9FC6-256F-6B52-E57665BAB6BF}"/>
              </a:ext>
            </a:extLst>
          </p:cNvPr>
          <p:cNvSpPr txBox="1">
            <a:spLocks/>
          </p:cNvSpPr>
          <p:nvPr/>
        </p:nvSpPr>
        <p:spPr bwMode="auto">
          <a:xfrm>
            <a:off x="1379266" y="3462335"/>
            <a:ext cx="6008712" cy="66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panose="05030102010509060703" pitchFamily="18" charset="2"/>
              <a:buChar char="g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panose="05030102010509060703" pitchFamily="18" charset="2"/>
              <a:buChar char="g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We can forget (remove) a vertex from</a:t>
            </a:r>
            <a:br>
              <a:rPr lang="en-GB" sz="1800" dirty="0"/>
            </a:br>
            <a:r>
              <a:rPr lang="en-GB" sz="1800" dirty="0"/>
              <a:t>the separator if it does not get new edges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2947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22222E-6 L 0.1493 0.12454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65" y="6227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0.66632 -0.0537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16" y="-268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1" grpId="1" animBg="1"/>
      <p:bldP spid="54" grpId="0" animBg="1"/>
      <p:bldP spid="54" grpId="1" animBg="1"/>
      <p:bldP spid="53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Line 30"/>
          <p:cNvSpPr>
            <a:spLocks noChangeShapeType="1"/>
          </p:cNvSpPr>
          <p:nvPr/>
        </p:nvSpPr>
        <p:spPr bwMode="auto">
          <a:xfrm>
            <a:off x="2392462" y="4641329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76" name="Line 33"/>
          <p:cNvSpPr>
            <a:spLocks noChangeShapeType="1"/>
          </p:cNvSpPr>
          <p:nvPr/>
        </p:nvSpPr>
        <p:spPr bwMode="auto">
          <a:xfrm flipV="1">
            <a:off x="1936726" y="5271566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77" name="Line 35"/>
          <p:cNvSpPr>
            <a:spLocks noChangeShapeType="1"/>
          </p:cNvSpPr>
          <p:nvPr/>
        </p:nvSpPr>
        <p:spPr bwMode="auto">
          <a:xfrm>
            <a:off x="2393926" y="5271566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7" name="Line 34"/>
          <p:cNvSpPr>
            <a:spLocks noChangeShapeType="1"/>
          </p:cNvSpPr>
          <p:nvPr/>
        </p:nvSpPr>
        <p:spPr bwMode="auto">
          <a:xfrm>
            <a:off x="1974771" y="5748858"/>
            <a:ext cx="838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programming:</a:t>
            </a:r>
            <a:br>
              <a:rPr lang="en-GB" dirty="0"/>
            </a:br>
            <a:r>
              <a:rPr lang="en-GB" dirty="0"/>
              <a:t>storing recursively computed optimal solutions to substructures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</p:spPr>
            <p:txBody>
              <a:bodyPr/>
              <a:lstStyle/>
              <a:p>
                <a:r>
                  <a:rPr lang="en-GB" dirty="0"/>
                  <a:t>As with trees, let us use a separator-based decomposition of the graph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r>
                  <a:rPr lang="en-GB" b="1" dirty="0">
                    <a:solidFill>
                      <a:srgbClr val="C00000"/>
                    </a:solidFill>
                  </a:rPr>
                  <a:t>Separator</a:t>
                </a:r>
                <a:r>
                  <a:rPr lang="en-GB" dirty="0"/>
                  <a:t> between part of the graph that</a:t>
                </a:r>
                <a:br>
                  <a:rPr lang="en-GB" dirty="0"/>
                </a:br>
                <a:r>
                  <a:rPr lang="en-GB" dirty="0"/>
                  <a:t>is ‘done’ and what is ‘</a:t>
                </a:r>
                <a:r>
                  <a:rPr lang="en-GB" dirty="0" err="1"/>
                  <a:t>todo</a:t>
                </a:r>
                <a:r>
                  <a:rPr lang="en-GB" dirty="0"/>
                  <a:t>’.</a:t>
                </a:r>
              </a:p>
              <a:p>
                <a:pPr lvl="1"/>
                <a:r>
                  <a:rPr lang="en-GB" dirty="0"/>
                  <a:t>The dynamic programming algorithm</a:t>
                </a:r>
                <a:br>
                  <a:rPr lang="en-GB" dirty="0"/>
                </a:br>
                <a:r>
                  <a:rPr lang="en-GB" dirty="0"/>
                  <a:t>then uses four different operations 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  <a:blipFill>
                <a:blip r:embed="rId3"/>
                <a:stretch>
                  <a:fillRect l="-203" t="-12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750496" y="2348880"/>
            <a:ext cx="2286000" cy="1676400"/>
            <a:chOff x="4128" y="816"/>
            <a:chExt cx="1440" cy="1056"/>
          </a:xfrm>
        </p:grpSpPr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28"/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30"/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3"/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7" name="Oval 38"/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" name="Text Box 39"/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6" name="Group 40"/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5" name="Oval 41"/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7" name="Group 43"/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3" name="Oval 44"/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4" name="Text Box 45"/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8" name="Group 46"/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1" name="Oval 47"/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2" name="Text Box 48"/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19" name="Group 49"/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" name="Text Box 51"/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0" name="Group 52"/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8" name="Text Box 54"/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5" name="Oval 56"/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" name="Text Box 57"/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2" name="Group 58"/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3" name="Oval 59"/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4" name="Text Box 60"/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48" name="Vrije vorm 41"/>
          <p:cNvSpPr/>
          <p:nvPr/>
        </p:nvSpPr>
        <p:spPr bwMode="auto">
          <a:xfrm>
            <a:off x="6603839" y="2433161"/>
            <a:ext cx="1302327" cy="1182254"/>
          </a:xfrm>
          <a:custGeom>
            <a:avLst/>
            <a:gdLst>
              <a:gd name="connsiteX0" fmla="*/ 0 w 1302327"/>
              <a:gd name="connsiteY0" fmla="*/ 1011382 h 1182254"/>
              <a:gd name="connsiteX1" fmla="*/ 900546 w 1302327"/>
              <a:gd name="connsiteY1" fmla="*/ 1108364 h 1182254"/>
              <a:gd name="connsiteX2" fmla="*/ 1233055 w 1302327"/>
              <a:gd name="connsiteY2" fmla="*/ 997527 h 1182254"/>
              <a:gd name="connsiteX3" fmla="*/ 1302327 w 1302327"/>
              <a:gd name="connsiteY3" fmla="*/ 0 h 118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327" h="1182254">
                <a:moveTo>
                  <a:pt x="0" y="1011382"/>
                </a:moveTo>
                <a:cubicBezTo>
                  <a:pt x="347518" y="1061027"/>
                  <a:pt x="695037" y="1110673"/>
                  <a:pt x="900546" y="1108364"/>
                </a:cubicBezTo>
                <a:cubicBezTo>
                  <a:pt x="1106055" y="1106055"/>
                  <a:pt x="1166091" y="1182254"/>
                  <a:pt x="1233055" y="997527"/>
                </a:cubicBezTo>
                <a:cubicBezTo>
                  <a:pt x="1300019" y="812800"/>
                  <a:pt x="1297709" y="191655"/>
                  <a:pt x="1302327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7702996" y="4130345"/>
            <a:ext cx="938213" cy="947170"/>
            <a:chOff x="1636812" y="4504578"/>
            <a:chExt cx="938213" cy="947170"/>
          </a:xfrm>
        </p:grpSpPr>
        <p:sp>
          <p:nvSpPr>
            <p:cNvPr id="86" name="Line 30"/>
            <p:cNvSpPr>
              <a:spLocks noChangeShapeType="1"/>
            </p:cNvSpPr>
            <p:nvPr/>
          </p:nvSpPr>
          <p:spPr bwMode="auto">
            <a:xfrm>
              <a:off x="2422625" y="4667583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Line 32"/>
            <p:cNvSpPr>
              <a:spLocks noChangeShapeType="1"/>
            </p:cNvSpPr>
            <p:nvPr/>
          </p:nvSpPr>
          <p:spPr bwMode="auto">
            <a:xfrm>
              <a:off x="1831651" y="5023534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Line 31"/>
            <p:cNvSpPr>
              <a:spLocks noChangeShapeType="1"/>
            </p:cNvSpPr>
            <p:nvPr/>
          </p:nvSpPr>
          <p:spPr bwMode="auto">
            <a:xfrm flipV="1">
              <a:off x="1794409" y="4667583"/>
              <a:ext cx="6096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Oval 38"/>
            <p:cNvSpPr>
              <a:spLocks noChangeArrowheads="1"/>
            </p:cNvSpPr>
            <p:nvPr/>
          </p:nvSpPr>
          <p:spPr bwMode="auto">
            <a:xfrm>
              <a:off x="2270225" y="4504578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103" name="Oval 38"/>
            <p:cNvSpPr>
              <a:spLocks noChangeArrowheads="1"/>
            </p:cNvSpPr>
            <p:nvPr/>
          </p:nvSpPr>
          <p:spPr bwMode="auto">
            <a:xfrm>
              <a:off x="1636812" y="482230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sp>
          <p:nvSpPr>
            <p:cNvPr id="85" name="Oval 38"/>
            <p:cNvSpPr>
              <a:spLocks noChangeArrowheads="1"/>
            </p:cNvSpPr>
            <p:nvPr/>
          </p:nvSpPr>
          <p:spPr bwMode="auto">
            <a:xfrm>
              <a:off x="2258971" y="5146948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50" name="Oval 38"/>
            <p:cNvSpPr>
              <a:spLocks noChangeArrowheads="1"/>
            </p:cNvSpPr>
            <p:nvPr/>
          </p:nvSpPr>
          <p:spPr bwMode="auto">
            <a:xfrm>
              <a:off x="1636812" y="4821358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b</a:t>
              </a:r>
            </a:p>
          </p:txBody>
        </p:sp>
      </p:grpSp>
      <p:graphicFrame>
        <p:nvGraphicFramePr>
          <p:cNvPr id="52" name="Group 584"/>
          <p:cNvGraphicFramePr>
            <a:graphicFrameLocks noGrp="1"/>
          </p:cNvGraphicFramePr>
          <p:nvPr/>
        </p:nvGraphicFramePr>
        <p:xfrm>
          <a:off x="7661159" y="5286377"/>
          <a:ext cx="1260000" cy="137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sp>
        <p:nvSpPr>
          <p:cNvPr id="53" name="Vrije vorm 45"/>
          <p:cNvSpPr/>
          <p:nvPr/>
        </p:nvSpPr>
        <p:spPr bwMode="auto">
          <a:xfrm>
            <a:off x="6673112" y="3416834"/>
            <a:ext cx="815109" cy="554182"/>
          </a:xfrm>
          <a:custGeom>
            <a:avLst/>
            <a:gdLst>
              <a:gd name="connsiteX0" fmla="*/ 0 w 815109"/>
              <a:gd name="connsiteY0" fmla="*/ 318654 h 554182"/>
              <a:gd name="connsiteX1" fmla="*/ 346363 w 815109"/>
              <a:gd name="connsiteY1" fmla="*/ 13854 h 554182"/>
              <a:gd name="connsiteX2" fmla="*/ 762000 w 815109"/>
              <a:gd name="connsiteY2" fmla="*/ 235527 h 554182"/>
              <a:gd name="connsiteX3" fmla="*/ 665018 w 815109"/>
              <a:gd name="connsiteY3" fmla="*/ 554182 h 55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109" h="554182">
                <a:moveTo>
                  <a:pt x="0" y="318654"/>
                </a:moveTo>
                <a:cubicBezTo>
                  <a:pt x="109681" y="173181"/>
                  <a:pt x="219363" y="27708"/>
                  <a:pt x="346363" y="13854"/>
                </a:cubicBezTo>
                <a:cubicBezTo>
                  <a:pt x="473363" y="0"/>
                  <a:pt x="708891" y="145472"/>
                  <a:pt x="762000" y="235527"/>
                </a:cubicBezTo>
                <a:cubicBezTo>
                  <a:pt x="815109" y="325582"/>
                  <a:pt x="669636" y="503382"/>
                  <a:pt x="665018" y="554182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graphicFrame>
        <p:nvGraphicFramePr>
          <p:cNvPr id="54" name="Group 584"/>
          <p:cNvGraphicFramePr>
            <a:graphicFrameLocks noGrp="1"/>
          </p:cNvGraphicFramePr>
          <p:nvPr/>
        </p:nvGraphicFramePr>
        <p:xfrm>
          <a:off x="3563516" y="4481462"/>
          <a:ext cx="936476" cy="82296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3" name="Oval 38"/>
          <p:cNvSpPr>
            <a:spLocks noChangeArrowheads="1"/>
          </p:cNvSpPr>
          <p:nvPr/>
        </p:nvSpPr>
        <p:spPr bwMode="auto">
          <a:xfrm>
            <a:off x="1801888" y="5598592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d</a:t>
            </a:r>
          </a:p>
        </p:txBody>
      </p:sp>
      <p:graphicFrame>
        <p:nvGraphicFramePr>
          <p:cNvPr id="94" name="Group 584"/>
          <p:cNvGraphicFramePr>
            <a:graphicFrameLocks noGrp="1"/>
          </p:cNvGraphicFramePr>
          <p:nvPr/>
        </p:nvGraphicFramePr>
        <p:xfrm>
          <a:off x="5408073" y="5087461"/>
          <a:ext cx="1260000" cy="137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sp>
        <p:nvSpPr>
          <p:cNvPr id="95" name="Right Arrow 94"/>
          <p:cNvSpPr/>
          <p:nvPr/>
        </p:nvSpPr>
        <p:spPr bwMode="auto">
          <a:xfrm>
            <a:off x="3811538" y="5304422"/>
            <a:ext cx="1376908" cy="83056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Fast</a:t>
            </a:r>
            <a:r>
              <a: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 Fw</a:t>
            </a:r>
            <a:r>
              <a:rPr lang="nl-NL" sz="2000" dirty="0">
                <a:solidFill>
                  <a:schemeClr val="bg1"/>
                </a:solidFill>
                <a:latin typeface="Arial Narrow" panose="020B0606020202030204" pitchFamily="34" charset="0"/>
              </a:rPr>
              <a:t>d</a:t>
            </a:r>
            <a:endParaRPr kumimoji="0" lang="nl-NL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97" name="Vrije vorm 46"/>
          <p:cNvSpPr/>
          <p:nvPr/>
        </p:nvSpPr>
        <p:spPr bwMode="auto">
          <a:xfrm>
            <a:off x="6603839" y="3398361"/>
            <a:ext cx="1593273" cy="586509"/>
          </a:xfrm>
          <a:custGeom>
            <a:avLst/>
            <a:gdLst>
              <a:gd name="connsiteX0" fmla="*/ 0 w 1593273"/>
              <a:gd name="connsiteY0" fmla="*/ 392546 h 586509"/>
              <a:gd name="connsiteX1" fmla="*/ 387927 w 1593273"/>
              <a:gd name="connsiteY1" fmla="*/ 46182 h 586509"/>
              <a:gd name="connsiteX2" fmla="*/ 1371600 w 1593273"/>
              <a:gd name="connsiteY2" fmla="*/ 115455 h 586509"/>
              <a:gd name="connsiteX3" fmla="*/ 1593273 w 1593273"/>
              <a:gd name="connsiteY3" fmla="*/ 586509 h 586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3273" h="586509">
                <a:moveTo>
                  <a:pt x="0" y="392546"/>
                </a:moveTo>
                <a:cubicBezTo>
                  <a:pt x="79663" y="242455"/>
                  <a:pt x="159327" y="92364"/>
                  <a:pt x="387927" y="46182"/>
                </a:cubicBezTo>
                <a:cubicBezTo>
                  <a:pt x="616527" y="0"/>
                  <a:pt x="1170709" y="25401"/>
                  <a:pt x="1371600" y="115455"/>
                </a:cubicBezTo>
                <a:cubicBezTo>
                  <a:pt x="1572491" y="205509"/>
                  <a:pt x="1500909" y="558800"/>
                  <a:pt x="1593273" y="586509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98" name="Vrije vorm 47"/>
          <p:cNvSpPr/>
          <p:nvPr/>
        </p:nvSpPr>
        <p:spPr bwMode="auto">
          <a:xfrm>
            <a:off x="6673112" y="3008125"/>
            <a:ext cx="1565563" cy="983673"/>
          </a:xfrm>
          <a:custGeom>
            <a:avLst/>
            <a:gdLst>
              <a:gd name="connsiteX0" fmla="*/ 0 w 1565563"/>
              <a:gd name="connsiteY0" fmla="*/ 865909 h 983673"/>
              <a:gd name="connsiteX1" fmla="*/ 290945 w 1565563"/>
              <a:gd name="connsiteY1" fmla="*/ 325582 h 983673"/>
              <a:gd name="connsiteX2" fmla="*/ 845127 w 1565563"/>
              <a:gd name="connsiteY2" fmla="*/ 20782 h 983673"/>
              <a:gd name="connsiteX3" fmla="*/ 1163782 w 1565563"/>
              <a:gd name="connsiteY3" fmla="*/ 200891 h 983673"/>
              <a:gd name="connsiteX4" fmla="*/ 1316182 w 1565563"/>
              <a:gd name="connsiteY4" fmla="*/ 533400 h 983673"/>
              <a:gd name="connsiteX5" fmla="*/ 1454727 w 1565563"/>
              <a:gd name="connsiteY5" fmla="*/ 574963 h 983673"/>
              <a:gd name="connsiteX6" fmla="*/ 1565563 w 1565563"/>
              <a:gd name="connsiteY6" fmla="*/ 962891 h 98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65563" h="983673">
                <a:moveTo>
                  <a:pt x="0" y="865909"/>
                </a:moveTo>
                <a:cubicBezTo>
                  <a:pt x="75045" y="666172"/>
                  <a:pt x="150091" y="466436"/>
                  <a:pt x="290945" y="325582"/>
                </a:cubicBezTo>
                <a:cubicBezTo>
                  <a:pt x="431799" y="184728"/>
                  <a:pt x="699654" y="41564"/>
                  <a:pt x="845127" y="20782"/>
                </a:cubicBezTo>
                <a:cubicBezTo>
                  <a:pt x="990600" y="0"/>
                  <a:pt x="1085273" y="115455"/>
                  <a:pt x="1163782" y="200891"/>
                </a:cubicBezTo>
                <a:cubicBezTo>
                  <a:pt x="1242291" y="286327"/>
                  <a:pt x="1267691" y="471055"/>
                  <a:pt x="1316182" y="533400"/>
                </a:cubicBezTo>
                <a:cubicBezTo>
                  <a:pt x="1364673" y="595745"/>
                  <a:pt x="1413164" y="503381"/>
                  <a:pt x="1454727" y="574963"/>
                </a:cubicBezTo>
                <a:cubicBezTo>
                  <a:pt x="1496291" y="646545"/>
                  <a:pt x="1530927" y="983673"/>
                  <a:pt x="1565563" y="962891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99" name="Vrije vorm 50"/>
          <p:cNvSpPr/>
          <p:nvPr/>
        </p:nvSpPr>
        <p:spPr bwMode="auto">
          <a:xfrm>
            <a:off x="6714675" y="2181470"/>
            <a:ext cx="1510146" cy="2011219"/>
          </a:xfrm>
          <a:custGeom>
            <a:avLst/>
            <a:gdLst>
              <a:gd name="connsiteX0" fmla="*/ 0 w 1510146"/>
              <a:gd name="connsiteY0" fmla="*/ 1761837 h 2011219"/>
              <a:gd name="connsiteX1" fmla="*/ 207819 w 1510146"/>
              <a:gd name="connsiteY1" fmla="*/ 1124528 h 2011219"/>
              <a:gd name="connsiteX2" fmla="*/ 526473 w 1510146"/>
              <a:gd name="connsiteY2" fmla="*/ 889000 h 2011219"/>
              <a:gd name="connsiteX3" fmla="*/ 581891 w 1510146"/>
              <a:gd name="connsiteY3" fmla="*/ 404091 h 2011219"/>
              <a:gd name="connsiteX4" fmla="*/ 692728 w 1510146"/>
              <a:gd name="connsiteY4" fmla="*/ 196273 h 2011219"/>
              <a:gd name="connsiteX5" fmla="*/ 1066800 w 1510146"/>
              <a:gd name="connsiteY5" fmla="*/ 168564 h 2011219"/>
              <a:gd name="connsiteX6" fmla="*/ 1136073 w 1510146"/>
              <a:gd name="connsiteY6" fmla="*/ 1207655 h 2011219"/>
              <a:gd name="connsiteX7" fmla="*/ 1357746 w 1510146"/>
              <a:gd name="connsiteY7" fmla="*/ 1318491 h 2011219"/>
              <a:gd name="connsiteX8" fmla="*/ 1510146 w 1510146"/>
              <a:gd name="connsiteY8" fmla="*/ 1817255 h 2011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0146" h="2011219">
                <a:moveTo>
                  <a:pt x="0" y="1761837"/>
                </a:moveTo>
                <a:cubicBezTo>
                  <a:pt x="60037" y="1515919"/>
                  <a:pt x="120074" y="1270001"/>
                  <a:pt x="207819" y="1124528"/>
                </a:cubicBezTo>
                <a:cubicBezTo>
                  <a:pt x="295565" y="979055"/>
                  <a:pt x="464128" y="1009073"/>
                  <a:pt x="526473" y="889000"/>
                </a:cubicBezTo>
                <a:cubicBezTo>
                  <a:pt x="588818" y="768927"/>
                  <a:pt x="554182" y="519546"/>
                  <a:pt x="581891" y="404091"/>
                </a:cubicBezTo>
                <a:cubicBezTo>
                  <a:pt x="609600" y="288637"/>
                  <a:pt x="611910" y="235527"/>
                  <a:pt x="692728" y="196273"/>
                </a:cubicBezTo>
                <a:cubicBezTo>
                  <a:pt x="773546" y="157019"/>
                  <a:pt x="992909" y="0"/>
                  <a:pt x="1066800" y="168564"/>
                </a:cubicBezTo>
                <a:cubicBezTo>
                  <a:pt x="1140691" y="337128"/>
                  <a:pt x="1087582" y="1016001"/>
                  <a:pt x="1136073" y="1207655"/>
                </a:cubicBezTo>
                <a:cubicBezTo>
                  <a:pt x="1184564" y="1399309"/>
                  <a:pt x="1295401" y="1216891"/>
                  <a:pt x="1357746" y="1318491"/>
                </a:cubicBezTo>
                <a:cubicBezTo>
                  <a:pt x="1420091" y="1420091"/>
                  <a:pt x="1366982" y="2011219"/>
                  <a:pt x="1510146" y="1817255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sp>
        <p:nvSpPr>
          <p:cNvPr id="136" name="Oval 38"/>
          <p:cNvSpPr>
            <a:spLocks noChangeArrowheads="1"/>
          </p:cNvSpPr>
          <p:nvPr/>
        </p:nvSpPr>
        <p:spPr bwMode="auto">
          <a:xfrm>
            <a:off x="2627412" y="5693521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173" name="Oval 38"/>
          <p:cNvSpPr>
            <a:spLocks noChangeArrowheads="1"/>
          </p:cNvSpPr>
          <p:nvPr/>
        </p:nvSpPr>
        <p:spPr bwMode="auto">
          <a:xfrm>
            <a:off x="2262387" y="5136630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74" name="Oval 38"/>
          <p:cNvSpPr>
            <a:spLocks noChangeArrowheads="1"/>
          </p:cNvSpPr>
          <p:nvPr/>
        </p:nvSpPr>
        <p:spPr bwMode="auto">
          <a:xfrm>
            <a:off x="1802457" y="5598592"/>
            <a:ext cx="304800" cy="304800"/>
          </a:xfrm>
          <a:prstGeom prst="ellipse">
            <a:avLst/>
          </a:prstGeom>
          <a:solidFill>
            <a:srgbClr val="008AA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75" name="Oval 38"/>
          <p:cNvSpPr>
            <a:spLocks noChangeArrowheads="1"/>
          </p:cNvSpPr>
          <p:nvPr/>
        </p:nvSpPr>
        <p:spPr bwMode="auto">
          <a:xfrm>
            <a:off x="2627412" y="5693521"/>
            <a:ext cx="304800" cy="304800"/>
          </a:xfrm>
          <a:prstGeom prst="ellipse">
            <a:avLst/>
          </a:prstGeom>
          <a:solidFill>
            <a:srgbClr val="008AA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178" name="Oval 38"/>
          <p:cNvSpPr>
            <a:spLocks noChangeArrowheads="1"/>
          </p:cNvSpPr>
          <p:nvPr/>
        </p:nvSpPr>
        <p:spPr bwMode="auto">
          <a:xfrm>
            <a:off x="2263875" y="4490790"/>
            <a:ext cx="304800" cy="304800"/>
          </a:xfrm>
          <a:prstGeom prst="ellips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80" name="Rectangle 179"/>
          <p:cNvSpPr/>
          <p:nvPr/>
        </p:nvSpPr>
        <p:spPr bwMode="auto">
          <a:xfrm>
            <a:off x="2411760" y="6165304"/>
            <a:ext cx="4275148" cy="504056"/>
          </a:xfrm>
          <a:prstGeom prst="rect">
            <a:avLst/>
          </a:prstGeom>
          <a:solidFill>
            <a:srgbClr val="65016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Operation 1: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graph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24DA23A-1E23-954E-FE67-D1634D4EFE44}"/>
              </a:ext>
            </a:extLst>
          </p:cNvPr>
          <p:cNvGrpSpPr/>
          <p:nvPr/>
        </p:nvGrpSpPr>
        <p:grpSpPr>
          <a:xfrm>
            <a:off x="1799781" y="4490790"/>
            <a:ext cx="1130324" cy="1507531"/>
            <a:chOff x="1801888" y="4490790"/>
            <a:chExt cx="1130324" cy="1507531"/>
          </a:xfrm>
        </p:grpSpPr>
        <p:sp>
          <p:nvSpPr>
            <p:cNvPr id="41" name="Line 30">
              <a:extLst>
                <a:ext uri="{FF2B5EF4-FFF2-40B4-BE49-F238E27FC236}">
                  <a16:creationId xmlns:a16="http://schemas.microsoft.com/office/drawing/2014/main" id="{813BBC15-8742-F31F-F336-911962134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462" y="4641329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Line 33">
              <a:extLst>
                <a:ext uri="{FF2B5EF4-FFF2-40B4-BE49-F238E27FC236}">
                  <a16:creationId xmlns:a16="http://schemas.microsoft.com/office/drawing/2014/main" id="{3985BDC5-1001-0DEB-4734-E835243F9B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6726" y="5271566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Line 35">
              <a:extLst>
                <a:ext uri="{FF2B5EF4-FFF2-40B4-BE49-F238E27FC236}">
                  <a16:creationId xmlns:a16="http://schemas.microsoft.com/office/drawing/2014/main" id="{36A385E4-BE61-5361-1582-1F40D6208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3926" y="5271566"/>
              <a:ext cx="381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Line 34">
              <a:extLst>
                <a:ext uri="{FF2B5EF4-FFF2-40B4-BE49-F238E27FC236}">
                  <a16:creationId xmlns:a16="http://schemas.microsoft.com/office/drawing/2014/main" id="{E07B351B-4545-BCCF-5E13-BB0A39D20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4771" y="5748858"/>
              <a:ext cx="8382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Oval 38">
              <a:extLst>
                <a:ext uri="{FF2B5EF4-FFF2-40B4-BE49-F238E27FC236}">
                  <a16:creationId xmlns:a16="http://schemas.microsoft.com/office/drawing/2014/main" id="{BED6B156-1E64-ACEF-DCE3-B31BA7AB9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1888" y="5598592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sp>
          <p:nvSpPr>
            <p:cNvPr id="46" name="Oval 38">
              <a:extLst>
                <a:ext uri="{FF2B5EF4-FFF2-40B4-BE49-F238E27FC236}">
                  <a16:creationId xmlns:a16="http://schemas.microsoft.com/office/drawing/2014/main" id="{6D99BD42-14DD-DD20-BB28-47398E224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412" y="5693521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sp>
          <p:nvSpPr>
            <p:cNvPr id="49" name="Oval 38">
              <a:extLst>
                <a:ext uri="{FF2B5EF4-FFF2-40B4-BE49-F238E27FC236}">
                  <a16:creationId xmlns:a16="http://schemas.microsoft.com/office/drawing/2014/main" id="{968B3B0D-A434-4745-F6A0-E12229A5E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387" y="513663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51" name="Oval 38">
              <a:extLst>
                <a:ext uri="{FF2B5EF4-FFF2-40B4-BE49-F238E27FC236}">
                  <a16:creationId xmlns:a16="http://schemas.microsoft.com/office/drawing/2014/main" id="{910FA8C5-5DCB-AB4C-4405-1356D352E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2457" y="5598592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sp>
          <p:nvSpPr>
            <p:cNvPr id="55" name="Oval 38">
              <a:extLst>
                <a:ext uri="{FF2B5EF4-FFF2-40B4-BE49-F238E27FC236}">
                  <a16:creationId xmlns:a16="http://schemas.microsoft.com/office/drawing/2014/main" id="{0475717D-3AEB-2980-1BD4-1FD37F385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412" y="5693521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sp>
          <p:nvSpPr>
            <p:cNvPr id="56" name="Oval 38">
              <a:extLst>
                <a:ext uri="{FF2B5EF4-FFF2-40B4-BE49-F238E27FC236}">
                  <a16:creationId xmlns:a16="http://schemas.microsoft.com/office/drawing/2014/main" id="{BBB4F56B-681F-D9A3-AD2F-E8A31B70A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875" y="449079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652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76" grpId="0" animBg="1"/>
      <p:bldP spid="177" grpId="0" animBg="1"/>
      <p:bldP spid="137" grpId="0" animBg="1"/>
      <p:bldP spid="53" grpId="0" animBg="1"/>
      <p:bldP spid="53" grpId="1" animBg="1"/>
      <p:bldP spid="93" grpId="0" animBg="1"/>
      <p:bldP spid="95" grpId="0" animBg="1"/>
      <p:bldP spid="97" grpId="0" animBg="1"/>
      <p:bldP spid="97" grpId="1" animBg="1"/>
      <p:bldP spid="98" grpId="0" animBg="1"/>
      <p:bldP spid="98" grpId="1" animBg="1"/>
      <p:bldP spid="99" grpId="0" animBg="1"/>
      <p:bldP spid="136" grpId="0" animBg="1"/>
      <p:bldP spid="173" grpId="0" animBg="1"/>
      <p:bldP spid="174" grpId="0" animBg="1"/>
      <p:bldP spid="175" grpId="0" animBg="1"/>
      <p:bldP spid="178" grpId="0" animBg="1"/>
      <p:bldP spid="180" grpId="0" animBg="1"/>
      <p:bldP spid="18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programming:</a:t>
            </a:r>
            <a:br>
              <a:rPr lang="en-GB" dirty="0"/>
            </a:br>
            <a:r>
              <a:rPr lang="en-GB" dirty="0"/>
              <a:t>storing recursively computed optimal solutions to substructures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</p:spPr>
            <p:txBody>
              <a:bodyPr/>
              <a:lstStyle/>
              <a:p>
                <a:r>
                  <a:rPr lang="en-GB" dirty="0"/>
                  <a:t>As with trees, let us use a separator-based decomposition of the graph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r>
                  <a:rPr lang="en-GB" b="1" dirty="0">
                    <a:solidFill>
                      <a:srgbClr val="C00000"/>
                    </a:solidFill>
                  </a:rPr>
                  <a:t>Separator</a:t>
                </a:r>
                <a:r>
                  <a:rPr lang="en-GB" dirty="0"/>
                  <a:t> between part of the graph that</a:t>
                </a:r>
                <a:br>
                  <a:rPr lang="en-GB" dirty="0"/>
                </a:br>
                <a:r>
                  <a:rPr lang="en-GB" dirty="0"/>
                  <a:t>is ‘done’ and what is ‘</a:t>
                </a:r>
                <a:r>
                  <a:rPr lang="en-GB" dirty="0" err="1"/>
                  <a:t>todo</a:t>
                </a:r>
                <a:r>
                  <a:rPr lang="en-GB" dirty="0"/>
                  <a:t>’.</a:t>
                </a:r>
              </a:p>
              <a:p>
                <a:pPr lvl="1"/>
                <a:r>
                  <a:rPr lang="en-GB" dirty="0"/>
                  <a:t>The dynamic programming algorithm</a:t>
                </a:r>
                <a:br>
                  <a:rPr lang="en-GB" dirty="0"/>
                </a:br>
                <a:r>
                  <a:rPr lang="en-GB" dirty="0"/>
                  <a:t>then uses four different operations 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6008712" cy="2408822"/>
              </a:xfrm>
              <a:blipFill>
                <a:blip r:embed="rId3"/>
                <a:stretch>
                  <a:fillRect l="-203" t="-12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750496" y="2348880"/>
            <a:ext cx="2286000" cy="1676400"/>
            <a:chOff x="4128" y="816"/>
            <a:chExt cx="1440" cy="1056"/>
          </a:xfrm>
        </p:grpSpPr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28"/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30"/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3"/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7" name="Oval 38"/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" name="Text Box 39"/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6" name="Group 40"/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5" name="Oval 41"/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7" name="Group 43"/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3" name="Oval 44"/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4" name="Text Box 45"/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8" name="Group 46"/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1" name="Oval 47"/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2" name="Text Box 48"/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19" name="Group 49"/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" name="Text Box 51"/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0" name="Group 52"/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8" name="Text Box 54"/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5" name="Oval 56"/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" name="Text Box 57"/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2" name="Group 58"/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3" name="Oval 59"/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4" name="Text Box 60"/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48" name="Vrije vorm 41"/>
          <p:cNvSpPr/>
          <p:nvPr/>
        </p:nvSpPr>
        <p:spPr bwMode="auto">
          <a:xfrm>
            <a:off x="6603839" y="2433161"/>
            <a:ext cx="1302327" cy="1182254"/>
          </a:xfrm>
          <a:custGeom>
            <a:avLst/>
            <a:gdLst>
              <a:gd name="connsiteX0" fmla="*/ 0 w 1302327"/>
              <a:gd name="connsiteY0" fmla="*/ 1011382 h 1182254"/>
              <a:gd name="connsiteX1" fmla="*/ 900546 w 1302327"/>
              <a:gd name="connsiteY1" fmla="*/ 1108364 h 1182254"/>
              <a:gd name="connsiteX2" fmla="*/ 1233055 w 1302327"/>
              <a:gd name="connsiteY2" fmla="*/ 997527 h 1182254"/>
              <a:gd name="connsiteX3" fmla="*/ 1302327 w 1302327"/>
              <a:gd name="connsiteY3" fmla="*/ 0 h 118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327" h="1182254">
                <a:moveTo>
                  <a:pt x="0" y="1011382"/>
                </a:moveTo>
                <a:cubicBezTo>
                  <a:pt x="347518" y="1061027"/>
                  <a:pt x="695037" y="1110673"/>
                  <a:pt x="900546" y="1108364"/>
                </a:cubicBezTo>
                <a:cubicBezTo>
                  <a:pt x="1106055" y="1106055"/>
                  <a:pt x="1166091" y="1182254"/>
                  <a:pt x="1233055" y="997527"/>
                </a:cubicBezTo>
                <a:cubicBezTo>
                  <a:pt x="1300019" y="812800"/>
                  <a:pt x="1297709" y="191655"/>
                  <a:pt x="1302327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3419872" y="4746351"/>
            <a:ext cx="938213" cy="947170"/>
            <a:chOff x="1636812" y="4504578"/>
            <a:chExt cx="938213" cy="947170"/>
          </a:xfrm>
        </p:grpSpPr>
        <p:sp>
          <p:nvSpPr>
            <p:cNvPr id="86" name="Line 30"/>
            <p:cNvSpPr>
              <a:spLocks noChangeShapeType="1"/>
            </p:cNvSpPr>
            <p:nvPr/>
          </p:nvSpPr>
          <p:spPr bwMode="auto">
            <a:xfrm>
              <a:off x="2422625" y="4667583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Line 32"/>
            <p:cNvSpPr>
              <a:spLocks noChangeShapeType="1"/>
            </p:cNvSpPr>
            <p:nvPr/>
          </p:nvSpPr>
          <p:spPr bwMode="auto">
            <a:xfrm>
              <a:off x="1831651" y="5023534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Line 31"/>
            <p:cNvSpPr>
              <a:spLocks noChangeShapeType="1"/>
            </p:cNvSpPr>
            <p:nvPr/>
          </p:nvSpPr>
          <p:spPr bwMode="auto">
            <a:xfrm flipV="1">
              <a:off x="1794409" y="4667583"/>
              <a:ext cx="6096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Oval 38"/>
            <p:cNvSpPr>
              <a:spLocks noChangeArrowheads="1"/>
            </p:cNvSpPr>
            <p:nvPr/>
          </p:nvSpPr>
          <p:spPr bwMode="auto">
            <a:xfrm>
              <a:off x="2270225" y="4504578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103" name="Oval 38"/>
            <p:cNvSpPr>
              <a:spLocks noChangeArrowheads="1"/>
            </p:cNvSpPr>
            <p:nvPr/>
          </p:nvSpPr>
          <p:spPr bwMode="auto">
            <a:xfrm>
              <a:off x="1636812" y="482230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sp>
          <p:nvSpPr>
            <p:cNvPr id="85" name="Oval 38"/>
            <p:cNvSpPr>
              <a:spLocks noChangeArrowheads="1"/>
            </p:cNvSpPr>
            <p:nvPr/>
          </p:nvSpPr>
          <p:spPr bwMode="auto">
            <a:xfrm>
              <a:off x="2258971" y="5146948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50" name="Oval 38"/>
            <p:cNvSpPr>
              <a:spLocks noChangeArrowheads="1"/>
            </p:cNvSpPr>
            <p:nvPr/>
          </p:nvSpPr>
          <p:spPr bwMode="auto">
            <a:xfrm>
              <a:off x="1636812" y="4821358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b</a:t>
              </a:r>
            </a:p>
          </p:txBody>
        </p:sp>
      </p:grpSp>
      <p:graphicFrame>
        <p:nvGraphicFramePr>
          <p:cNvPr id="52" name="Group 584"/>
          <p:cNvGraphicFramePr>
            <a:graphicFrameLocks noGrp="1"/>
          </p:cNvGraphicFramePr>
          <p:nvPr/>
        </p:nvGraphicFramePr>
        <p:xfrm>
          <a:off x="4521739" y="4528032"/>
          <a:ext cx="1260000" cy="137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graphicFrame>
        <p:nvGraphicFramePr>
          <p:cNvPr id="94" name="Group 584"/>
          <p:cNvGraphicFramePr>
            <a:graphicFrameLocks noGrp="1"/>
          </p:cNvGraphicFramePr>
          <p:nvPr/>
        </p:nvGraphicFramePr>
        <p:xfrm>
          <a:off x="1688352" y="4474321"/>
          <a:ext cx="1260000" cy="137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sp>
        <p:nvSpPr>
          <p:cNvPr id="99" name="Vrije vorm 50"/>
          <p:cNvSpPr/>
          <p:nvPr/>
        </p:nvSpPr>
        <p:spPr bwMode="auto">
          <a:xfrm>
            <a:off x="6714675" y="2181470"/>
            <a:ext cx="1510146" cy="2011219"/>
          </a:xfrm>
          <a:custGeom>
            <a:avLst/>
            <a:gdLst>
              <a:gd name="connsiteX0" fmla="*/ 0 w 1510146"/>
              <a:gd name="connsiteY0" fmla="*/ 1761837 h 2011219"/>
              <a:gd name="connsiteX1" fmla="*/ 207819 w 1510146"/>
              <a:gd name="connsiteY1" fmla="*/ 1124528 h 2011219"/>
              <a:gd name="connsiteX2" fmla="*/ 526473 w 1510146"/>
              <a:gd name="connsiteY2" fmla="*/ 889000 h 2011219"/>
              <a:gd name="connsiteX3" fmla="*/ 581891 w 1510146"/>
              <a:gd name="connsiteY3" fmla="*/ 404091 h 2011219"/>
              <a:gd name="connsiteX4" fmla="*/ 692728 w 1510146"/>
              <a:gd name="connsiteY4" fmla="*/ 196273 h 2011219"/>
              <a:gd name="connsiteX5" fmla="*/ 1066800 w 1510146"/>
              <a:gd name="connsiteY5" fmla="*/ 168564 h 2011219"/>
              <a:gd name="connsiteX6" fmla="*/ 1136073 w 1510146"/>
              <a:gd name="connsiteY6" fmla="*/ 1207655 h 2011219"/>
              <a:gd name="connsiteX7" fmla="*/ 1357746 w 1510146"/>
              <a:gd name="connsiteY7" fmla="*/ 1318491 h 2011219"/>
              <a:gd name="connsiteX8" fmla="*/ 1510146 w 1510146"/>
              <a:gd name="connsiteY8" fmla="*/ 1817255 h 2011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0146" h="2011219">
                <a:moveTo>
                  <a:pt x="0" y="1761837"/>
                </a:moveTo>
                <a:cubicBezTo>
                  <a:pt x="60037" y="1515919"/>
                  <a:pt x="120074" y="1270001"/>
                  <a:pt x="207819" y="1124528"/>
                </a:cubicBezTo>
                <a:cubicBezTo>
                  <a:pt x="295565" y="979055"/>
                  <a:pt x="464128" y="1009073"/>
                  <a:pt x="526473" y="889000"/>
                </a:cubicBezTo>
                <a:cubicBezTo>
                  <a:pt x="588818" y="768927"/>
                  <a:pt x="554182" y="519546"/>
                  <a:pt x="581891" y="404091"/>
                </a:cubicBezTo>
                <a:cubicBezTo>
                  <a:pt x="609600" y="288637"/>
                  <a:pt x="611910" y="235527"/>
                  <a:pt x="692728" y="196273"/>
                </a:cubicBezTo>
                <a:cubicBezTo>
                  <a:pt x="773546" y="157019"/>
                  <a:pt x="992909" y="0"/>
                  <a:pt x="1066800" y="168564"/>
                </a:cubicBezTo>
                <a:cubicBezTo>
                  <a:pt x="1140691" y="337128"/>
                  <a:pt x="1087582" y="1016001"/>
                  <a:pt x="1136073" y="1207655"/>
                </a:cubicBezTo>
                <a:cubicBezTo>
                  <a:pt x="1184564" y="1399309"/>
                  <a:pt x="1295401" y="1216891"/>
                  <a:pt x="1357746" y="1318491"/>
                </a:cubicBezTo>
                <a:cubicBezTo>
                  <a:pt x="1420091" y="1420091"/>
                  <a:pt x="1366982" y="2011219"/>
                  <a:pt x="1510146" y="1817255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323528" y="4490790"/>
            <a:ext cx="1130324" cy="1507531"/>
            <a:chOff x="1801888" y="4490790"/>
            <a:chExt cx="1130324" cy="1507531"/>
          </a:xfrm>
        </p:grpSpPr>
        <p:sp>
          <p:nvSpPr>
            <p:cNvPr id="179" name="Line 30"/>
            <p:cNvSpPr>
              <a:spLocks noChangeShapeType="1"/>
            </p:cNvSpPr>
            <p:nvPr/>
          </p:nvSpPr>
          <p:spPr bwMode="auto">
            <a:xfrm>
              <a:off x="2392462" y="4641329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76" name="Line 33"/>
            <p:cNvSpPr>
              <a:spLocks noChangeShapeType="1"/>
            </p:cNvSpPr>
            <p:nvPr/>
          </p:nvSpPr>
          <p:spPr bwMode="auto">
            <a:xfrm flipV="1">
              <a:off x="1936726" y="5271566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77" name="Line 35"/>
            <p:cNvSpPr>
              <a:spLocks noChangeShapeType="1"/>
            </p:cNvSpPr>
            <p:nvPr/>
          </p:nvSpPr>
          <p:spPr bwMode="auto">
            <a:xfrm>
              <a:off x="2393926" y="5271566"/>
              <a:ext cx="381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" name="Line 34"/>
            <p:cNvSpPr>
              <a:spLocks noChangeShapeType="1"/>
            </p:cNvSpPr>
            <p:nvPr/>
          </p:nvSpPr>
          <p:spPr bwMode="auto">
            <a:xfrm>
              <a:off x="1974771" y="5748858"/>
              <a:ext cx="8382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Oval 38"/>
            <p:cNvSpPr>
              <a:spLocks noChangeArrowheads="1"/>
            </p:cNvSpPr>
            <p:nvPr/>
          </p:nvSpPr>
          <p:spPr bwMode="auto">
            <a:xfrm>
              <a:off x="1801888" y="5598592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sp>
          <p:nvSpPr>
            <p:cNvPr id="136" name="Oval 38"/>
            <p:cNvSpPr>
              <a:spLocks noChangeArrowheads="1"/>
            </p:cNvSpPr>
            <p:nvPr/>
          </p:nvSpPr>
          <p:spPr bwMode="auto">
            <a:xfrm>
              <a:off x="2627412" y="5693521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sp>
          <p:nvSpPr>
            <p:cNvPr id="173" name="Oval 38"/>
            <p:cNvSpPr>
              <a:spLocks noChangeArrowheads="1"/>
            </p:cNvSpPr>
            <p:nvPr/>
          </p:nvSpPr>
          <p:spPr bwMode="auto">
            <a:xfrm>
              <a:off x="2262387" y="513663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174" name="Oval 38"/>
            <p:cNvSpPr>
              <a:spLocks noChangeArrowheads="1"/>
            </p:cNvSpPr>
            <p:nvPr/>
          </p:nvSpPr>
          <p:spPr bwMode="auto">
            <a:xfrm>
              <a:off x="1802457" y="5598592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sp>
          <p:nvSpPr>
            <p:cNvPr id="175" name="Oval 38"/>
            <p:cNvSpPr>
              <a:spLocks noChangeArrowheads="1"/>
            </p:cNvSpPr>
            <p:nvPr/>
          </p:nvSpPr>
          <p:spPr bwMode="auto">
            <a:xfrm>
              <a:off x="2627412" y="5693521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sp>
          <p:nvSpPr>
            <p:cNvPr id="178" name="Oval 38"/>
            <p:cNvSpPr>
              <a:spLocks noChangeArrowheads="1"/>
            </p:cNvSpPr>
            <p:nvPr/>
          </p:nvSpPr>
          <p:spPr bwMode="auto">
            <a:xfrm>
              <a:off x="2263875" y="449079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a</a:t>
              </a:r>
            </a:p>
          </p:txBody>
        </p:sp>
      </p:grpSp>
      <p:graphicFrame>
        <p:nvGraphicFramePr>
          <p:cNvPr id="67" name="Group 584"/>
          <p:cNvGraphicFramePr>
            <a:graphicFrameLocks noGrp="1"/>
          </p:cNvGraphicFramePr>
          <p:nvPr/>
        </p:nvGraphicFramePr>
        <p:xfrm>
          <a:off x="7745175" y="4509566"/>
          <a:ext cx="1260000" cy="137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323664185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283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32730"/>
                  </a:ext>
                </a:extLst>
              </a:tr>
            </a:tbl>
          </a:graphicData>
        </a:graphic>
      </p:graphicFrame>
      <p:grpSp>
        <p:nvGrpSpPr>
          <p:cNvPr id="68" name="Group 67"/>
          <p:cNvGrpSpPr/>
          <p:nvPr/>
        </p:nvGrpSpPr>
        <p:grpSpPr>
          <a:xfrm>
            <a:off x="6466012" y="4460066"/>
            <a:ext cx="1130324" cy="1507531"/>
            <a:chOff x="1801888" y="4490790"/>
            <a:chExt cx="1130324" cy="1507531"/>
          </a:xfrm>
        </p:grpSpPr>
        <p:sp>
          <p:nvSpPr>
            <p:cNvPr id="69" name="Line 30"/>
            <p:cNvSpPr>
              <a:spLocks noChangeShapeType="1"/>
            </p:cNvSpPr>
            <p:nvPr/>
          </p:nvSpPr>
          <p:spPr bwMode="auto">
            <a:xfrm>
              <a:off x="2392462" y="4641329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Line 33"/>
            <p:cNvSpPr>
              <a:spLocks noChangeShapeType="1"/>
            </p:cNvSpPr>
            <p:nvPr/>
          </p:nvSpPr>
          <p:spPr bwMode="auto">
            <a:xfrm flipV="1">
              <a:off x="1936726" y="5271566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Line 35"/>
            <p:cNvSpPr>
              <a:spLocks noChangeShapeType="1"/>
            </p:cNvSpPr>
            <p:nvPr/>
          </p:nvSpPr>
          <p:spPr bwMode="auto">
            <a:xfrm>
              <a:off x="2393926" y="5271566"/>
              <a:ext cx="381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Line 34"/>
            <p:cNvSpPr>
              <a:spLocks noChangeShapeType="1"/>
            </p:cNvSpPr>
            <p:nvPr/>
          </p:nvSpPr>
          <p:spPr bwMode="auto">
            <a:xfrm>
              <a:off x="1974771" y="5748858"/>
              <a:ext cx="8382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Oval 38"/>
            <p:cNvSpPr>
              <a:spLocks noChangeArrowheads="1"/>
            </p:cNvSpPr>
            <p:nvPr/>
          </p:nvSpPr>
          <p:spPr bwMode="auto">
            <a:xfrm>
              <a:off x="1801888" y="5598592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sp>
          <p:nvSpPr>
            <p:cNvPr id="74" name="Oval 38"/>
            <p:cNvSpPr>
              <a:spLocks noChangeArrowheads="1"/>
            </p:cNvSpPr>
            <p:nvPr/>
          </p:nvSpPr>
          <p:spPr bwMode="auto">
            <a:xfrm>
              <a:off x="2627412" y="5693521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sp>
          <p:nvSpPr>
            <p:cNvPr id="75" name="Oval 38"/>
            <p:cNvSpPr>
              <a:spLocks noChangeArrowheads="1"/>
            </p:cNvSpPr>
            <p:nvPr/>
          </p:nvSpPr>
          <p:spPr bwMode="auto">
            <a:xfrm>
              <a:off x="2262387" y="513663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76" name="Oval 38"/>
            <p:cNvSpPr>
              <a:spLocks noChangeArrowheads="1"/>
            </p:cNvSpPr>
            <p:nvPr/>
          </p:nvSpPr>
          <p:spPr bwMode="auto">
            <a:xfrm>
              <a:off x="1802457" y="5598592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sp>
          <p:nvSpPr>
            <p:cNvPr id="77" name="Oval 38"/>
            <p:cNvSpPr>
              <a:spLocks noChangeArrowheads="1"/>
            </p:cNvSpPr>
            <p:nvPr/>
          </p:nvSpPr>
          <p:spPr bwMode="auto">
            <a:xfrm>
              <a:off x="2627412" y="5693521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sp>
          <p:nvSpPr>
            <p:cNvPr id="78" name="Oval 38"/>
            <p:cNvSpPr>
              <a:spLocks noChangeArrowheads="1"/>
            </p:cNvSpPr>
            <p:nvPr/>
          </p:nvSpPr>
          <p:spPr bwMode="auto">
            <a:xfrm>
              <a:off x="2263875" y="4490790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a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294574" y="4457185"/>
            <a:ext cx="938213" cy="947170"/>
            <a:chOff x="1636812" y="4504578"/>
            <a:chExt cx="938213" cy="947170"/>
          </a:xfrm>
        </p:grpSpPr>
        <p:sp>
          <p:nvSpPr>
            <p:cNvPr id="80" name="Line 30"/>
            <p:cNvSpPr>
              <a:spLocks noChangeShapeType="1"/>
            </p:cNvSpPr>
            <p:nvPr/>
          </p:nvSpPr>
          <p:spPr bwMode="auto">
            <a:xfrm>
              <a:off x="2398824" y="4667583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Line 32"/>
            <p:cNvSpPr>
              <a:spLocks noChangeShapeType="1"/>
            </p:cNvSpPr>
            <p:nvPr/>
          </p:nvSpPr>
          <p:spPr bwMode="auto">
            <a:xfrm>
              <a:off x="1831651" y="5023534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 flipV="1">
              <a:off x="1794409" y="4667583"/>
              <a:ext cx="6096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Oval 38"/>
            <p:cNvSpPr>
              <a:spLocks noChangeArrowheads="1"/>
            </p:cNvSpPr>
            <p:nvPr/>
          </p:nvSpPr>
          <p:spPr bwMode="auto">
            <a:xfrm>
              <a:off x="2270225" y="4504578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84" name="Oval 38"/>
            <p:cNvSpPr>
              <a:spLocks noChangeArrowheads="1"/>
            </p:cNvSpPr>
            <p:nvPr/>
          </p:nvSpPr>
          <p:spPr bwMode="auto">
            <a:xfrm>
              <a:off x="1636812" y="4822304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sp>
          <p:nvSpPr>
            <p:cNvPr id="88" name="Oval 38"/>
            <p:cNvSpPr>
              <a:spLocks noChangeArrowheads="1"/>
            </p:cNvSpPr>
            <p:nvPr/>
          </p:nvSpPr>
          <p:spPr bwMode="auto">
            <a:xfrm>
              <a:off x="2258971" y="5146948"/>
              <a:ext cx="304800" cy="304800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89" name="Oval 38"/>
            <p:cNvSpPr>
              <a:spLocks noChangeArrowheads="1"/>
            </p:cNvSpPr>
            <p:nvPr/>
          </p:nvSpPr>
          <p:spPr bwMode="auto">
            <a:xfrm>
              <a:off x="1636812" y="4821358"/>
              <a:ext cx="304800" cy="304800"/>
            </a:xfrm>
            <a:prstGeom prst="ellipse">
              <a:avLst/>
            </a:prstGeom>
            <a:solidFill>
              <a:srgbClr val="008AA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GB" dirty="0"/>
                <a:t>b</a:t>
              </a:r>
            </a:p>
          </p:txBody>
        </p:sp>
      </p:grpSp>
      <p:sp>
        <p:nvSpPr>
          <p:cNvPr id="41" name="Rectangle 40"/>
          <p:cNvSpPr/>
          <p:nvPr/>
        </p:nvSpPr>
        <p:spPr bwMode="auto">
          <a:xfrm>
            <a:off x="2851138" y="6147902"/>
            <a:ext cx="3456384" cy="504056"/>
          </a:xfrm>
          <a:prstGeom prst="rect">
            <a:avLst/>
          </a:prstGeom>
          <a:solidFill>
            <a:srgbClr val="65016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Operation 4: Join</a:t>
            </a:r>
          </a:p>
        </p:txBody>
      </p:sp>
      <p:sp>
        <p:nvSpPr>
          <p:cNvPr id="90" name="Vrije vorm 52"/>
          <p:cNvSpPr/>
          <p:nvPr/>
        </p:nvSpPr>
        <p:spPr bwMode="auto">
          <a:xfrm>
            <a:off x="7853057" y="2363888"/>
            <a:ext cx="385618" cy="1653310"/>
          </a:xfrm>
          <a:custGeom>
            <a:avLst/>
            <a:gdLst>
              <a:gd name="connsiteX0" fmla="*/ 53109 w 385618"/>
              <a:gd name="connsiteY0" fmla="*/ 0 h 1653310"/>
              <a:gd name="connsiteX1" fmla="*/ 39255 w 385618"/>
              <a:gd name="connsiteY1" fmla="*/ 886691 h 1653310"/>
              <a:gd name="connsiteX2" fmla="*/ 288637 w 385618"/>
              <a:gd name="connsiteY2" fmla="*/ 1149928 h 1653310"/>
              <a:gd name="connsiteX3" fmla="*/ 385618 w 385618"/>
              <a:gd name="connsiteY3" fmla="*/ 1634837 h 165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618" h="1653310">
                <a:moveTo>
                  <a:pt x="53109" y="0"/>
                </a:moveTo>
                <a:cubicBezTo>
                  <a:pt x="26554" y="347518"/>
                  <a:pt x="0" y="695036"/>
                  <a:pt x="39255" y="886691"/>
                </a:cubicBezTo>
                <a:cubicBezTo>
                  <a:pt x="78510" y="1078346"/>
                  <a:pt x="230910" y="1025237"/>
                  <a:pt x="288637" y="1149928"/>
                </a:cubicBezTo>
                <a:cubicBezTo>
                  <a:pt x="346364" y="1274619"/>
                  <a:pt x="290945" y="1653310"/>
                  <a:pt x="385618" y="1634837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44932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-0.31493 0.04213 " pathEditMode="relative" rAng="0" ptsTypes="AA">
                                      <p:cBhvr>
                                        <p:cTn id="8" dur="200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47" y="210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81481E-6 L -0.67361 0.0037 " pathEditMode="relative" rAng="0" ptsTypes="AA">
                                      <p:cBhvr>
                                        <p:cTn id="12" dur="20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681" y="18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99" grpId="0" animBg="1"/>
      <p:bldP spid="41" grpId="0" animBg="1"/>
      <p:bldP spid="9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programming:</a:t>
            </a:r>
            <a:br>
              <a:rPr lang="en-GB" dirty="0"/>
            </a:br>
            <a:r>
              <a:rPr lang="en-GB" dirty="0"/>
              <a:t>storing recursively computed optimal solutions to substructures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599" y="1828800"/>
                <a:ext cx="6139333" cy="3688432"/>
              </a:xfrm>
            </p:spPr>
            <p:txBody>
              <a:bodyPr/>
              <a:lstStyle/>
              <a:p>
                <a:r>
                  <a:rPr lang="en-GB" dirty="0"/>
                  <a:t>As with trees, let us use a separator-based decomposition of the graph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r>
                  <a:rPr lang="en-GB" b="1" dirty="0">
                    <a:solidFill>
                      <a:srgbClr val="C00000"/>
                    </a:solidFill>
                  </a:rPr>
                  <a:t>Separator</a:t>
                </a:r>
                <a:r>
                  <a:rPr lang="en-GB" dirty="0"/>
                  <a:t> between part of the graph that</a:t>
                </a:r>
                <a:br>
                  <a:rPr lang="en-GB" dirty="0"/>
                </a:br>
                <a:r>
                  <a:rPr lang="en-GB" dirty="0"/>
                  <a:t>is ‘done’ and what is ‘</a:t>
                </a:r>
                <a:r>
                  <a:rPr lang="en-GB" dirty="0" err="1"/>
                  <a:t>todo</a:t>
                </a:r>
                <a:r>
                  <a:rPr lang="en-GB" dirty="0"/>
                  <a:t>’.</a:t>
                </a:r>
              </a:p>
              <a:p>
                <a:pPr lvl="1"/>
                <a:r>
                  <a:rPr lang="en-GB" dirty="0"/>
                  <a:t>The dynamic programming algorithm</a:t>
                </a:r>
                <a:br>
                  <a:rPr lang="en-GB" dirty="0"/>
                </a:br>
                <a:r>
                  <a:rPr lang="en-GB" dirty="0"/>
                  <a:t>then uses four different operations 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r>
                  <a:rPr lang="en-GB" dirty="0"/>
                  <a:t>Continue until all vertices are ‘done’ (forgotten).</a:t>
                </a:r>
              </a:p>
              <a:p>
                <a:pPr lvl="1"/>
                <a:r>
                  <a:rPr lang="en-GB" dirty="0"/>
                  <a:t>Nothing remains ‘</a:t>
                </a:r>
                <a:r>
                  <a:rPr lang="en-GB" dirty="0" err="1"/>
                  <a:t>todo</a:t>
                </a:r>
                <a:r>
                  <a:rPr lang="en-GB" dirty="0"/>
                  <a:t>’, nothing left in the separator.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1828800"/>
                <a:ext cx="6139333" cy="3688432"/>
              </a:xfrm>
              <a:blipFill>
                <a:blip r:embed="rId3"/>
                <a:stretch>
                  <a:fillRect l="-199" t="-826" r="-49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750496" y="2348880"/>
            <a:ext cx="2286000" cy="1676400"/>
            <a:chOff x="4128" y="816"/>
            <a:chExt cx="1440" cy="1056"/>
          </a:xfrm>
        </p:grpSpPr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28"/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30"/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3"/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4"/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5"/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6"/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7" name="Oval 38"/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" name="Text Box 39"/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6" name="Group 40"/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5" name="Oval 41"/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7" name="Group 43"/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3" name="Oval 44"/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4" name="Text Box 45"/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8" name="Group 46"/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1" name="Oval 47"/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2" name="Text Box 48"/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19" name="Group 49"/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" name="Text Box 51"/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0" name="Group 52"/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7" name="Oval 53"/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8" name="Text Box 54"/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5" name="Oval 56"/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" name="Text Box 57"/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2" name="Group 58"/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3" name="Oval 59"/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4" name="Text Box 60"/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90" name="Vrije vorm 52"/>
          <p:cNvSpPr/>
          <p:nvPr/>
        </p:nvSpPr>
        <p:spPr bwMode="auto">
          <a:xfrm>
            <a:off x="7853057" y="2363888"/>
            <a:ext cx="385618" cy="1653310"/>
          </a:xfrm>
          <a:custGeom>
            <a:avLst/>
            <a:gdLst>
              <a:gd name="connsiteX0" fmla="*/ 53109 w 385618"/>
              <a:gd name="connsiteY0" fmla="*/ 0 h 1653310"/>
              <a:gd name="connsiteX1" fmla="*/ 39255 w 385618"/>
              <a:gd name="connsiteY1" fmla="*/ 886691 h 1653310"/>
              <a:gd name="connsiteX2" fmla="*/ 288637 w 385618"/>
              <a:gd name="connsiteY2" fmla="*/ 1149928 h 1653310"/>
              <a:gd name="connsiteX3" fmla="*/ 385618 w 385618"/>
              <a:gd name="connsiteY3" fmla="*/ 1634837 h 165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618" h="1653310">
                <a:moveTo>
                  <a:pt x="53109" y="0"/>
                </a:moveTo>
                <a:cubicBezTo>
                  <a:pt x="26554" y="347518"/>
                  <a:pt x="0" y="695036"/>
                  <a:pt x="39255" y="886691"/>
                </a:cubicBezTo>
                <a:cubicBezTo>
                  <a:pt x="78510" y="1078346"/>
                  <a:pt x="230910" y="1025237"/>
                  <a:pt x="288637" y="1149928"/>
                </a:cubicBezTo>
                <a:cubicBezTo>
                  <a:pt x="346364" y="1274619"/>
                  <a:pt x="290945" y="1653310"/>
                  <a:pt x="385618" y="1634837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/>
            </a:endParaRP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995936" y="5242912"/>
          <a:ext cx="612000" cy="548640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496988449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value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9811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ebdings" pitchFamily="18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4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195714"/>
                  </a:ext>
                </a:extLst>
              </a:tr>
            </a:tbl>
          </a:graphicData>
        </a:graphic>
      </p:graphicFrame>
      <p:grpSp>
        <p:nvGrpSpPr>
          <p:cNvPr id="91" name="Group 90"/>
          <p:cNvGrpSpPr/>
          <p:nvPr/>
        </p:nvGrpSpPr>
        <p:grpSpPr>
          <a:xfrm>
            <a:off x="6929029" y="2475896"/>
            <a:ext cx="2093973" cy="1410494"/>
            <a:chOff x="6766781" y="2479071"/>
            <a:chExt cx="2093973" cy="1410494"/>
          </a:xfrm>
        </p:grpSpPr>
        <p:sp>
          <p:nvSpPr>
            <p:cNvPr id="92" name="Oval 41"/>
            <p:cNvSpPr>
              <a:spLocks noChangeArrowheads="1"/>
            </p:cNvSpPr>
            <p:nvPr/>
          </p:nvSpPr>
          <p:spPr bwMode="auto">
            <a:xfrm>
              <a:off x="8555954" y="2485405"/>
              <a:ext cx="304800" cy="304800"/>
            </a:xfrm>
            <a:prstGeom prst="ellipse">
              <a:avLst/>
            </a:prstGeom>
            <a:solidFill>
              <a:srgbClr val="F3B92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5" name="Oval 41"/>
            <p:cNvSpPr>
              <a:spLocks noChangeArrowheads="1"/>
            </p:cNvSpPr>
            <p:nvPr/>
          </p:nvSpPr>
          <p:spPr bwMode="auto">
            <a:xfrm>
              <a:off x="7883624" y="3114054"/>
              <a:ext cx="304800" cy="304800"/>
            </a:xfrm>
            <a:prstGeom prst="ellipse">
              <a:avLst/>
            </a:prstGeom>
            <a:solidFill>
              <a:srgbClr val="F3B92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7" name="Oval 96"/>
            <p:cNvSpPr>
              <a:spLocks noChangeArrowheads="1"/>
            </p:cNvSpPr>
            <p:nvPr/>
          </p:nvSpPr>
          <p:spPr bwMode="auto">
            <a:xfrm>
              <a:off x="7223224" y="2479071"/>
              <a:ext cx="304800" cy="304800"/>
            </a:xfrm>
            <a:prstGeom prst="ellipse">
              <a:avLst/>
            </a:prstGeom>
            <a:solidFill>
              <a:srgbClr val="F3B92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8" name="Oval 97"/>
            <p:cNvSpPr>
              <a:spLocks noChangeArrowheads="1"/>
            </p:cNvSpPr>
            <p:nvPr/>
          </p:nvSpPr>
          <p:spPr bwMode="auto">
            <a:xfrm>
              <a:off x="6766781" y="3584765"/>
              <a:ext cx="304800" cy="304800"/>
            </a:xfrm>
            <a:prstGeom prst="ellipse">
              <a:avLst/>
            </a:prstGeom>
            <a:solidFill>
              <a:srgbClr val="F3B92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5011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11572-45F1-D622-8094-A004AC74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715D-71FF-EF93-0BA4-A9742BDF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F2EC9-7C5C-78EA-9C9B-02A998C70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of treewidth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47672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680C69-5886-1069-9A3C-F011A4F1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Tree decomposition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0AAF5C2-0962-EE4D-39B0-CCCF21CAC6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</p:spPr>
            <p:txBody>
              <a:bodyPr/>
              <a:lstStyle/>
              <a:p>
                <a:r>
                  <a:rPr lang="en-US" dirty="0"/>
                  <a:t>A tree decomposition is: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Tree with a vertex set associated to every node, we call this a bag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all edges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there is a bag containing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nodes that contain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form a connected subtree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0AAF5C2-0962-EE4D-39B0-CCCF21CAC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  <a:blipFill>
                <a:blip r:embed="rId2"/>
                <a:stretch>
                  <a:fillRect l="-344" t="-769" r="-223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5" name="Rectangle 1027"/>
          <p:cNvSpPr>
            <a:spLocks noChangeArrowheads="1"/>
          </p:cNvSpPr>
          <p:nvPr/>
        </p:nvSpPr>
        <p:spPr bwMode="auto">
          <a:xfrm>
            <a:off x="1257300" y="2633117"/>
            <a:ext cx="3810000" cy="434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endParaRPr lang="en-US" altLang="en-US" sz="2000" i="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EFA29A-06BE-7957-6EC6-5A3F9912BF57}"/>
              </a:ext>
            </a:extLst>
          </p:cNvPr>
          <p:cNvGrpSpPr/>
          <p:nvPr/>
        </p:nvGrpSpPr>
        <p:grpSpPr>
          <a:xfrm>
            <a:off x="5089599" y="3767683"/>
            <a:ext cx="3429000" cy="1752600"/>
            <a:chOff x="5105400" y="2895600"/>
            <a:chExt cx="3429000" cy="1752600"/>
          </a:xfrm>
        </p:grpSpPr>
        <p:sp>
          <p:nvSpPr>
            <p:cNvPr id="25606" name="Line 1028"/>
            <p:cNvSpPr>
              <a:spLocks noChangeShapeType="1"/>
            </p:cNvSpPr>
            <p:nvPr/>
          </p:nvSpPr>
          <p:spPr bwMode="auto">
            <a:xfrm>
              <a:off x="6400800" y="33528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Line 1029"/>
            <p:cNvSpPr>
              <a:spLocks noChangeShapeType="1"/>
            </p:cNvSpPr>
            <p:nvPr/>
          </p:nvSpPr>
          <p:spPr bwMode="auto">
            <a:xfrm>
              <a:off x="5410200" y="33528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Oval 1045"/>
            <p:cNvSpPr>
              <a:spLocks noChangeArrowheads="1"/>
            </p:cNvSpPr>
            <p:nvPr/>
          </p:nvSpPr>
          <p:spPr bwMode="auto">
            <a:xfrm>
              <a:off x="51054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4" name="Oval 1046"/>
            <p:cNvSpPr>
              <a:spLocks noChangeArrowheads="1"/>
            </p:cNvSpPr>
            <p:nvPr/>
          </p:nvSpPr>
          <p:spPr bwMode="auto">
            <a:xfrm>
              <a:off x="6019800" y="39624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5" name="Oval 1047"/>
            <p:cNvSpPr>
              <a:spLocks noChangeArrowheads="1"/>
            </p:cNvSpPr>
            <p:nvPr/>
          </p:nvSpPr>
          <p:spPr bwMode="auto">
            <a:xfrm>
              <a:off x="60198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6" name="Oval 1048"/>
            <p:cNvSpPr>
              <a:spLocks noChangeArrowheads="1"/>
            </p:cNvSpPr>
            <p:nvPr/>
          </p:nvSpPr>
          <p:spPr bwMode="auto">
            <a:xfrm>
              <a:off x="69342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7" name="Oval 1049"/>
            <p:cNvSpPr>
              <a:spLocks noChangeArrowheads="1"/>
            </p:cNvSpPr>
            <p:nvPr/>
          </p:nvSpPr>
          <p:spPr bwMode="auto">
            <a:xfrm>
              <a:off x="78486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8" name="Text Box 1050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29" name="Text Box 1051"/>
            <p:cNvSpPr txBox="1">
              <a:spLocks noChangeArrowheads="1"/>
            </p:cNvSpPr>
            <p:nvPr/>
          </p:nvSpPr>
          <p:spPr bwMode="auto">
            <a:xfrm>
              <a:off x="60960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30" name="Text Box 1052"/>
            <p:cNvSpPr txBox="1">
              <a:spLocks noChangeArrowheads="1"/>
            </p:cNvSpPr>
            <p:nvPr/>
          </p:nvSpPr>
          <p:spPr bwMode="auto">
            <a:xfrm>
              <a:off x="5181600" y="3200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</a:t>
              </a:r>
            </a:p>
          </p:txBody>
        </p:sp>
        <p:sp>
          <p:nvSpPr>
            <p:cNvPr id="25631" name="Text Box 1053"/>
            <p:cNvSpPr txBox="1">
              <a:spLocks noChangeArrowheads="1"/>
            </p:cNvSpPr>
            <p:nvPr/>
          </p:nvSpPr>
          <p:spPr bwMode="auto">
            <a:xfrm>
              <a:off x="5410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2" name="Text Box 1054"/>
            <p:cNvSpPr txBox="1">
              <a:spLocks noChangeArrowheads="1"/>
            </p:cNvSpPr>
            <p:nvPr/>
          </p:nvSpPr>
          <p:spPr bwMode="auto">
            <a:xfrm>
              <a:off x="6172200" y="32004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3" name="Text Box 1055"/>
            <p:cNvSpPr txBox="1">
              <a:spLocks noChangeArrowheads="1"/>
            </p:cNvSpPr>
            <p:nvPr/>
          </p:nvSpPr>
          <p:spPr bwMode="auto">
            <a:xfrm>
              <a:off x="6096000" y="4038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4" name="Text Box 1056"/>
            <p:cNvSpPr txBox="1">
              <a:spLocks noChangeArrowheads="1"/>
            </p:cNvSpPr>
            <p:nvPr/>
          </p:nvSpPr>
          <p:spPr bwMode="auto">
            <a:xfrm>
              <a:off x="6248400" y="3962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d</a:t>
              </a:r>
            </a:p>
          </p:txBody>
        </p:sp>
        <p:sp>
          <p:nvSpPr>
            <p:cNvPr id="25635" name="Text Box 1057"/>
            <p:cNvSpPr txBox="1">
              <a:spLocks noChangeArrowheads="1"/>
            </p:cNvSpPr>
            <p:nvPr/>
          </p:nvSpPr>
          <p:spPr bwMode="auto">
            <a:xfrm>
              <a:off x="6248400" y="4191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e</a:t>
              </a:r>
            </a:p>
          </p:txBody>
        </p:sp>
        <p:sp>
          <p:nvSpPr>
            <p:cNvPr id="25637" name="Text Box 1059"/>
            <p:cNvSpPr txBox="1">
              <a:spLocks noChangeArrowheads="1"/>
            </p:cNvSpPr>
            <p:nvPr/>
          </p:nvSpPr>
          <p:spPr bwMode="auto">
            <a:xfrm>
              <a:off x="81534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h</a:t>
              </a:r>
            </a:p>
          </p:txBody>
        </p:sp>
        <p:sp>
          <p:nvSpPr>
            <p:cNvPr id="25638" name="Text Box 1060"/>
            <p:cNvSpPr txBox="1">
              <a:spLocks noChangeArrowheads="1"/>
            </p:cNvSpPr>
            <p:nvPr/>
          </p:nvSpPr>
          <p:spPr bwMode="auto">
            <a:xfrm>
              <a:off x="6324600" y="30480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25639" name="Text Box 1061"/>
            <p:cNvSpPr txBox="1">
              <a:spLocks noChangeArrowheads="1"/>
            </p:cNvSpPr>
            <p:nvPr/>
          </p:nvSpPr>
          <p:spPr bwMode="auto">
            <a:xfrm>
              <a:off x="7239000" y="32004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25640" name="Text Box 1062"/>
            <p:cNvSpPr txBox="1">
              <a:spLocks noChangeArrowheads="1"/>
            </p:cNvSpPr>
            <p:nvPr/>
          </p:nvSpPr>
          <p:spPr bwMode="auto">
            <a:xfrm>
              <a:off x="6934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41" name="Text Box 1063"/>
            <p:cNvSpPr txBox="1">
              <a:spLocks noChangeArrowheads="1"/>
            </p:cNvSpPr>
            <p:nvPr/>
          </p:nvSpPr>
          <p:spPr bwMode="auto">
            <a:xfrm>
              <a:off x="7162800" y="28956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g</a:t>
              </a:r>
            </a:p>
          </p:txBody>
        </p:sp>
        <p:sp>
          <p:nvSpPr>
            <p:cNvPr id="25642" name="Text Box 1064"/>
            <p:cNvSpPr txBox="1">
              <a:spLocks noChangeArrowheads="1"/>
            </p:cNvSpPr>
            <p:nvPr/>
          </p:nvSpPr>
          <p:spPr bwMode="auto">
            <a:xfrm>
              <a:off x="79248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g</a:t>
              </a:r>
            </a:p>
          </p:txBody>
        </p:sp>
      </p:grpSp>
      <p:sp>
        <p:nvSpPr>
          <p:cNvPr id="25645" name="Line 1067"/>
          <p:cNvSpPr>
            <a:spLocks noChangeShapeType="1"/>
          </p:cNvSpPr>
          <p:nvPr/>
        </p:nvSpPr>
        <p:spPr bwMode="auto">
          <a:xfrm flipV="1">
            <a:off x="805806" y="2647405"/>
            <a:ext cx="914400" cy="53340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61">
            <a:extLst>
              <a:ext uri="{FF2B5EF4-FFF2-40B4-BE49-F238E27FC236}">
                <a16:creationId xmlns:a16="http://schemas.microsoft.com/office/drawing/2014/main" id="{C292EE6B-1E09-1D34-79C9-55FFBACC50E0}"/>
              </a:ext>
            </a:extLst>
          </p:cNvPr>
          <p:cNvGrpSpPr>
            <a:grpSpLocks/>
          </p:cNvGrpSpPr>
          <p:nvPr/>
        </p:nvGrpSpPr>
        <p:grpSpPr bwMode="auto">
          <a:xfrm>
            <a:off x="6019874" y="1413917"/>
            <a:ext cx="2286000" cy="1676400"/>
            <a:chOff x="4128" y="816"/>
            <a:chExt cx="1440" cy="1056"/>
          </a:xfrm>
        </p:grpSpPr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EB9F2081-FEAA-6F50-4C39-5BF596F14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8">
              <a:extLst>
                <a:ext uri="{FF2B5EF4-FFF2-40B4-BE49-F238E27FC236}">
                  <a16:creationId xmlns:a16="http://schemas.microsoft.com/office/drawing/2014/main" id="{FB1D2E8C-1327-ABD6-6B96-E6E5DB09D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29">
              <a:extLst>
                <a:ext uri="{FF2B5EF4-FFF2-40B4-BE49-F238E27FC236}">
                  <a16:creationId xmlns:a16="http://schemas.microsoft.com/office/drawing/2014/main" id="{1A6166F1-705C-1003-EE68-7C7F9AA330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0">
              <a:extLst>
                <a:ext uri="{FF2B5EF4-FFF2-40B4-BE49-F238E27FC236}">
                  <a16:creationId xmlns:a16="http://schemas.microsoft.com/office/drawing/2014/main" id="{8771BC5B-033C-435D-E149-43D4AADCF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1">
              <a:extLst>
                <a:ext uri="{FF2B5EF4-FFF2-40B4-BE49-F238E27FC236}">
                  <a16:creationId xmlns:a16="http://schemas.microsoft.com/office/drawing/2014/main" id="{F8942137-DCC1-9051-7B7E-649C3A5098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C290511F-6AFF-6BBC-13C7-5B1C67E36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B2536C66-350D-D9A2-B77B-62C3FB31A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4">
              <a:extLst>
                <a:ext uri="{FF2B5EF4-FFF2-40B4-BE49-F238E27FC236}">
                  <a16:creationId xmlns:a16="http://schemas.microsoft.com/office/drawing/2014/main" id="{CA549C00-25ED-507F-D76C-34B3B7179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5">
              <a:extLst>
                <a:ext uri="{FF2B5EF4-FFF2-40B4-BE49-F238E27FC236}">
                  <a16:creationId xmlns:a16="http://schemas.microsoft.com/office/drawing/2014/main" id="{335C02BF-808F-3967-3801-B377C6472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36">
              <a:extLst>
                <a:ext uri="{FF2B5EF4-FFF2-40B4-BE49-F238E27FC236}">
                  <a16:creationId xmlns:a16="http://schemas.microsoft.com/office/drawing/2014/main" id="{4FC0C1F2-57FC-B789-9D6E-0C3E40BDE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" name="Group 37">
              <a:extLst>
                <a:ext uri="{FF2B5EF4-FFF2-40B4-BE49-F238E27FC236}">
                  <a16:creationId xmlns:a16="http://schemas.microsoft.com/office/drawing/2014/main" id="{429CC69B-8E70-6FE5-220B-20ADD4758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8" name="Oval 38">
                <a:extLst>
                  <a:ext uri="{FF2B5EF4-FFF2-40B4-BE49-F238E27FC236}">
                    <a16:creationId xmlns:a16="http://schemas.microsoft.com/office/drawing/2014/main" id="{B1F4AD02-3CBD-009A-B246-AE5A62424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9" name="Text Box 39">
                <a:extLst>
                  <a:ext uri="{FF2B5EF4-FFF2-40B4-BE49-F238E27FC236}">
                    <a16:creationId xmlns:a16="http://schemas.microsoft.com/office/drawing/2014/main" id="{EE0CC984-CA67-D34D-CEB4-6FA37D1207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7" name="Group 40">
              <a:extLst>
                <a:ext uri="{FF2B5EF4-FFF2-40B4-BE49-F238E27FC236}">
                  <a16:creationId xmlns:a16="http://schemas.microsoft.com/office/drawing/2014/main" id="{B817724A-D5F3-FB48-0B40-67F76D2AB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6" name="Oval 41">
                <a:extLst>
                  <a:ext uri="{FF2B5EF4-FFF2-40B4-BE49-F238E27FC236}">
                    <a16:creationId xmlns:a16="http://schemas.microsoft.com/office/drawing/2014/main" id="{AB7FBD7C-1AEE-1B38-EA3F-27F8BA5AA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" name="Text Box 42">
                <a:extLst>
                  <a:ext uri="{FF2B5EF4-FFF2-40B4-BE49-F238E27FC236}">
                    <a16:creationId xmlns:a16="http://schemas.microsoft.com/office/drawing/2014/main" id="{F05A5857-E68D-E93D-274C-5810C1E5D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8" name="Group 43">
              <a:extLst>
                <a:ext uri="{FF2B5EF4-FFF2-40B4-BE49-F238E27FC236}">
                  <a16:creationId xmlns:a16="http://schemas.microsoft.com/office/drawing/2014/main" id="{1D8497DF-9694-0276-0809-910F530B6E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4" name="Oval 44">
                <a:extLst>
                  <a:ext uri="{FF2B5EF4-FFF2-40B4-BE49-F238E27FC236}">
                    <a16:creationId xmlns:a16="http://schemas.microsoft.com/office/drawing/2014/main" id="{2846CABD-0723-A7CA-FDCC-878D1EC5E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" name="Text Box 45">
                <a:extLst>
                  <a:ext uri="{FF2B5EF4-FFF2-40B4-BE49-F238E27FC236}">
                    <a16:creationId xmlns:a16="http://schemas.microsoft.com/office/drawing/2014/main" id="{7C4D7462-2705-7E89-5E5F-815A5D81FD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9" name="Group 46">
              <a:extLst>
                <a:ext uri="{FF2B5EF4-FFF2-40B4-BE49-F238E27FC236}">
                  <a16:creationId xmlns:a16="http://schemas.microsoft.com/office/drawing/2014/main" id="{FF662CAC-DB0D-9BD6-ED8C-4518196024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2" name="Oval 47">
                <a:extLst>
                  <a:ext uri="{FF2B5EF4-FFF2-40B4-BE49-F238E27FC236}">
                    <a16:creationId xmlns:a16="http://schemas.microsoft.com/office/drawing/2014/main" id="{4CB6B1D3-A039-9A71-940D-3FB98BB1D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3" name="Text Box 48">
                <a:extLst>
                  <a:ext uri="{FF2B5EF4-FFF2-40B4-BE49-F238E27FC236}">
                    <a16:creationId xmlns:a16="http://schemas.microsoft.com/office/drawing/2014/main" id="{0DD7FE06-560D-C549-6F7C-BE0181F348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20" name="Group 49">
              <a:extLst>
                <a:ext uri="{FF2B5EF4-FFF2-40B4-BE49-F238E27FC236}">
                  <a16:creationId xmlns:a16="http://schemas.microsoft.com/office/drawing/2014/main" id="{1244B9C6-040A-C27F-36FF-B1861696DC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30" name="Oval 50">
                <a:extLst>
                  <a:ext uri="{FF2B5EF4-FFF2-40B4-BE49-F238E27FC236}">
                    <a16:creationId xmlns:a16="http://schemas.microsoft.com/office/drawing/2014/main" id="{20C71E93-828A-3741-D2F8-9D1122E4A2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1" name="Text Box 51">
                <a:extLst>
                  <a:ext uri="{FF2B5EF4-FFF2-40B4-BE49-F238E27FC236}">
                    <a16:creationId xmlns:a16="http://schemas.microsoft.com/office/drawing/2014/main" id="{BE4A8123-EB01-8392-38A5-643F66AD32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1" name="Group 52">
              <a:extLst>
                <a:ext uri="{FF2B5EF4-FFF2-40B4-BE49-F238E27FC236}">
                  <a16:creationId xmlns:a16="http://schemas.microsoft.com/office/drawing/2014/main" id="{54434138-84AB-8A45-9509-A71575C2D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8" name="Oval 53">
                <a:extLst>
                  <a:ext uri="{FF2B5EF4-FFF2-40B4-BE49-F238E27FC236}">
                    <a16:creationId xmlns:a16="http://schemas.microsoft.com/office/drawing/2014/main" id="{31EC5802-6344-F507-5664-0A6E54D6C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9" name="Text Box 54">
                <a:extLst>
                  <a:ext uri="{FF2B5EF4-FFF2-40B4-BE49-F238E27FC236}">
                    <a16:creationId xmlns:a16="http://schemas.microsoft.com/office/drawing/2014/main" id="{6DD45749-F824-0EB1-9464-B1BD2748CC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2" name="Group 55">
              <a:extLst>
                <a:ext uri="{FF2B5EF4-FFF2-40B4-BE49-F238E27FC236}">
                  <a16:creationId xmlns:a16="http://schemas.microsoft.com/office/drawing/2014/main" id="{877A0818-6381-8400-4D27-F3F9B922DE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6" name="Oval 56">
                <a:extLst>
                  <a:ext uri="{FF2B5EF4-FFF2-40B4-BE49-F238E27FC236}">
                    <a16:creationId xmlns:a16="http://schemas.microsoft.com/office/drawing/2014/main" id="{D39CC473-E8C5-F3A8-D849-4AA6AC3A2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" name="Text Box 57">
                <a:extLst>
                  <a:ext uri="{FF2B5EF4-FFF2-40B4-BE49-F238E27FC236}">
                    <a16:creationId xmlns:a16="http://schemas.microsoft.com/office/drawing/2014/main" id="{DC193C28-A703-5E13-D2AE-317A24B91E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3" name="Group 58">
              <a:extLst>
                <a:ext uri="{FF2B5EF4-FFF2-40B4-BE49-F238E27FC236}">
                  <a16:creationId xmlns:a16="http://schemas.microsoft.com/office/drawing/2014/main" id="{4909BEFB-7274-F453-C2C7-B0E959DDB7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4" name="Oval 59">
                <a:extLst>
                  <a:ext uri="{FF2B5EF4-FFF2-40B4-BE49-F238E27FC236}">
                    <a16:creationId xmlns:a16="http://schemas.microsoft.com/office/drawing/2014/main" id="{FADBE79D-4589-806A-540E-CAC8BBDD2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5" name="Text Box 60">
                <a:extLst>
                  <a:ext uri="{FF2B5EF4-FFF2-40B4-BE49-F238E27FC236}">
                    <a16:creationId xmlns:a16="http://schemas.microsoft.com/office/drawing/2014/main" id="{4E687B8E-3F15-84C3-2FB2-94693881A2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25661" name="Arrow: Down 25660">
            <a:extLst>
              <a:ext uri="{FF2B5EF4-FFF2-40B4-BE49-F238E27FC236}">
                <a16:creationId xmlns:a16="http://schemas.microsoft.com/office/drawing/2014/main" id="{BA37A9CF-8A0E-07F1-366D-4EF9A9F3CCE0}"/>
              </a:ext>
            </a:extLst>
          </p:cNvPr>
          <p:cNvSpPr/>
          <p:nvPr/>
        </p:nvSpPr>
        <p:spPr bwMode="auto">
          <a:xfrm>
            <a:off x="5241999" y="3297832"/>
            <a:ext cx="395288" cy="444548"/>
          </a:xfrm>
          <a:prstGeom prst="downArrow">
            <a:avLst>
              <a:gd name="adj1" fmla="val 53571"/>
              <a:gd name="adj2" fmla="val 36944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45" grpId="0" animBg="1"/>
      <p:bldP spid="2566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039DB-B2E9-6B54-20D5-07CB33C3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02A0C1-E237-1298-A42F-38C5A790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Tree decomposition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7069BD-333F-0693-A26E-782F700CC3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</p:spPr>
            <p:txBody>
              <a:bodyPr/>
              <a:lstStyle/>
              <a:p>
                <a:r>
                  <a:rPr lang="en-US" dirty="0"/>
                  <a:t>A tree decomposition is: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Tree with a vertex set associated to every node, we call this a bag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all edges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there is a bag containing both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nodes that contain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form a connected subtree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7069BD-333F-0693-A26E-782F700CC3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  <a:blipFill>
                <a:blip r:embed="rId2"/>
                <a:stretch>
                  <a:fillRect l="-344" t="-769" r="-223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10" name="Rectangle: Rounded Corners 25609">
            <a:extLst>
              <a:ext uri="{FF2B5EF4-FFF2-40B4-BE49-F238E27FC236}">
                <a16:creationId xmlns:a16="http://schemas.microsoft.com/office/drawing/2014/main" id="{15038AE8-8E0E-E639-1A21-D46542E4336B}"/>
              </a:ext>
            </a:extLst>
          </p:cNvPr>
          <p:cNvSpPr/>
          <p:nvPr/>
        </p:nvSpPr>
        <p:spPr bwMode="auto">
          <a:xfrm>
            <a:off x="6800095" y="3653383"/>
            <a:ext cx="935109" cy="1066799"/>
          </a:xfrm>
          <a:prstGeom prst="roundRect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25605" name="Rectangle 1027">
            <a:extLst>
              <a:ext uri="{FF2B5EF4-FFF2-40B4-BE49-F238E27FC236}">
                <a16:creationId xmlns:a16="http://schemas.microsoft.com/office/drawing/2014/main" id="{F9647847-56A3-4980-9584-C1921B128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2633117"/>
            <a:ext cx="3810000" cy="434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endParaRPr lang="en-US" altLang="en-US" sz="2000" i="0" dirty="0"/>
          </a:p>
        </p:txBody>
      </p:sp>
      <p:grpSp>
        <p:nvGrpSpPr>
          <p:cNvPr id="5" name="Group 61">
            <a:extLst>
              <a:ext uri="{FF2B5EF4-FFF2-40B4-BE49-F238E27FC236}">
                <a16:creationId xmlns:a16="http://schemas.microsoft.com/office/drawing/2014/main" id="{A23CA8D5-721B-6C4B-9F63-21917F8AD063}"/>
              </a:ext>
            </a:extLst>
          </p:cNvPr>
          <p:cNvGrpSpPr>
            <a:grpSpLocks/>
          </p:cNvGrpSpPr>
          <p:nvPr/>
        </p:nvGrpSpPr>
        <p:grpSpPr bwMode="auto">
          <a:xfrm>
            <a:off x="6019874" y="1413917"/>
            <a:ext cx="2286000" cy="1676400"/>
            <a:chOff x="4128" y="816"/>
            <a:chExt cx="1440" cy="1056"/>
          </a:xfrm>
        </p:grpSpPr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FDF411A6-C16C-DACF-ADDE-205C9D20B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8">
              <a:extLst>
                <a:ext uri="{FF2B5EF4-FFF2-40B4-BE49-F238E27FC236}">
                  <a16:creationId xmlns:a16="http://schemas.microsoft.com/office/drawing/2014/main" id="{BAB19D0A-5EE5-7EF2-606A-19C426D7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29">
              <a:extLst>
                <a:ext uri="{FF2B5EF4-FFF2-40B4-BE49-F238E27FC236}">
                  <a16:creationId xmlns:a16="http://schemas.microsoft.com/office/drawing/2014/main" id="{ADA0C13D-9FE5-AFF0-7F9F-C799A2FFAB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0">
              <a:extLst>
                <a:ext uri="{FF2B5EF4-FFF2-40B4-BE49-F238E27FC236}">
                  <a16:creationId xmlns:a16="http://schemas.microsoft.com/office/drawing/2014/main" id="{0B900FA7-7D1A-7C69-FF78-50C7FC0C8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1">
              <a:extLst>
                <a:ext uri="{FF2B5EF4-FFF2-40B4-BE49-F238E27FC236}">
                  <a16:creationId xmlns:a16="http://schemas.microsoft.com/office/drawing/2014/main" id="{B0835AC7-55D7-8BCC-27A4-A4346CB9E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4F8ADFCB-695B-9FEF-248F-B0FA3F2EF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B04BF2F7-224F-15BF-5BA5-76C3AB999D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4">
              <a:extLst>
                <a:ext uri="{FF2B5EF4-FFF2-40B4-BE49-F238E27FC236}">
                  <a16:creationId xmlns:a16="http://schemas.microsoft.com/office/drawing/2014/main" id="{1D530C31-9DB8-9CE6-A6D2-2C2011070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5">
              <a:extLst>
                <a:ext uri="{FF2B5EF4-FFF2-40B4-BE49-F238E27FC236}">
                  <a16:creationId xmlns:a16="http://schemas.microsoft.com/office/drawing/2014/main" id="{66D15D8A-F378-6839-3F1E-AD3388585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36">
              <a:extLst>
                <a:ext uri="{FF2B5EF4-FFF2-40B4-BE49-F238E27FC236}">
                  <a16:creationId xmlns:a16="http://schemas.microsoft.com/office/drawing/2014/main" id="{3652CC5E-5EAE-E509-518F-51E68DFE1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" name="Group 37">
              <a:extLst>
                <a:ext uri="{FF2B5EF4-FFF2-40B4-BE49-F238E27FC236}">
                  <a16:creationId xmlns:a16="http://schemas.microsoft.com/office/drawing/2014/main" id="{76283AE8-9260-CBE6-D310-E73749B9F1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8" name="Oval 38">
                <a:extLst>
                  <a:ext uri="{FF2B5EF4-FFF2-40B4-BE49-F238E27FC236}">
                    <a16:creationId xmlns:a16="http://schemas.microsoft.com/office/drawing/2014/main" id="{0CAE0C91-C957-FC9D-ACFE-15903642A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9" name="Text Box 39">
                <a:extLst>
                  <a:ext uri="{FF2B5EF4-FFF2-40B4-BE49-F238E27FC236}">
                    <a16:creationId xmlns:a16="http://schemas.microsoft.com/office/drawing/2014/main" id="{C2ECACED-797F-3C67-F0B8-75D88083E3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7" name="Group 40">
              <a:extLst>
                <a:ext uri="{FF2B5EF4-FFF2-40B4-BE49-F238E27FC236}">
                  <a16:creationId xmlns:a16="http://schemas.microsoft.com/office/drawing/2014/main" id="{FC5EFEFF-57C5-8A7B-28ED-83E709E5C6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6" name="Oval 41">
                <a:extLst>
                  <a:ext uri="{FF2B5EF4-FFF2-40B4-BE49-F238E27FC236}">
                    <a16:creationId xmlns:a16="http://schemas.microsoft.com/office/drawing/2014/main" id="{F5AD112A-0C49-9207-C0DC-B59E002A43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" name="Text Box 42">
                <a:extLst>
                  <a:ext uri="{FF2B5EF4-FFF2-40B4-BE49-F238E27FC236}">
                    <a16:creationId xmlns:a16="http://schemas.microsoft.com/office/drawing/2014/main" id="{AAD51E93-F2F4-EF03-175B-60132716ED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8" name="Group 43">
              <a:extLst>
                <a:ext uri="{FF2B5EF4-FFF2-40B4-BE49-F238E27FC236}">
                  <a16:creationId xmlns:a16="http://schemas.microsoft.com/office/drawing/2014/main" id="{B6FAA7B7-5F2F-30FF-E658-2E81B10F4F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4" name="Oval 44">
                <a:extLst>
                  <a:ext uri="{FF2B5EF4-FFF2-40B4-BE49-F238E27FC236}">
                    <a16:creationId xmlns:a16="http://schemas.microsoft.com/office/drawing/2014/main" id="{B51D4D5F-E52A-3DA6-658A-C5EDA484E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" name="Text Box 45">
                <a:extLst>
                  <a:ext uri="{FF2B5EF4-FFF2-40B4-BE49-F238E27FC236}">
                    <a16:creationId xmlns:a16="http://schemas.microsoft.com/office/drawing/2014/main" id="{1AFD8E02-1818-6117-6927-7EF1B6D47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9" name="Group 46">
              <a:extLst>
                <a:ext uri="{FF2B5EF4-FFF2-40B4-BE49-F238E27FC236}">
                  <a16:creationId xmlns:a16="http://schemas.microsoft.com/office/drawing/2014/main" id="{91E4BE70-DB01-004E-4CBE-85E458FAA6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2" name="Oval 47">
                <a:extLst>
                  <a:ext uri="{FF2B5EF4-FFF2-40B4-BE49-F238E27FC236}">
                    <a16:creationId xmlns:a16="http://schemas.microsoft.com/office/drawing/2014/main" id="{D1C2E692-7DFD-D27C-B915-BB5235BC7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3" name="Text Box 48">
                <a:extLst>
                  <a:ext uri="{FF2B5EF4-FFF2-40B4-BE49-F238E27FC236}">
                    <a16:creationId xmlns:a16="http://schemas.microsoft.com/office/drawing/2014/main" id="{AC467868-A920-F114-68FB-2F473CCF6B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20" name="Group 49">
              <a:extLst>
                <a:ext uri="{FF2B5EF4-FFF2-40B4-BE49-F238E27FC236}">
                  <a16:creationId xmlns:a16="http://schemas.microsoft.com/office/drawing/2014/main" id="{A3C00852-7AEB-1A54-5D2C-880004B7F3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30" name="Oval 50">
                <a:extLst>
                  <a:ext uri="{FF2B5EF4-FFF2-40B4-BE49-F238E27FC236}">
                    <a16:creationId xmlns:a16="http://schemas.microsoft.com/office/drawing/2014/main" id="{9C39050A-8F00-CF83-8084-0BF2FABEA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1" name="Text Box 51">
                <a:extLst>
                  <a:ext uri="{FF2B5EF4-FFF2-40B4-BE49-F238E27FC236}">
                    <a16:creationId xmlns:a16="http://schemas.microsoft.com/office/drawing/2014/main" id="{E050BDE9-3D30-B814-29B5-E0CBAD333D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1" name="Group 52">
              <a:extLst>
                <a:ext uri="{FF2B5EF4-FFF2-40B4-BE49-F238E27FC236}">
                  <a16:creationId xmlns:a16="http://schemas.microsoft.com/office/drawing/2014/main" id="{09CF83BB-7D5D-1C17-57F2-DC232AB28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8" name="Oval 53">
                <a:extLst>
                  <a:ext uri="{FF2B5EF4-FFF2-40B4-BE49-F238E27FC236}">
                    <a16:creationId xmlns:a16="http://schemas.microsoft.com/office/drawing/2014/main" id="{DF994E83-34A7-B0FB-0CA0-6AEE8B473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9" name="Text Box 54">
                <a:extLst>
                  <a:ext uri="{FF2B5EF4-FFF2-40B4-BE49-F238E27FC236}">
                    <a16:creationId xmlns:a16="http://schemas.microsoft.com/office/drawing/2014/main" id="{E490F1FE-EF6E-AE34-A648-644CBC14B6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2" name="Group 55">
              <a:extLst>
                <a:ext uri="{FF2B5EF4-FFF2-40B4-BE49-F238E27FC236}">
                  <a16:creationId xmlns:a16="http://schemas.microsoft.com/office/drawing/2014/main" id="{53B7AA55-ED4C-A2FC-B8F5-7A139523CB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6" name="Oval 56">
                <a:extLst>
                  <a:ext uri="{FF2B5EF4-FFF2-40B4-BE49-F238E27FC236}">
                    <a16:creationId xmlns:a16="http://schemas.microsoft.com/office/drawing/2014/main" id="{BA061104-7512-1745-FA5B-C30DE4495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" name="Text Box 57">
                <a:extLst>
                  <a:ext uri="{FF2B5EF4-FFF2-40B4-BE49-F238E27FC236}">
                    <a16:creationId xmlns:a16="http://schemas.microsoft.com/office/drawing/2014/main" id="{2E5C192B-39D2-3778-547A-0B28DAE14E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3" name="Group 58">
              <a:extLst>
                <a:ext uri="{FF2B5EF4-FFF2-40B4-BE49-F238E27FC236}">
                  <a16:creationId xmlns:a16="http://schemas.microsoft.com/office/drawing/2014/main" id="{09522B6A-A07C-A9F4-2E77-78E3BB8391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4" name="Oval 59">
                <a:extLst>
                  <a:ext uri="{FF2B5EF4-FFF2-40B4-BE49-F238E27FC236}">
                    <a16:creationId xmlns:a16="http://schemas.microsoft.com/office/drawing/2014/main" id="{912DB5B6-E6A2-FEEC-AA3C-96BDFC58F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5" name="Text Box 60">
                <a:extLst>
                  <a:ext uri="{FF2B5EF4-FFF2-40B4-BE49-F238E27FC236}">
                    <a16:creationId xmlns:a16="http://schemas.microsoft.com/office/drawing/2014/main" id="{892CF91D-9FB6-91AE-46F4-0108F3DB77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86C7EF4-99CD-EFF6-42A5-7F6D88D1C989}"/>
              </a:ext>
            </a:extLst>
          </p:cNvPr>
          <p:cNvGrpSpPr/>
          <p:nvPr/>
        </p:nvGrpSpPr>
        <p:grpSpPr>
          <a:xfrm>
            <a:off x="5089599" y="3767683"/>
            <a:ext cx="3429000" cy="1752600"/>
            <a:chOff x="5105400" y="2895600"/>
            <a:chExt cx="3429000" cy="1752600"/>
          </a:xfrm>
        </p:grpSpPr>
        <p:sp>
          <p:nvSpPr>
            <p:cNvPr id="41" name="Line 1028">
              <a:extLst>
                <a:ext uri="{FF2B5EF4-FFF2-40B4-BE49-F238E27FC236}">
                  <a16:creationId xmlns:a16="http://schemas.microsoft.com/office/drawing/2014/main" id="{E8F8857D-20CB-EC5A-7ED8-F87AA87FF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33528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029">
              <a:extLst>
                <a:ext uri="{FF2B5EF4-FFF2-40B4-BE49-F238E27FC236}">
                  <a16:creationId xmlns:a16="http://schemas.microsoft.com/office/drawing/2014/main" id="{F97D8403-8FC9-F749-EA2A-10039988E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33528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045">
              <a:extLst>
                <a:ext uri="{FF2B5EF4-FFF2-40B4-BE49-F238E27FC236}">
                  <a16:creationId xmlns:a16="http://schemas.microsoft.com/office/drawing/2014/main" id="{1D6DE024-F4E5-41BC-6498-F8452E2B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4" name="Oval 1046">
              <a:extLst>
                <a:ext uri="{FF2B5EF4-FFF2-40B4-BE49-F238E27FC236}">
                  <a16:creationId xmlns:a16="http://schemas.microsoft.com/office/drawing/2014/main" id="{5827EF89-89F4-727B-5661-FAE904FA6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9624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" name="Oval 1047">
              <a:extLst>
                <a:ext uri="{FF2B5EF4-FFF2-40B4-BE49-F238E27FC236}">
                  <a16:creationId xmlns:a16="http://schemas.microsoft.com/office/drawing/2014/main" id="{CE849655-C838-8FA5-DF5E-AAAC0C057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6" name="Oval 1048">
              <a:extLst>
                <a:ext uri="{FF2B5EF4-FFF2-40B4-BE49-F238E27FC236}">
                  <a16:creationId xmlns:a16="http://schemas.microsoft.com/office/drawing/2014/main" id="{E2BF1FED-7D9C-D9FD-69FE-54BA7474A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" name="Oval 1049">
              <a:extLst>
                <a:ext uri="{FF2B5EF4-FFF2-40B4-BE49-F238E27FC236}">
                  <a16:creationId xmlns:a16="http://schemas.microsoft.com/office/drawing/2014/main" id="{B378B719-E160-D537-A7A7-48A5FF99D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8" name="Text Box 1050">
              <a:extLst>
                <a:ext uri="{FF2B5EF4-FFF2-40B4-BE49-F238E27FC236}">
                  <a16:creationId xmlns:a16="http://schemas.microsoft.com/office/drawing/2014/main" id="{E0F79F8C-B2C5-B121-2267-42A22C4D6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49" name="Text Box 1051">
              <a:extLst>
                <a:ext uri="{FF2B5EF4-FFF2-40B4-BE49-F238E27FC236}">
                  <a16:creationId xmlns:a16="http://schemas.microsoft.com/office/drawing/2014/main" id="{89CBAD28-60F2-BEB4-CEEA-403F64B8E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50" name="Text Box 1052">
              <a:extLst>
                <a:ext uri="{FF2B5EF4-FFF2-40B4-BE49-F238E27FC236}">
                  <a16:creationId xmlns:a16="http://schemas.microsoft.com/office/drawing/2014/main" id="{060B2B8A-C254-FD69-7075-32FDD03F1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3200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</a:t>
              </a:r>
            </a:p>
          </p:txBody>
        </p:sp>
        <p:sp>
          <p:nvSpPr>
            <p:cNvPr id="51" name="Text Box 1053">
              <a:extLst>
                <a:ext uri="{FF2B5EF4-FFF2-40B4-BE49-F238E27FC236}">
                  <a16:creationId xmlns:a16="http://schemas.microsoft.com/office/drawing/2014/main" id="{F0E4FCE5-5465-9DCB-7CA5-A5B1AD3B3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52" name="Text Box 1054">
              <a:extLst>
                <a:ext uri="{FF2B5EF4-FFF2-40B4-BE49-F238E27FC236}">
                  <a16:creationId xmlns:a16="http://schemas.microsoft.com/office/drawing/2014/main" id="{5A44E052-B984-5BD4-C8EE-6BD806B83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2004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53" name="Text Box 1055">
              <a:extLst>
                <a:ext uri="{FF2B5EF4-FFF2-40B4-BE49-F238E27FC236}">
                  <a16:creationId xmlns:a16="http://schemas.microsoft.com/office/drawing/2014/main" id="{6DB6D040-18BD-CBF7-C2A0-4CBCFFAA7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038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54" name="Text Box 1056">
              <a:extLst>
                <a:ext uri="{FF2B5EF4-FFF2-40B4-BE49-F238E27FC236}">
                  <a16:creationId xmlns:a16="http://schemas.microsoft.com/office/drawing/2014/main" id="{DCA13495-C804-7D3A-55BB-163B3C185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962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d</a:t>
              </a:r>
            </a:p>
          </p:txBody>
        </p:sp>
        <p:sp>
          <p:nvSpPr>
            <p:cNvPr id="55" name="Text Box 1057">
              <a:extLst>
                <a:ext uri="{FF2B5EF4-FFF2-40B4-BE49-F238E27FC236}">
                  <a16:creationId xmlns:a16="http://schemas.microsoft.com/office/drawing/2014/main" id="{BD4F404B-097D-D967-0DA9-702C83A3E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4191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e</a:t>
              </a:r>
            </a:p>
          </p:txBody>
        </p:sp>
        <p:sp>
          <p:nvSpPr>
            <p:cNvPr id="56" name="Text Box 1059">
              <a:extLst>
                <a:ext uri="{FF2B5EF4-FFF2-40B4-BE49-F238E27FC236}">
                  <a16:creationId xmlns:a16="http://schemas.microsoft.com/office/drawing/2014/main" id="{865737F5-99A3-042D-0ABE-E04FCB339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34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h</a:t>
              </a:r>
            </a:p>
          </p:txBody>
        </p:sp>
        <p:sp>
          <p:nvSpPr>
            <p:cNvPr id="57" name="Text Box 1060">
              <a:extLst>
                <a:ext uri="{FF2B5EF4-FFF2-40B4-BE49-F238E27FC236}">
                  <a16:creationId xmlns:a16="http://schemas.microsoft.com/office/drawing/2014/main" id="{31AB220A-4DF6-3430-F796-96D765933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30480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58" name="Text Box 1061">
              <a:extLst>
                <a:ext uri="{FF2B5EF4-FFF2-40B4-BE49-F238E27FC236}">
                  <a16:creationId xmlns:a16="http://schemas.microsoft.com/office/drawing/2014/main" id="{C125108E-1BFA-987D-C2F7-799A2ACBE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32004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59" name="Text Box 1062">
              <a:extLst>
                <a:ext uri="{FF2B5EF4-FFF2-40B4-BE49-F238E27FC236}">
                  <a16:creationId xmlns:a16="http://schemas.microsoft.com/office/drawing/2014/main" id="{F03FB949-8C0D-48B5-1CEF-BDD2E0E30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60" name="Text Box 1063">
              <a:extLst>
                <a:ext uri="{FF2B5EF4-FFF2-40B4-BE49-F238E27FC236}">
                  <a16:creationId xmlns:a16="http://schemas.microsoft.com/office/drawing/2014/main" id="{232BDB12-D91E-7730-33C4-F189A1F0B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28956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g</a:t>
              </a:r>
            </a:p>
          </p:txBody>
        </p:sp>
        <p:sp>
          <p:nvSpPr>
            <p:cNvPr id="61" name="Text Box 1064">
              <a:extLst>
                <a:ext uri="{FF2B5EF4-FFF2-40B4-BE49-F238E27FC236}">
                  <a16:creationId xmlns:a16="http://schemas.microsoft.com/office/drawing/2014/main" id="{C7413C21-F20A-BB97-E722-E46C2887C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g</a:t>
              </a:r>
            </a:p>
          </p:txBody>
        </p:sp>
      </p:grpSp>
      <p:sp>
        <p:nvSpPr>
          <p:cNvPr id="62" name="Line 1067">
            <a:extLst>
              <a:ext uri="{FF2B5EF4-FFF2-40B4-BE49-F238E27FC236}">
                <a16:creationId xmlns:a16="http://schemas.microsoft.com/office/drawing/2014/main" id="{89A4F3CE-C3BA-B208-C057-6F9AE6A6BB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9288" y="3501008"/>
            <a:ext cx="914400" cy="53340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4" name="Line 28">
            <a:extLst>
              <a:ext uri="{FF2B5EF4-FFF2-40B4-BE49-F238E27FC236}">
                <a16:creationId xmlns:a16="http://schemas.microsoft.com/office/drawing/2014/main" id="{0BF89571-F6D2-7C37-89DF-4B46362165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73" y="1840761"/>
            <a:ext cx="0" cy="33019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608" name="Text Box 1061">
            <a:extLst>
              <a:ext uri="{FF2B5EF4-FFF2-40B4-BE49-F238E27FC236}">
                <a16:creationId xmlns:a16="http://schemas.microsoft.com/office/drawing/2014/main" id="{1089A78D-EF2C-29C1-C354-D77BFEC1E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993" y="407064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en-US" i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25609" name="Text Box 1063">
            <a:extLst>
              <a:ext uri="{FF2B5EF4-FFF2-40B4-BE49-F238E27FC236}">
                <a16:creationId xmlns:a16="http://schemas.microsoft.com/office/drawing/2014/main" id="{9F2F0284-AFB3-42C1-E5A4-58953B9AF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7793" y="376584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en-US" i="0" dirty="0">
                <a:solidFill>
                  <a:srgbClr val="C00000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349544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0" grpId="0" animBg="1"/>
      <p:bldP spid="25604" grpId="0" animBg="1"/>
      <p:bldP spid="25608" grpId="0"/>
      <p:bldP spid="2560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85070-9FD2-0BDF-A197-D226AD66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B14FA3-C4D6-80DE-D276-60784440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Tree decomposition</a:t>
            </a:r>
            <a:endParaRPr lang="LID4096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7C1578-5161-516D-46DA-76F7433F6EA5}"/>
              </a:ext>
            </a:extLst>
          </p:cNvPr>
          <p:cNvSpPr/>
          <p:nvPr/>
        </p:nvSpPr>
        <p:spPr bwMode="auto">
          <a:xfrm>
            <a:off x="4914342" y="3691483"/>
            <a:ext cx="1908807" cy="1969765"/>
          </a:xfrm>
          <a:prstGeom prst="roundRect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315DB0-0923-473F-CF7D-6F85EE272E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</p:spPr>
            <p:txBody>
              <a:bodyPr/>
              <a:lstStyle/>
              <a:p>
                <a:r>
                  <a:rPr lang="en-US" dirty="0"/>
                  <a:t>A tree decomposition is: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Tree with a vertex set associated to every node, we call this a bag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all edges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there is a bag containing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nodes that contain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form a connected subtree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315DB0-0923-473F-CF7D-6F85EE272E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  <a:blipFill>
                <a:blip r:embed="rId2"/>
                <a:stretch>
                  <a:fillRect l="-344" t="-769" r="-223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5" name="Rectangle 1027">
            <a:extLst>
              <a:ext uri="{FF2B5EF4-FFF2-40B4-BE49-F238E27FC236}">
                <a16:creationId xmlns:a16="http://schemas.microsoft.com/office/drawing/2014/main" id="{34F30465-FECA-285D-F4FA-15F8F02BF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2633117"/>
            <a:ext cx="3810000" cy="434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endParaRPr lang="en-US" altLang="en-US" sz="2000" i="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3A351B-0E94-EF16-5FD0-CFE2F72336C2}"/>
              </a:ext>
            </a:extLst>
          </p:cNvPr>
          <p:cNvGrpSpPr/>
          <p:nvPr/>
        </p:nvGrpSpPr>
        <p:grpSpPr>
          <a:xfrm>
            <a:off x="5089599" y="3767683"/>
            <a:ext cx="3429000" cy="1752600"/>
            <a:chOff x="5105400" y="2895600"/>
            <a:chExt cx="3429000" cy="1752600"/>
          </a:xfrm>
        </p:grpSpPr>
        <p:sp>
          <p:nvSpPr>
            <p:cNvPr id="25606" name="Line 1028">
              <a:extLst>
                <a:ext uri="{FF2B5EF4-FFF2-40B4-BE49-F238E27FC236}">
                  <a16:creationId xmlns:a16="http://schemas.microsoft.com/office/drawing/2014/main" id="{DBCEB211-AE63-0BD7-E461-2F7804D3E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33528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Line 1029">
              <a:extLst>
                <a:ext uri="{FF2B5EF4-FFF2-40B4-BE49-F238E27FC236}">
                  <a16:creationId xmlns:a16="http://schemas.microsoft.com/office/drawing/2014/main" id="{62993817-5222-DC23-CA57-EFA445AF8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33528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Oval 1045">
              <a:extLst>
                <a:ext uri="{FF2B5EF4-FFF2-40B4-BE49-F238E27FC236}">
                  <a16:creationId xmlns:a16="http://schemas.microsoft.com/office/drawing/2014/main" id="{A69BDDC9-975E-6F1B-18FB-03651496E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4" name="Oval 1046">
              <a:extLst>
                <a:ext uri="{FF2B5EF4-FFF2-40B4-BE49-F238E27FC236}">
                  <a16:creationId xmlns:a16="http://schemas.microsoft.com/office/drawing/2014/main" id="{17761FA4-028A-B9A6-3EF2-04A316097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9624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5" name="Oval 1047">
              <a:extLst>
                <a:ext uri="{FF2B5EF4-FFF2-40B4-BE49-F238E27FC236}">
                  <a16:creationId xmlns:a16="http://schemas.microsoft.com/office/drawing/2014/main" id="{E318D877-F436-D866-06AD-A9B9A572A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6" name="Oval 1048">
              <a:extLst>
                <a:ext uri="{FF2B5EF4-FFF2-40B4-BE49-F238E27FC236}">
                  <a16:creationId xmlns:a16="http://schemas.microsoft.com/office/drawing/2014/main" id="{DAE2C01F-3B5E-5020-64CA-73BE03579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7" name="Oval 1049">
              <a:extLst>
                <a:ext uri="{FF2B5EF4-FFF2-40B4-BE49-F238E27FC236}">
                  <a16:creationId xmlns:a16="http://schemas.microsoft.com/office/drawing/2014/main" id="{95778A91-645F-A573-C9D5-BAE5C20BA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8" name="Text Box 1050">
              <a:extLst>
                <a:ext uri="{FF2B5EF4-FFF2-40B4-BE49-F238E27FC236}">
                  <a16:creationId xmlns:a16="http://schemas.microsoft.com/office/drawing/2014/main" id="{E0E14194-B653-746C-08F1-0276CAF26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29" name="Text Box 1051">
              <a:extLst>
                <a:ext uri="{FF2B5EF4-FFF2-40B4-BE49-F238E27FC236}">
                  <a16:creationId xmlns:a16="http://schemas.microsoft.com/office/drawing/2014/main" id="{3729BDFA-02FE-5AD3-5013-AF5D7D768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30" name="Text Box 1052">
              <a:extLst>
                <a:ext uri="{FF2B5EF4-FFF2-40B4-BE49-F238E27FC236}">
                  <a16:creationId xmlns:a16="http://schemas.microsoft.com/office/drawing/2014/main" id="{69351845-BEC0-2859-7E65-0CE8683BD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3200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</a:t>
              </a:r>
            </a:p>
          </p:txBody>
        </p:sp>
        <p:sp>
          <p:nvSpPr>
            <p:cNvPr id="25631" name="Text Box 1053">
              <a:extLst>
                <a:ext uri="{FF2B5EF4-FFF2-40B4-BE49-F238E27FC236}">
                  <a16:creationId xmlns:a16="http://schemas.microsoft.com/office/drawing/2014/main" id="{15E30455-16D6-AA2B-38DD-C266E0CC0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2" name="Text Box 1054">
              <a:extLst>
                <a:ext uri="{FF2B5EF4-FFF2-40B4-BE49-F238E27FC236}">
                  <a16:creationId xmlns:a16="http://schemas.microsoft.com/office/drawing/2014/main" id="{D3080BA5-16A8-7E6B-3517-79A1AE645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2004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3" name="Text Box 1055">
              <a:extLst>
                <a:ext uri="{FF2B5EF4-FFF2-40B4-BE49-F238E27FC236}">
                  <a16:creationId xmlns:a16="http://schemas.microsoft.com/office/drawing/2014/main" id="{5A1E104B-FD2A-74DF-5C47-8199808F6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038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4" name="Text Box 1056">
              <a:extLst>
                <a:ext uri="{FF2B5EF4-FFF2-40B4-BE49-F238E27FC236}">
                  <a16:creationId xmlns:a16="http://schemas.microsoft.com/office/drawing/2014/main" id="{C7D5C2D8-2D2C-9BD1-D8BE-BB7A827DD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962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d</a:t>
              </a:r>
            </a:p>
          </p:txBody>
        </p:sp>
        <p:sp>
          <p:nvSpPr>
            <p:cNvPr id="25635" name="Text Box 1057">
              <a:extLst>
                <a:ext uri="{FF2B5EF4-FFF2-40B4-BE49-F238E27FC236}">
                  <a16:creationId xmlns:a16="http://schemas.microsoft.com/office/drawing/2014/main" id="{9E8D1B48-8E68-34E8-3DF7-F706483F9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4191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e</a:t>
              </a:r>
            </a:p>
          </p:txBody>
        </p:sp>
        <p:sp>
          <p:nvSpPr>
            <p:cNvPr id="25637" name="Text Box 1059">
              <a:extLst>
                <a:ext uri="{FF2B5EF4-FFF2-40B4-BE49-F238E27FC236}">
                  <a16:creationId xmlns:a16="http://schemas.microsoft.com/office/drawing/2014/main" id="{E941AF00-CF99-7991-7BB0-91A65B9B5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34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h</a:t>
              </a:r>
            </a:p>
          </p:txBody>
        </p:sp>
        <p:sp>
          <p:nvSpPr>
            <p:cNvPr id="25638" name="Text Box 1060">
              <a:extLst>
                <a:ext uri="{FF2B5EF4-FFF2-40B4-BE49-F238E27FC236}">
                  <a16:creationId xmlns:a16="http://schemas.microsoft.com/office/drawing/2014/main" id="{A2BEE45E-2972-23A1-CECF-C36A14C12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30480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25639" name="Text Box 1061">
              <a:extLst>
                <a:ext uri="{FF2B5EF4-FFF2-40B4-BE49-F238E27FC236}">
                  <a16:creationId xmlns:a16="http://schemas.microsoft.com/office/drawing/2014/main" id="{514282EB-01FC-6454-BC51-66CC2A929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32004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f</a:t>
              </a:r>
            </a:p>
          </p:txBody>
        </p:sp>
        <p:sp>
          <p:nvSpPr>
            <p:cNvPr id="25640" name="Text Box 1062">
              <a:extLst>
                <a:ext uri="{FF2B5EF4-FFF2-40B4-BE49-F238E27FC236}">
                  <a16:creationId xmlns:a16="http://schemas.microsoft.com/office/drawing/2014/main" id="{62DA3C8C-45C2-4AAC-5C0F-7649C1A89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41" name="Text Box 1063">
              <a:extLst>
                <a:ext uri="{FF2B5EF4-FFF2-40B4-BE49-F238E27FC236}">
                  <a16:creationId xmlns:a16="http://schemas.microsoft.com/office/drawing/2014/main" id="{686BF589-6420-0109-FBFA-8535C2814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28956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g</a:t>
              </a:r>
            </a:p>
          </p:txBody>
        </p:sp>
        <p:sp>
          <p:nvSpPr>
            <p:cNvPr id="25642" name="Text Box 1064">
              <a:extLst>
                <a:ext uri="{FF2B5EF4-FFF2-40B4-BE49-F238E27FC236}">
                  <a16:creationId xmlns:a16="http://schemas.microsoft.com/office/drawing/2014/main" id="{4CAC5A73-9FAD-AB78-62A8-5B4F3BC39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g</a:t>
              </a:r>
            </a:p>
          </p:txBody>
        </p:sp>
      </p:grpSp>
      <p:sp>
        <p:nvSpPr>
          <p:cNvPr id="25645" name="Line 1067">
            <a:extLst>
              <a:ext uri="{FF2B5EF4-FFF2-40B4-BE49-F238E27FC236}">
                <a16:creationId xmlns:a16="http://schemas.microsoft.com/office/drawing/2014/main" id="{BD3BF4E4-7FE5-A3D8-D64D-437834E9DC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5806" y="4335760"/>
            <a:ext cx="914400" cy="53340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61">
            <a:extLst>
              <a:ext uri="{FF2B5EF4-FFF2-40B4-BE49-F238E27FC236}">
                <a16:creationId xmlns:a16="http://schemas.microsoft.com/office/drawing/2014/main" id="{E9B9CCE6-6746-04E2-3BD0-659FCD641BB6}"/>
              </a:ext>
            </a:extLst>
          </p:cNvPr>
          <p:cNvGrpSpPr>
            <a:grpSpLocks/>
          </p:cNvGrpSpPr>
          <p:nvPr/>
        </p:nvGrpSpPr>
        <p:grpSpPr bwMode="auto">
          <a:xfrm>
            <a:off x="6019874" y="1413917"/>
            <a:ext cx="2286000" cy="1676400"/>
            <a:chOff x="4128" y="816"/>
            <a:chExt cx="1440" cy="1056"/>
          </a:xfrm>
        </p:grpSpPr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0244E6C6-DBCF-9117-5FBC-317D81B0A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8">
              <a:extLst>
                <a:ext uri="{FF2B5EF4-FFF2-40B4-BE49-F238E27FC236}">
                  <a16:creationId xmlns:a16="http://schemas.microsoft.com/office/drawing/2014/main" id="{105302A8-C539-656A-7016-2212FEEA9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29">
              <a:extLst>
                <a:ext uri="{FF2B5EF4-FFF2-40B4-BE49-F238E27FC236}">
                  <a16:creationId xmlns:a16="http://schemas.microsoft.com/office/drawing/2014/main" id="{55B95D30-EED6-4E6F-E2D2-6915ABEFBB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0">
              <a:extLst>
                <a:ext uri="{FF2B5EF4-FFF2-40B4-BE49-F238E27FC236}">
                  <a16:creationId xmlns:a16="http://schemas.microsoft.com/office/drawing/2014/main" id="{FA9A5867-83B1-CC89-6CAE-E61AF8670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1">
              <a:extLst>
                <a:ext uri="{FF2B5EF4-FFF2-40B4-BE49-F238E27FC236}">
                  <a16:creationId xmlns:a16="http://schemas.microsoft.com/office/drawing/2014/main" id="{2368FEE5-CA19-70BA-C8D5-E6E69CEF05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664CAE13-4C66-CBB6-DE69-93DA76577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F2D94423-2ABE-B195-469C-37E5678C55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4">
              <a:extLst>
                <a:ext uri="{FF2B5EF4-FFF2-40B4-BE49-F238E27FC236}">
                  <a16:creationId xmlns:a16="http://schemas.microsoft.com/office/drawing/2014/main" id="{EEDCF482-0902-1CE0-0B89-637D282E1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5">
              <a:extLst>
                <a:ext uri="{FF2B5EF4-FFF2-40B4-BE49-F238E27FC236}">
                  <a16:creationId xmlns:a16="http://schemas.microsoft.com/office/drawing/2014/main" id="{6EEB4943-D120-AD5F-F53F-AD49AB220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36">
              <a:extLst>
                <a:ext uri="{FF2B5EF4-FFF2-40B4-BE49-F238E27FC236}">
                  <a16:creationId xmlns:a16="http://schemas.microsoft.com/office/drawing/2014/main" id="{F995D9CA-FE35-840E-6FF1-F14B1B995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" name="Group 37">
              <a:extLst>
                <a:ext uri="{FF2B5EF4-FFF2-40B4-BE49-F238E27FC236}">
                  <a16:creationId xmlns:a16="http://schemas.microsoft.com/office/drawing/2014/main" id="{10A1BCFA-D8CA-7AD1-3297-92109360E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8" name="Oval 38">
                <a:extLst>
                  <a:ext uri="{FF2B5EF4-FFF2-40B4-BE49-F238E27FC236}">
                    <a16:creationId xmlns:a16="http://schemas.microsoft.com/office/drawing/2014/main" id="{752D5B09-F978-2F6F-571D-9E4E1F119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9" name="Text Box 39">
                <a:extLst>
                  <a:ext uri="{FF2B5EF4-FFF2-40B4-BE49-F238E27FC236}">
                    <a16:creationId xmlns:a16="http://schemas.microsoft.com/office/drawing/2014/main" id="{0493D1FC-1400-E095-2837-FE872BE120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7" name="Group 40">
              <a:extLst>
                <a:ext uri="{FF2B5EF4-FFF2-40B4-BE49-F238E27FC236}">
                  <a16:creationId xmlns:a16="http://schemas.microsoft.com/office/drawing/2014/main" id="{2A2BD35F-C5E1-E8CD-9BA6-4E660FD9A9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6" name="Oval 41">
                <a:extLst>
                  <a:ext uri="{FF2B5EF4-FFF2-40B4-BE49-F238E27FC236}">
                    <a16:creationId xmlns:a16="http://schemas.microsoft.com/office/drawing/2014/main" id="{BE5F2E21-9492-C783-AB90-C6DCC2337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" name="Text Box 42">
                <a:extLst>
                  <a:ext uri="{FF2B5EF4-FFF2-40B4-BE49-F238E27FC236}">
                    <a16:creationId xmlns:a16="http://schemas.microsoft.com/office/drawing/2014/main" id="{859FC334-89A7-D152-248F-49CA9231D0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8" name="Group 43">
              <a:extLst>
                <a:ext uri="{FF2B5EF4-FFF2-40B4-BE49-F238E27FC236}">
                  <a16:creationId xmlns:a16="http://schemas.microsoft.com/office/drawing/2014/main" id="{5D149D96-C696-3E9B-E98E-9CDCE3A0A3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4" name="Oval 44">
                <a:extLst>
                  <a:ext uri="{FF2B5EF4-FFF2-40B4-BE49-F238E27FC236}">
                    <a16:creationId xmlns:a16="http://schemas.microsoft.com/office/drawing/2014/main" id="{A1BEF6C3-0DED-5493-8F37-877596052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" name="Text Box 45">
                <a:extLst>
                  <a:ext uri="{FF2B5EF4-FFF2-40B4-BE49-F238E27FC236}">
                    <a16:creationId xmlns:a16="http://schemas.microsoft.com/office/drawing/2014/main" id="{6C339CA7-D5A8-B7BF-2352-B1B2D1F65B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9" name="Group 46">
              <a:extLst>
                <a:ext uri="{FF2B5EF4-FFF2-40B4-BE49-F238E27FC236}">
                  <a16:creationId xmlns:a16="http://schemas.microsoft.com/office/drawing/2014/main" id="{A13669B8-FBB5-E9C6-EBAA-367331711B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2" name="Oval 47">
                <a:extLst>
                  <a:ext uri="{FF2B5EF4-FFF2-40B4-BE49-F238E27FC236}">
                    <a16:creationId xmlns:a16="http://schemas.microsoft.com/office/drawing/2014/main" id="{C03EE524-1CE6-B996-7BE9-ECEF84222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3" name="Text Box 48">
                <a:extLst>
                  <a:ext uri="{FF2B5EF4-FFF2-40B4-BE49-F238E27FC236}">
                    <a16:creationId xmlns:a16="http://schemas.microsoft.com/office/drawing/2014/main" id="{F5CBE83B-7432-A9E2-C220-6DC7967A0F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20" name="Group 49">
              <a:extLst>
                <a:ext uri="{FF2B5EF4-FFF2-40B4-BE49-F238E27FC236}">
                  <a16:creationId xmlns:a16="http://schemas.microsoft.com/office/drawing/2014/main" id="{EEB028E5-BF72-B9EF-1B35-910F5E3DEB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30" name="Oval 50">
                <a:extLst>
                  <a:ext uri="{FF2B5EF4-FFF2-40B4-BE49-F238E27FC236}">
                    <a16:creationId xmlns:a16="http://schemas.microsoft.com/office/drawing/2014/main" id="{A15C2695-9750-1DA7-4448-B8C6A3C16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1" name="Text Box 51">
                <a:extLst>
                  <a:ext uri="{FF2B5EF4-FFF2-40B4-BE49-F238E27FC236}">
                    <a16:creationId xmlns:a16="http://schemas.microsoft.com/office/drawing/2014/main" id="{8624F0F9-A04D-FF74-74E5-1361DE9A4B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1" name="Group 52">
              <a:extLst>
                <a:ext uri="{FF2B5EF4-FFF2-40B4-BE49-F238E27FC236}">
                  <a16:creationId xmlns:a16="http://schemas.microsoft.com/office/drawing/2014/main" id="{4C657574-B6BE-D79C-A13C-15DF176DEC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8" name="Oval 53">
                <a:extLst>
                  <a:ext uri="{FF2B5EF4-FFF2-40B4-BE49-F238E27FC236}">
                    <a16:creationId xmlns:a16="http://schemas.microsoft.com/office/drawing/2014/main" id="{4C6BCB04-E98D-64C3-FCA6-A0B25DB1A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9" name="Text Box 54">
                <a:extLst>
                  <a:ext uri="{FF2B5EF4-FFF2-40B4-BE49-F238E27FC236}">
                    <a16:creationId xmlns:a16="http://schemas.microsoft.com/office/drawing/2014/main" id="{E97593C3-12BB-C08D-026A-C604EF404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2" name="Group 55">
              <a:extLst>
                <a:ext uri="{FF2B5EF4-FFF2-40B4-BE49-F238E27FC236}">
                  <a16:creationId xmlns:a16="http://schemas.microsoft.com/office/drawing/2014/main" id="{BCCADD4C-C0B9-4F4D-1F09-B1C44D5E8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6" name="Oval 56">
                <a:extLst>
                  <a:ext uri="{FF2B5EF4-FFF2-40B4-BE49-F238E27FC236}">
                    <a16:creationId xmlns:a16="http://schemas.microsoft.com/office/drawing/2014/main" id="{01BF9934-A02D-3E69-D7AC-AA625CE14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" name="Text Box 57">
                <a:extLst>
                  <a:ext uri="{FF2B5EF4-FFF2-40B4-BE49-F238E27FC236}">
                    <a16:creationId xmlns:a16="http://schemas.microsoft.com/office/drawing/2014/main" id="{1E28C0A9-F905-9235-94A0-B82DCCF636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3" name="Group 58">
              <a:extLst>
                <a:ext uri="{FF2B5EF4-FFF2-40B4-BE49-F238E27FC236}">
                  <a16:creationId xmlns:a16="http://schemas.microsoft.com/office/drawing/2014/main" id="{D89DAE44-8F5E-21D1-5CF1-95F3DB858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4" name="Oval 59">
                <a:extLst>
                  <a:ext uri="{FF2B5EF4-FFF2-40B4-BE49-F238E27FC236}">
                    <a16:creationId xmlns:a16="http://schemas.microsoft.com/office/drawing/2014/main" id="{D9E57A7F-9DB0-9999-E450-A1C3B413F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5" name="Text Box 60">
                <a:extLst>
                  <a:ext uri="{FF2B5EF4-FFF2-40B4-BE49-F238E27FC236}">
                    <a16:creationId xmlns:a16="http://schemas.microsoft.com/office/drawing/2014/main" id="{6B50A6A7-C6F1-AEBC-CE44-45F7EB9858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25656" name="Text Box 42">
            <a:extLst>
              <a:ext uri="{FF2B5EF4-FFF2-40B4-BE49-F238E27FC236}">
                <a16:creationId xmlns:a16="http://schemas.microsoft.com/office/drawing/2014/main" id="{61BE964A-C17D-B63E-0C46-45013D70C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74" y="2063450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25657" name="Text Box 42">
            <a:extLst>
              <a:ext uri="{FF2B5EF4-FFF2-40B4-BE49-F238E27FC236}">
                <a16:creationId xmlns:a16="http://schemas.microsoft.com/office/drawing/2014/main" id="{FD42CFCC-699F-975F-AC5C-0A9DF107A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476" y="3919726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25658" name="Text Box 42">
            <a:extLst>
              <a:ext uri="{FF2B5EF4-FFF2-40B4-BE49-F238E27FC236}">
                <a16:creationId xmlns:a16="http://schemas.microsoft.com/office/drawing/2014/main" id="{0F9F0916-59F8-68E8-220C-3A0468FFE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9303" y="4908873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25659" name="Text Box 42">
            <a:extLst>
              <a:ext uri="{FF2B5EF4-FFF2-40B4-BE49-F238E27FC236}">
                <a16:creationId xmlns:a16="http://schemas.microsoft.com/office/drawing/2014/main" id="{5743833E-85CD-68BA-E354-E21107CF9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402" y="4071216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68636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5656" grpId="0"/>
      <p:bldP spid="25657" grpId="0"/>
      <p:bldP spid="25658" grpId="0"/>
      <p:bldP spid="256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AF03-C06A-8AA8-AE24-336D286B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Treewidth: the width of a tree decomposition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242C23-5D1A-8779-32AF-857B6208F8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1828800"/>
                <a:ext cx="3416226" cy="3962400"/>
              </a:xfrm>
            </p:spPr>
            <p:txBody>
              <a:bodyPr/>
              <a:lstStyle/>
              <a:p>
                <a:r>
                  <a:rPr lang="en-US" dirty="0"/>
                  <a:t>Width of tree decomposition: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LID4096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LID4096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LID4096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LID4096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LID4096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fName>
                      <m:e>
                        <m:r>
                          <a:rPr lang="LID4096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sSub>
                      <m:sSubPr>
                        <m:ctrlPr>
                          <a:rPr lang="LID4096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LID4096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ID4096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bag associated to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of tree decomposition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Treewidth of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: minimum width over all tree decompositions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minus one in the definition makes sure that trees have treewidth one</a:t>
                </a:r>
              </a:p>
              <a:p>
                <a:pPr lvl="1"/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242C23-5D1A-8779-32AF-857B6208F8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1828800"/>
                <a:ext cx="3416226" cy="3962400"/>
              </a:xfrm>
              <a:blipFill>
                <a:blip r:embed="rId2"/>
                <a:stretch>
                  <a:fillRect l="-357" t="-769" b="-8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86D5431-1C42-C3A8-6B04-0FD2BE8D95B8}"/>
              </a:ext>
            </a:extLst>
          </p:cNvPr>
          <p:cNvGrpSpPr/>
          <p:nvPr/>
        </p:nvGrpSpPr>
        <p:grpSpPr>
          <a:xfrm>
            <a:off x="5365675" y="1916832"/>
            <a:ext cx="3429000" cy="1752600"/>
            <a:chOff x="5105400" y="2895600"/>
            <a:chExt cx="3429000" cy="1752600"/>
          </a:xfrm>
        </p:grpSpPr>
        <p:sp>
          <p:nvSpPr>
            <p:cNvPr id="5" name="Line 1028">
              <a:extLst>
                <a:ext uri="{FF2B5EF4-FFF2-40B4-BE49-F238E27FC236}">
                  <a16:creationId xmlns:a16="http://schemas.microsoft.com/office/drawing/2014/main" id="{4540E7F5-B457-4836-225B-7588FE19A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33528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1029">
              <a:extLst>
                <a:ext uri="{FF2B5EF4-FFF2-40B4-BE49-F238E27FC236}">
                  <a16:creationId xmlns:a16="http://schemas.microsoft.com/office/drawing/2014/main" id="{59E4DA02-EEB3-1AEE-B737-ACC1962F8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33528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Oval 1045">
              <a:extLst>
                <a:ext uri="{FF2B5EF4-FFF2-40B4-BE49-F238E27FC236}">
                  <a16:creationId xmlns:a16="http://schemas.microsoft.com/office/drawing/2014/main" id="{A15D9059-E6D5-5C54-D20B-CFC261BA0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1046">
              <a:extLst>
                <a:ext uri="{FF2B5EF4-FFF2-40B4-BE49-F238E27FC236}">
                  <a16:creationId xmlns:a16="http://schemas.microsoft.com/office/drawing/2014/main" id="{4830BB3C-E328-B4FC-8D06-0DB2A182C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9624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1047">
              <a:extLst>
                <a:ext uri="{FF2B5EF4-FFF2-40B4-BE49-F238E27FC236}">
                  <a16:creationId xmlns:a16="http://schemas.microsoft.com/office/drawing/2014/main" id="{3C7E057D-B59F-DB7D-DBA0-403464E50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Oval 1048">
              <a:extLst>
                <a:ext uri="{FF2B5EF4-FFF2-40B4-BE49-F238E27FC236}">
                  <a16:creationId xmlns:a16="http://schemas.microsoft.com/office/drawing/2014/main" id="{CD586AB2-AC8A-2128-728A-8BF2A3E2E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1049">
              <a:extLst>
                <a:ext uri="{FF2B5EF4-FFF2-40B4-BE49-F238E27FC236}">
                  <a16:creationId xmlns:a16="http://schemas.microsoft.com/office/drawing/2014/main" id="{3A3D8134-1532-E43D-F6A9-9214805A0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Text Box 1050">
              <a:extLst>
                <a:ext uri="{FF2B5EF4-FFF2-40B4-BE49-F238E27FC236}">
                  <a16:creationId xmlns:a16="http://schemas.microsoft.com/office/drawing/2014/main" id="{0F5D9E55-9E9B-624B-AF32-85FB151C3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13" name="Text Box 1051">
              <a:extLst>
                <a:ext uri="{FF2B5EF4-FFF2-40B4-BE49-F238E27FC236}">
                  <a16:creationId xmlns:a16="http://schemas.microsoft.com/office/drawing/2014/main" id="{70DB428D-C81B-5945-9EF5-D11826E9A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14" name="Text Box 1052">
              <a:extLst>
                <a:ext uri="{FF2B5EF4-FFF2-40B4-BE49-F238E27FC236}">
                  <a16:creationId xmlns:a16="http://schemas.microsoft.com/office/drawing/2014/main" id="{CEFEB4CC-09E5-AF0C-AE4B-982FE7F68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3200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</a:t>
              </a:r>
            </a:p>
          </p:txBody>
        </p:sp>
        <p:sp>
          <p:nvSpPr>
            <p:cNvPr id="15" name="Text Box 1053">
              <a:extLst>
                <a:ext uri="{FF2B5EF4-FFF2-40B4-BE49-F238E27FC236}">
                  <a16:creationId xmlns:a16="http://schemas.microsoft.com/office/drawing/2014/main" id="{810E539F-AFC9-3438-9B2B-A8AA9A016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16" name="Text Box 1054">
              <a:extLst>
                <a:ext uri="{FF2B5EF4-FFF2-40B4-BE49-F238E27FC236}">
                  <a16:creationId xmlns:a16="http://schemas.microsoft.com/office/drawing/2014/main" id="{C795DEAC-8354-2A95-9400-4DED340D6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2004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17" name="Text Box 1055">
              <a:extLst>
                <a:ext uri="{FF2B5EF4-FFF2-40B4-BE49-F238E27FC236}">
                  <a16:creationId xmlns:a16="http://schemas.microsoft.com/office/drawing/2014/main" id="{6CE8E918-9B72-232F-E9D4-C5756D9F2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038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18" name="Text Box 1056">
              <a:extLst>
                <a:ext uri="{FF2B5EF4-FFF2-40B4-BE49-F238E27FC236}">
                  <a16:creationId xmlns:a16="http://schemas.microsoft.com/office/drawing/2014/main" id="{32282B3E-9E3A-E21E-0F25-6E04BCF23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962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d</a:t>
              </a:r>
            </a:p>
          </p:txBody>
        </p:sp>
        <p:sp>
          <p:nvSpPr>
            <p:cNvPr id="19" name="Text Box 1057">
              <a:extLst>
                <a:ext uri="{FF2B5EF4-FFF2-40B4-BE49-F238E27FC236}">
                  <a16:creationId xmlns:a16="http://schemas.microsoft.com/office/drawing/2014/main" id="{0766AD0C-43AF-BA21-5F6D-269974703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4191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e</a:t>
              </a:r>
            </a:p>
          </p:txBody>
        </p:sp>
        <p:sp>
          <p:nvSpPr>
            <p:cNvPr id="20" name="Text Box 1059">
              <a:extLst>
                <a:ext uri="{FF2B5EF4-FFF2-40B4-BE49-F238E27FC236}">
                  <a16:creationId xmlns:a16="http://schemas.microsoft.com/office/drawing/2014/main" id="{8FC71956-0B7B-AE3F-181C-2E2C4A956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34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h</a:t>
              </a:r>
            </a:p>
          </p:txBody>
        </p:sp>
        <p:sp>
          <p:nvSpPr>
            <p:cNvPr id="21" name="Text Box 1060">
              <a:extLst>
                <a:ext uri="{FF2B5EF4-FFF2-40B4-BE49-F238E27FC236}">
                  <a16:creationId xmlns:a16="http://schemas.microsoft.com/office/drawing/2014/main" id="{E8608F8F-1291-BFC7-A513-8161DFC8E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30480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22" name="Text Box 1061">
              <a:extLst>
                <a:ext uri="{FF2B5EF4-FFF2-40B4-BE49-F238E27FC236}">
                  <a16:creationId xmlns:a16="http://schemas.microsoft.com/office/drawing/2014/main" id="{C2609E0B-A169-5C7B-B4DA-6FACE0C39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32004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23" name="Text Box 1062">
              <a:extLst>
                <a:ext uri="{FF2B5EF4-FFF2-40B4-BE49-F238E27FC236}">
                  <a16:creationId xmlns:a16="http://schemas.microsoft.com/office/drawing/2014/main" id="{6726C02A-4472-43B4-7A9C-2948F0887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4" name="Text Box 1063">
              <a:extLst>
                <a:ext uri="{FF2B5EF4-FFF2-40B4-BE49-F238E27FC236}">
                  <a16:creationId xmlns:a16="http://schemas.microsoft.com/office/drawing/2014/main" id="{EDF8D17F-51A0-DED8-54FD-73AFDB4BF9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28956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g</a:t>
              </a:r>
            </a:p>
          </p:txBody>
        </p:sp>
        <p:sp>
          <p:nvSpPr>
            <p:cNvPr id="25" name="Text Box 1064">
              <a:extLst>
                <a:ext uri="{FF2B5EF4-FFF2-40B4-BE49-F238E27FC236}">
                  <a16:creationId xmlns:a16="http://schemas.microsoft.com/office/drawing/2014/main" id="{8B53CBB2-B77B-DA37-0ED9-5CED1B0E0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g</a:t>
              </a:r>
            </a:p>
          </p:txBody>
        </p:sp>
      </p:grpSp>
      <p:grpSp>
        <p:nvGrpSpPr>
          <p:cNvPr id="26" name="Group 61">
            <a:extLst>
              <a:ext uri="{FF2B5EF4-FFF2-40B4-BE49-F238E27FC236}">
                <a16:creationId xmlns:a16="http://schemas.microsoft.com/office/drawing/2014/main" id="{3DDA7C17-B957-1F26-9E9B-BD40C6FAF521}"/>
              </a:ext>
            </a:extLst>
          </p:cNvPr>
          <p:cNvGrpSpPr>
            <a:grpSpLocks/>
          </p:cNvGrpSpPr>
          <p:nvPr/>
        </p:nvGrpSpPr>
        <p:grpSpPr bwMode="auto">
          <a:xfrm>
            <a:off x="6719669" y="3521460"/>
            <a:ext cx="2286000" cy="1676400"/>
            <a:chOff x="4128" y="816"/>
            <a:chExt cx="1440" cy="1056"/>
          </a:xfrm>
        </p:grpSpPr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EDCEB143-E83F-3BD0-72BA-FA65E223D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4124CA79-B5E4-628F-01FD-6B6DE07B9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CBE115F7-9028-6833-85EF-6FE6EC4005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436FFA3D-047F-7284-8614-B874805B9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48496B1B-810E-A457-526A-6CE25D025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B1E0A2E7-BB47-C03F-998C-254A4E4D2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39188D43-0F32-4D5A-1D60-E55F838E33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4B7A141A-7BBF-40FC-43EF-DDFC4C5EB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BE8DBAA8-3BDE-327E-F85F-50931BBA5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1E80E8C5-4A4F-E27C-E6A4-32EFE5FC1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0DCB35FD-0C26-1000-7454-16195CB0B1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59" name="Oval 38">
                <a:extLst>
                  <a:ext uri="{FF2B5EF4-FFF2-40B4-BE49-F238E27FC236}">
                    <a16:creationId xmlns:a16="http://schemas.microsoft.com/office/drawing/2014/main" id="{DCEC73FB-D476-8FEE-CC4F-5D988EB61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" name="Text Box 39">
                <a:extLst>
                  <a:ext uri="{FF2B5EF4-FFF2-40B4-BE49-F238E27FC236}">
                    <a16:creationId xmlns:a16="http://schemas.microsoft.com/office/drawing/2014/main" id="{8BBD0748-D230-3218-BEBF-5CE5F550B5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38" name="Group 40">
              <a:extLst>
                <a:ext uri="{FF2B5EF4-FFF2-40B4-BE49-F238E27FC236}">
                  <a16:creationId xmlns:a16="http://schemas.microsoft.com/office/drawing/2014/main" id="{530590E9-77FC-7AE2-7830-53D2A2990C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57" name="Oval 41">
                <a:extLst>
                  <a:ext uri="{FF2B5EF4-FFF2-40B4-BE49-F238E27FC236}">
                    <a16:creationId xmlns:a16="http://schemas.microsoft.com/office/drawing/2014/main" id="{7E45EEFB-4965-F17E-9D69-C4710096C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8" name="Text Box 42">
                <a:extLst>
                  <a:ext uri="{FF2B5EF4-FFF2-40B4-BE49-F238E27FC236}">
                    <a16:creationId xmlns:a16="http://schemas.microsoft.com/office/drawing/2014/main" id="{95F76529-2291-BF81-7DA5-4BDC9FF1C0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39" name="Group 43">
              <a:extLst>
                <a:ext uri="{FF2B5EF4-FFF2-40B4-BE49-F238E27FC236}">
                  <a16:creationId xmlns:a16="http://schemas.microsoft.com/office/drawing/2014/main" id="{35A3B134-B493-7876-C0E6-A5E8B50513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55" name="Oval 44">
                <a:extLst>
                  <a:ext uri="{FF2B5EF4-FFF2-40B4-BE49-F238E27FC236}">
                    <a16:creationId xmlns:a16="http://schemas.microsoft.com/office/drawing/2014/main" id="{D966BC98-B1E2-6F50-7AE1-67149648B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6" name="Text Box 45">
                <a:extLst>
                  <a:ext uri="{FF2B5EF4-FFF2-40B4-BE49-F238E27FC236}">
                    <a16:creationId xmlns:a16="http://schemas.microsoft.com/office/drawing/2014/main" id="{FD0E81BF-FFAD-CE58-5408-ED71420719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40" name="Group 46">
              <a:extLst>
                <a:ext uri="{FF2B5EF4-FFF2-40B4-BE49-F238E27FC236}">
                  <a16:creationId xmlns:a16="http://schemas.microsoft.com/office/drawing/2014/main" id="{4A65E5C7-7EDB-32C3-1DFA-510056213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53" name="Oval 47">
                <a:extLst>
                  <a:ext uri="{FF2B5EF4-FFF2-40B4-BE49-F238E27FC236}">
                    <a16:creationId xmlns:a16="http://schemas.microsoft.com/office/drawing/2014/main" id="{801EC0EB-7397-933D-2459-9D06A7D6B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4" name="Text Box 48">
                <a:extLst>
                  <a:ext uri="{FF2B5EF4-FFF2-40B4-BE49-F238E27FC236}">
                    <a16:creationId xmlns:a16="http://schemas.microsoft.com/office/drawing/2014/main" id="{60857A3B-BAF1-B64B-71E6-86752C8A4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41" name="Group 49">
              <a:extLst>
                <a:ext uri="{FF2B5EF4-FFF2-40B4-BE49-F238E27FC236}">
                  <a16:creationId xmlns:a16="http://schemas.microsoft.com/office/drawing/2014/main" id="{3C13E462-6880-B334-C3B5-05BAADE542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0F5145D-FBA0-437C-8FE2-820358460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2" name="Text Box 51">
                <a:extLst>
                  <a:ext uri="{FF2B5EF4-FFF2-40B4-BE49-F238E27FC236}">
                    <a16:creationId xmlns:a16="http://schemas.microsoft.com/office/drawing/2014/main" id="{0B5ECE23-0C6D-5915-83B0-BF9603641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42" name="Group 52">
              <a:extLst>
                <a:ext uri="{FF2B5EF4-FFF2-40B4-BE49-F238E27FC236}">
                  <a16:creationId xmlns:a16="http://schemas.microsoft.com/office/drawing/2014/main" id="{EA9AA3A1-16F5-1EFA-42D4-5C735008F9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49" name="Oval 53">
                <a:extLst>
                  <a:ext uri="{FF2B5EF4-FFF2-40B4-BE49-F238E27FC236}">
                    <a16:creationId xmlns:a16="http://schemas.microsoft.com/office/drawing/2014/main" id="{9250DB98-CC3F-C6FB-7EF8-447CFAF03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0" name="Text Box 54">
                <a:extLst>
                  <a:ext uri="{FF2B5EF4-FFF2-40B4-BE49-F238E27FC236}">
                    <a16:creationId xmlns:a16="http://schemas.microsoft.com/office/drawing/2014/main" id="{06A98262-7264-6155-C280-7828FF890F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43" name="Group 55">
              <a:extLst>
                <a:ext uri="{FF2B5EF4-FFF2-40B4-BE49-F238E27FC236}">
                  <a16:creationId xmlns:a16="http://schemas.microsoft.com/office/drawing/2014/main" id="{5A2B91AE-B229-01E1-779B-E188A3F649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47" name="Oval 56">
                <a:extLst>
                  <a:ext uri="{FF2B5EF4-FFF2-40B4-BE49-F238E27FC236}">
                    <a16:creationId xmlns:a16="http://schemas.microsoft.com/office/drawing/2014/main" id="{EE920DF0-289D-C9AF-7874-1CD61CAAC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" name="Text Box 57">
                <a:extLst>
                  <a:ext uri="{FF2B5EF4-FFF2-40B4-BE49-F238E27FC236}">
                    <a16:creationId xmlns:a16="http://schemas.microsoft.com/office/drawing/2014/main" id="{E70E3D91-5D70-DFCD-C635-FABB8F915C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44" name="Group 58">
              <a:extLst>
                <a:ext uri="{FF2B5EF4-FFF2-40B4-BE49-F238E27FC236}">
                  <a16:creationId xmlns:a16="http://schemas.microsoft.com/office/drawing/2014/main" id="{7746066C-AA8A-F570-31D0-2B5DFC378D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45" name="Oval 59">
                <a:extLst>
                  <a:ext uri="{FF2B5EF4-FFF2-40B4-BE49-F238E27FC236}">
                    <a16:creationId xmlns:a16="http://schemas.microsoft.com/office/drawing/2014/main" id="{1E87EBBC-6F06-6B54-A18B-1503B7372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" name="Text Box 60">
                <a:extLst>
                  <a:ext uri="{FF2B5EF4-FFF2-40B4-BE49-F238E27FC236}">
                    <a16:creationId xmlns:a16="http://schemas.microsoft.com/office/drawing/2014/main" id="{B60C8753-5F14-335F-C70F-263271364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188C837-EF16-3A86-8727-845AFE8FEB38}"/>
              </a:ext>
            </a:extLst>
          </p:cNvPr>
          <p:cNvGrpSpPr/>
          <p:nvPr/>
        </p:nvGrpSpPr>
        <p:grpSpPr>
          <a:xfrm>
            <a:off x="4903440" y="4509120"/>
            <a:ext cx="1828800" cy="1830288"/>
            <a:chOff x="6922093" y="4191000"/>
            <a:chExt cx="1828800" cy="1830288"/>
          </a:xfrm>
        </p:grpSpPr>
        <p:sp>
          <p:nvSpPr>
            <p:cNvPr id="62" name="Oval 41">
              <a:extLst>
                <a:ext uri="{FF2B5EF4-FFF2-40B4-BE49-F238E27FC236}">
                  <a16:creationId xmlns:a16="http://schemas.microsoft.com/office/drawing/2014/main" id="{A661225E-42BD-9E94-10B2-490C0D80B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2093" y="4191000"/>
              <a:ext cx="1828800" cy="183028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3" name="Text Box 42">
              <a:extLst>
                <a:ext uri="{FF2B5EF4-FFF2-40B4-BE49-F238E27FC236}">
                  <a16:creationId xmlns:a16="http://schemas.microsoft.com/office/drawing/2014/main" id="{5511EE0D-0AEF-724B-B7E2-10D27D37A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43434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64" name="Text Box 43">
              <a:extLst>
                <a:ext uri="{FF2B5EF4-FFF2-40B4-BE49-F238E27FC236}">
                  <a16:creationId xmlns:a16="http://schemas.microsoft.com/office/drawing/2014/main" id="{6DFF3A85-2BE7-1E38-57E8-B54A6873A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4343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</a:t>
              </a:r>
            </a:p>
          </p:txBody>
        </p:sp>
        <p:sp>
          <p:nvSpPr>
            <p:cNvPr id="65" name="Text Box 44">
              <a:extLst>
                <a:ext uri="{FF2B5EF4-FFF2-40B4-BE49-F238E27FC236}">
                  <a16:creationId xmlns:a16="http://schemas.microsoft.com/office/drawing/2014/main" id="{9B379918-D89C-A3C2-15EF-CE9FC36AF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44958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66" name="Text Box 45">
              <a:extLst>
                <a:ext uri="{FF2B5EF4-FFF2-40B4-BE49-F238E27FC236}">
                  <a16:creationId xmlns:a16="http://schemas.microsoft.com/office/drawing/2014/main" id="{363DE6C5-13AC-AB3A-88CB-068AE40F5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4062" y="5039317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d</a:t>
              </a:r>
            </a:p>
          </p:txBody>
        </p:sp>
        <p:sp>
          <p:nvSpPr>
            <p:cNvPr id="67" name="Text Box 46">
              <a:extLst>
                <a:ext uri="{FF2B5EF4-FFF2-40B4-BE49-F238E27FC236}">
                  <a16:creationId xmlns:a16="http://schemas.microsoft.com/office/drawing/2014/main" id="{7779CB52-66A0-FB54-68F1-E79D914BF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800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e</a:t>
              </a:r>
            </a:p>
          </p:txBody>
        </p:sp>
        <p:sp>
          <p:nvSpPr>
            <p:cNvPr id="68" name="Text Box 47">
              <a:extLst>
                <a:ext uri="{FF2B5EF4-FFF2-40B4-BE49-F238E27FC236}">
                  <a16:creationId xmlns:a16="http://schemas.microsoft.com/office/drawing/2014/main" id="{B86B907F-0284-EEDE-519F-5E3D93350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48768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69" name="Text Box 48">
              <a:extLst>
                <a:ext uri="{FF2B5EF4-FFF2-40B4-BE49-F238E27FC236}">
                  <a16:creationId xmlns:a16="http://schemas.microsoft.com/office/drawing/2014/main" id="{603D0115-F8E7-E1F3-09E8-617246B37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3663" y="5334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g</a:t>
              </a:r>
            </a:p>
          </p:txBody>
        </p:sp>
        <p:sp>
          <p:nvSpPr>
            <p:cNvPr id="70" name="Text Box 49">
              <a:extLst>
                <a:ext uri="{FF2B5EF4-FFF2-40B4-BE49-F238E27FC236}">
                  <a16:creationId xmlns:a16="http://schemas.microsoft.com/office/drawing/2014/main" id="{A46A8ED1-D0C9-4112-F216-194FD10C5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3538" y="5279754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378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7CC01-D61F-33D9-AC42-F2EDF8B8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4881-D73F-C644-C367-00580B788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8949B-D81D-0E96-D219-560F98671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Nice tree decompositions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0500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u="sng" dirty="0"/>
              <a:t>Nice</a:t>
            </a:r>
            <a:r>
              <a:rPr lang="nl-NL" dirty="0"/>
              <a:t> tree </a:t>
            </a:r>
            <a:r>
              <a:rPr lang="nl-NL" dirty="0" err="1"/>
              <a:t>decomposition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599" y="1828800"/>
                <a:ext cx="5457421" cy="3962400"/>
              </a:xfrm>
            </p:spPr>
            <p:txBody>
              <a:bodyPr/>
              <a:lstStyle/>
              <a:p>
                <a:r>
                  <a:rPr lang="en-GB" dirty="0"/>
                  <a:t>A </a:t>
                </a:r>
                <a:r>
                  <a:rPr lang="en-GB" b="1" dirty="0"/>
                  <a:t>nice tree decomposition </a:t>
                </a:r>
                <a:r>
                  <a:rPr lang="en-GB" dirty="0"/>
                  <a:t>is a rooted tree decomposition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where each node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one of four types (see intro):</a:t>
                </a:r>
              </a:p>
              <a:p>
                <a:pPr lvl="1"/>
                <a:r>
                  <a:rPr lang="en-GB" altLang="en-US" b="1" dirty="0">
                    <a:solidFill>
                      <a:srgbClr val="C00000"/>
                    </a:solidFill>
                  </a:rPr>
                  <a:t>Leaf</a:t>
                </a:r>
                <a:r>
                  <a:rPr lang="en-GB" altLang="en-US" b="1" i="1" dirty="0">
                    <a:solidFill>
                      <a:srgbClr val="C00000"/>
                    </a:solidFill>
                  </a:rPr>
                  <a:t> </a:t>
                </a:r>
                <a:r>
                  <a:rPr lang="en-GB" altLang="en-US" dirty="0"/>
                  <a:t>(new graph): leaf of tree with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𝑋𝑖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altLang="en-US" dirty="0"/>
              </a:p>
              <a:p>
                <a:pPr lvl="1"/>
                <a:r>
                  <a:rPr lang="en-GB" altLang="en-US" b="1" dirty="0">
                    <a:solidFill>
                      <a:srgbClr val="C00000"/>
                    </a:solidFill>
                  </a:rPr>
                  <a:t>Introduce</a:t>
                </a:r>
                <a:r>
                  <a:rPr lang="en-GB" altLang="en-US" dirty="0"/>
                  <a:t>: node with one child</a:t>
                </a:r>
                <a:r>
                  <a:rPr lang="en-GB" altLang="en-US" i="1" dirty="0"/>
                  <a:t>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altLang="en-US" dirty="0"/>
                  <a:t> with</a:t>
                </a:r>
                <a:br>
                  <a:rPr lang="en-GB" alt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alt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altLang="en-US" dirty="0"/>
                  <a:t> for some vertex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altLang="en-US" i="1" dirty="0"/>
              </a:p>
              <a:p>
                <a:pPr lvl="1"/>
                <a:r>
                  <a:rPr lang="en-GB" altLang="en-US" b="1" dirty="0">
                    <a:solidFill>
                      <a:srgbClr val="C00000"/>
                    </a:solidFill>
                  </a:rPr>
                  <a:t>Forget</a:t>
                </a:r>
                <a:r>
                  <a:rPr lang="en-GB" altLang="en-US" dirty="0"/>
                  <a:t>: node with one child </a:t>
                </a:r>
                <a:r>
                  <a:rPr lang="en-GB" altLang="en-US" i="1" dirty="0"/>
                  <a:t>j</a:t>
                </a:r>
                <a:r>
                  <a:rPr lang="en-GB" altLang="en-US" dirty="0"/>
                  <a:t> with </a:t>
                </a:r>
                <a:br>
                  <a:rPr lang="en-GB" alt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alt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GB" altLang="en-US" dirty="0"/>
                  <a:t> for some vertex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altLang="en-US" i="1" dirty="0"/>
              </a:p>
              <a:p>
                <a:pPr lvl="1"/>
                <a:r>
                  <a:rPr lang="en-GB" altLang="en-US" b="1" dirty="0">
                    <a:solidFill>
                      <a:srgbClr val="C00000"/>
                    </a:solidFill>
                  </a:rPr>
                  <a:t>Join</a:t>
                </a:r>
                <a:r>
                  <a:rPr lang="en-GB" altLang="en-US" dirty="0"/>
                  <a:t>: node with two children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altLang="en-US" i="1" dirty="0"/>
                  <a:t>,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altLang="en-US" dirty="0"/>
                  <a:t> with</a:t>
                </a:r>
                <a:br>
                  <a:rPr lang="en-GB" altLang="en-US" dirty="0"/>
                </a:b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altLang="en-US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𝑋𝑗</m:t>
                    </m:r>
                    <m:r>
                      <a:rPr lang="en-GB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en-US" i="1" dirty="0" err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altLang="en-US" i="1" baseline="-25000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altLang="en-US" i="1" baseline="-25000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altLang="en-US" baseline="-25000" dirty="0"/>
              </a:p>
              <a:p>
                <a:pPr lvl="1"/>
                <a:endParaRPr lang="en-GB" altLang="en-US" dirty="0"/>
              </a:p>
              <a:p>
                <a:r>
                  <a:rPr lang="en-GB" altLang="en-US" dirty="0"/>
                  <a:t>This is how we did dynamic programming in the introduction!</a:t>
                </a:r>
              </a:p>
              <a:p>
                <a:pPr lvl="1"/>
                <a:r>
                  <a:rPr lang="en-GB" altLang="en-US" dirty="0"/>
                  <a:t>Here we implicitly constructed a nice tree decomposition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1828800"/>
                <a:ext cx="5457421" cy="3962400"/>
              </a:xfrm>
              <a:blipFill>
                <a:blip r:embed="rId3"/>
                <a:stretch>
                  <a:fillRect l="-223" t="-769" r="-1564" b="-1015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8454D224-B539-512A-DD35-3E71EEE5E082}"/>
              </a:ext>
            </a:extLst>
          </p:cNvPr>
          <p:cNvGrpSpPr/>
          <p:nvPr/>
        </p:nvGrpSpPr>
        <p:grpSpPr>
          <a:xfrm>
            <a:off x="6956915" y="1538189"/>
            <a:ext cx="2151330" cy="2071634"/>
            <a:chOff x="6477000" y="1313545"/>
            <a:chExt cx="2616114" cy="2519201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F7FB5F1-6E01-1630-A25F-B591FBD33005}"/>
                </a:ext>
              </a:extLst>
            </p:cNvPr>
            <p:cNvGrpSpPr/>
            <p:nvPr/>
          </p:nvGrpSpPr>
          <p:grpSpPr>
            <a:xfrm>
              <a:off x="6477000" y="1546746"/>
              <a:ext cx="1066800" cy="2133600"/>
              <a:chOff x="5715000" y="2590800"/>
              <a:chExt cx="1066800" cy="2133600"/>
            </a:xfrm>
          </p:grpSpPr>
          <p:sp>
            <p:nvSpPr>
              <p:cNvPr id="103" name="Line 1030">
                <a:extLst>
                  <a:ext uri="{FF2B5EF4-FFF2-40B4-BE49-F238E27FC236}">
                    <a16:creationId xmlns:a16="http://schemas.microsoft.com/office/drawing/2014/main" id="{8DC2E08F-A6CA-5E99-8B52-EAD63F1D4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67400" y="3886200"/>
                <a:ext cx="762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Line 1031">
                <a:extLst>
                  <a:ext uri="{FF2B5EF4-FFF2-40B4-BE49-F238E27FC236}">
                    <a16:creationId xmlns:a16="http://schemas.microsoft.com/office/drawing/2014/main" id="{D544A759-7EE1-5D77-523F-7FFD57A82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43600" y="4343400"/>
                <a:ext cx="3810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Line 1032">
                <a:extLst>
                  <a:ext uri="{FF2B5EF4-FFF2-40B4-BE49-F238E27FC236}">
                    <a16:creationId xmlns:a16="http://schemas.microsoft.com/office/drawing/2014/main" id="{74A3A15E-E95B-639A-D520-2240523016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6000" y="39624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Oval 1033">
                <a:extLst>
                  <a:ext uri="{FF2B5EF4-FFF2-40B4-BE49-F238E27FC236}">
                    <a16:creationId xmlns:a16="http://schemas.microsoft.com/office/drawing/2014/main" id="{27C6A81B-AA31-15AF-6DC0-5541797FB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000" y="2590800"/>
                <a:ext cx="1066800" cy="9144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b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100" dirty="0"/>
              </a:p>
            </p:txBody>
          </p:sp>
          <p:sp>
            <p:nvSpPr>
              <p:cNvPr id="107" name="Line 1034">
                <a:extLst>
                  <a:ext uri="{FF2B5EF4-FFF2-40B4-BE49-F238E27FC236}">
                    <a16:creationId xmlns:a16="http://schemas.microsoft.com/office/drawing/2014/main" id="{A7E8190B-4BA5-C9A6-1D1C-6D8F0854B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77000" y="3124200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Line 1035">
                <a:extLst>
                  <a:ext uri="{FF2B5EF4-FFF2-40B4-BE49-F238E27FC236}">
                    <a16:creationId xmlns:a16="http://schemas.microsoft.com/office/drawing/2014/main" id="{4527FD39-F9E6-685C-5EFE-1B8A754C95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19800" y="3048000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Oval 1036">
                <a:extLst>
                  <a:ext uri="{FF2B5EF4-FFF2-40B4-BE49-F238E27FC236}">
                    <a16:creationId xmlns:a16="http://schemas.microsoft.com/office/drawing/2014/main" id="{8DAB5DBD-5BA5-0F9D-0BBA-1DC5181A0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7400" y="28194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110" name="Oval 1037">
                <a:extLst>
                  <a:ext uri="{FF2B5EF4-FFF2-40B4-BE49-F238E27FC236}">
                    <a16:creationId xmlns:a16="http://schemas.microsoft.com/office/drawing/2014/main" id="{9CA47282-CE21-39BB-041E-3163ACFD4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8400" y="28956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1" name="Oval 1038">
                <a:extLst>
                  <a:ext uri="{FF2B5EF4-FFF2-40B4-BE49-F238E27FC236}">
                    <a16:creationId xmlns:a16="http://schemas.microsoft.com/office/drawing/2014/main" id="{2E74A1F3-2EF1-D8C2-03DF-BB363F084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8400" y="4191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2" name="Oval 1039">
                <a:extLst>
                  <a:ext uri="{FF2B5EF4-FFF2-40B4-BE49-F238E27FC236}">
                    <a16:creationId xmlns:a16="http://schemas.microsoft.com/office/drawing/2014/main" id="{EF7CB5A6-3E37-FAA3-69B9-B5DEFF562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000" y="44196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" name="Line 1040">
                <a:extLst>
                  <a:ext uri="{FF2B5EF4-FFF2-40B4-BE49-F238E27FC236}">
                    <a16:creationId xmlns:a16="http://schemas.microsoft.com/office/drawing/2014/main" id="{6E93276B-641A-C273-5A75-93786BF845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19800" y="3200400"/>
                <a:ext cx="3810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Oval 1041">
                <a:extLst>
                  <a:ext uri="{FF2B5EF4-FFF2-40B4-BE49-F238E27FC236}">
                    <a16:creationId xmlns:a16="http://schemas.microsoft.com/office/drawing/2014/main" id="{12D0DA1D-C19F-D6C4-903D-C0291B5E3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7400" y="37338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29C6C7B-0A74-2734-1237-BE14E623D6ED}"/>
                </a:ext>
              </a:extLst>
            </p:cNvPr>
            <p:cNvGrpSpPr/>
            <p:nvPr/>
          </p:nvGrpSpPr>
          <p:grpSpPr>
            <a:xfrm>
              <a:off x="8001000" y="1313545"/>
              <a:ext cx="1066800" cy="2519201"/>
              <a:chOff x="7239000" y="2357599"/>
              <a:chExt cx="1066800" cy="2519201"/>
            </a:xfrm>
          </p:grpSpPr>
          <p:sp>
            <p:nvSpPr>
              <p:cNvPr id="89" name="Oval 1026">
                <a:extLst>
                  <a:ext uri="{FF2B5EF4-FFF2-40B4-BE49-F238E27FC236}">
                    <a16:creationId xmlns:a16="http://schemas.microsoft.com/office/drawing/2014/main" id="{32890CD2-E8FA-E80B-BDC8-22C681023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2357599"/>
                <a:ext cx="1066800" cy="1199979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" name="Line 1027">
                <a:extLst>
                  <a:ext uri="{FF2B5EF4-FFF2-40B4-BE49-F238E27FC236}">
                    <a16:creationId xmlns:a16="http://schemas.microsoft.com/office/drawing/2014/main" id="{8C940A55-FE02-5625-0742-9ECDEB7F4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72400" y="2667000"/>
                <a:ext cx="152400" cy="53340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Line 1042">
                <a:extLst>
                  <a:ext uri="{FF2B5EF4-FFF2-40B4-BE49-F238E27FC236}">
                    <a16:creationId xmlns:a16="http://schemas.microsoft.com/office/drawing/2014/main" id="{95624236-C8DD-8476-08F7-AC1F66E60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96579" y="4100744"/>
                <a:ext cx="762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Line 1043">
                <a:extLst>
                  <a:ext uri="{FF2B5EF4-FFF2-40B4-BE49-F238E27FC236}">
                    <a16:creationId xmlns:a16="http://schemas.microsoft.com/office/drawing/2014/main" id="{23126DEE-8060-5872-B3BF-97C9F5C5B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467600" y="4495800"/>
                <a:ext cx="3810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Line 1044">
                <a:extLst>
                  <a:ext uri="{FF2B5EF4-FFF2-40B4-BE49-F238E27FC236}">
                    <a16:creationId xmlns:a16="http://schemas.microsoft.com/office/drawing/2014/main" id="{4726DA1D-4B6F-B21F-49A9-AF0F8C1D7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20000" y="41148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Line 1045">
                <a:extLst>
                  <a:ext uri="{FF2B5EF4-FFF2-40B4-BE49-F238E27FC236}">
                    <a16:creationId xmlns:a16="http://schemas.microsoft.com/office/drawing/2014/main" id="{802F52BB-7735-71CA-7301-A37CCF76A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000" y="3276600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Line 1046">
                <a:extLst>
                  <a:ext uri="{FF2B5EF4-FFF2-40B4-BE49-F238E27FC236}">
                    <a16:creationId xmlns:a16="http://schemas.microsoft.com/office/drawing/2014/main" id="{5C49ACB0-4361-AD11-4C95-275D463B7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3200400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Oval 1047">
                <a:extLst>
                  <a:ext uri="{FF2B5EF4-FFF2-40B4-BE49-F238E27FC236}">
                    <a16:creationId xmlns:a16="http://schemas.microsoft.com/office/drawing/2014/main" id="{783C8CC2-4735-A530-D873-CD582CEF2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29718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7" name="Oval 1048">
                <a:extLst>
                  <a:ext uri="{FF2B5EF4-FFF2-40B4-BE49-F238E27FC236}">
                    <a16:creationId xmlns:a16="http://schemas.microsoft.com/office/drawing/2014/main" id="{89BF1628-3D25-1EAD-CCCF-3A619E361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3048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dirty="0"/>
              </a:p>
            </p:txBody>
          </p:sp>
          <p:sp>
            <p:nvSpPr>
              <p:cNvPr id="98" name="Oval 1049">
                <a:extLst>
                  <a:ext uri="{FF2B5EF4-FFF2-40B4-BE49-F238E27FC236}">
                    <a16:creationId xmlns:a16="http://schemas.microsoft.com/office/drawing/2014/main" id="{157E7C74-BC38-7225-7B36-D46BF8BD4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43434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9" name="Oval 1050">
                <a:extLst>
                  <a:ext uri="{FF2B5EF4-FFF2-40B4-BE49-F238E27FC236}">
                    <a16:creationId xmlns:a16="http://schemas.microsoft.com/office/drawing/2014/main" id="{B01053E7-F83E-1216-2B39-3E3109C5B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4572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0" name="Line 1051">
                <a:extLst>
                  <a:ext uri="{FF2B5EF4-FFF2-40B4-BE49-F238E27FC236}">
                    <a16:creationId xmlns:a16="http://schemas.microsoft.com/office/drawing/2014/main" id="{78AF45E5-15C7-202B-A735-8C936E464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43800" y="3352800"/>
                <a:ext cx="3810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Oval 1052">
                <a:extLst>
                  <a:ext uri="{FF2B5EF4-FFF2-40B4-BE49-F238E27FC236}">
                    <a16:creationId xmlns:a16="http://schemas.microsoft.com/office/drawing/2014/main" id="{2D736030-B94C-4DDD-0BC5-D36979A91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38862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2" name="Oval 1053">
                <a:extLst>
                  <a:ext uri="{FF2B5EF4-FFF2-40B4-BE49-F238E27FC236}">
                    <a16:creationId xmlns:a16="http://schemas.microsoft.com/office/drawing/2014/main" id="{2722745D-6EB6-710D-184E-6F609246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0" y="2514600"/>
                <a:ext cx="304800" cy="304800"/>
              </a:xfrm>
              <a:prstGeom prst="ellipse">
                <a:avLst/>
              </a:prstGeom>
              <a:solidFill>
                <a:srgbClr val="C00000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>
                    <a:solidFill>
                      <a:schemeClr val="bg1"/>
                    </a:solidFill>
                  </a:rPr>
                  <a:t>v</a:t>
                </a:r>
                <a:endParaRPr lang="nl-NL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6" name="Line 1054">
              <a:extLst>
                <a:ext uri="{FF2B5EF4-FFF2-40B4-BE49-F238E27FC236}">
                  <a16:creationId xmlns:a16="http://schemas.microsoft.com/office/drawing/2014/main" id="{D3198C23-1FA6-24D2-5867-A38954E69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7600" y="2665925"/>
              <a:ext cx="533400" cy="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C2226E0-F055-CDEB-71EB-DA82ECCBDF24}"/>
                    </a:ext>
                  </a:extLst>
                </p:cNvPr>
                <p:cNvSpPr txBox="1"/>
                <p:nvPr/>
              </p:nvSpPr>
              <p:spPr>
                <a:xfrm>
                  <a:off x="8733073" y="1643789"/>
                  <a:ext cx="3600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C2226E0-F055-CDEB-71EB-DA82ECCBD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3073" y="1643789"/>
                  <a:ext cx="360041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884D4BD-55BD-3CA5-03E6-305EB0F50211}"/>
                    </a:ext>
                  </a:extLst>
                </p:cNvPr>
                <p:cNvSpPr txBox="1"/>
                <p:nvPr/>
              </p:nvSpPr>
              <p:spPr>
                <a:xfrm>
                  <a:off x="7221859" y="1803303"/>
                  <a:ext cx="360041" cy="3250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884D4BD-55BD-3CA5-03E6-305EB0F502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1859" y="1803303"/>
                  <a:ext cx="360041" cy="325089"/>
                </a:xfrm>
                <a:prstGeom prst="rect">
                  <a:avLst/>
                </a:prstGeom>
                <a:blipFill>
                  <a:blip r:embed="rId5"/>
                  <a:stretch>
                    <a:fillRect r="-2083" b="-2500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395D564-E461-8299-B097-B9C59ADFA452}"/>
              </a:ext>
            </a:extLst>
          </p:cNvPr>
          <p:cNvGrpSpPr/>
          <p:nvPr/>
        </p:nvGrpSpPr>
        <p:grpSpPr>
          <a:xfrm>
            <a:off x="6642450" y="3782228"/>
            <a:ext cx="2446132" cy="2134296"/>
            <a:chOff x="2800907" y="2393183"/>
            <a:chExt cx="2446132" cy="2134296"/>
          </a:xfrm>
        </p:grpSpPr>
        <p:sp>
          <p:nvSpPr>
            <p:cNvPr id="116" name="Line 1030">
              <a:extLst>
                <a:ext uri="{FF2B5EF4-FFF2-40B4-BE49-F238E27FC236}">
                  <a16:creationId xmlns:a16="http://schemas.microsoft.com/office/drawing/2014/main" id="{E81DAA26-A791-64AD-2A3C-DA2602B75C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7284" y="3838195"/>
              <a:ext cx="62662" cy="5639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Line 1031">
              <a:extLst>
                <a:ext uri="{FF2B5EF4-FFF2-40B4-BE49-F238E27FC236}">
                  <a16:creationId xmlns:a16="http://schemas.microsoft.com/office/drawing/2014/main" id="{DD3966A1-6F38-877C-7F2D-7DB3B0735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9946" y="4214168"/>
              <a:ext cx="313311" cy="187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Line 1032">
              <a:extLst>
                <a:ext uri="{FF2B5EF4-FFF2-40B4-BE49-F238E27FC236}">
                  <a16:creationId xmlns:a16="http://schemas.microsoft.com/office/drawing/2014/main" id="{6EC07F2F-6C16-8E6D-7210-C5816A44C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271" y="3900858"/>
              <a:ext cx="250649" cy="2506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Oval 1033">
              <a:extLst>
                <a:ext uri="{FF2B5EF4-FFF2-40B4-BE49-F238E27FC236}">
                  <a16:creationId xmlns:a16="http://schemas.microsoft.com/office/drawing/2014/main" id="{B674AB70-1A40-78D2-11AD-E41030833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960" y="2772939"/>
              <a:ext cx="877270" cy="751946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b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100" dirty="0"/>
            </a:p>
          </p:txBody>
        </p:sp>
        <p:sp>
          <p:nvSpPr>
            <p:cNvPr id="120" name="Line 1034">
              <a:extLst>
                <a:ext uri="{FF2B5EF4-FFF2-40B4-BE49-F238E27FC236}">
                  <a16:creationId xmlns:a16="http://schemas.microsoft.com/office/drawing/2014/main" id="{8B8B5812-0C62-F7FC-87BB-7DBD91953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5913" y="3211574"/>
              <a:ext cx="62668" cy="939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Line 1035">
              <a:extLst>
                <a:ext uri="{FF2B5EF4-FFF2-40B4-BE49-F238E27FC236}">
                  <a16:creationId xmlns:a16="http://schemas.microsoft.com/office/drawing/2014/main" id="{91419B12-E646-F162-0D50-023E8B0C9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609" y="3148912"/>
              <a:ext cx="0" cy="626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Oval 1036">
              <a:extLst>
                <a:ext uri="{FF2B5EF4-FFF2-40B4-BE49-F238E27FC236}">
                  <a16:creationId xmlns:a16="http://schemas.microsoft.com/office/drawing/2014/main" id="{DDCE41CE-8192-7F5D-17FD-1E4B05051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284" y="2960925"/>
              <a:ext cx="250649" cy="250649"/>
            </a:xfrm>
            <a:prstGeom prst="ellipse">
              <a:avLst/>
            </a:prstGeom>
            <a:solidFill>
              <a:schemeClr val="accent2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C00000"/>
                </a:solidFill>
              </a:endParaRPr>
            </a:p>
          </p:txBody>
        </p:sp>
        <p:sp>
          <p:nvSpPr>
            <p:cNvPr id="123" name="Oval 1038">
              <a:extLst>
                <a:ext uri="{FF2B5EF4-FFF2-40B4-BE49-F238E27FC236}">
                  <a16:creationId xmlns:a16="http://schemas.microsoft.com/office/drawing/2014/main" id="{84AE85B6-9EF4-B312-50BB-B8F8F40EA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595" y="4088844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4" name="Oval 1039">
              <a:extLst>
                <a:ext uri="{FF2B5EF4-FFF2-40B4-BE49-F238E27FC236}">
                  <a16:creationId xmlns:a16="http://schemas.microsoft.com/office/drawing/2014/main" id="{66FF2652-161D-F7DC-8E19-DB3FDAE68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960" y="4276830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5" name="Line 1040">
              <a:extLst>
                <a:ext uri="{FF2B5EF4-FFF2-40B4-BE49-F238E27FC236}">
                  <a16:creationId xmlns:a16="http://schemas.microsoft.com/office/drawing/2014/main" id="{77DCAC7B-3878-D94F-0AC0-8037352BA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2609" y="3211574"/>
              <a:ext cx="250642" cy="626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Oval 1041">
              <a:extLst>
                <a:ext uri="{FF2B5EF4-FFF2-40B4-BE49-F238E27FC236}">
                  <a16:creationId xmlns:a16="http://schemas.microsoft.com/office/drawing/2014/main" id="{DAFACD69-478D-763F-18BE-303B89621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284" y="3712871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4DD904E-4922-0426-28E4-E0962B95F1DE}"/>
                </a:ext>
              </a:extLst>
            </p:cNvPr>
            <p:cNvGrpSpPr/>
            <p:nvPr/>
          </p:nvGrpSpPr>
          <p:grpSpPr>
            <a:xfrm>
              <a:off x="2800907" y="2393183"/>
              <a:ext cx="877270" cy="2071634"/>
              <a:chOff x="7239000" y="2357599"/>
              <a:chExt cx="1066800" cy="2519201"/>
            </a:xfrm>
          </p:grpSpPr>
          <p:sp>
            <p:nvSpPr>
              <p:cNvPr id="134" name="Oval 1026">
                <a:extLst>
                  <a:ext uri="{FF2B5EF4-FFF2-40B4-BE49-F238E27FC236}">
                    <a16:creationId xmlns:a16="http://schemas.microsoft.com/office/drawing/2014/main" id="{9CEDFCA8-FBCA-FCB5-09F5-00B6C9282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2357599"/>
                <a:ext cx="1066800" cy="1199979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5" name="Line 1027">
                <a:extLst>
                  <a:ext uri="{FF2B5EF4-FFF2-40B4-BE49-F238E27FC236}">
                    <a16:creationId xmlns:a16="http://schemas.microsoft.com/office/drawing/2014/main" id="{385F031B-E614-C1AB-7F5A-1C9546E3C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72400" y="2667000"/>
                <a:ext cx="152400" cy="53340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Line 1042">
                <a:extLst>
                  <a:ext uri="{FF2B5EF4-FFF2-40B4-BE49-F238E27FC236}">
                    <a16:creationId xmlns:a16="http://schemas.microsoft.com/office/drawing/2014/main" id="{FA0FBDDC-B59C-B487-5A11-4DDD30F38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96579" y="4100744"/>
                <a:ext cx="762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" name="Line 1043">
                <a:extLst>
                  <a:ext uri="{FF2B5EF4-FFF2-40B4-BE49-F238E27FC236}">
                    <a16:creationId xmlns:a16="http://schemas.microsoft.com/office/drawing/2014/main" id="{049F835E-DEDB-33EE-ADF2-D5B7E0D02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467600" y="4495800"/>
                <a:ext cx="3810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" name="Line 1044">
                <a:extLst>
                  <a:ext uri="{FF2B5EF4-FFF2-40B4-BE49-F238E27FC236}">
                    <a16:creationId xmlns:a16="http://schemas.microsoft.com/office/drawing/2014/main" id="{9B851C6D-0094-E79A-27DC-E5889AD34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20000" y="41148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9" name="Line 1045">
                <a:extLst>
                  <a:ext uri="{FF2B5EF4-FFF2-40B4-BE49-F238E27FC236}">
                    <a16:creationId xmlns:a16="http://schemas.microsoft.com/office/drawing/2014/main" id="{538930D9-A271-B689-5748-D9F295454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000" y="3276600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" name="Line 1046">
                <a:extLst>
                  <a:ext uri="{FF2B5EF4-FFF2-40B4-BE49-F238E27FC236}">
                    <a16:creationId xmlns:a16="http://schemas.microsoft.com/office/drawing/2014/main" id="{11F71535-8A0A-A2A5-62CD-CA96BF01C6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3200400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1" name="Oval 1047">
                <a:extLst>
                  <a:ext uri="{FF2B5EF4-FFF2-40B4-BE49-F238E27FC236}">
                    <a16:creationId xmlns:a16="http://schemas.microsoft.com/office/drawing/2014/main" id="{0A44F7FA-8691-C9ED-74E4-DBDE1D470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29718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2" name="Oval 1048">
                <a:extLst>
                  <a:ext uri="{FF2B5EF4-FFF2-40B4-BE49-F238E27FC236}">
                    <a16:creationId xmlns:a16="http://schemas.microsoft.com/office/drawing/2014/main" id="{7B1C6291-48C9-99CD-1993-945FB1078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3048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dirty="0"/>
              </a:p>
            </p:txBody>
          </p:sp>
          <p:sp>
            <p:nvSpPr>
              <p:cNvPr id="143" name="Oval 1049">
                <a:extLst>
                  <a:ext uri="{FF2B5EF4-FFF2-40B4-BE49-F238E27FC236}">
                    <a16:creationId xmlns:a16="http://schemas.microsoft.com/office/drawing/2014/main" id="{5437DD30-B14E-B7CA-692A-7D4F2802D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43434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4" name="Oval 1050">
                <a:extLst>
                  <a:ext uri="{FF2B5EF4-FFF2-40B4-BE49-F238E27FC236}">
                    <a16:creationId xmlns:a16="http://schemas.microsoft.com/office/drawing/2014/main" id="{16777FAB-9BDC-8210-F79B-B0D2799B5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4572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5" name="Line 1051">
                <a:extLst>
                  <a:ext uri="{FF2B5EF4-FFF2-40B4-BE49-F238E27FC236}">
                    <a16:creationId xmlns:a16="http://schemas.microsoft.com/office/drawing/2014/main" id="{E937F665-BBAA-7E16-742F-C91DB730C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43800" y="3352800"/>
                <a:ext cx="3810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" name="Oval 1052">
                <a:extLst>
                  <a:ext uri="{FF2B5EF4-FFF2-40B4-BE49-F238E27FC236}">
                    <a16:creationId xmlns:a16="http://schemas.microsoft.com/office/drawing/2014/main" id="{A1626566-33DB-17D9-1F74-6A52B2387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38862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7" name="Oval 1053">
                <a:extLst>
                  <a:ext uri="{FF2B5EF4-FFF2-40B4-BE49-F238E27FC236}">
                    <a16:creationId xmlns:a16="http://schemas.microsoft.com/office/drawing/2014/main" id="{A6817D2E-F9B6-EB80-A09F-4286E16F18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0" y="2514600"/>
                <a:ext cx="304800" cy="304800"/>
              </a:xfrm>
              <a:prstGeom prst="ellipse">
                <a:avLst/>
              </a:prstGeom>
              <a:solidFill>
                <a:srgbClr val="C00000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>
                    <a:solidFill>
                      <a:schemeClr val="bg1"/>
                    </a:solidFill>
                  </a:rPr>
                  <a:t>v</a:t>
                </a:r>
                <a:endParaRPr lang="nl-NL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8" name="Line 1054">
              <a:extLst>
                <a:ext uri="{FF2B5EF4-FFF2-40B4-BE49-F238E27FC236}">
                  <a16:creationId xmlns:a16="http://schemas.microsoft.com/office/drawing/2014/main" id="{A52D7CE8-EFE7-913B-0216-C3FE536B0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8177" y="3529214"/>
              <a:ext cx="438635" cy="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056A02C0-0600-7A9E-25F5-4E80AEA82842}"/>
                    </a:ext>
                  </a:extLst>
                </p:cNvPr>
                <p:cNvSpPr txBox="1"/>
                <p:nvPr/>
              </p:nvSpPr>
              <p:spPr>
                <a:xfrm>
                  <a:off x="3402919" y="2664755"/>
                  <a:ext cx="296075" cy="3250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056A02C0-0600-7A9E-25F5-4E80AEA82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919" y="2664755"/>
                  <a:ext cx="296075" cy="325089"/>
                </a:xfrm>
                <a:prstGeom prst="rect">
                  <a:avLst/>
                </a:prstGeom>
                <a:blipFill>
                  <a:blip r:embed="rId6"/>
                  <a:stretch>
                    <a:fillRect r="-2041" b="-3774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7BA0AB39-BA49-C719-CD03-4D5631EE55E7}"/>
                    </a:ext>
                  </a:extLst>
                </p:cNvPr>
                <p:cNvSpPr txBox="1"/>
                <p:nvPr/>
              </p:nvSpPr>
              <p:spPr>
                <a:xfrm>
                  <a:off x="4824486" y="2983915"/>
                  <a:ext cx="2960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7BA0AB39-BA49-C719-CD03-4D5631EE5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4486" y="2983915"/>
                  <a:ext cx="296075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Line 1027">
              <a:extLst>
                <a:ext uri="{FF2B5EF4-FFF2-40B4-BE49-F238E27FC236}">
                  <a16:creationId xmlns:a16="http://schemas.microsoft.com/office/drawing/2014/main" id="{7DF4A793-5AAF-7A06-E61C-C2A8D484D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24486" y="3148911"/>
              <a:ext cx="297228" cy="529720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Oval 1053">
              <a:extLst>
                <a:ext uri="{FF2B5EF4-FFF2-40B4-BE49-F238E27FC236}">
                  <a16:creationId xmlns:a16="http://schemas.microsoft.com/office/drawing/2014/main" id="{284CF32D-8BB3-303F-2418-EBCD6F8BB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390" y="3553308"/>
              <a:ext cx="250649" cy="250649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 dirty="0">
                  <a:solidFill>
                    <a:schemeClr val="bg1"/>
                  </a:solidFill>
                </a:rPr>
                <a:t>v</a:t>
              </a:r>
              <a:endParaRPr lang="nl-NL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33" name="Oval 1037">
              <a:extLst>
                <a:ext uri="{FF2B5EF4-FFF2-40B4-BE49-F238E27FC236}">
                  <a16:creationId xmlns:a16="http://schemas.microsoft.com/office/drawing/2014/main" id="{F9C49FEA-D71C-B194-7908-E0B2169E5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595" y="3023588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F71BAAB3-4CEB-0564-7534-527B9EAC5EC4}"/>
              </a:ext>
            </a:extLst>
          </p:cNvPr>
          <p:cNvSpPr txBox="1"/>
          <p:nvPr/>
        </p:nvSpPr>
        <p:spPr>
          <a:xfrm>
            <a:off x="7614861" y="2634637"/>
            <a:ext cx="1879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introduce</a:t>
            </a:r>
            <a:endParaRPr lang="LID4096" sz="12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2EBF439-393C-0120-46C1-1B21A76FA548}"/>
              </a:ext>
            </a:extLst>
          </p:cNvPr>
          <p:cNvSpPr txBox="1"/>
          <p:nvPr/>
        </p:nvSpPr>
        <p:spPr>
          <a:xfrm>
            <a:off x="7432628" y="4881658"/>
            <a:ext cx="1879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forget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234951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of a tree decomposition to a nice tree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: Choose an arbitrary vertex as root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1F2919-1554-5C15-ECA3-3454D6271138}"/>
              </a:ext>
            </a:extLst>
          </p:cNvPr>
          <p:cNvGrpSpPr/>
          <p:nvPr/>
        </p:nvGrpSpPr>
        <p:grpSpPr>
          <a:xfrm>
            <a:off x="1187624" y="3212976"/>
            <a:ext cx="3429000" cy="1752600"/>
            <a:chOff x="5105400" y="2895600"/>
            <a:chExt cx="3429000" cy="1752600"/>
          </a:xfrm>
        </p:grpSpPr>
        <p:sp>
          <p:nvSpPr>
            <p:cNvPr id="9" name="Line 1028">
              <a:extLst>
                <a:ext uri="{FF2B5EF4-FFF2-40B4-BE49-F238E27FC236}">
                  <a16:creationId xmlns:a16="http://schemas.microsoft.com/office/drawing/2014/main" id="{0593D3DE-C0FF-B8A2-FD50-CF3AEF8F2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33528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029">
              <a:extLst>
                <a:ext uri="{FF2B5EF4-FFF2-40B4-BE49-F238E27FC236}">
                  <a16:creationId xmlns:a16="http://schemas.microsoft.com/office/drawing/2014/main" id="{DF68E69E-7EB8-97A9-5E0B-F8C40A476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33528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45">
              <a:extLst>
                <a:ext uri="{FF2B5EF4-FFF2-40B4-BE49-F238E27FC236}">
                  <a16:creationId xmlns:a16="http://schemas.microsoft.com/office/drawing/2014/main" id="{27C07D6E-70C1-CAA9-037A-289DCCAC5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" name="Oval 1046">
              <a:extLst>
                <a:ext uri="{FF2B5EF4-FFF2-40B4-BE49-F238E27FC236}">
                  <a16:creationId xmlns:a16="http://schemas.microsoft.com/office/drawing/2014/main" id="{15B44F59-ACB6-57AC-D1B5-4E3D5732C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9624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Oval 1047">
              <a:extLst>
                <a:ext uri="{FF2B5EF4-FFF2-40B4-BE49-F238E27FC236}">
                  <a16:creationId xmlns:a16="http://schemas.microsoft.com/office/drawing/2014/main" id="{9B283A78-F986-9D29-01D3-2E8C246B1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Oval 1048">
              <a:extLst>
                <a:ext uri="{FF2B5EF4-FFF2-40B4-BE49-F238E27FC236}">
                  <a16:creationId xmlns:a16="http://schemas.microsoft.com/office/drawing/2014/main" id="{53942AF7-7876-6E8B-C600-97DFD91A9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" name="Oval 1049">
              <a:extLst>
                <a:ext uri="{FF2B5EF4-FFF2-40B4-BE49-F238E27FC236}">
                  <a16:creationId xmlns:a16="http://schemas.microsoft.com/office/drawing/2014/main" id="{1536A55F-3AA9-7764-DC77-04A5A35BB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Text Box 1050">
              <a:extLst>
                <a:ext uri="{FF2B5EF4-FFF2-40B4-BE49-F238E27FC236}">
                  <a16:creationId xmlns:a16="http://schemas.microsoft.com/office/drawing/2014/main" id="{22146D38-DDC2-CEA2-3350-0B5E61CCE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7" name="Text Box 1051">
              <a:extLst>
                <a:ext uri="{FF2B5EF4-FFF2-40B4-BE49-F238E27FC236}">
                  <a16:creationId xmlns:a16="http://schemas.microsoft.com/office/drawing/2014/main" id="{06D8D0DD-12AB-5BC7-3A08-CF95DCBB3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31" name="Text Box 1052">
              <a:extLst>
                <a:ext uri="{FF2B5EF4-FFF2-40B4-BE49-F238E27FC236}">
                  <a16:creationId xmlns:a16="http://schemas.microsoft.com/office/drawing/2014/main" id="{A8B929BC-2CD6-E74A-B8BA-23D92239F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3200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</a:t>
              </a:r>
            </a:p>
          </p:txBody>
        </p:sp>
        <p:sp>
          <p:nvSpPr>
            <p:cNvPr id="33" name="Text Box 1053">
              <a:extLst>
                <a:ext uri="{FF2B5EF4-FFF2-40B4-BE49-F238E27FC236}">
                  <a16:creationId xmlns:a16="http://schemas.microsoft.com/office/drawing/2014/main" id="{526C490E-36E1-A665-DE72-A1C703CC7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34" name="Text Box 1054">
              <a:extLst>
                <a:ext uri="{FF2B5EF4-FFF2-40B4-BE49-F238E27FC236}">
                  <a16:creationId xmlns:a16="http://schemas.microsoft.com/office/drawing/2014/main" id="{62EDA6D2-277C-1706-A782-796C64506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2004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35" name="Text Box 1055">
              <a:extLst>
                <a:ext uri="{FF2B5EF4-FFF2-40B4-BE49-F238E27FC236}">
                  <a16:creationId xmlns:a16="http://schemas.microsoft.com/office/drawing/2014/main" id="{5375262E-C02B-A9E0-2223-247BBB6C7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038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36" name="Text Box 1056">
              <a:extLst>
                <a:ext uri="{FF2B5EF4-FFF2-40B4-BE49-F238E27FC236}">
                  <a16:creationId xmlns:a16="http://schemas.microsoft.com/office/drawing/2014/main" id="{457BD99A-C65F-D3D9-3F4A-E8EB70BA4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962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d</a:t>
              </a:r>
            </a:p>
          </p:txBody>
        </p:sp>
        <p:sp>
          <p:nvSpPr>
            <p:cNvPr id="37" name="Text Box 1057">
              <a:extLst>
                <a:ext uri="{FF2B5EF4-FFF2-40B4-BE49-F238E27FC236}">
                  <a16:creationId xmlns:a16="http://schemas.microsoft.com/office/drawing/2014/main" id="{B62717E8-875E-54F0-1AC9-79A709AAD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4191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e</a:t>
              </a:r>
            </a:p>
          </p:txBody>
        </p:sp>
        <p:sp>
          <p:nvSpPr>
            <p:cNvPr id="39" name="Text Box 1059">
              <a:extLst>
                <a:ext uri="{FF2B5EF4-FFF2-40B4-BE49-F238E27FC236}">
                  <a16:creationId xmlns:a16="http://schemas.microsoft.com/office/drawing/2014/main" id="{F6C57372-2E20-30F6-EBB7-EA2160305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34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h</a:t>
              </a:r>
            </a:p>
          </p:txBody>
        </p:sp>
        <p:sp>
          <p:nvSpPr>
            <p:cNvPr id="40" name="Text Box 1060">
              <a:extLst>
                <a:ext uri="{FF2B5EF4-FFF2-40B4-BE49-F238E27FC236}">
                  <a16:creationId xmlns:a16="http://schemas.microsoft.com/office/drawing/2014/main" id="{377EBBBC-E2B3-1C2B-7E90-7BB057CFC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30480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42" name="Text Box 1061">
              <a:extLst>
                <a:ext uri="{FF2B5EF4-FFF2-40B4-BE49-F238E27FC236}">
                  <a16:creationId xmlns:a16="http://schemas.microsoft.com/office/drawing/2014/main" id="{5903392B-E4AD-3FC8-3DFF-4AAF4E726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32004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44" name="Text Box 1062">
              <a:extLst>
                <a:ext uri="{FF2B5EF4-FFF2-40B4-BE49-F238E27FC236}">
                  <a16:creationId xmlns:a16="http://schemas.microsoft.com/office/drawing/2014/main" id="{B7AFD6C5-37B4-EDB2-E14B-17149098F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47" name="Text Box 1063">
              <a:extLst>
                <a:ext uri="{FF2B5EF4-FFF2-40B4-BE49-F238E27FC236}">
                  <a16:creationId xmlns:a16="http://schemas.microsoft.com/office/drawing/2014/main" id="{EB51154D-4282-711B-29FC-43EF9D58B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28956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g</a:t>
              </a:r>
            </a:p>
          </p:txBody>
        </p:sp>
        <p:sp>
          <p:nvSpPr>
            <p:cNvPr id="49" name="Text Box 1064">
              <a:extLst>
                <a:ext uri="{FF2B5EF4-FFF2-40B4-BE49-F238E27FC236}">
                  <a16:creationId xmlns:a16="http://schemas.microsoft.com/office/drawing/2014/main" id="{940BA2BD-CD76-F80F-3C97-806AB6B06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g</a:t>
              </a:r>
            </a:p>
          </p:txBody>
        </p:sp>
      </p:grpSp>
      <p:sp>
        <p:nvSpPr>
          <p:cNvPr id="50" name="Right Arrow 50">
            <a:extLst>
              <a:ext uri="{FF2B5EF4-FFF2-40B4-BE49-F238E27FC236}">
                <a16:creationId xmlns:a16="http://schemas.microsoft.com/office/drawing/2014/main" id="{16172F59-66EF-3FB7-CF83-E32C4C852DD9}"/>
              </a:ext>
            </a:extLst>
          </p:cNvPr>
          <p:cNvSpPr/>
          <p:nvPr/>
        </p:nvSpPr>
        <p:spPr bwMode="auto">
          <a:xfrm>
            <a:off x="4895866" y="3670176"/>
            <a:ext cx="756254" cy="4921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9BAE2B3-1192-9454-1EEA-FCB483FB7FF2}"/>
              </a:ext>
            </a:extLst>
          </p:cNvPr>
          <p:cNvGrpSpPr/>
          <p:nvPr/>
        </p:nvGrpSpPr>
        <p:grpSpPr>
          <a:xfrm>
            <a:off x="5751427" y="2492896"/>
            <a:ext cx="2925029" cy="2787293"/>
            <a:chOff x="5751427" y="2492896"/>
            <a:chExt cx="2925029" cy="2787293"/>
          </a:xfrm>
        </p:grpSpPr>
        <p:sp>
          <p:nvSpPr>
            <p:cNvPr id="52" name="Line 1028">
              <a:extLst>
                <a:ext uri="{FF2B5EF4-FFF2-40B4-BE49-F238E27FC236}">
                  <a16:creationId xmlns:a16="http://schemas.microsoft.com/office/drawing/2014/main" id="{7A60ADBB-7F9B-1848-25D6-E793DFB70F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1254" y="3911352"/>
              <a:ext cx="630862" cy="1054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1028">
              <a:extLst>
                <a:ext uri="{FF2B5EF4-FFF2-40B4-BE49-F238E27FC236}">
                  <a16:creationId xmlns:a16="http://schemas.microsoft.com/office/drawing/2014/main" id="{AED38FEE-0378-42CF-BF90-0DA1697A3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8062" y="3898776"/>
              <a:ext cx="733422" cy="10284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029">
              <a:extLst>
                <a:ext uri="{FF2B5EF4-FFF2-40B4-BE49-F238E27FC236}">
                  <a16:creationId xmlns:a16="http://schemas.microsoft.com/office/drawing/2014/main" id="{12B6B71C-33B4-5FCC-8775-FE7C8C8E0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1434" y="2952750"/>
              <a:ext cx="748508" cy="850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BCB6AF4-ED1E-0B5A-B975-85D14F55D2C2}"/>
                </a:ext>
              </a:extLst>
            </p:cNvPr>
            <p:cNvGrpSpPr/>
            <p:nvPr/>
          </p:nvGrpSpPr>
          <p:grpSpPr>
            <a:xfrm>
              <a:off x="5751427" y="4518189"/>
              <a:ext cx="685800" cy="762000"/>
              <a:chOff x="5325976" y="3458812"/>
              <a:chExt cx="685800" cy="762000"/>
            </a:xfrm>
          </p:grpSpPr>
          <p:sp>
            <p:nvSpPr>
              <p:cNvPr id="54" name="Oval 1045">
                <a:extLst>
                  <a:ext uri="{FF2B5EF4-FFF2-40B4-BE49-F238E27FC236}">
                    <a16:creationId xmlns:a16="http://schemas.microsoft.com/office/drawing/2014/main" id="{DFB91E80-E53A-C28A-9F7A-E1EE0FECB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5976" y="3535012"/>
                <a:ext cx="685800" cy="6858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9" name="Text Box 1050">
                <a:extLst>
                  <a:ext uri="{FF2B5EF4-FFF2-40B4-BE49-F238E27FC236}">
                    <a16:creationId xmlns:a16="http://schemas.microsoft.com/office/drawing/2014/main" id="{EE1F3868-65E4-4AC3-A027-A427FE4DD6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8376" y="3458812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/>
                  <a:t>a</a:t>
                </a:r>
              </a:p>
            </p:txBody>
          </p:sp>
          <p:sp>
            <p:nvSpPr>
              <p:cNvPr id="61" name="Text Box 1052">
                <a:extLst>
                  <a:ext uri="{FF2B5EF4-FFF2-40B4-BE49-F238E27FC236}">
                    <a16:creationId xmlns:a16="http://schemas.microsoft.com/office/drawing/2014/main" id="{43B8DC1A-7AAB-0FE8-C1A2-578057CA20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2176" y="3763612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/>
                  <a:t>b</a:t>
                </a:r>
              </a:p>
            </p:txBody>
          </p:sp>
          <p:sp>
            <p:nvSpPr>
              <p:cNvPr id="62" name="Text Box 1053">
                <a:extLst>
                  <a:ext uri="{FF2B5EF4-FFF2-40B4-BE49-F238E27FC236}">
                    <a16:creationId xmlns:a16="http://schemas.microsoft.com/office/drawing/2014/main" id="{8161B28D-6D26-BCA8-9990-FD1C5E4F83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0776" y="3611212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 dirty="0"/>
                  <a:t>c</a:t>
                </a:r>
              </a:p>
            </p:txBody>
          </p:sp>
        </p:grpSp>
        <p:sp>
          <p:nvSpPr>
            <p:cNvPr id="77" name="Line 1028">
              <a:extLst>
                <a:ext uri="{FF2B5EF4-FFF2-40B4-BE49-F238E27FC236}">
                  <a16:creationId xmlns:a16="http://schemas.microsoft.com/office/drawing/2014/main" id="{DAB4FA71-A12C-BCA7-727D-B930BD025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4263" y="3054762"/>
              <a:ext cx="626267" cy="8440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AE5B9EC-2DDD-6F65-209E-829AF186D4B8}"/>
                </a:ext>
              </a:extLst>
            </p:cNvPr>
            <p:cNvGrpSpPr/>
            <p:nvPr/>
          </p:nvGrpSpPr>
          <p:grpSpPr>
            <a:xfrm>
              <a:off x="7184852" y="4594389"/>
              <a:ext cx="685800" cy="685800"/>
              <a:chOff x="6240376" y="4525612"/>
              <a:chExt cx="685800" cy="685800"/>
            </a:xfrm>
          </p:grpSpPr>
          <p:sp>
            <p:nvSpPr>
              <p:cNvPr id="55" name="Oval 1046">
                <a:extLst>
                  <a:ext uri="{FF2B5EF4-FFF2-40B4-BE49-F238E27FC236}">
                    <a16:creationId xmlns:a16="http://schemas.microsoft.com/office/drawing/2014/main" id="{09DB6748-A657-1DED-C9C4-DA0A1B419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0376" y="4525612"/>
                <a:ext cx="685800" cy="6858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4" name="Text Box 1055">
                <a:extLst>
                  <a:ext uri="{FF2B5EF4-FFF2-40B4-BE49-F238E27FC236}">
                    <a16:creationId xmlns:a16="http://schemas.microsoft.com/office/drawing/2014/main" id="{E22BE77A-7E25-129D-6313-BC4122994A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6576" y="4601812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 dirty="0"/>
                  <a:t>c</a:t>
                </a:r>
              </a:p>
            </p:txBody>
          </p:sp>
          <p:sp>
            <p:nvSpPr>
              <p:cNvPr id="65" name="Text Box 1056">
                <a:extLst>
                  <a:ext uri="{FF2B5EF4-FFF2-40B4-BE49-F238E27FC236}">
                    <a16:creationId xmlns:a16="http://schemas.microsoft.com/office/drawing/2014/main" id="{5F7E364F-3790-EF7E-0BE6-9C2DA0C086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68976" y="4525612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/>
                  <a:t>d</a:t>
                </a:r>
              </a:p>
            </p:txBody>
          </p:sp>
          <p:sp>
            <p:nvSpPr>
              <p:cNvPr id="66" name="Text Box 1057">
                <a:extLst>
                  <a:ext uri="{FF2B5EF4-FFF2-40B4-BE49-F238E27FC236}">
                    <a16:creationId xmlns:a16="http://schemas.microsoft.com/office/drawing/2014/main" id="{FE0E721D-CB74-2C64-0926-9287C387B2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68976" y="4754212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/>
                  <a:t>e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F4B9E59B-4FEC-3B07-6D8F-A5ACA3965CB1}"/>
                </a:ext>
              </a:extLst>
            </p:cNvPr>
            <p:cNvGrpSpPr/>
            <p:nvPr/>
          </p:nvGrpSpPr>
          <p:grpSpPr>
            <a:xfrm>
              <a:off x="6468976" y="3482150"/>
              <a:ext cx="685800" cy="762000"/>
              <a:chOff x="6240376" y="3458812"/>
              <a:chExt cx="685800" cy="762000"/>
            </a:xfrm>
          </p:grpSpPr>
          <p:sp>
            <p:nvSpPr>
              <p:cNvPr id="56" name="Oval 1047">
                <a:extLst>
                  <a:ext uri="{FF2B5EF4-FFF2-40B4-BE49-F238E27FC236}">
                    <a16:creationId xmlns:a16="http://schemas.microsoft.com/office/drawing/2014/main" id="{F946EADD-7461-3397-6F4A-42FB6F1AA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0376" y="3535012"/>
                <a:ext cx="685800" cy="6858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0" name="Text Box 1051">
                <a:extLst>
                  <a:ext uri="{FF2B5EF4-FFF2-40B4-BE49-F238E27FC236}">
                    <a16:creationId xmlns:a16="http://schemas.microsoft.com/office/drawing/2014/main" id="{CEF37457-8D40-4CD0-58B7-BDB37072A0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6576" y="3458812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/>
                  <a:t>a</a:t>
                </a:r>
              </a:p>
            </p:txBody>
          </p:sp>
          <p:sp>
            <p:nvSpPr>
              <p:cNvPr id="63" name="Text Box 1054">
                <a:extLst>
                  <a:ext uri="{FF2B5EF4-FFF2-40B4-BE49-F238E27FC236}">
                    <a16:creationId xmlns:a16="http://schemas.microsoft.com/office/drawing/2014/main" id="{8FE500C5-4762-78CD-DF90-7AB96435D3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2776" y="3763612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 dirty="0"/>
                  <a:t>c</a:t>
                </a:r>
              </a:p>
            </p:txBody>
          </p:sp>
          <p:sp>
            <p:nvSpPr>
              <p:cNvPr id="68" name="Text Box 1060">
                <a:extLst>
                  <a:ext uri="{FF2B5EF4-FFF2-40B4-BE49-F238E27FC236}">
                    <a16:creationId xmlns:a16="http://schemas.microsoft.com/office/drawing/2014/main" id="{8E945E4E-75FB-2773-AB48-840BF73027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45176" y="3611212"/>
                <a:ext cx="2857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 dirty="0"/>
                  <a:t>f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BFC51D2-8EC0-E2F6-893B-F1F022EADFF1}"/>
                </a:ext>
              </a:extLst>
            </p:cNvPr>
            <p:cNvGrpSpPr/>
            <p:nvPr/>
          </p:nvGrpSpPr>
          <p:grpSpPr>
            <a:xfrm>
              <a:off x="7257145" y="2492896"/>
              <a:ext cx="685800" cy="762000"/>
              <a:chOff x="7154776" y="3458812"/>
              <a:chExt cx="685800" cy="762000"/>
            </a:xfrm>
          </p:grpSpPr>
          <p:sp>
            <p:nvSpPr>
              <p:cNvPr id="57" name="Oval 1048">
                <a:extLst>
                  <a:ext uri="{FF2B5EF4-FFF2-40B4-BE49-F238E27FC236}">
                    <a16:creationId xmlns:a16="http://schemas.microsoft.com/office/drawing/2014/main" id="{1C02896A-25A5-F1B7-8B6F-E346F77B0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4776" y="3535012"/>
                <a:ext cx="685800" cy="685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9" name="Text Box 1061">
                <a:extLst>
                  <a:ext uri="{FF2B5EF4-FFF2-40B4-BE49-F238E27FC236}">
                    <a16:creationId xmlns:a16="http://schemas.microsoft.com/office/drawing/2014/main" id="{B9A0168C-AEF7-BFB5-16E8-74EE93CBF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9576" y="3763612"/>
                <a:ext cx="2857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/>
                  <a:t>f</a:t>
                </a:r>
              </a:p>
            </p:txBody>
          </p:sp>
          <p:sp>
            <p:nvSpPr>
              <p:cNvPr id="70" name="Text Box 1062">
                <a:extLst>
                  <a:ext uri="{FF2B5EF4-FFF2-40B4-BE49-F238E27FC236}">
                    <a16:creationId xmlns:a16="http://schemas.microsoft.com/office/drawing/2014/main" id="{44F740ED-8F63-DAF7-EA4D-1FB03CF6CB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54776" y="3611212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/>
                  <a:t>a</a:t>
                </a:r>
              </a:p>
            </p:txBody>
          </p:sp>
          <p:sp>
            <p:nvSpPr>
              <p:cNvPr id="71" name="Text Box 1063">
                <a:extLst>
                  <a:ext uri="{FF2B5EF4-FFF2-40B4-BE49-F238E27FC236}">
                    <a16:creationId xmlns:a16="http://schemas.microsoft.com/office/drawing/2014/main" id="{E487FC78-A5DA-CA77-B179-3DC7A2B6D9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3376" y="3458812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 dirty="0"/>
                  <a:t>g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61D51B8-CA6F-95E0-FB59-459AF8B0E44B}"/>
                </a:ext>
              </a:extLst>
            </p:cNvPr>
            <p:cNvGrpSpPr/>
            <p:nvPr/>
          </p:nvGrpSpPr>
          <p:grpSpPr>
            <a:xfrm>
              <a:off x="7990656" y="3437108"/>
              <a:ext cx="685800" cy="685800"/>
              <a:chOff x="8069176" y="3535012"/>
              <a:chExt cx="685800" cy="685800"/>
            </a:xfrm>
          </p:grpSpPr>
          <p:sp>
            <p:nvSpPr>
              <p:cNvPr id="58" name="Oval 1049">
                <a:extLst>
                  <a:ext uri="{FF2B5EF4-FFF2-40B4-BE49-F238E27FC236}">
                    <a16:creationId xmlns:a16="http://schemas.microsoft.com/office/drawing/2014/main" id="{6B1F0D08-4EB0-3BCE-49B2-A9B4855CC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9176" y="3535012"/>
                <a:ext cx="685800" cy="6858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" name="Text Box 1059">
                <a:extLst>
                  <a:ext uri="{FF2B5EF4-FFF2-40B4-BE49-F238E27FC236}">
                    <a16:creationId xmlns:a16="http://schemas.microsoft.com/office/drawing/2014/main" id="{A026D9F6-B797-AB1C-14B8-55962466EC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73976" y="3611212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/>
                  <a:t>h</a:t>
                </a:r>
              </a:p>
            </p:txBody>
          </p:sp>
          <p:sp>
            <p:nvSpPr>
              <p:cNvPr id="72" name="Text Box 1064">
                <a:extLst>
                  <a:ext uri="{FF2B5EF4-FFF2-40B4-BE49-F238E27FC236}">
                    <a16:creationId xmlns:a16="http://schemas.microsoft.com/office/drawing/2014/main" id="{4A96D5BE-8B95-33FA-A72A-18D6F71641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45376" y="3611212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l" eaLnBrk="1" hangingPunct="1"/>
                <a:r>
                  <a:rPr lang="en-US" altLang="en-US" i="0" dirty="0"/>
                  <a:t>g</a:t>
                </a:r>
              </a:p>
            </p:txBody>
          </p:sp>
        </p:grpSp>
      </p:grpSp>
      <p:sp>
        <p:nvSpPr>
          <p:cNvPr id="73" name="Arrow: Down 72">
            <a:extLst>
              <a:ext uri="{FF2B5EF4-FFF2-40B4-BE49-F238E27FC236}">
                <a16:creationId xmlns:a16="http://schemas.microsoft.com/office/drawing/2014/main" id="{3D3CD737-3260-3081-9E6B-CD306EE33961}"/>
              </a:ext>
            </a:extLst>
          </p:cNvPr>
          <p:cNvSpPr/>
          <p:nvPr/>
        </p:nvSpPr>
        <p:spPr bwMode="auto">
          <a:xfrm>
            <a:off x="3161680" y="2730328"/>
            <a:ext cx="395288" cy="444548"/>
          </a:xfrm>
          <a:prstGeom prst="downArrow">
            <a:avLst>
              <a:gd name="adj1" fmla="val 53571"/>
              <a:gd name="adj2" fmla="val 36944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20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7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8D2E-7D2F-10C7-CA69-3FFD4A2D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869F-74E2-E7A9-F026-46D72E48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of a tree decomposition to a nice tree decomposition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F3A80F-8457-D4A0-D663-D95077B5F82C}"/>
              </a:ext>
            </a:extLst>
          </p:cNvPr>
          <p:cNvCxnSpPr>
            <a:endCxn id="8" idx="7"/>
          </p:cNvCxnSpPr>
          <p:nvPr/>
        </p:nvCxnSpPr>
        <p:spPr bwMode="auto">
          <a:xfrm flipH="1">
            <a:off x="2018275" y="4293096"/>
            <a:ext cx="845275" cy="7081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0DF3FD-AA17-850E-46CF-C29F0256BADF}"/>
              </a:ext>
            </a:extLst>
          </p:cNvPr>
          <p:cNvCxnSpPr>
            <a:endCxn id="12" idx="0"/>
          </p:cNvCxnSpPr>
          <p:nvPr/>
        </p:nvCxnSpPr>
        <p:spPr bwMode="auto">
          <a:xfrm flipH="1">
            <a:off x="2555776" y="4293096"/>
            <a:ext cx="307774" cy="6027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21650E-8109-3D93-0921-46AF2A438E45}"/>
              </a:ext>
            </a:extLst>
          </p:cNvPr>
          <p:cNvCxnSpPr>
            <a:endCxn id="13" idx="1"/>
          </p:cNvCxnSpPr>
          <p:nvPr/>
        </p:nvCxnSpPr>
        <p:spPr bwMode="auto">
          <a:xfrm>
            <a:off x="2915816" y="4365104"/>
            <a:ext cx="681517" cy="6361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EE6E2-C333-D984-8068-EDD847E71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: Choose an arbitrary vertex as root</a:t>
            </a:r>
          </a:p>
          <a:p>
            <a:r>
              <a:rPr lang="en-US" b="1" dirty="0"/>
              <a:t>Step 2</a:t>
            </a:r>
            <a:r>
              <a:rPr lang="en-US" dirty="0"/>
              <a:t>: Ensure that each node has at most 2 children: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262BFD-17E6-D94F-0BA5-BF153A3C11A2}"/>
              </a:ext>
            </a:extLst>
          </p:cNvPr>
          <p:cNvSpPr/>
          <p:nvPr/>
        </p:nvSpPr>
        <p:spPr bwMode="auto">
          <a:xfrm>
            <a:off x="2555776" y="4005064"/>
            <a:ext cx="720080" cy="720080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X</a:t>
            </a:r>
            <a:r>
              <a:rPr lang="en-US" baseline="-25000" dirty="0"/>
              <a:t>i</a:t>
            </a:r>
            <a:endParaRPr kumimoji="0" 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1DB5BF-696A-266C-FEA6-94384F9827A1}"/>
              </a:ext>
            </a:extLst>
          </p:cNvPr>
          <p:cNvSpPr/>
          <p:nvPr/>
        </p:nvSpPr>
        <p:spPr bwMode="auto">
          <a:xfrm>
            <a:off x="1403648" y="4895802"/>
            <a:ext cx="720080" cy="72008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X</a:t>
            </a:r>
            <a:r>
              <a:rPr lang="en-US" baseline="-25000" dirty="0"/>
              <a:t>j</a:t>
            </a:r>
            <a:r>
              <a:rPr lang="en-US" i="0" baseline="-25000" dirty="0"/>
              <a:t>1</a:t>
            </a:r>
            <a:endParaRPr kumimoji="0" lang="en-US" sz="2400" b="0" i="1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0EF2B2-7984-F785-C602-869976418D6B}"/>
              </a:ext>
            </a:extLst>
          </p:cNvPr>
          <p:cNvSpPr/>
          <p:nvPr/>
        </p:nvSpPr>
        <p:spPr bwMode="auto">
          <a:xfrm>
            <a:off x="2195736" y="4895802"/>
            <a:ext cx="720080" cy="72008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X</a:t>
            </a:r>
            <a:r>
              <a:rPr lang="en-US" baseline="-25000" dirty="0"/>
              <a:t>j</a:t>
            </a:r>
            <a:r>
              <a:rPr lang="en-US" i="0" baseline="-25000" dirty="0"/>
              <a:t>2</a:t>
            </a:r>
            <a:endParaRPr kumimoji="0" lang="en-US" sz="2400" b="0" i="1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B565EE-5F8D-9C33-BB59-DDB8B112EA0B}"/>
              </a:ext>
            </a:extLst>
          </p:cNvPr>
          <p:cNvSpPr/>
          <p:nvPr/>
        </p:nvSpPr>
        <p:spPr bwMode="auto">
          <a:xfrm>
            <a:off x="3491880" y="4895802"/>
            <a:ext cx="720080" cy="72008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i="0" baseline="-25000" dirty="0" err="1"/>
              <a:t>q</a:t>
            </a:r>
            <a:endParaRPr kumimoji="0" lang="en-US" sz="2400" b="0" i="1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502A37-068F-7DDD-88BC-AE6D754EDE10}"/>
              </a:ext>
            </a:extLst>
          </p:cNvPr>
          <p:cNvSpPr txBox="1"/>
          <p:nvPr/>
        </p:nvSpPr>
        <p:spPr>
          <a:xfrm>
            <a:off x="2863550" y="502500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…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1D1098-8BE2-F7D3-0A7E-E63E0DD68DFF}"/>
              </a:ext>
            </a:extLst>
          </p:cNvPr>
          <p:cNvGrpSpPr/>
          <p:nvPr/>
        </p:nvGrpSpPr>
        <p:grpSpPr>
          <a:xfrm>
            <a:off x="5868144" y="3212976"/>
            <a:ext cx="2736304" cy="2824500"/>
            <a:chOff x="5868144" y="3212976"/>
            <a:chExt cx="2736304" cy="282450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12DA8C1-B4DC-F358-CFFE-5CF97BCB2CDA}"/>
                </a:ext>
              </a:extLst>
            </p:cNvPr>
            <p:cNvCxnSpPr/>
            <p:nvPr/>
          </p:nvCxnSpPr>
          <p:spPr bwMode="auto">
            <a:xfrm flipH="1">
              <a:off x="6228184" y="4950153"/>
              <a:ext cx="398603" cy="65963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441C890-2FB5-B24F-8638-20B07D2A43AE}"/>
                </a:ext>
              </a:extLst>
            </p:cNvPr>
            <p:cNvCxnSpPr/>
            <p:nvPr/>
          </p:nvCxnSpPr>
          <p:spPr bwMode="auto">
            <a:xfrm>
              <a:off x="6770803" y="4950153"/>
              <a:ext cx="528046" cy="70589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6F0866A-37C0-4246-4B3A-54C8F1BAA9E9}"/>
                </a:ext>
              </a:extLst>
            </p:cNvPr>
            <p:cNvCxnSpPr/>
            <p:nvPr/>
          </p:nvCxnSpPr>
          <p:spPr bwMode="auto">
            <a:xfrm>
              <a:off x="7802905" y="3598714"/>
              <a:ext cx="441503" cy="66287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DFC3109-BBBD-633F-51C1-388CBB501487}"/>
                </a:ext>
              </a:extLst>
            </p:cNvPr>
            <p:cNvSpPr/>
            <p:nvPr/>
          </p:nvSpPr>
          <p:spPr bwMode="auto">
            <a:xfrm>
              <a:off x="5868144" y="5296006"/>
              <a:ext cx="720080" cy="720080"/>
            </a:xfrm>
            <a:prstGeom prst="ellipse">
              <a:avLst/>
            </a:prstGeom>
            <a:solidFill>
              <a:srgbClr val="F3B92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j</a:t>
              </a:r>
              <a:r>
                <a:rPr lang="en-US" i="0" baseline="-25000" dirty="0"/>
                <a:t>1</a:t>
              </a:r>
              <a:endParaRPr kumimoji="0" lang="en-US" sz="2400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89EC0D8-EC49-F5D5-0391-DCC7805BDF24}"/>
                </a:ext>
              </a:extLst>
            </p:cNvPr>
            <p:cNvSpPr/>
            <p:nvPr/>
          </p:nvSpPr>
          <p:spPr bwMode="auto">
            <a:xfrm>
              <a:off x="6876256" y="5317396"/>
              <a:ext cx="720080" cy="720080"/>
            </a:xfrm>
            <a:prstGeom prst="ellipse">
              <a:avLst/>
            </a:prstGeom>
            <a:solidFill>
              <a:srgbClr val="F3B92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j</a:t>
              </a:r>
              <a:r>
                <a:rPr lang="en-US" i="0" baseline="-25000" dirty="0"/>
                <a:t>2</a:t>
              </a:r>
              <a:endParaRPr kumimoji="0" lang="en-US" sz="2400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DC90ED4-ECC4-05F7-5808-35F53183E11E}"/>
                </a:ext>
              </a:extLst>
            </p:cNvPr>
            <p:cNvSpPr/>
            <p:nvPr/>
          </p:nvSpPr>
          <p:spPr bwMode="auto">
            <a:xfrm>
              <a:off x="7884368" y="3979714"/>
              <a:ext cx="720080" cy="720080"/>
            </a:xfrm>
            <a:prstGeom prst="ellipse">
              <a:avLst/>
            </a:prstGeom>
            <a:solidFill>
              <a:srgbClr val="F3B92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err="1"/>
                <a:t>X</a:t>
              </a:r>
              <a:r>
                <a:rPr lang="en-US" baseline="-25000" dirty="0" err="1"/>
                <a:t>j</a:t>
              </a:r>
              <a:r>
                <a:rPr lang="en-US" i="0" baseline="-25000" dirty="0" err="1"/>
                <a:t>q</a:t>
              </a:r>
              <a:endParaRPr kumimoji="0" lang="en-US" sz="2400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04EA2BE-207A-BF40-28B6-BBF8742BA4A0}"/>
                </a:ext>
              </a:extLst>
            </p:cNvPr>
            <p:cNvCxnSpPr>
              <a:stCxn id="24" idx="3"/>
            </p:cNvCxnSpPr>
            <p:nvPr/>
          </p:nvCxnSpPr>
          <p:spPr bwMode="auto">
            <a:xfrm flipH="1">
              <a:off x="7380312" y="3827603"/>
              <a:ext cx="105453" cy="15211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3C6ABB-B277-3D4E-5635-778D75D78562}"/>
                </a:ext>
              </a:extLst>
            </p:cNvPr>
            <p:cNvCxnSpPr/>
            <p:nvPr/>
          </p:nvCxnSpPr>
          <p:spPr bwMode="auto">
            <a:xfrm flipH="1">
              <a:off x="6749108" y="4261585"/>
              <a:ext cx="448625" cy="67820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7C7725F-2B9E-2E87-0ECD-D0FE3F9199FE}"/>
                </a:ext>
              </a:extLst>
            </p:cNvPr>
            <p:cNvSpPr txBox="1"/>
            <p:nvPr/>
          </p:nvSpPr>
          <p:spPr>
            <a:xfrm>
              <a:off x="7485765" y="4657766"/>
              <a:ext cx="595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…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061764E-E658-4AA1-E9BC-A121F079F83D}"/>
                </a:ext>
              </a:extLst>
            </p:cNvPr>
            <p:cNvSpPr/>
            <p:nvPr/>
          </p:nvSpPr>
          <p:spPr bwMode="auto">
            <a:xfrm>
              <a:off x="7380312" y="3212976"/>
              <a:ext cx="720080" cy="720080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i</a:t>
              </a:r>
              <a:endParaRPr kumimoji="0" 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395C932-1E9B-6FF4-1D1F-4C0DEA2DA0CB}"/>
                </a:ext>
              </a:extLst>
            </p:cNvPr>
            <p:cNvSpPr/>
            <p:nvPr/>
          </p:nvSpPr>
          <p:spPr bwMode="auto">
            <a:xfrm>
              <a:off x="6876256" y="3901545"/>
              <a:ext cx="720080" cy="720080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i</a:t>
              </a:r>
              <a:endParaRPr kumimoji="0" 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EDA0327-24C8-70E1-97C7-3D17ADB59AEF}"/>
                </a:ext>
              </a:extLst>
            </p:cNvPr>
            <p:cNvSpPr/>
            <p:nvPr/>
          </p:nvSpPr>
          <p:spPr bwMode="auto">
            <a:xfrm>
              <a:off x="6372200" y="4590114"/>
              <a:ext cx="720080" cy="720080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i</a:t>
              </a:r>
              <a:endParaRPr kumimoji="0" 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2175AAC-80D3-6F5C-4B33-029E19B44345}"/>
                </a:ext>
              </a:extLst>
            </p:cNvPr>
            <p:cNvCxnSpPr/>
            <p:nvPr/>
          </p:nvCxnSpPr>
          <p:spPr bwMode="auto">
            <a:xfrm>
              <a:off x="7485765" y="4516172"/>
              <a:ext cx="110571" cy="1415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" name="Right Arrow 50">
            <a:extLst>
              <a:ext uri="{FF2B5EF4-FFF2-40B4-BE49-F238E27FC236}">
                <a16:creationId xmlns:a16="http://schemas.microsoft.com/office/drawing/2014/main" id="{4E2FE14E-C9F6-D7F4-DC2C-22E4EE9C9BAD}"/>
              </a:ext>
            </a:extLst>
          </p:cNvPr>
          <p:cNvSpPr/>
          <p:nvPr/>
        </p:nvSpPr>
        <p:spPr bwMode="auto">
          <a:xfrm>
            <a:off x="4427637" y="4047033"/>
            <a:ext cx="756254" cy="4921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62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to a nice tree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: Choose an arbitrary vertex as root</a:t>
            </a:r>
          </a:p>
          <a:p>
            <a:r>
              <a:rPr lang="en-US" b="1" dirty="0"/>
              <a:t>Step 2</a:t>
            </a:r>
            <a:r>
              <a:rPr lang="en-US" dirty="0"/>
              <a:t>: Ensure that each node has at most 2 children:</a:t>
            </a:r>
          </a:p>
          <a:p>
            <a:r>
              <a:rPr lang="en-US" b="1" dirty="0"/>
              <a:t>Step 3</a:t>
            </a:r>
            <a:r>
              <a:rPr lang="en-US" dirty="0"/>
              <a:t>: Turn binary nodes in join nodes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2152328" y="3898429"/>
            <a:ext cx="720080" cy="720080"/>
          </a:xfrm>
          <a:prstGeom prst="ellipse">
            <a:avLst/>
          </a:prstGeom>
          <a:solidFill>
            <a:srgbClr val="F3B92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X</a:t>
            </a:r>
            <a:r>
              <a:rPr lang="en-US" baseline="-25000" dirty="0"/>
              <a:t>j</a:t>
            </a:r>
            <a:r>
              <a:rPr lang="en-US" i="0" baseline="-25000" dirty="0"/>
              <a:t>1</a:t>
            </a:r>
            <a:endParaRPr kumimoji="0" lang="en-US" sz="2400" b="0" i="1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160440" y="3919819"/>
            <a:ext cx="720080" cy="720080"/>
          </a:xfrm>
          <a:prstGeom prst="ellipse">
            <a:avLst/>
          </a:prstGeom>
          <a:solidFill>
            <a:srgbClr val="F3B92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X</a:t>
            </a:r>
            <a:r>
              <a:rPr lang="en-US" baseline="-25000" dirty="0"/>
              <a:t>j</a:t>
            </a:r>
            <a:r>
              <a:rPr lang="en-US" i="0" baseline="-25000" dirty="0"/>
              <a:t>2</a:t>
            </a:r>
            <a:endParaRPr kumimoji="0" lang="en-US" sz="2400" b="0" i="1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 flipH="1">
            <a:off x="3160440" y="3118595"/>
            <a:ext cx="105453" cy="294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>
            <a:endCxn id="7" idx="7"/>
          </p:cNvCxnSpPr>
          <p:nvPr/>
        </p:nvCxnSpPr>
        <p:spPr bwMode="auto">
          <a:xfrm flipH="1">
            <a:off x="2766955" y="3759615"/>
            <a:ext cx="105453" cy="2442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Connector 10"/>
          <p:cNvCxnSpPr>
            <a:stCxn id="6" idx="5"/>
            <a:endCxn id="8" idx="0"/>
          </p:cNvCxnSpPr>
          <p:nvPr/>
        </p:nvCxnSpPr>
        <p:spPr bwMode="auto">
          <a:xfrm>
            <a:off x="3271011" y="3807164"/>
            <a:ext cx="249469" cy="1126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Oval 5"/>
          <p:cNvSpPr/>
          <p:nvPr/>
        </p:nvSpPr>
        <p:spPr bwMode="auto">
          <a:xfrm>
            <a:off x="2656384" y="3192537"/>
            <a:ext cx="720080" cy="720080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X</a:t>
            </a:r>
            <a:r>
              <a:rPr lang="en-US" baseline="-25000" dirty="0"/>
              <a:t>i</a:t>
            </a:r>
            <a:endParaRPr kumimoji="0" 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Right Arrow 50">
            <a:extLst>
              <a:ext uri="{FF2B5EF4-FFF2-40B4-BE49-F238E27FC236}">
                <a16:creationId xmlns:a16="http://schemas.microsoft.com/office/drawing/2014/main" id="{D9D29274-41DE-BE81-90C4-7C2AD9B93F2B}"/>
              </a:ext>
            </a:extLst>
          </p:cNvPr>
          <p:cNvSpPr/>
          <p:nvPr/>
        </p:nvSpPr>
        <p:spPr bwMode="auto">
          <a:xfrm>
            <a:off x="4427637" y="4047033"/>
            <a:ext cx="756254" cy="4921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DFA496-5A0B-E065-2CFE-294614CCA4EF}"/>
              </a:ext>
            </a:extLst>
          </p:cNvPr>
          <p:cNvGrpSpPr/>
          <p:nvPr/>
        </p:nvGrpSpPr>
        <p:grpSpPr>
          <a:xfrm>
            <a:off x="6040319" y="2995018"/>
            <a:ext cx="1612687" cy="2550713"/>
            <a:chOff x="6040319" y="2995018"/>
            <a:chExt cx="1612687" cy="2550713"/>
          </a:xfrm>
        </p:grpSpPr>
        <p:sp>
          <p:nvSpPr>
            <p:cNvPr id="21" name="Oval 20"/>
            <p:cNvSpPr/>
            <p:nvPr/>
          </p:nvSpPr>
          <p:spPr bwMode="auto">
            <a:xfrm>
              <a:off x="6040319" y="4825651"/>
              <a:ext cx="720080" cy="720080"/>
            </a:xfrm>
            <a:prstGeom prst="ellipse">
              <a:avLst/>
            </a:prstGeom>
            <a:solidFill>
              <a:srgbClr val="F3B92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j</a:t>
              </a:r>
              <a:r>
                <a:rPr lang="en-US" i="0" baseline="-25000" dirty="0"/>
                <a:t>1</a:t>
              </a:r>
              <a:endParaRPr kumimoji="0" lang="en-US" sz="2400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6932926" y="4825651"/>
              <a:ext cx="720080" cy="720080"/>
            </a:xfrm>
            <a:prstGeom prst="ellipse">
              <a:avLst/>
            </a:prstGeom>
            <a:solidFill>
              <a:srgbClr val="F3B92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j</a:t>
              </a:r>
              <a:r>
                <a:rPr lang="en-US" i="0" baseline="-25000" dirty="0"/>
                <a:t>2</a:t>
              </a:r>
              <a:endParaRPr kumimoji="0" lang="en-US" sz="2400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3" name="Straight Connector 22"/>
            <p:cNvCxnSpPr/>
            <p:nvPr/>
          </p:nvCxnSpPr>
          <p:spPr bwMode="auto">
            <a:xfrm flipH="1">
              <a:off x="6904856" y="2995018"/>
              <a:ext cx="105453" cy="2943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Straight Connector 23"/>
            <p:cNvCxnSpPr/>
            <p:nvPr/>
          </p:nvCxnSpPr>
          <p:spPr bwMode="auto">
            <a:xfrm flipH="1">
              <a:off x="6450310" y="3637481"/>
              <a:ext cx="105453" cy="2442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Oval 19"/>
            <p:cNvSpPr/>
            <p:nvPr/>
          </p:nvSpPr>
          <p:spPr bwMode="auto">
            <a:xfrm>
              <a:off x="6400800" y="3068960"/>
              <a:ext cx="720080" cy="720080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i</a:t>
              </a:r>
              <a:endParaRPr kumimoji="0" 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25" name="Straight Connector 24"/>
            <p:cNvCxnSpPr>
              <a:stCxn id="20" idx="5"/>
            </p:cNvCxnSpPr>
            <p:nvPr/>
          </p:nvCxnSpPr>
          <p:spPr bwMode="auto">
            <a:xfrm>
              <a:off x="7015427" y="3683587"/>
              <a:ext cx="242387" cy="32029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Straight Connector 30"/>
            <p:cNvCxnSpPr>
              <a:stCxn id="28" idx="4"/>
            </p:cNvCxnSpPr>
            <p:nvPr/>
          </p:nvCxnSpPr>
          <p:spPr bwMode="auto">
            <a:xfrm>
              <a:off x="6400359" y="4585006"/>
              <a:ext cx="0" cy="24064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Straight Connector 32"/>
            <p:cNvCxnSpPr>
              <a:stCxn id="29" idx="4"/>
            </p:cNvCxnSpPr>
            <p:nvPr/>
          </p:nvCxnSpPr>
          <p:spPr bwMode="auto">
            <a:xfrm>
              <a:off x="7292966" y="4632697"/>
              <a:ext cx="0" cy="19295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Oval 27"/>
            <p:cNvSpPr/>
            <p:nvPr/>
          </p:nvSpPr>
          <p:spPr bwMode="auto">
            <a:xfrm>
              <a:off x="6040319" y="3864926"/>
              <a:ext cx="720080" cy="720080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i</a:t>
              </a:r>
              <a:endParaRPr kumimoji="0" 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9" name="Oval 28"/>
            <p:cNvSpPr/>
            <p:nvPr/>
          </p:nvSpPr>
          <p:spPr bwMode="auto">
            <a:xfrm>
              <a:off x="6932926" y="3912617"/>
              <a:ext cx="720080" cy="720080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X</a:t>
              </a:r>
              <a:r>
                <a:rPr lang="en-US" baseline="-25000" dirty="0"/>
                <a:t>i</a:t>
              </a:r>
              <a:endParaRPr kumimoji="0" 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061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to a nice tree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: Choose an arbitrary vertex as root</a:t>
            </a:r>
          </a:p>
          <a:p>
            <a:r>
              <a:rPr lang="en-US" b="1" dirty="0"/>
              <a:t>Step 2</a:t>
            </a:r>
            <a:r>
              <a:rPr lang="en-US" dirty="0"/>
              <a:t>: Ensure that each node has at most 2 children:</a:t>
            </a:r>
          </a:p>
          <a:p>
            <a:r>
              <a:rPr lang="en-US" b="1" dirty="0"/>
              <a:t>Step 3</a:t>
            </a:r>
            <a:r>
              <a:rPr lang="en-US" dirty="0"/>
              <a:t>: Turn binary nodes in join nodes</a:t>
            </a:r>
          </a:p>
          <a:p>
            <a:r>
              <a:rPr lang="en-US" b="1" dirty="0"/>
              <a:t>Step 4</a:t>
            </a:r>
            <a:r>
              <a:rPr lang="en-US" dirty="0"/>
              <a:t>: Nodes with one child get a series of introduce and forget nodes 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2776607" y="5009134"/>
            <a:ext cx="720080" cy="720080"/>
          </a:xfrm>
          <a:prstGeom prst="ellipse">
            <a:avLst/>
          </a:prstGeom>
          <a:solidFill>
            <a:srgbClr val="F3B92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err="1"/>
              <a:t>X</a:t>
            </a:r>
            <a:r>
              <a:rPr lang="en-US" baseline="-25000" dirty="0" err="1"/>
              <a:t>j</a:t>
            </a:r>
            <a:endParaRPr kumimoji="0" lang="en-US" sz="2400" b="0" i="1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 flipH="1">
            <a:off x="3284169" y="3885941"/>
            <a:ext cx="105453" cy="294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>
            <a:stCxn id="6" idx="4"/>
            <a:endCxn id="7" idx="0"/>
          </p:cNvCxnSpPr>
          <p:nvPr/>
        </p:nvCxnSpPr>
        <p:spPr bwMode="auto">
          <a:xfrm flipH="1">
            <a:off x="3136647" y="4679963"/>
            <a:ext cx="3506" cy="3291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Oval 5"/>
          <p:cNvSpPr/>
          <p:nvPr/>
        </p:nvSpPr>
        <p:spPr bwMode="auto">
          <a:xfrm>
            <a:off x="2780113" y="3959883"/>
            <a:ext cx="720080" cy="720080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X</a:t>
            </a:r>
            <a:r>
              <a:rPr lang="en-US" baseline="-25000" dirty="0"/>
              <a:t>i</a:t>
            </a:r>
            <a:endParaRPr kumimoji="0" 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39127" y="5135939"/>
            <a:ext cx="1745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Below, forget vertices in </a:t>
            </a:r>
            <a:r>
              <a:rPr lang="en-US" sz="1600" b="1" dirty="0" err="1">
                <a:solidFill>
                  <a:srgbClr val="7030A0"/>
                </a:solidFill>
              </a:rPr>
              <a:t>X</a:t>
            </a:r>
            <a:r>
              <a:rPr lang="en-US" sz="1600" b="1" baseline="-25000" dirty="0" err="1">
                <a:solidFill>
                  <a:srgbClr val="7030A0"/>
                </a:solidFill>
              </a:rPr>
              <a:t>j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br>
              <a:rPr lang="en-US" sz="1600" b="1" dirty="0">
                <a:solidFill>
                  <a:srgbClr val="7030A0"/>
                </a:solidFill>
              </a:rPr>
            </a:br>
            <a:r>
              <a:rPr lang="en-US" sz="1600" b="1" dirty="0">
                <a:solidFill>
                  <a:srgbClr val="7030A0"/>
                </a:solidFill>
              </a:rPr>
              <a:t>that are not in X</a:t>
            </a:r>
            <a:r>
              <a:rPr lang="en-US" sz="1600" b="1" baseline="-25000" dirty="0">
                <a:solidFill>
                  <a:srgbClr val="7030A0"/>
                </a:solidFill>
              </a:rPr>
              <a:t>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14025" y="3494482"/>
                <a:ext cx="170550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7030A0"/>
                    </a:solidFill>
                  </a:rPr>
                  <a:t>Above, </a:t>
                </a:r>
                <a:br>
                  <a:rPr lang="en-US" sz="1600" b="1" dirty="0">
                    <a:solidFill>
                      <a:srgbClr val="7030A0"/>
                    </a:solidFill>
                  </a:rPr>
                </a:br>
                <a:r>
                  <a:rPr lang="en-US" sz="1600" b="1" dirty="0">
                    <a:solidFill>
                      <a:srgbClr val="7030A0"/>
                    </a:solidFill>
                  </a:rPr>
                  <a:t>introduce vertices in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1600" b="1" i="1" baseline="-250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1600" b="1" dirty="0">
                    <a:solidFill>
                      <a:srgbClr val="7030A0"/>
                    </a:solidFill>
                  </a:rPr>
                  <a:t> </a:t>
                </a:r>
                <a:br>
                  <a:rPr lang="en-US" sz="1600" b="1" dirty="0">
                    <a:solidFill>
                      <a:srgbClr val="7030A0"/>
                    </a:solidFill>
                  </a:rPr>
                </a:br>
                <a:r>
                  <a:rPr lang="en-US" sz="1600" b="1" dirty="0">
                    <a:solidFill>
                      <a:srgbClr val="7030A0"/>
                    </a:solidFill>
                  </a:rPr>
                  <a:t>that are not in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1600" b="1" i="1" baseline="-25000" dirty="0" err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endParaRPr lang="en-US" sz="1600" b="1" baseline="-25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025" y="3494482"/>
                <a:ext cx="1705509" cy="1077218"/>
              </a:xfrm>
              <a:prstGeom prst="rect">
                <a:avLst/>
              </a:prstGeom>
              <a:blipFill>
                <a:blip r:embed="rId2"/>
                <a:stretch>
                  <a:fillRect l="-1786" t="-1695" b="-62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533B2AE-24AB-2601-39E7-FC4440985A54}"/>
              </a:ext>
            </a:extLst>
          </p:cNvPr>
          <p:cNvGrpSpPr/>
          <p:nvPr/>
        </p:nvGrpSpPr>
        <p:grpSpPr>
          <a:xfrm>
            <a:off x="5968812" y="3261394"/>
            <a:ext cx="743769" cy="3394888"/>
            <a:chOff x="5968812" y="3261394"/>
            <a:chExt cx="743769" cy="339488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F55E7F-F956-AE7F-23F0-02BDDEB5A203}"/>
                </a:ext>
              </a:extLst>
            </p:cNvPr>
            <p:cNvCxnSpPr/>
            <p:nvPr/>
          </p:nvCxnSpPr>
          <p:spPr bwMode="auto">
            <a:xfrm flipH="1">
              <a:off x="6502790" y="3261394"/>
              <a:ext cx="105453" cy="29430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83032B0-BADD-5311-FD45-9A475D76A35C}"/>
                </a:ext>
              </a:extLst>
            </p:cNvPr>
            <p:cNvGrpSpPr/>
            <p:nvPr/>
          </p:nvGrpSpPr>
          <p:grpSpPr>
            <a:xfrm>
              <a:off x="5968812" y="3361986"/>
              <a:ext cx="743769" cy="3294296"/>
              <a:chOff x="4579739" y="3429000"/>
              <a:chExt cx="743769" cy="3294296"/>
            </a:xfrm>
          </p:grpSpPr>
          <p:cxnSp>
            <p:nvCxnSpPr>
              <p:cNvPr id="21" name="Straight Connector 20"/>
              <p:cNvCxnSpPr>
                <a:endCxn id="17" idx="0"/>
              </p:cNvCxnSpPr>
              <p:nvPr/>
            </p:nvCxnSpPr>
            <p:spPr bwMode="auto">
              <a:xfrm flipH="1">
                <a:off x="4939779" y="3945406"/>
                <a:ext cx="23689" cy="20578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5" name="Oval 14"/>
              <p:cNvSpPr/>
              <p:nvPr/>
            </p:nvSpPr>
            <p:spPr bwMode="auto">
              <a:xfrm>
                <a:off x="4579739" y="3429000"/>
                <a:ext cx="720080" cy="720080"/>
              </a:xfrm>
              <a:prstGeom prst="ellipse">
                <a:avLst/>
              </a:prstGeom>
              <a:solidFill>
                <a:srgbClr val="C00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/>
                  <a:t>X</a:t>
                </a:r>
                <a:r>
                  <a:rPr lang="en-US" baseline="-25000" dirty="0"/>
                  <a:t>i</a:t>
                </a:r>
                <a:endPara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 bwMode="auto">
              <a:xfrm>
                <a:off x="4579739" y="6003216"/>
                <a:ext cx="720080" cy="720080"/>
              </a:xfrm>
              <a:prstGeom prst="ellipse">
                <a:avLst/>
              </a:prstGeom>
              <a:solidFill>
                <a:srgbClr val="F3B927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 err="1"/>
                  <a:t>X</a:t>
                </a:r>
                <a:r>
                  <a:rPr lang="en-US" baseline="-25000" dirty="0" err="1"/>
                  <a:t>j</a:t>
                </a:r>
                <a:endParaRPr kumimoji="0" lang="en-US" sz="2400" b="0" i="1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9" name="Oval 18"/>
              <p:cNvSpPr/>
              <p:nvPr/>
            </p:nvSpPr>
            <p:spPr bwMode="auto">
              <a:xfrm>
                <a:off x="4579739" y="4249672"/>
                <a:ext cx="720080" cy="720080"/>
              </a:xfrm>
              <a:prstGeom prst="ellipse">
                <a:avLst/>
              </a:prstGeom>
              <a:solidFill>
                <a:srgbClr val="C00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dirty="0"/>
              </a:p>
            </p:txBody>
          </p:sp>
          <p:sp>
            <p:nvSpPr>
              <p:cNvPr id="18" name="Oval 17"/>
              <p:cNvSpPr/>
              <p:nvPr/>
            </p:nvSpPr>
            <p:spPr bwMode="auto">
              <a:xfrm>
                <a:off x="4603428" y="5153424"/>
                <a:ext cx="720080" cy="720080"/>
              </a:xfrm>
              <a:prstGeom prst="ellipse">
                <a:avLst/>
              </a:prstGeom>
              <a:solidFill>
                <a:srgbClr val="C00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dirty="0">
                  <a:solidFill>
                    <a:schemeClr val="lt1"/>
                  </a:solidFill>
                  <a:latin typeface="+mn-lt"/>
                </a:endParaRPr>
              </a:p>
            </p:txBody>
          </p:sp>
        </p:grpSp>
      </p:grpSp>
      <p:cxnSp>
        <p:nvCxnSpPr>
          <p:cNvPr id="26" name="Straight Arrow Connector 25"/>
          <p:cNvCxnSpPr/>
          <p:nvPr/>
        </p:nvCxnSpPr>
        <p:spPr bwMode="auto">
          <a:xfrm flipH="1">
            <a:off x="6712581" y="4119128"/>
            <a:ext cx="667731" cy="0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ight Arrow 50">
            <a:extLst>
              <a:ext uri="{FF2B5EF4-FFF2-40B4-BE49-F238E27FC236}">
                <a16:creationId xmlns:a16="http://schemas.microsoft.com/office/drawing/2014/main" id="{BAAAF45E-29BD-091F-1447-B0473B134BE1}"/>
              </a:ext>
            </a:extLst>
          </p:cNvPr>
          <p:cNvSpPr/>
          <p:nvPr/>
        </p:nvSpPr>
        <p:spPr bwMode="auto">
          <a:xfrm>
            <a:off x="4474297" y="4594285"/>
            <a:ext cx="756254" cy="4921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748BCF-84C0-6482-10EE-792B55707668}"/>
              </a:ext>
            </a:extLst>
          </p:cNvPr>
          <p:cNvCxnSpPr/>
          <p:nvPr/>
        </p:nvCxnSpPr>
        <p:spPr bwMode="auto">
          <a:xfrm flipH="1">
            <a:off x="6732240" y="5840131"/>
            <a:ext cx="667731" cy="0"/>
          </a:xfrm>
          <a:prstGeom prst="straightConnector1">
            <a:avLst/>
          </a:prstGeom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30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to a nice tree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3724206" cy="3962400"/>
          </a:xfrm>
        </p:spPr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: Choose an arbitrary vertex as root</a:t>
            </a:r>
          </a:p>
          <a:p>
            <a:r>
              <a:rPr lang="en-US" b="1" dirty="0"/>
              <a:t>Step 2</a:t>
            </a:r>
            <a:r>
              <a:rPr lang="en-US" dirty="0"/>
              <a:t>: Ensure that each node has at most 2 children:</a:t>
            </a:r>
          </a:p>
          <a:p>
            <a:r>
              <a:rPr lang="en-US" b="1" dirty="0"/>
              <a:t>Step 3</a:t>
            </a:r>
            <a:r>
              <a:rPr lang="en-US" dirty="0"/>
              <a:t>: Turn binary nodes in join nodes</a:t>
            </a:r>
          </a:p>
          <a:p>
            <a:r>
              <a:rPr lang="en-US" b="1" dirty="0"/>
              <a:t>Step 4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Nodes with one child get a series of introduce and forget nodes </a:t>
            </a:r>
          </a:p>
          <a:p>
            <a:r>
              <a:rPr lang="en-US" b="1" dirty="0"/>
              <a:t>Step 5</a:t>
            </a:r>
            <a:r>
              <a:rPr lang="en-US" dirty="0"/>
              <a:t>: Ensure that leaf bags have size 1, by adding introduce nodes: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 dirty="0" err="1"/>
              <a:t>Treewidth</a:t>
            </a:r>
            <a:endParaRPr lang="nl-NL" dirty="0"/>
          </a:p>
        </p:txBody>
      </p:sp>
      <p:sp>
        <p:nvSpPr>
          <p:cNvPr id="6" name="Oval 5"/>
          <p:cNvSpPr/>
          <p:nvPr/>
        </p:nvSpPr>
        <p:spPr bwMode="auto">
          <a:xfrm>
            <a:off x="5348259" y="3068960"/>
            <a:ext cx="1008112" cy="936104"/>
          </a:xfrm>
          <a:prstGeom prst="ellipse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v</a:t>
            </a:r>
            <a:r>
              <a:rPr lang="en-US" sz="1400" i="0" baseline="-25000" dirty="0">
                <a:solidFill>
                  <a:schemeClr val="bg1"/>
                </a:solidFill>
              </a:rPr>
              <a:t>1</a:t>
            </a:r>
            <a:br>
              <a:rPr lang="en-US" sz="1400" i="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v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…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err="1">
                <a:solidFill>
                  <a:schemeClr val="bg1"/>
                </a:solidFill>
              </a:rPr>
              <a:t>v</a:t>
            </a:r>
            <a:r>
              <a:rPr lang="en-US" sz="1400" baseline="-25000" dirty="0" err="1">
                <a:solidFill>
                  <a:schemeClr val="bg1"/>
                </a:solidFill>
              </a:rPr>
              <a:t>r</a:t>
            </a:r>
            <a:endParaRPr kumimoji="0" lang="en-US" sz="1400" b="0" i="1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 flipV="1">
            <a:off x="5852315" y="2560711"/>
            <a:ext cx="0" cy="5082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C5E82525-E48E-F91E-A66E-4D1F2426B1A3}"/>
              </a:ext>
            </a:extLst>
          </p:cNvPr>
          <p:cNvGrpSpPr/>
          <p:nvPr/>
        </p:nvGrpSpPr>
        <p:grpSpPr>
          <a:xfrm>
            <a:off x="7746015" y="1412776"/>
            <a:ext cx="1008112" cy="4207950"/>
            <a:chOff x="5283207" y="2204864"/>
            <a:chExt cx="1008112" cy="4207950"/>
          </a:xfrm>
        </p:grpSpPr>
        <p:cxnSp>
          <p:nvCxnSpPr>
            <p:cNvPr id="14" name="Straight Connector 13"/>
            <p:cNvCxnSpPr/>
            <p:nvPr/>
          </p:nvCxnSpPr>
          <p:spPr bwMode="auto">
            <a:xfrm>
              <a:off x="5819817" y="2204864"/>
              <a:ext cx="0" cy="404083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Oval 8"/>
            <p:cNvSpPr/>
            <p:nvPr/>
          </p:nvSpPr>
          <p:spPr bwMode="auto">
            <a:xfrm>
              <a:off x="5283207" y="2672916"/>
              <a:ext cx="1008112" cy="936104"/>
            </a:xfrm>
            <a:prstGeom prst="ellipse">
              <a:avLst/>
            </a:prstGeom>
            <a:solidFill>
              <a:srgbClr val="C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v</a:t>
              </a:r>
              <a:r>
                <a:rPr lang="en-US" sz="1400" i="0" baseline="-25000" dirty="0">
                  <a:solidFill>
                    <a:schemeClr val="bg1"/>
                  </a:solidFill>
                </a:rPr>
                <a:t>1</a:t>
              </a:r>
              <a:br>
                <a:rPr lang="en-US" sz="1400" i="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v</a:t>
              </a:r>
              <a:r>
                <a:rPr lang="en-US" sz="1400" baseline="-25000" dirty="0">
                  <a:solidFill>
                    <a:schemeClr val="bg1"/>
                  </a:solidFill>
                </a:rPr>
                <a:t>2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…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dirty="0" err="1">
                  <a:solidFill>
                    <a:schemeClr val="bg1"/>
                  </a:solidFill>
                </a:rPr>
                <a:t>v</a:t>
              </a:r>
              <a:r>
                <a:rPr lang="en-US" sz="1400" baseline="-25000" dirty="0" err="1">
                  <a:solidFill>
                    <a:schemeClr val="bg1"/>
                  </a:solidFill>
                </a:rPr>
                <a:t>r</a:t>
              </a:r>
              <a:endParaRPr kumimoji="0" lang="en-US" sz="1400" b="0" i="1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5343574" y="3789040"/>
              <a:ext cx="921567" cy="864096"/>
            </a:xfrm>
            <a:prstGeom prst="ellipse">
              <a:avLst/>
            </a:prstGeom>
            <a:solidFill>
              <a:srgbClr val="C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v</a:t>
              </a:r>
              <a:r>
                <a:rPr lang="en-US" sz="1400" i="0" baseline="-25000" dirty="0">
                  <a:solidFill>
                    <a:schemeClr val="bg1"/>
                  </a:solidFill>
                </a:rPr>
                <a:t>1</a:t>
              </a:r>
              <a:br>
                <a:rPr lang="en-US" sz="1400" i="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v</a:t>
              </a:r>
              <a:r>
                <a:rPr lang="en-US" sz="1400" baseline="-25000" dirty="0">
                  <a:solidFill>
                    <a:schemeClr val="bg1"/>
                  </a:solidFill>
                </a:rPr>
                <a:t>2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…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dirty="0" err="1">
                  <a:solidFill>
                    <a:schemeClr val="bg1"/>
                  </a:solidFill>
                </a:rPr>
                <a:t>v</a:t>
              </a:r>
              <a:r>
                <a:rPr lang="en-US" sz="1400" baseline="-25000" dirty="0" err="1">
                  <a:solidFill>
                    <a:schemeClr val="bg1"/>
                  </a:solidFill>
                </a:rPr>
                <a:t>r</a:t>
              </a:r>
              <a:endParaRPr kumimoji="0" lang="en-US" sz="1400" b="0" i="1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5643122" y="6098394"/>
              <a:ext cx="353390" cy="314420"/>
            </a:xfrm>
            <a:prstGeom prst="ellipse">
              <a:avLst/>
            </a:prstGeom>
            <a:solidFill>
              <a:srgbClr val="C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v</a:t>
              </a:r>
              <a:r>
                <a:rPr lang="en-US" sz="1400" i="0" baseline="-25000" dirty="0">
                  <a:solidFill>
                    <a:schemeClr val="bg1"/>
                  </a:solidFill>
                </a:rPr>
                <a:t>1</a:t>
              </a:r>
              <a:endParaRPr kumimoji="0" lang="en-US" sz="1400" b="0" i="1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5567309" y="5445224"/>
              <a:ext cx="495183" cy="468052"/>
            </a:xfrm>
            <a:prstGeom prst="ellipse">
              <a:avLst/>
            </a:prstGeom>
            <a:solidFill>
              <a:srgbClr val="C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v</a:t>
              </a:r>
              <a:r>
                <a:rPr lang="en-US" sz="1400" i="0" baseline="-25000" dirty="0">
                  <a:solidFill>
                    <a:schemeClr val="bg1"/>
                  </a:solidFill>
                </a:rPr>
                <a:t>1</a:t>
              </a:r>
              <a:br>
                <a:rPr lang="en-US" sz="1400" i="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v</a:t>
              </a:r>
              <a:r>
                <a:rPr lang="en-US" sz="1400" i="0" baseline="-25000" dirty="0">
                  <a:solidFill>
                    <a:schemeClr val="bg1"/>
                  </a:solidFill>
                </a:rPr>
                <a:t>2</a:t>
              </a:r>
              <a:endParaRPr kumimoji="0" lang="en-US" sz="1400" b="0" i="1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98618" y="4693333"/>
              <a:ext cx="595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…</a:t>
              </a:r>
            </a:p>
          </p:txBody>
        </p:sp>
      </p:grpSp>
      <p:sp>
        <p:nvSpPr>
          <p:cNvPr id="16" name="Right Arrow 50">
            <a:extLst>
              <a:ext uri="{FF2B5EF4-FFF2-40B4-BE49-F238E27FC236}">
                <a16:creationId xmlns:a16="http://schemas.microsoft.com/office/drawing/2014/main" id="{3C809563-D0C2-A1C3-E226-67500CFC1055}"/>
              </a:ext>
            </a:extLst>
          </p:cNvPr>
          <p:cNvSpPr/>
          <p:nvPr/>
        </p:nvSpPr>
        <p:spPr bwMode="auto">
          <a:xfrm>
            <a:off x="6735247" y="3182937"/>
            <a:ext cx="756254" cy="4921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5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1D71-C3CC-7992-705B-865B0CB5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613A-E4DB-D4E8-30DF-625DB000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to a nice tree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7E75-7F6D-80F2-1D2B-33FCB44B0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3724206" cy="3962400"/>
          </a:xfrm>
        </p:spPr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: Choose an arbitrary vertex as root</a:t>
            </a:r>
          </a:p>
          <a:p>
            <a:r>
              <a:rPr lang="en-US" b="1" dirty="0"/>
              <a:t>Step 2</a:t>
            </a:r>
            <a:r>
              <a:rPr lang="en-US" dirty="0"/>
              <a:t>: Ensure that each node has at most 2 children:</a:t>
            </a:r>
          </a:p>
          <a:p>
            <a:r>
              <a:rPr lang="en-US" b="1" dirty="0"/>
              <a:t>Step 3</a:t>
            </a:r>
            <a:r>
              <a:rPr lang="en-US" dirty="0"/>
              <a:t>: Turn binary nodes in join nodes</a:t>
            </a:r>
          </a:p>
          <a:p>
            <a:r>
              <a:rPr lang="en-US" b="1" dirty="0"/>
              <a:t>Step 4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Nodes with one child get a series of introduce and forget nodes </a:t>
            </a:r>
          </a:p>
          <a:p>
            <a:r>
              <a:rPr lang="en-US" b="1" dirty="0"/>
              <a:t>Step 5</a:t>
            </a:r>
            <a:r>
              <a:rPr lang="en-US" dirty="0"/>
              <a:t>: Ensure that leaf bags have size 1, by adding introduce nodes: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3">
                <a:extLst>
                  <a:ext uri="{FF2B5EF4-FFF2-40B4-BE49-F238E27FC236}">
                    <a16:creationId xmlns:a16="http://schemas.microsoft.com/office/drawing/2014/main" id="{F0C21EC1-612B-CCCC-8D0C-42CE091903A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67300" y="1829966"/>
                <a:ext cx="3543300" cy="396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Transformation in O(n) time that maintains the properties of a tree decomposition</a:t>
                </a:r>
              </a:p>
              <a:p>
                <a:r>
                  <a:rPr lang="en-US" sz="1800" dirty="0"/>
                  <a:t>A tree decomposition is: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Tree with a vertex set associated to every node, we call this a bag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all edges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there is a bag containing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nodes that contain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form a connected subtree</a:t>
                </a:r>
              </a:p>
              <a:p>
                <a:endParaRPr lang="LID4096" sz="1800" dirty="0"/>
              </a:p>
            </p:txBody>
          </p:sp>
        </mc:Choice>
        <mc:Fallback xmlns="">
          <p:sp>
            <p:nvSpPr>
              <p:cNvPr id="13" name="Content Placeholder 3">
                <a:extLst>
                  <a:ext uri="{FF2B5EF4-FFF2-40B4-BE49-F238E27FC236}">
                    <a16:creationId xmlns:a16="http://schemas.microsoft.com/office/drawing/2014/main" id="{F0C21EC1-612B-CCCC-8D0C-42CE09190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7300" y="1829966"/>
                <a:ext cx="3543300" cy="3962400"/>
              </a:xfrm>
              <a:prstGeom prst="rect">
                <a:avLst/>
              </a:prstGeom>
              <a:blipFill>
                <a:blip r:embed="rId2"/>
                <a:stretch>
                  <a:fillRect l="-344" t="-769" r="-2234" b="-553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80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B977-A353-91FA-3BC1-8FB68D66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A3AA-E598-0CA0-405E-EBFF44A0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819400"/>
            <a:ext cx="7886700" cy="1743075"/>
          </a:xfrm>
        </p:spPr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BBB64-645D-F58F-D5BC-CBB3156D4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/>
          <a:p>
            <a:r>
              <a:rPr lang="en-US" dirty="0"/>
              <a:t>Dynamic programming on </a:t>
            </a:r>
          </a:p>
          <a:p>
            <a:r>
              <a:rPr lang="en-US" dirty="0"/>
              <a:t>tree decompositions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86058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Algorithms using tree decompositions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5" name="Rectangle 3"/>
              <p:cNvSpPr>
                <a:spLocks noGrp="1" noChangeArrowheads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Step 1</a:t>
                </a:r>
                <a:r>
                  <a:rPr lang="en-GB" altLang="en-US" dirty="0"/>
                  <a:t>: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Find</a:t>
                </a:r>
                <a:r>
                  <a:rPr lang="en-GB" altLang="en-US" dirty="0"/>
                  <a:t> a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tree</a:t>
                </a:r>
                <a:r>
                  <a:rPr lang="en-GB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decomposition</a:t>
                </a:r>
                <a:r>
                  <a:rPr lang="en-GB" altLang="en-US" dirty="0"/>
                  <a:t> of width bounded by some small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altLang="en-US" dirty="0"/>
                  <a:t>.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GB" altLang="en-US" dirty="0"/>
                  <a:t>Later more on this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Step 2</a:t>
                </a:r>
                <a:r>
                  <a:rPr lang="en-GB" altLang="en-US" dirty="0"/>
                  <a:t>: Use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dynamic</a:t>
                </a:r>
                <a:r>
                  <a:rPr lang="en-GB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programming</a:t>
                </a:r>
                <a:r>
                  <a:rPr lang="en-GB" altLang="en-US" dirty="0"/>
                  <a:t>, bottom-up on the tree.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Here we use a nice tree decomposition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Or transform the tree decomposition into a nice tree decomposition</a:t>
                </a:r>
              </a:p>
            </p:txBody>
          </p:sp>
        </mc:Choice>
        <mc:Fallback xmlns="">
          <p:sp>
            <p:nvSpPr>
              <p:cNvPr id="3072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37" t="-1385" r="-50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3">
            <a:extLst>
              <a:ext uri="{FF2B5EF4-FFF2-40B4-BE49-F238E27FC236}">
                <a16:creationId xmlns:a16="http://schemas.microsoft.com/office/drawing/2014/main" id="{58FF37FA-0B44-4475-B987-40A2BBC29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362200"/>
            <a:ext cx="762000" cy="990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724D6CEF-1C08-442E-B090-2FE69C5CC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267200"/>
            <a:ext cx="533400" cy="9144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24BA6EF7-E9F4-4BBE-986E-D2EDBAD07A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8213" y="2362200"/>
            <a:ext cx="1298575" cy="28194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22612AC8-9C51-475F-A7A6-9713B559E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336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C678F7AF-C12A-4008-89C3-FA477046E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480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A8B7E80A-4226-4F99-AB78-7446323A9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9624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BD88498F-2442-453D-A735-00AF22ABE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8768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42B7F135-6713-4E15-A4A1-314EF455D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9530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7D8A276E-1CDC-47A1-B206-DC0D9EC4A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15" name="Group 12">
            <a:extLst>
              <a:ext uri="{FF2B5EF4-FFF2-40B4-BE49-F238E27FC236}">
                <a16:creationId xmlns:a16="http://schemas.microsoft.com/office/drawing/2014/main" id="{6BDA51DA-9DDB-403C-B660-39DC76FBFD6B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800600"/>
            <a:ext cx="379413" cy="760413"/>
            <a:chOff x="3312" y="3024"/>
            <a:chExt cx="239" cy="479"/>
          </a:xfrm>
        </p:grpSpPr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6E4F5387-7D93-4D30-834F-8B096230E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6F270EF2-45F2-4B81-A180-188B0AE07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1</a:t>
              </a:r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380A79AF-2976-4996-93CB-E26217EB275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876800"/>
            <a:ext cx="379413" cy="760413"/>
            <a:chOff x="4656" y="3072"/>
            <a:chExt cx="239" cy="479"/>
          </a:xfrm>
        </p:grpSpPr>
        <p:sp>
          <p:nvSpPr>
            <p:cNvPr id="19" name="AutoShape 16">
              <a:extLst>
                <a:ext uri="{FF2B5EF4-FFF2-40B4-BE49-F238E27FC236}">
                  <a16:creationId xmlns:a16="http://schemas.microsoft.com/office/drawing/2014/main" id="{B71CA0A4-A7B9-49A8-A435-DF9098442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072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AutoShape 17">
              <a:extLst>
                <a:ext uri="{FF2B5EF4-FFF2-40B4-BE49-F238E27FC236}">
                  <a16:creationId xmlns:a16="http://schemas.microsoft.com/office/drawing/2014/main" id="{240F7A29-1791-4395-9B5D-A9A8E3E5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072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2</a:t>
              </a:r>
            </a:p>
          </p:txBody>
        </p:sp>
      </p:grpSp>
      <p:grpSp>
        <p:nvGrpSpPr>
          <p:cNvPr id="21" name="Group 18">
            <a:extLst>
              <a:ext uri="{FF2B5EF4-FFF2-40B4-BE49-F238E27FC236}">
                <a16:creationId xmlns:a16="http://schemas.microsoft.com/office/drawing/2014/main" id="{8BAB72C6-C53E-4E56-95F9-7B6636CD62BE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810000"/>
            <a:ext cx="379413" cy="760413"/>
            <a:chOff x="3600" y="2400"/>
            <a:chExt cx="239" cy="479"/>
          </a:xfrm>
        </p:grpSpPr>
        <p:sp>
          <p:nvSpPr>
            <p:cNvPr id="22" name="AutoShape 19">
              <a:extLst>
                <a:ext uri="{FF2B5EF4-FFF2-40B4-BE49-F238E27FC236}">
                  <a16:creationId xmlns:a16="http://schemas.microsoft.com/office/drawing/2014/main" id="{6C6D7076-3369-4FC7-A198-16EA07274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400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20">
              <a:extLst>
                <a:ext uri="{FF2B5EF4-FFF2-40B4-BE49-F238E27FC236}">
                  <a16:creationId xmlns:a16="http://schemas.microsoft.com/office/drawing/2014/main" id="{6C1DA3C3-398B-46B0-93F7-F8C755CE5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400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3</a:t>
              </a:r>
            </a:p>
          </p:txBody>
        </p:sp>
      </p:grpSp>
      <p:grpSp>
        <p:nvGrpSpPr>
          <p:cNvPr id="24" name="Group 21">
            <a:extLst>
              <a:ext uri="{FF2B5EF4-FFF2-40B4-BE49-F238E27FC236}">
                <a16:creationId xmlns:a16="http://schemas.microsoft.com/office/drawing/2014/main" id="{67C91F97-F7AC-4FAE-B37C-E8DCA1AFC6C0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819400"/>
            <a:ext cx="379413" cy="760413"/>
            <a:chOff x="3840" y="1776"/>
            <a:chExt cx="239" cy="479"/>
          </a:xfrm>
        </p:grpSpPr>
        <p:sp>
          <p:nvSpPr>
            <p:cNvPr id="25" name="AutoShape 22">
              <a:extLst>
                <a:ext uri="{FF2B5EF4-FFF2-40B4-BE49-F238E27FC236}">
                  <a16:creationId xmlns:a16="http://schemas.microsoft.com/office/drawing/2014/main" id="{116874C2-2D4C-453E-AD06-C165AA5B7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776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23">
              <a:extLst>
                <a:ext uri="{FF2B5EF4-FFF2-40B4-BE49-F238E27FC236}">
                  <a16:creationId xmlns:a16="http://schemas.microsoft.com/office/drawing/2014/main" id="{9337D489-96D7-40C5-B0C1-822040267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776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4</a:t>
              </a:r>
            </a:p>
          </p:txBody>
        </p:sp>
      </p:grpSp>
      <p:grpSp>
        <p:nvGrpSpPr>
          <p:cNvPr id="27" name="Group 24">
            <a:extLst>
              <a:ext uri="{FF2B5EF4-FFF2-40B4-BE49-F238E27FC236}">
                <a16:creationId xmlns:a16="http://schemas.microsoft.com/office/drawing/2014/main" id="{50A837CB-8457-46EE-A930-3E37465C8CD1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828800"/>
            <a:ext cx="379413" cy="760413"/>
            <a:chOff x="4176" y="1152"/>
            <a:chExt cx="239" cy="479"/>
          </a:xfrm>
        </p:grpSpPr>
        <p:sp>
          <p:nvSpPr>
            <p:cNvPr id="28" name="AutoShape 25">
              <a:extLst>
                <a:ext uri="{FF2B5EF4-FFF2-40B4-BE49-F238E27FC236}">
                  <a16:creationId xmlns:a16="http://schemas.microsoft.com/office/drawing/2014/main" id="{446C418D-4E9D-494B-9A26-091143210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152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26">
              <a:extLst>
                <a:ext uri="{FF2B5EF4-FFF2-40B4-BE49-F238E27FC236}">
                  <a16:creationId xmlns:a16="http://schemas.microsoft.com/office/drawing/2014/main" id="{701BEDC7-3054-424F-A1A7-1FEBBD8E6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152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6</a:t>
              </a:r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963AD65D-2A32-4670-A257-A6FC47177974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3048000"/>
            <a:ext cx="379413" cy="760413"/>
            <a:chOff x="5328" y="1920"/>
            <a:chExt cx="239" cy="479"/>
          </a:xfrm>
        </p:grpSpPr>
        <p:sp>
          <p:nvSpPr>
            <p:cNvPr id="31" name="AutoShape 28">
              <a:extLst>
                <a:ext uri="{FF2B5EF4-FFF2-40B4-BE49-F238E27FC236}">
                  <a16:creationId xmlns:a16="http://schemas.microsoft.com/office/drawing/2014/main" id="{D873956F-AFA1-461B-87C3-52A9A6ED9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920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AutoShape 29">
              <a:extLst>
                <a:ext uri="{FF2B5EF4-FFF2-40B4-BE49-F238E27FC236}">
                  <a16:creationId xmlns:a16="http://schemas.microsoft.com/office/drawing/2014/main" id="{23869FF7-470E-4CB8-B132-FD04D4A6D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920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5</a:t>
              </a:r>
            </a:p>
          </p:txBody>
        </p:sp>
      </p:grpSp>
      <p:sp>
        <p:nvSpPr>
          <p:cNvPr id="33" name="Line 30">
            <a:extLst>
              <a:ext uri="{FF2B5EF4-FFF2-40B4-BE49-F238E27FC236}">
                <a16:creationId xmlns:a16="http://schemas.microsoft.com/office/drawing/2014/main" id="{DCFA40BD-8E72-4133-8F12-856CE290E8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42656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4209FD15-A71B-4002-993D-4B93155A73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32750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CDE1C037-E19F-41B0-9E27-0C8DB3033E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2844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BA6C1023-972B-450D-9D23-9559C53DAE8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42013" y="4265613"/>
            <a:ext cx="1603375" cy="9175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AE9DB72A-8250-4B29-B12A-9B389E7A34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6413" y="2208213"/>
            <a:ext cx="1755775" cy="9937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Second example:</a:t>
            </a:r>
            <a:br>
              <a:rPr lang="en-GB" altLang="en-US" dirty="0"/>
            </a:br>
            <a:r>
              <a:rPr lang="en-GB" altLang="en-US" dirty="0">
                <a:solidFill>
                  <a:schemeClr val="tx1"/>
                </a:solidFill>
              </a:rPr>
              <a:t>Weighted dominating 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Weighted Dominating Set problem</a:t>
                </a:r>
                <a:r>
                  <a:rPr lang="en-GB" altLang="en-US" dirty="0"/>
                  <a:t>: </a:t>
                </a:r>
                <a:br>
                  <a:rPr lang="en-GB" altLang="en-US" dirty="0"/>
                </a:br>
                <a:r>
                  <a:rPr lang="en-GB" altLang="en-US" dirty="0"/>
                  <a:t>Given a graph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dirty="0"/>
                  <a:t> with vertex weights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GB" altLang="en-US" dirty="0"/>
                  <a:t>, what is the minimum total weight of a dominating set in G?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A set of vertices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altLang="en-US" dirty="0"/>
                  <a:t> in a graph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is </a:t>
                </a:r>
                <a:r>
                  <a:rPr lang="en-GB" altLang="en-US" b="1" i="1" dirty="0">
                    <a:solidFill>
                      <a:srgbClr val="C00000"/>
                    </a:solidFill>
                  </a:rPr>
                  <a:t>dominating</a:t>
                </a:r>
                <a:r>
                  <a:rPr lang="en-GB" altLang="en-US" i="1" dirty="0"/>
                  <a:t>,</a:t>
                </a:r>
                <a:r>
                  <a:rPr lang="en-GB" altLang="en-US" dirty="0"/>
                  <a:t> if each vertex in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altLang="en-US" dirty="0"/>
                  <a:t> belongs to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altLang="en-US" dirty="0"/>
                  <a:t> or is adjacent to a vertex in </a:t>
                </a:r>
                <a14:m>
                  <m:oMath xmlns:m="http://schemas.openxmlformats.org/officeDocument/2006/math">
                    <m:r>
                      <a:rPr lang="en-GB" alt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GB" altLang="en-US" dirty="0"/>
              </a:p>
              <a:p>
                <a:pPr lvl="1">
                  <a:lnSpc>
                    <a:spcPct val="90000"/>
                  </a:lnSpc>
                </a:pPr>
                <a:endParaRPr lang="en-GB" altLang="en-US" sz="900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Weighted dominating set: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Is NP-hard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Can be solved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 on trees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Can be solved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𝑝𝑜𝑙𝑦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if a tree decomposition of width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given (van Rooij et al. 2009)</a:t>
                </a:r>
              </a:p>
              <a:p>
                <a:pPr lvl="1">
                  <a:lnSpc>
                    <a:spcPct val="90000"/>
                  </a:lnSpc>
                </a:pPr>
                <a:endParaRPr lang="en-GB" altLang="en-US" sz="9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GB" altLang="en-US" dirty="0"/>
                  <a:t>Second example? Where is the first?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The maximum independent set algorithm in the introduction using a separator, is a dynamic programming algorithm on tree decompositions (although the decomposition is implicit)</a:t>
                </a:r>
              </a:p>
            </p:txBody>
          </p:sp>
        </mc:Choice>
        <mc:Fallback>
          <p:sp>
            <p:nvSpPr>
              <p:cNvPr id="1331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65" t="-1385" r="-412" b="-2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FD3D68E-4E5B-E56E-382F-5FCF866AE4B2}"/>
              </a:ext>
            </a:extLst>
          </p:cNvPr>
          <p:cNvGrpSpPr/>
          <p:nvPr/>
        </p:nvGrpSpPr>
        <p:grpSpPr>
          <a:xfrm>
            <a:off x="7668344" y="411162"/>
            <a:ext cx="1209175" cy="1417638"/>
            <a:chOff x="372113" y="4137024"/>
            <a:chExt cx="2547360" cy="298652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80F997D-988C-F72F-40A2-886DDD91E307}"/>
                </a:ext>
              </a:extLst>
            </p:cNvPr>
            <p:cNvGrpSpPr/>
            <p:nvPr/>
          </p:nvGrpSpPr>
          <p:grpSpPr>
            <a:xfrm>
              <a:off x="372113" y="4149080"/>
              <a:ext cx="2547360" cy="2473507"/>
              <a:chOff x="543820" y="2276872"/>
              <a:chExt cx="3168352" cy="302433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7D7BCDC-B5F9-622E-AC0D-B115084B438F}"/>
                  </a:ext>
                </a:extLst>
              </p:cNvPr>
              <p:cNvSpPr/>
              <p:nvPr/>
            </p:nvSpPr>
            <p:spPr>
              <a:xfrm>
                <a:off x="543820" y="2276872"/>
                <a:ext cx="720080" cy="72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36066A8-50EF-86A4-8E5F-7ABB6935B391}"/>
                  </a:ext>
                </a:extLst>
              </p:cNvPr>
              <p:cNvSpPr/>
              <p:nvPr/>
            </p:nvSpPr>
            <p:spPr>
              <a:xfrm>
                <a:off x="1767956" y="2276872"/>
                <a:ext cx="720080" cy="72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15510BF-C78C-911D-F6D7-2611FB9AD247}"/>
                  </a:ext>
                </a:extLst>
              </p:cNvPr>
              <p:cNvSpPr/>
              <p:nvPr/>
            </p:nvSpPr>
            <p:spPr>
              <a:xfrm>
                <a:off x="2992092" y="2276872"/>
                <a:ext cx="720080" cy="72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D1A6FD0-39A3-98DE-08FD-607F7BED5831}"/>
                  </a:ext>
                </a:extLst>
              </p:cNvPr>
              <p:cNvSpPr/>
              <p:nvPr/>
            </p:nvSpPr>
            <p:spPr>
              <a:xfrm>
                <a:off x="543820" y="3429000"/>
                <a:ext cx="720080" cy="72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83905F4-F87E-0992-5F67-23A6758053A5}"/>
                  </a:ext>
                </a:extLst>
              </p:cNvPr>
              <p:cNvSpPr/>
              <p:nvPr/>
            </p:nvSpPr>
            <p:spPr>
              <a:xfrm>
                <a:off x="2992092" y="3429000"/>
                <a:ext cx="720080" cy="72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0670048-90B9-E097-77A9-61687278971E}"/>
                  </a:ext>
                </a:extLst>
              </p:cNvPr>
              <p:cNvSpPr/>
              <p:nvPr/>
            </p:nvSpPr>
            <p:spPr>
              <a:xfrm>
                <a:off x="543820" y="4581128"/>
                <a:ext cx="720080" cy="72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505601B-5611-C493-5A7B-5620F1918AC5}"/>
                  </a:ext>
                </a:extLst>
              </p:cNvPr>
              <p:cNvSpPr/>
              <p:nvPr/>
            </p:nvSpPr>
            <p:spPr>
              <a:xfrm>
                <a:off x="1767956" y="4581128"/>
                <a:ext cx="720080" cy="72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168880C-B5DF-1037-3489-C7E069F9827A}"/>
                  </a:ext>
                </a:extLst>
              </p:cNvPr>
              <p:cNvSpPr/>
              <p:nvPr/>
            </p:nvSpPr>
            <p:spPr>
              <a:xfrm>
                <a:off x="2992092" y="4581128"/>
                <a:ext cx="720080" cy="7200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1F816E9-33DE-23FC-9275-C2C4F8AC19E4}"/>
                  </a:ext>
                </a:extLst>
              </p:cNvPr>
              <p:cNvCxnSpPr>
                <a:stCxn id="10" idx="4"/>
                <a:endCxn id="13" idx="0"/>
              </p:cNvCxnSpPr>
              <p:nvPr/>
            </p:nvCxnSpPr>
            <p:spPr>
              <a:xfrm>
                <a:off x="903860" y="2996952"/>
                <a:ext cx="0" cy="4320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17BF2FC-FA62-EA70-50A7-FC962422AA46}"/>
                  </a:ext>
                </a:extLst>
              </p:cNvPr>
              <p:cNvCxnSpPr>
                <a:stCxn id="13" idx="4"/>
                <a:endCxn id="15" idx="0"/>
              </p:cNvCxnSpPr>
              <p:nvPr/>
            </p:nvCxnSpPr>
            <p:spPr>
              <a:xfrm>
                <a:off x="903860" y="4149080"/>
                <a:ext cx="0" cy="4320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05F05D6-7E02-8861-F0C1-F41EBBC383B3}"/>
                  </a:ext>
                </a:extLst>
              </p:cNvPr>
              <p:cNvCxnSpPr>
                <a:stCxn id="10" idx="6"/>
                <a:endCxn id="11" idx="2"/>
              </p:cNvCxnSpPr>
              <p:nvPr/>
            </p:nvCxnSpPr>
            <p:spPr>
              <a:xfrm>
                <a:off x="1263900" y="2636912"/>
                <a:ext cx="50405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C149EA6-7BC7-9E55-D7AD-52582BDA3AFA}"/>
                  </a:ext>
                </a:extLst>
              </p:cNvPr>
              <p:cNvCxnSpPr>
                <a:stCxn id="13" idx="7"/>
                <a:endCxn id="11" idx="3"/>
              </p:cNvCxnSpPr>
              <p:nvPr/>
            </p:nvCxnSpPr>
            <p:spPr>
              <a:xfrm flipV="1">
                <a:off x="1158447" y="2891499"/>
                <a:ext cx="714962" cy="64295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F8CAD3-53A7-FE61-78B8-465CFC3C1023}"/>
                  </a:ext>
                </a:extLst>
              </p:cNvPr>
              <p:cNvCxnSpPr>
                <a:stCxn id="11" idx="6"/>
                <a:endCxn id="12" idx="2"/>
              </p:cNvCxnSpPr>
              <p:nvPr/>
            </p:nvCxnSpPr>
            <p:spPr>
              <a:xfrm>
                <a:off x="2488036" y="2636912"/>
                <a:ext cx="50405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EB91456-B72C-191B-0B5B-1CA79C61A094}"/>
                  </a:ext>
                </a:extLst>
              </p:cNvPr>
              <p:cNvCxnSpPr>
                <a:stCxn id="11" idx="5"/>
                <a:endCxn id="14" idx="1"/>
              </p:cNvCxnSpPr>
              <p:nvPr/>
            </p:nvCxnSpPr>
            <p:spPr>
              <a:xfrm>
                <a:off x="2382583" y="2891499"/>
                <a:ext cx="714962" cy="64295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C2CA59F-AA49-2575-86A4-1E7C0EFB3F54}"/>
                  </a:ext>
                </a:extLst>
              </p:cNvPr>
              <p:cNvCxnSpPr>
                <a:stCxn id="12" idx="4"/>
                <a:endCxn id="14" idx="0"/>
              </p:cNvCxnSpPr>
              <p:nvPr/>
            </p:nvCxnSpPr>
            <p:spPr>
              <a:xfrm>
                <a:off x="3352132" y="2996952"/>
                <a:ext cx="0" cy="4320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6B68191-7583-FEF0-A82F-0111000BFCE8}"/>
                  </a:ext>
                </a:extLst>
              </p:cNvPr>
              <p:cNvCxnSpPr>
                <a:stCxn id="14" idx="4"/>
                <a:endCxn id="17" idx="0"/>
              </p:cNvCxnSpPr>
              <p:nvPr/>
            </p:nvCxnSpPr>
            <p:spPr>
              <a:xfrm>
                <a:off x="3352132" y="4149080"/>
                <a:ext cx="0" cy="4320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9A1AF48-D250-D1FC-652F-38CD23C290F5}"/>
                  </a:ext>
                </a:extLst>
              </p:cNvPr>
              <p:cNvCxnSpPr>
                <a:stCxn id="17" idx="2"/>
                <a:endCxn id="16" idx="6"/>
              </p:cNvCxnSpPr>
              <p:nvPr/>
            </p:nvCxnSpPr>
            <p:spPr>
              <a:xfrm flipH="1">
                <a:off x="2488036" y="4941168"/>
                <a:ext cx="50405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5709569-E9E3-E155-F462-2A38EA610F76}"/>
                  </a:ext>
                </a:extLst>
              </p:cNvPr>
              <p:cNvCxnSpPr>
                <a:stCxn id="16" idx="7"/>
                <a:endCxn id="14" idx="3"/>
              </p:cNvCxnSpPr>
              <p:nvPr/>
            </p:nvCxnSpPr>
            <p:spPr>
              <a:xfrm flipV="1">
                <a:off x="2382583" y="4043627"/>
                <a:ext cx="714962" cy="64295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AFCE17-D43D-2F46-0408-592ED3715A27}"/>
                  </a:ext>
                </a:extLst>
              </p:cNvPr>
              <p:cNvCxnSpPr>
                <a:stCxn id="13" idx="5"/>
                <a:endCxn id="16" idx="1"/>
              </p:cNvCxnSpPr>
              <p:nvPr/>
            </p:nvCxnSpPr>
            <p:spPr>
              <a:xfrm>
                <a:off x="1158447" y="4043627"/>
                <a:ext cx="714962" cy="64295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8033C4B-7AAE-B1EA-BBCE-B639A197C864}"/>
                  </a:ext>
                </a:extLst>
              </p:cNvPr>
              <p:cNvCxnSpPr>
                <a:stCxn id="15" idx="6"/>
                <a:endCxn id="16" idx="2"/>
              </p:cNvCxnSpPr>
              <p:nvPr/>
            </p:nvCxnSpPr>
            <p:spPr>
              <a:xfrm>
                <a:off x="1263900" y="4941168"/>
                <a:ext cx="50405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C16A297-1476-F48A-7FDA-B3838663493A}"/>
                </a:ext>
              </a:extLst>
            </p:cNvPr>
            <p:cNvSpPr txBox="1"/>
            <p:nvPr/>
          </p:nvSpPr>
          <p:spPr>
            <a:xfrm>
              <a:off x="457042" y="4137024"/>
              <a:ext cx="389171" cy="1102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sz="2800" dirty="0">
                <a:solidFill>
                  <a:srgbClr val="00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8A5FF8-0A61-D816-F5A0-25F9921D06C9}"/>
                </a:ext>
              </a:extLst>
            </p:cNvPr>
            <p:cNvSpPr txBox="1"/>
            <p:nvPr/>
          </p:nvSpPr>
          <p:spPr>
            <a:xfrm>
              <a:off x="2434723" y="4149081"/>
              <a:ext cx="389171" cy="1102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sz="2800" dirty="0">
                <a:solidFill>
                  <a:srgbClr val="00000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236E92-82C3-42AD-0984-0F052DEFF372}"/>
                </a:ext>
              </a:extLst>
            </p:cNvPr>
            <p:cNvSpPr txBox="1"/>
            <p:nvPr/>
          </p:nvSpPr>
          <p:spPr>
            <a:xfrm>
              <a:off x="467544" y="5085185"/>
              <a:ext cx="389171" cy="1102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sz="2800" dirty="0">
                <a:solidFill>
                  <a:srgbClr val="00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26F1B9-580F-3092-BBAD-2F69385DEC0C}"/>
                </a:ext>
              </a:extLst>
            </p:cNvPr>
            <p:cNvSpPr txBox="1"/>
            <p:nvPr/>
          </p:nvSpPr>
          <p:spPr>
            <a:xfrm>
              <a:off x="467544" y="6021288"/>
              <a:ext cx="389171" cy="1102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sz="2800" dirty="0">
                <a:solidFill>
                  <a:srgbClr val="00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426AF6-E7ED-3686-FAC3-0E7CE4168F51}"/>
                </a:ext>
              </a:extLst>
            </p:cNvPr>
            <p:cNvSpPr txBox="1"/>
            <p:nvPr/>
          </p:nvSpPr>
          <p:spPr>
            <a:xfrm>
              <a:off x="2434723" y="6002124"/>
              <a:ext cx="389171" cy="1102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sz="2800" dirty="0">
                <a:solidFill>
                  <a:srgbClr val="0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B8C9A3-6366-6B64-71D4-49582B9424DE}"/>
                </a:ext>
              </a:extLst>
            </p:cNvPr>
            <p:cNvSpPr txBox="1"/>
            <p:nvPr/>
          </p:nvSpPr>
          <p:spPr>
            <a:xfrm>
              <a:off x="2434723" y="5085183"/>
              <a:ext cx="389171" cy="1102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sz="2800" dirty="0">
                <a:solidFill>
                  <a:srgbClr val="000000"/>
                </a:solidFill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0E57752D-4D50-73C1-5AC5-712E3FEDC84A}"/>
              </a:ext>
            </a:extLst>
          </p:cNvPr>
          <p:cNvSpPr/>
          <p:nvPr/>
        </p:nvSpPr>
        <p:spPr>
          <a:xfrm>
            <a:off x="8137479" y="419747"/>
            <a:ext cx="268391" cy="273828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A976F81-7A9B-BF4B-281B-C9404CF7A394}"/>
              </a:ext>
            </a:extLst>
          </p:cNvPr>
          <p:cNvSpPr/>
          <p:nvPr/>
        </p:nvSpPr>
        <p:spPr>
          <a:xfrm>
            <a:off x="8141947" y="1313748"/>
            <a:ext cx="268391" cy="273828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10B86-A415-1004-2F81-7AEFED375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FAFDD9-E454-D5C5-3F58-2526DAAD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/>
              <a:t>Weighted Dominating Set in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EE2F1BC-1932-7980-EEE2-6876FD3BB4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391400" cy="664096"/>
              </a:xfrm>
            </p:spPr>
            <p:txBody>
              <a:bodyPr/>
              <a:lstStyle/>
              <a:p>
                <a:r>
                  <a:rPr lang="en-US" dirty="0"/>
                  <a:t>Dominating set: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such that each vertex is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or is a</a:t>
                </a:r>
                <a:br>
                  <a:rPr lang="en-US" dirty="0"/>
                </a:br>
                <a:r>
                  <a:rPr lang="en-US" dirty="0"/>
                  <a:t>neighbor of some vertex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EE2F1BC-1932-7980-EEE2-6876FD3BB4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391400" cy="664096"/>
              </a:xfrm>
              <a:blipFill>
                <a:blip r:embed="rId2"/>
                <a:stretch>
                  <a:fillRect l="-165" t="-4587" b="-1100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73D8C67-AF77-6394-2AB9-B91CB0190177}"/>
              </a:ext>
            </a:extLst>
          </p:cNvPr>
          <p:cNvGrpSpPr/>
          <p:nvPr/>
        </p:nvGrpSpPr>
        <p:grpSpPr>
          <a:xfrm>
            <a:off x="0" y="4759774"/>
            <a:ext cx="3168352" cy="2046592"/>
            <a:chOff x="179512" y="4653136"/>
            <a:chExt cx="3168352" cy="204659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66D2F7A-518D-02A0-E542-289BF3E2CD62}"/>
                </a:ext>
              </a:extLst>
            </p:cNvPr>
            <p:cNvGrpSpPr/>
            <p:nvPr/>
          </p:nvGrpSpPr>
          <p:grpSpPr>
            <a:xfrm>
              <a:off x="179512" y="4869160"/>
              <a:ext cx="3168352" cy="1830568"/>
              <a:chOff x="120856" y="4406744"/>
              <a:chExt cx="2669826" cy="1542536"/>
            </a:xfrm>
          </p:grpSpPr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5731B4FE-4F5A-0FA6-52E6-53A9775BB217}"/>
                  </a:ext>
                </a:extLst>
              </p:cNvPr>
              <p:cNvSpPr/>
              <p:nvPr/>
            </p:nvSpPr>
            <p:spPr>
              <a:xfrm>
                <a:off x="120856" y="4438979"/>
                <a:ext cx="2669826" cy="1510301"/>
              </a:xfrm>
              <a:custGeom>
                <a:avLst/>
                <a:gdLst>
                  <a:gd name="connsiteX0" fmla="*/ 0 w 2897312"/>
                  <a:gd name="connsiteY0" fmla="*/ 1510301 h 1510301"/>
                  <a:gd name="connsiteX1" fmla="*/ 2897312 w 2897312"/>
                  <a:gd name="connsiteY1" fmla="*/ 1510301 h 1510301"/>
                  <a:gd name="connsiteX2" fmla="*/ 2188396 w 2897312"/>
                  <a:gd name="connsiteY2" fmla="*/ 441789 h 1510301"/>
                  <a:gd name="connsiteX3" fmla="*/ 1356189 w 2897312"/>
                  <a:gd name="connsiteY3" fmla="*/ 0 h 1510301"/>
                  <a:gd name="connsiteX4" fmla="*/ 421240 w 2897312"/>
                  <a:gd name="connsiteY4" fmla="*/ 462337 h 1510301"/>
                  <a:gd name="connsiteX5" fmla="*/ 0 w 2897312"/>
                  <a:gd name="connsiteY5" fmla="*/ 1510301 h 1510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97312" h="1510301">
                    <a:moveTo>
                      <a:pt x="0" y="1510301"/>
                    </a:moveTo>
                    <a:lnTo>
                      <a:pt x="2897312" y="1510301"/>
                    </a:lnTo>
                    <a:lnTo>
                      <a:pt x="2188396" y="441789"/>
                    </a:lnTo>
                    <a:lnTo>
                      <a:pt x="1356189" y="0"/>
                    </a:lnTo>
                    <a:lnTo>
                      <a:pt x="421240" y="462337"/>
                    </a:lnTo>
                    <a:lnTo>
                      <a:pt x="0" y="1510301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8FDF8598-B454-E1B6-9A32-745BB9C4F79C}"/>
                  </a:ext>
                </a:extLst>
              </p:cNvPr>
              <p:cNvSpPr/>
              <p:nvPr/>
            </p:nvSpPr>
            <p:spPr>
              <a:xfrm>
                <a:off x="432956" y="5053285"/>
                <a:ext cx="504876" cy="853691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30147E1B-CCA9-18B1-B9CE-DC291359B4B2}"/>
                  </a:ext>
                </a:extLst>
              </p:cNvPr>
              <p:cNvSpPr/>
              <p:nvPr/>
            </p:nvSpPr>
            <p:spPr>
              <a:xfrm>
                <a:off x="1081122" y="5053285"/>
                <a:ext cx="444561" cy="853691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F2143DD7-BF9D-CE89-C5DC-BD1D31AFFB1D}"/>
                  </a:ext>
                </a:extLst>
              </p:cNvPr>
              <p:cNvSpPr/>
              <p:nvPr/>
            </p:nvSpPr>
            <p:spPr>
              <a:xfrm>
                <a:off x="1814148" y="5053286"/>
                <a:ext cx="353381" cy="849396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966F762-7F14-7F83-C5B0-BDD9995F7A85}"/>
                  </a:ext>
                </a:extLst>
              </p:cNvPr>
              <p:cNvSpPr/>
              <p:nvPr/>
            </p:nvSpPr>
            <p:spPr>
              <a:xfrm>
                <a:off x="793815" y="4979131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156C69B3-622D-A59D-A018-F33124958E7E}"/>
                  </a:ext>
                </a:extLst>
              </p:cNvPr>
              <p:cNvSpPr/>
              <p:nvPr/>
            </p:nvSpPr>
            <p:spPr>
              <a:xfrm>
                <a:off x="1381667" y="4981276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CDF39DCF-33A4-D642-4A6F-A45E17FAD747}"/>
                  </a:ext>
                </a:extLst>
              </p:cNvPr>
              <p:cNvSpPr/>
              <p:nvPr/>
            </p:nvSpPr>
            <p:spPr>
              <a:xfrm>
                <a:off x="2017951" y="4979131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BE8CF158-61BB-4CAC-852F-83F581D71E4A}"/>
                  </a:ext>
                </a:extLst>
              </p:cNvPr>
              <p:cNvCxnSpPr>
                <a:stCxn id="90" idx="2"/>
                <a:endCxn id="72" idx="0"/>
              </p:cNvCxnSpPr>
              <p:nvPr/>
            </p:nvCxnSpPr>
            <p:spPr>
              <a:xfrm flipH="1">
                <a:off x="865823" y="4478752"/>
                <a:ext cx="449934" cy="500379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A86ADC1-F543-E7A2-5FDD-680C8E5E61D4}"/>
                  </a:ext>
                </a:extLst>
              </p:cNvPr>
              <p:cNvCxnSpPr>
                <a:stCxn id="90" idx="4"/>
                <a:endCxn id="73" idx="0"/>
              </p:cNvCxnSpPr>
              <p:nvPr/>
            </p:nvCxnSpPr>
            <p:spPr>
              <a:xfrm>
                <a:off x="1387765" y="4550760"/>
                <a:ext cx="65910" cy="430516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7B65B51-9677-AA6D-E4B6-25ADC1A1C408}"/>
                  </a:ext>
                </a:extLst>
              </p:cNvPr>
              <p:cNvCxnSpPr>
                <a:stCxn id="90" idx="6"/>
                <a:endCxn id="74" idx="7"/>
              </p:cNvCxnSpPr>
              <p:nvPr/>
            </p:nvCxnSpPr>
            <p:spPr>
              <a:xfrm>
                <a:off x="1459773" y="4478752"/>
                <a:ext cx="681103" cy="521470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545D72A8-8967-EF37-25C0-58941A9B50BF}"/>
                  </a:ext>
                </a:extLst>
              </p:cNvPr>
              <p:cNvSpPr/>
              <p:nvPr/>
            </p:nvSpPr>
            <p:spPr>
              <a:xfrm>
                <a:off x="1315757" y="4406744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2201100-9820-7EF8-800C-425BE4DF8C3A}"/>
                </a:ext>
              </a:extLst>
            </p:cNvPr>
            <p:cNvSpPr txBox="1"/>
            <p:nvPr/>
          </p:nvSpPr>
          <p:spPr>
            <a:xfrm>
              <a:off x="1678026" y="465313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E23B0F-7BB7-B1B9-1E89-BEA70BE009D3}"/>
              </a:ext>
            </a:extLst>
          </p:cNvPr>
          <p:cNvGrpSpPr/>
          <p:nvPr/>
        </p:nvGrpSpPr>
        <p:grpSpPr>
          <a:xfrm>
            <a:off x="1372179" y="2422663"/>
            <a:ext cx="7771821" cy="430778"/>
            <a:chOff x="1372179" y="2422663"/>
            <a:chExt cx="7771821" cy="430778"/>
          </a:xfrm>
        </p:grpSpPr>
        <p:sp>
          <p:nvSpPr>
            <p:cNvPr id="9" name="Content Placeholder 3">
              <a:extLst>
                <a:ext uri="{FF2B5EF4-FFF2-40B4-BE49-F238E27FC236}">
                  <a16:creationId xmlns:a16="http://schemas.microsoft.com/office/drawing/2014/main" id="{8C6FE427-B0E9-228E-B736-7E7002D190E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4248" y="2422663"/>
              <a:ext cx="1939752" cy="430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800" dirty="0">
                  <a:solidFill>
                    <a:srgbClr val="C00000"/>
                  </a:solidFill>
                </a:rPr>
                <a:t>(in)</a:t>
              </a:r>
            </a:p>
            <a:p>
              <a:pPr algn="r"/>
              <a:endParaRPr lang="LID4096" sz="1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ontent Placeholder 3">
                  <a:extLst>
                    <a:ext uri="{FF2B5EF4-FFF2-40B4-BE49-F238E27FC236}">
                      <a16:creationId xmlns:a16="http://schemas.microsoft.com/office/drawing/2014/main" id="{9080455D-0172-DB33-C891-A68E47A52B0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2179" y="2444750"/>
                  <a:ext cx="7391400" cy="3651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sz="1800" dirty="0"/>
                    <a:t> that with </a:t>
                  </a:r>
                  <a14:m>
                    <m:oMath xmlns:m="http://schemas.openxmlformats.org/officeDocument/2006/math"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80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a14:m>
                  <a:endParaRPr lang="en-US" sz="1800" dirty="0"/>
                </a:p>
                <a:p>
                  <a:pPr lvl="1"/>
                  <a:endParaRPr lang="en-US" dirty="0"/>
                </a:p>
                <a:p>
                  <a:endParaRPr lang="en-US" sz="1800" dirty="0"/>
                </a:p>
                <a:p>
                  <a:endParaRPr lang="en-US" sz="1800" dirty="0"/>
                </a:p>
                <a:p>
                  <a:endParaRPr lang="en-US" sz="1800" dirty="0"/>
                </a:p>
                <a:p>
                  <a:endParaRPr lang="LID4096" sz="1800" dirty="0"/>
                </a:p>
              </p:txBody>
            </p:sp>
          </mc:Choice>
          <mc:Fallback xmlns="">
            <p:sp>
              <p:nvSpPr>
                <p:cNvPr id="3" name="Content Placeholder 3">
                  <a:extLst>
                    <a:ext uri="{FF2B5EF4-FFF2-40B4-BE49-F238E27FC236}">
                      <a16:creationId xmlns:a16="http://schemas.microsoft.com/office/drawing/2014/main" id="{9080455D-0172-DB33-C891-A68E47A52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2179" y="2444750"/>
                  <a:ext cx="7391400" cy="365125"/>
                </a:xfrm>
                <a:prstGeom prst="rect">
                  <a:avLst/>
                </a:prstGeom>
                <a:blipFill>
                  <a:blip r:embed="rId3"/>
                  <a:stretch>
                    <a:fillRect l="-165" t="-8333" b="-2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A7937E-F6D0-75EA-099B-140FDCDB3242}"/>
              </a:ext>
            </a:extLst>
          </p:cNvPr>
          <p:cNvGrpSpPr/>
          <p:nvPr/>
        </p:nvGrpSpPr>
        <p:grpSpPr>
          <a:xfrm>
            <a:off x="1371600" y="3142238"/>
            <a:ext cx="7777112" cy="430778"/>
            <a:chOff x="1371600" y="4286253"/>
            <a:chExt cx="7777112" cy="430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3">
                  <a:extLst>
                    <a:ext uri="{FF2B5EF4-FFF2-40B4-BE49-F238E27FC236}">
                      <a16:creationId xmlns:a16="http://schemas.microsoft.com/office/drawing/2014/main" id="{E6D2CC4A-B574-3500-1E0D-4ADF7A8208A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1600" y="4309547"/>
                  <a:ext cx="7391400" cy="4037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of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1800" dirty="0"/>
                </a:p>
                <a:p>
                  <a:pPr marL="0" indent="0">
                    <a:buNone/>
                  </a:pPr>
                  <a:endParaRPr lang="en-US" sz="1800" dirty="0"/>
                </a:p>
                <a:p>
                  <a:endParaRPr lang="en-US" sz="1800" dirty="0"/>
                </a:p>
                <a:p>
                  <a:endParaRPr lang="LID4096" sz="1800" dirty="0"/>
                </a:p>
              </p:txBody>
            </p:sp>
          </mc:Choice>
          <mc:Fallback xmlns="">
            <p:sp>
              <p:nvSpPr>
                <p:cNvPr id="12" name="Content Placeholder 3">
                  <a:extLst>
                    <a:ext uri="{FF2B5EF4-FFF2-40B4-BE49-F238E27FC236}">
                      <a16:creationId xmlns:a16="http://schemas.microsoft.com/office/drawing/2014/main" id="{E6D2CC4A-B574-3500-1E0D-4ADF7A820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1600" y="4309547"/>
                  <a:ext cx="7391400" cy="403762"/>
                </a:xfrm>
                <a:prstGeom prst="rect">
                  <a:avLst/>
                </a:prstGeom>
                <a:blipFill>
                  <a:blip r:embed="rId4"/>
                  <a:stretch>
                    <a:fillRect l="-165" t="-7463" b="-134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ontent Placeholder 3">
              <a:extLst>
                <a:ext uri="{FF2B5EF4-FFF2-40B4-BE49-F238E27FC236}">
                  <a16:creationId xmlns:a16="http://schemas.microsoft.com/office/drawing/2014/main" id="{74B64D63-0EF3-9599-DF92-DE360854B44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8960" y="4286253"/>
              <a:ext cx="1939752" cy="430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800" dirty="0">
                  <a:solidFill>
                    <a:srgbClr val="C00000"/>
                  </a:solidFill>
                </a:rPr>
                <a:t>(unknown)</a:t>
              </a:r>
            </a:p>
            <a:p>
              <a:pPr algn="r"/>
              <a:endParaRPr lang="LID4096" sz="18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B4E62A-E174-5FB1-AE4A-783ED3591DF8}"/>
              </a:ext>
            </a:extLst>
          </p:cNvPr>
          <p:cNvGrpSpPr/>
          <p:nvPr/>
        </p:nvGrpSpPr>
        <p:grpSpPr>
          <a:xfrm>
            <a:off x="1371600" y="2781693"/>
            <a:ext cx="7772400" cy="449422"/>
            <a:chOff x="1371600" y="3349221"/>
            <a:chExt cx="7772400" cy="4494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ontent Placeholder 3">
                  <a:extLst>
                    <a:ext uri="{FF2B5EF4-FFF2-40B4-BE49-F238E27FC236}">
                      <a16:creationId xmlns:a16="http://schemas.microsoft.com/office/drawing/2014/main" id="{B2802F4B-E3DA-1B92-1E0D-B25CAB54BD1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1600" y="3365325"/>
                  <a:ext cx="7391400" cy="433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of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with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X</m:t>
                      </m:r>
                    </m:oMath>
                  </a14:m>
                  <a:endParaRPr lang="en-US" sz="1800" dirty="0"/>
                </a:p>
                <a:p>
                  <a:pPr marL="0" indent="0">
                    <a:buNone/>
                  </a:pPr>
                  <a:endParaRPr lang="en-US" sz="1800" dirty="0"/>
                </a:p>
                <a:p>
                  <a:endParaRPr lang="en-US" sz="1800" dirty="0"/>
                </a:p>
                <a:p>
                  <a:endParaRPr lang="en-US" sz="1800" dirty="0"/>
                </a:p>
                <a:p>
                  <a:endParaRPr lang="LID4096" sz="1800" dirty="0"/>
                </a:p>
              </p:txBody>
            </p:sp>
          </mc:Choice>
          <mc:Fallback xmlns="">
            <p:sp>
              <p:nvSpPr>
                <p:cNvPr id="10" name="Content Placeholder 3">
                  <a:extLst>
                    <a:ext uri="{FF2B5EF4-FFF2-40B4-BE49-F238E27FC236}">
                      <a16:creationId xmlns:a16="http://schemas.microsoft.com/office/drawing/2014/main" id="{B2802F4B-E3DA-1B92-1E0D-B25CAB54BD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1600" y="3365325"/>
                  <a:ext cx="7391400" cy="433318"/>
                </a:xfrm>
                <a:prstGeom prst="rect">
                  <a:avLst/>
                </a:prstGeom>
                <a:blipFill>
                  <a:blip r:embed="rId5"/>
                  <a:stretch>
                    <a:fillRect l="-165" t="-8451" b="-704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Content Placeholder 3">
              <a:extLst>
                <a:ext uri="{FF2B5EF4-FFF2-40B4-BE49-F238E27FC236}">
                  <a16:creationId xmlns:a16="http://schemas.microsoft.com/office/drawing/2014/main" id="{CC0A70C5-0C33-CF3E-E92C-68B0629F343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4248" y="3349221"/>
              <a:ext cx="1939752" cy="432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7358063" algn="l"/>
                </a:tabLst>
              </a:pPr>
              <a:r>
                <a:rPr lang="en-US" sz="1800" dirty="0">
                  <a:solidFill>
                    <a:srgbClr val="C00000"/>
                  </a:solidFill>
                </a:rPr>
                <a:t>(dominated)</a:t>
              </a:r>
            </a:p>
            <a:p>
              <a:pPr algn="r"/>
              <a:endParaRPr lang="LID4096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0093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4D7FF-C96B-C3FF-BA11-41267C266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9F2D04C-504D-A328-3F5B-465B7AB6B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/>
              <a:t>Weighted Dominating Set in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174D7C4-DBF9-E1C2-CA4C-080BED745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391400" cy="664096"/>
              </a:xfrm>
            </p:spPr>
            <p:txBody>
              <a:bodyPr/>
              <a:lstStyle/>
              <a:p>
                <a:r>
                  <a:rPr lang="en-US" dirty="0"/>
                  <a:t>Dominating set: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such that each vertex is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or is a</a:t>
                </a:r>
                <a:br>
                  <a:rPr lang="en-US" dirty="0"/>
                </a:br>
                <a:r>
                  <a:rPr lang="en-US" dirty="0"/>
                  <a:t>neighbor of some vertex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174D7C4-DBF9-E1C2-CA4C-080BED745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391400" cy="664096"/>
              </a:xfrm>
              <a:blipFill>
                <a:blip r:embed="rId2"/>
                <a:stretch>
                  <a:fillRect l="-165" t="-4587" b="-1100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F23C46E-2641-E564-62F1-2E79C85A1B56}"/>
              </a:ext>
            </a:extLst>
          </p:cNvPr>
          <p:cNvGrpSpPr/>
          <p:nvPr/>
        </p:nvGrpSpPr>
        <p:grpSpPr>
          <a:xfrm>
            <a:off x="0" y="4759774"/>
            <a:ext cx="3168352" cy="2046592"/>
            <a:chOff x="179512" y="4653136"/>
            <a:chExt cx="3168352" cy="204659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AAD078B-6656-1A11-2943-ACCE44A79A99}"/>
                </a:ext>
              </a:extLst>
            </p:cNvPr>
            <p:cNvGrpSpPr/>
            <p:nvPr/>
          </p:nvGrpSpPr>
          <p:grpSpPr>
            <a:xfrm>
              <a:off x="179512" y="4869160"/>
              <a:ext cx="3168352" cy="1830568"/>
              <a:chOff x="120856" y="4406744"/>
              <a:chExt cx="2669826" cy="1542536"/>
            </a:xfrm>
          </p:grpSpPr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5B0D570-8B88-99EF-FA09-81B77BA22A5F}"/>
                  </a:ext>
                </a:extLst>
              </p:cNvPr>
              <p:cNvSpPr/>
              <p:nvPr/>
            </p:nvSpPr>
            <p:spPr>
              <a:xfrm>
                <a:off x="120856" y="4438979"/>
                <a:ext cx="2669826" cy="1510301"/>
              </a:xfrm>
              <a:custGeom>
                <a:avLst/>
                <a:gdLst>
                  <a:gd name="connsiteX0" fmla="*/ 0 w 2897312"/>
                  <a:gd name="connsiteY0" fmla="*/ 1510301 h 1510301"/>
                  <a:gd name="connsiteX1" fmla="*/ 2897312 w 2897312"/>
                  <a:gd name="connsiteY1" fmla="*/ 1510301 h 1510301"/>
                  <a:gd name="connsiteX2" fmla="*/ 2188396 w 2897312"/>
                  <a:gd name="connsiteY2" fmla="*/ 441789 h 1510301"/>
                  <a:gd name="connsiteX3" fmla="*/ 1356189 w 2897312"/>
                  <a:gd name="connsiteY3" fmla="*/ 0 h 1510301"/>
                  <a:gd name="connsiteX4" fmla="*/ 421240 w 2897312"/>
                  <a:gd name="connsiteY4" fmla="*/ 462337 h 1510301"/>
                  <a:gd name="connsiteX5" fmla="*/ 0 w 2897312"/>
                  <a:gd name="connsiteY5" fmla="*/ 1510301 h 1510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97312" h="1510301">
                    <a:moveTo>
                      <a:pt x="0" y="1510301"/>
                    </a:moveTo>
                    <a:lnTo>
                      <a:pt x="2897312" y="1510301"/>
                    </a:lnTo>
                    <a:lnTo>
                      <a:pt x="2188396" y="441789"/>
                    </a:lnTo>
                    <a:lnTo>
                      <a:pt x="1356189" y="0"/>
                    </a:lnTo>
                    <a:lnTo>
                      <a:pt x="421240" y="462337"/>
                    </a:lnTo>
                    <a:lnTo>
                      <a:pt x="0" y="1510301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739B0692-737F-1727-FD0B-FAB396923FD2}"/>
                  </a:ext>
                </a:extLst>
              </p:cNvPr>
              <p:cNvSpPr/>
              <p:nvPr/>
            </p:nvSpPr>
            <p:spPr>
              <a:xfrm>
                <a:off x="432956" y="5053285"/>
                <a:ext cx="504876" cy="853691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833B8C1F-F1AF-3CEA-04D1-18301C7E357A}"/>
                  </a:ext>
                </a:extLst>
              </p:cNvPr>
              <p:cNvSpPr/>
              <p:nvPr/>
            </p:nvSpPr>
            <p:spPr>
              <a:xfrm>
                <a:off x="1081122" y="5053285"/>
                <a:ext cx="444561" cy="853691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3D671B98-98B9-56FB-76B8-80FFA77E8A69}"/>
                  </a:ext>
                </a:extLst>
              </p:cNvPr>
              <p:cNvSpPr/>
              <p:nvPr/>
            </p:nvSpPr>
            <p:spPr>
              <a:xfrm>
                <a:off x="1814148" y="5053286"/>
                <a:ext cx="353381" cy="849396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78D06E9D-1B77-DD81-B5AF-700B4A1780EB}"/>
                  </a:ext>
                </a:extLst>
              </p:cNvPr>
              <p:cNvSpPr/>
              <p:nvPr/>
            </p:nvSpPr>
            <p:spPr>
              <a:xfrm>
                <a:off x="793815" y="4979131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12A16876-FCD7-4733-CF17-90366BEB82A0}"/>
                  </a:ext>
                </a:extLst>
              </p:cNvPr>
              <p:cNvSpPr/>
              <p:nvPr/>
            </p:nvSpPr>
            <p:spPr>
              <a:xfrm>
                <a:off x="1381667" y="4981276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2E975B7B-0DFE-B1CD-2E89-9978D4542189}"/>
                  </a:ext>
                </a:extLst>
              </p:cNvPr>
              <p:cNvSpPr/>
              <p:nvPr/>
            </p:nvSpPr>
            <p:spPr>
              <a:xfrm>
                <a:off x="2017951" y="4979131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836B2FBB-DD4F-4577-EAF6-E39CCB540608}"/>
                  </a:ext>
                </a:extLst>
              </p:cNvPr>
              <p:cNvCxnSpPr>
                <a:stCxn id="90" idx="2"/>
                <a:endCxn id="72" idx="0"/>
              </p:cNvCxnSpPr>
              <p:nvPr/>
            </p:nvCxnSpPr>
            <p:spPr>
              <a:xfrm flipH="1">
                <a:off x="865823" y="4478752"/>
                <a:ext cx="449934" cy="500379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FE4936F-2D58-A941-F669-2B0F36648593}"/>
                  </a:ext>
                </a:extLst>
              </p:cNvPr>
              <p:cNvCxnSpPr>
                <a:stCxn id="90" idx="4"/>
                <a:endCxn id="73" idx="0"/>
              </p:cNvCxnSpPr>
              <p:nvPr/>
            </p:nvCxnSpPr>
            <p:spPr>
              <a:xfrm>
                <a:off x="1387765" y="4550760"/>
                <a:ext cx="65910" cy="430516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95F6B5A-15B9-B64C-AC6D-F46D9D8D3F9C}"/>
                  </a:ext>
                </a:extLst>
              </p:cNvPr>
              <p:cNvCxnSpPr>
                <a:stCxn id="90" idx="6"/>
                <a:endCxn id="74" idx="7"/>
              </p:cNvCxnSpPr>
              <p:nvPr/>
            </p:nvCxnSpPr>
            <p:spPr>
              <a:xfrm>
                <a:off x="1459773" y="4478752"/>
                <a:ext cx="681103" cy="521470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35C525D-CC1C-FC2F-6D5B-E8A40B6C72C5}"/>
                  </a:ext>
                </a:extLst>
              </p:cNvPr>
              <p:cNvSpPr/>
              <p:nvPr/>
            </p:nvSpPr>
            <p:spPr>
              <a:xfrm>
                <a:off x="1315757" y="4406744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77DF48-076F-750E-7ECE-323B5398F7BF}"/>
                </a:ext>
              </a:extLst>
            </p:cNvPr>
            <p:cNvSpPr txBox="1"/>
            <p:nvPr/>
          </p:nvSpPr>
          <p:spPr>
            <a:xfrm>
              <a:off x="1678026" y="465313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8DE87F-BED4-F4DE-D42C-B1B8A97A9577}"/>
              </a:ext>
            </a:extLst>
          </p:cNvPr>
          <p:cNvGrpSpPr/>
          <p:nvPr/>
        </p:nvGrpSpPr>
        <p:grpSpPr>
          <a:xfrm>
            <a:off x="1372179" y="2422663"/>
            <a:ext cx="7771821" cy="430778"/>
            <a:chOff x="1372179" y="2422663"/>
            <a:chExt cx="7771821" cy="430778"/>
          </a:xfrm>
        </p:grpSpPr>
        <p:sp>
          <p:nvSpPr>
            <p:cNvPr id="9" name="Content Placeholder 3">
              <a:extLst>
                <a:ext uri="{FF2B5EF4-FFF2-40B4-BE49-F238E27FC236}">
                  <a16:creationId xmlns:a16="http://schemas.microsoft.com/office/drawing/2014/main" id="{7CDD77AD-E418-C1FA-C33E-CA31CD2BC7F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4248" y="2422663"/>
              <a:ext cx="1939752" cy="430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800" dirty="0">
                  <a:solidFill>
                    <a:srgbClr val="C00000"/>
                  </a:solidFill>
                </a:rPr>
                <a:t>(in)</a:t>
              </a:r>
            </a:p>
            <a:p>
              <a:pPr algn="r"/>
              <a:endParaRPr lang="LID4096" sz="1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ontent Placeholder 3">
                  <a:extLst>
                    <a:ext uri="{FF2B5EF4-FFF2-40B4-BE49-F238E27FC236}">
                      <a16:creationId xmlns:a16="http://schemas.microsoft.com/office/drawing/2014/main" id="{C4B55142-DB36-2C03-7AE7-AD3A9AFC050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2179" y="2444750"/>
                  <a:ext cx="7391400" cy="3651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sz="1800" dirty="0"/>
                    <a:t> that with </a:t>
                  </a:r>
                  <a14:m>
                    <m:oMath xmlns:m="http://schemas.openxmlformats.org/officeDocument/2006/math"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80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a14:m>
                  <a:endParaRPr lang="en-US" sz="1800" dirty="0"/>
                </a:p>
                <a:p>
                  <a:pPr lvl="1"/>
                  <a:endParaRPr lang="en-US" dirty="0"/>
                </a:p>
                <a:p>
                  <a:endParaRPr lang="en-US" sz="1800" dirty="0"/>
                </a:p>
                <a:p>
                  <a:endParaRPr lang="en-US" sz="1800" dirty="0"/>
                </a:p>
                <a:p>
                  <a:endParaRPr lang="en-US" sz="1800" dirty="0"/>
                </a:p>
                <a:p>
                  <a:endParaRPr lang="LID4096" sz="1800" dirty="0"/>
                </a:p>
              </p:txBody>
            </p:sp>
          </mc:Choice>
          <mc:Fallback xmlns="">
            <p:sp>
              <p:nvSpPr>
                <p:cNvPr id="3" name="Content Placeholder 3">
                  <a:extLst>
                    <a:ext uri="{FF2B5EF4-FFF2-40B4-BE49-F238E27FC236}">
                      <a16:creationId xmlns:a16="http://schemas.microsoft.com/office/drawing/2014/main" id="{C4B55142-DB36-2C03-7AE7-AD3A9AFC0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2179" y="2444750"/>
                  <a:ext cx="7391400" cy="365125"/>
                </a:xfrm>
                <a:prstGeom prst="rect">
                  <a:avLst/>
                </a:prstGeom>
                <a:blipFill>
                  <a:blip r:embed="rId3"/>
                  <a:stretch>
                    <a:fillRect l="-165" t="-8333" b="-2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6B85E8C2-E0DE-58AF-952B-B1C87AD1C08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71600" y="2756080"/>
                <a:ext cx="7391400" cy="6159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Leaf: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Internal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𝑐h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6B85E8C2-E0DE-58AF-952B-B1C87AD1C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1600" y="2756080"/>
                <a:ext cx="7391400" cy="615949"/>
              </a:xfrm>
              <a:prstGeom prst="rect">
                <a:avLst/>
              </a:prstGeom>
              <a:blipFill>
                <a:blip r:embed="rId4"/>
                <a:stretch>
                  <a:fillRect t="-10891" b="-980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B859899-D611-3B8B-8746-93E87C73933D}"/>
              </a:ext>
            </a:extLst>
          </p:cNvPr>
          <p:cNvGrpSpPr/>
          <p:nvPr/>
        </p:nvGrpSpPr>
        <p:grpSpPr>
          <a:xfrm>
            <a:off x="1371600" y="3715612"/>
            <a:ext cx="7777112" cy="430778"/>
            <a:chOff x="1371600" y="4286253"/>
            <a:chExt cx="7777112" cy="430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3">
                  <a:extLst>
                    <a:ext uri="{FF2B5EF4-FFF2-40B4-BE49-F238E27FC236}">
                      <a16:creationId xmlns:a16="http://schemas.microsoft.com/office/drawing/2014/main" id="{2D110D35-6873-51D9-67EE-6B98B233700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1600" y="4309547"/>
                  <a:ext cx="7391400" cy="4037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of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1800" dirty="0"/>
                </a:p>
                <a:p>
                  <a:endParaRPr lang="LID4096" sz="1800" dirty="0"/>
                </a:p>
              </p:txBody>
            </p:sp>
          </mc:Choice>
          <mc:Fallback xmlns="">
            <p:sp>
              <p:nvSpPr>
                <p:cNvPr id="12" name="Content Placeholder 3">
                  <a:extLst>
                    <a:ext uri="{FF2B5EF4-FFF2-40B4-BE49-F238E27FC236}">
                      <a16:creationId xmlns:a16="http://schemas.microsoft.com/office/drawing/2014/main" id="{2D110D35-6873-51D9-67EE-6B98B2337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1600" y="4309547"/>
                  <a:ext cx="7391400" cy="403762"/>
                </a:xfrm>
                <a:prstGeom prst="rect">
                  <a:avLst/>
                </a:prstGeom>
                <a:blipFill>
                  <a:blip r:embed="rId5"/>
                  <a:stretch>
                    <a:fillRect l="-165" t="-7463" b="-134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ontent Placeholder 3">
              <a:extLst>
                <a:ext uri="{FF2B5EF4-FFF2-40B4-BE49-F238E27FC236}">
                  <a16:creationId xmlns:a16="http://schemas.microsoft.com/office/drawing/2014/main" id="{89E68AF3-06F9-61A8-AD84-DD77BBD2CF6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8960" y="4286253"/>
              <a:ext cx="1939752" cy="430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800" dirty="0">
                  <a:solidFill>
                    <a:srgbClr val="C00000"/>
                  </a:solidFill>
                </a:rPr>
                <a:t>(unknown)</a:t>
              </a:r>
            </a:p>
            <a:p>
              <a:pPr algn="r"/>
              <a:endParaRPr lang="LID4096" sz="18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255C0DE-E667-A09E-93A6-EAE72B2AF10E}"/>
              </a:ext>
            </a:extLst>
          </p:cNvPr>
          <p:cNvGrpSpPr/>
          <p:nvPr/>
        </p:nvGrpSpPr>
        <p:grpSpPr>
          <a:xfrm>
            <a:off x="1371600" y="3349221"/>
            <a:ext cx="7772400" cy="449422"/>
            <a:chOff x="1371600" y="3349221"/>
            <a:chExt cx="7772400" cy="4494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ontent Placeholder 3">
                  <a:extLst>
                    <a:ext uri="{FF2B5EF4-FFF2-40B4-BE49-F238E27FC236}">
                      <a16:creationId xmlns:a16="http://schemas.microsoft.com/office/drawing/2014/main" id="{28710084-F7A7-0D62-D6E5-91159502DC8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1600" y="3365325"/>
                  <a:ext cx="7391400" cy="433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of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with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X</m:t>
                      </m:r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0" name="Content Placeholder 3">
                  <a:extLst>
                    <a:ext uri="{FF2B5EF4-FFF2-40B4-BE49-F238E27FC236}">
                      <a16:creationId xmlns:a16="http://schemas.microsoft.com/office/drawing/2014/main" id="{28710084-F7A7-0D62-D6E5-91159502D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1600" y="3365325"/>
                  <a:ext cx="7391400" cy="433318"/>
                </a:xfrm>
                <a:prstGeom prst="rect">
                  <a:avLst/>
                </a:prstGeom>
                <a:blipFill>
                  <a:blip r:embed="rId6"/>
                  <a:stretch>
                    <a:fillRect l="-165" t="-7042" b="-704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Content Placeholder 3">
              <a:extLst>
                <a:ext uri="{FF2B5EF4-FFF2-40B4-BE49-F238E27FC236}">
                  <a16:creationId xmlns:a16="http://schemas.microsoft.com/office/drawing/2014/main" id="{AC28C6FC-4D94-DDF8-00A4-476045CE93C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4248" y="3349221"/>
              <a:ext cx="1939752" cy="432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7358063" algn="l"/>
                </a:tabLst>
              </a:pPr>
              <a:r>
                <a:rPr lang="en-US" sz="1800" dirty="0">
                  <a:solidFill>
                    <a:srgbClr val="C00000"/>
                  </a:solidFill>
                </a:rPr>
                <a:t>(dominated)</a:t>
              </a:r>
            </a:p>
            <a:p>
              <a:pPr algn="r"/>
              <a:endParaRPr lang="LID4096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992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515B-7F07-A78C-A80F-67DBA9FB6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62AD674-48EC-D076-7986-8A62E763F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/>
              <a:t>Weighted Dominating Set in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56E498-E666-99F7-27B0-9453C8ECD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391400" cy="664096"/>
              </a:xfrm>
            </p:spPr>
            <p:txBody>
              <a:bodyPr/>
              <a:lstStyle/>
              <a:p>
                <a:r>
                  <a:rPr lang="en-US" dirty="0"/>
                  <a:t>Dominating set: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such that each vertex is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or is a</a:t>
                </a:r>
                <a:br>
                  <a:rPr lang="en-US" dirty="0"/>
                </a:br>
                <a:r>
                  <a:rPr lang="en-US" dirty="0"/>
                  <a:t>neighbor of some vertex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56E498-E666-99F7-27B0-9453C8ECD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391400" cy="664096"/>
              </a:xfrm>
              <a:blipFill>
                <a:blip r:embed="rId2"/>
                <a:stretch>
                  <a:fillRect l="-165" t="-4587" b="-1100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45CD7D3-F75D-7AB6-06EB-CE9BA2F1C6C6}"/>
              </a:ext>
            </a:extLst>
          </p:cNvPr>
          <p:cNvGrpSpPr/>
          <p:nvPr/>
        </p:nvGrpSpPr>
        <p:grpSpPr>
          <a:xfrm>
            <a:off x="0" y="4759774"/>
            <a:ext cx="3168352" cy="2046592"/>
            <a:chOff x="179512" y="4653136"/>
            <a:chExt cx="3168352" cy="204659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74C6A9B-DD00-16DF-757A-96E8B1D57C15}"/>
                </a:ext>
              </a:extLst>
            </p:cNvPr>
            <p:cNvGrpSpPr/>
            <p:nvPr/>
          </p:nvGrpSpPr>
          <p:grpSpPr>
            <a:xfrm>
              <a:off x="179512" y="4869160"/>
              <a:ext cx="3168352" cy="1830568"/>
              <a:chOff x="120856" y="4406744"/>
              <a:chExt cx="2669826" cy="1542536"/>
            </a:xfrm>
          </p:grpSpPr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1C215ADA-EA1D-A359-3C6E-F7EB2FD23569}"/>
                  </a:ext>
                </a:extLst>
              </p:cNvPr>
              <p:cNvSpPr/>
              <p:nvPr/>
            </p:nvSpPr>
            <p:spPr>
              <a:xfrm>
                <a:off x="120856" y="4438979"/>
                <a:ext cx="2669826" cy="1510301"/>
              </a:xfrm>
              <a:custGeom>
                <a:avLst/>
                <a:gdLst>
                  <a:gd name="connsiteX0" fmla="*/ 0 w 2897312"/>
                  <a:gd name="connsiteY0" fmla="*/ 1510301 h 1510301"/>
                  <a:gd name="connsiteX1" fmla="*/ 2897312 w 2897312"/>
                  <a:gd name="connsiteY1" fmla="*/ 1510301 h 1510301"/>
                  <a:gd name="connsiteX2" fmla="*/ 2188396 w 2897312"/>
                  <a:gd name="connsiteY2" fmla="*/ 441789 h 1510301"/>
                  <a:gd name="connsiteX3" fmla="*/ 1356189 w 2897312"/>
                  <a:gd name="connsiteY3" fmla="*/ 0 h 1510301"/>
                  <a:gd name="connsiteX4" fmla="*/ 421240 w 2897312"/>
                  <a:gd name="connsiteY4" fmla="*/ 462337 h 1510301"/>
                  <a:gd name="connsiteX5" fmla="*/ 0 w 2897312"/>
                  <a:gd name="connsiteY5" fmla="*/ 1510301 h 1510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97312" h="1510301">
                    <a:moveTo>
                      <a:pt x="0" y="1510301"/>
                    </a:moveTo>
                    <a:lnTo>
                      <a:pt x="2897312" y="1510301"/>
                    </a:lnTo>
                    <a:lnTo>
                      <a:pt x="2188396" y="441789"/>
                    </a:lnTo>
                    <a:lnTo>
                      <a:pt x="1356189" y="0"/>
                    </a:lnTo>
                    <a:lnTo>
                      <a:pt x="421240" y="462337"/>
                    </a:lnTo>
                    <a:lnTo>
                      <a:pt x="0" y="1510301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75F04499-BE42-7F46-7573-50E529851587}"/>
                  </a:ext>
                </a:extLst>
              </p:cNvPr>
              <p:cNvSpPr/>
              <p:nvPr/>
            </p:nvSpPr>
            <p:spPr>
              <a:xfrm>
                <a:off x="432956" y="5053285"/>
                <a:ext cx="504876" cy="853691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A7F3DF74-035B-27D9-5DA8-B0EF42C243E6}"/>
                  </a:ext>
                </a:extLst>
              </p:cNvPr>
              <p:cNvSpPr/>
              <p:nvPr/>
            </p:nvSpPr>
            <p:spPr>
              <a:xfrm>
                <a:off x="1081122" y="5053285"/>
                <a:ext cx="444561" cy="853691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A2E91524-BA51-8509-75C5-A5B3539CBD64}"/>
                  </a:ext>
                </a:extLst>
              </p:cNvPr>
              <p:cNvSpPr/>
              <p:nvPr/>
            </p:nvSpPr>
            <p:spPr>
              <a:xfrm>
                <a:off x="1814148" y="5053286"/>
                <a:ext cx="353381" cy="849396"/>
              </a:xfrm>
              <a:custGeom>
                <a:avLst/>
                <a:gdLst>
                  <a:gd name="connsiteX0" fmla="*/ 211755 w 259882"/>
                  <a:gd name="connsiteY0" fmla="*/ 0 h 462013"/>
                  <a:gd name="connsiteX1" fmla="*/ 0 w 259882"/>
                  <a:gd name="connsiteY1" fmla="*/ 462013 h 462013"/>
                  <a:gd name="connsiteX2" fmla="*/ 259882 w 259882"/>
                  <a:gd name="connsiteY2" fmla="*/ 462013 h 462013"/>
                  <a:gd name="connsiteX3" fmla="*/ 211755 w 259882"/>
                  <a:gd name="connsiteY3" fmla="*/ 0 h 4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882" h="462013">
                    <a:moveTo>
                      <a:pt x="211755" y="0"/>
                    </a:moveTo>
                    <a:lnTo>
                      <a:pt x="0" y="462013"/>
                    </a:lnTo>
                    <a:lnTo>
                      <a:pt x="259882" y="462013"/>
                    </a:lnTo>
                    <a:lnTo>
                      <a:pt x="211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F36619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4BB03EFC-6959-E7CA-3603-3981085C847C}"/>
                  </a:ext>
                </a:extLst>
              </p:cNvPr>
              <p:cNvSpPr/>
              <p:nvPr/>
            </p:nvSpPr>
            <p:spPr>
              <a:xfrm>
                <a:off x="793815" y="4979131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ECA95D57-7A60-1E98-0573-85819EF10522}"/>
                  </a:ext>
                </a:extLst>
              </p:cNvPr>
              <p:cNvSpPr/>
              <p:nvPr/>
            </p:nvSpPr>
            <p:spPr>
              <a:xfrm>
                <a:off x="1381667" y="4981276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D200751-1D1F-30D6-8F10-80A0F4D82FCD}"/>
                  </a:ext>
                </a:extLst>
              </p:cNvPr>
              <p:cNvSpPr/>
              <p:nvPr/>
            </p:nvSpPr>
            <p:spPr>
              <a:xfrm>
                <a:off x="2017951" y="4979131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2B2CF3C8-B685-550B-1738-EAAEA4427721}"/>
                  </a:ext>
                </a:extLst>
              </p:cNvPr>
              <p:cNvCxnSpPr>
                <a:stCxn id="90" idx="2"/>
                <a:endCxn id="72" idx="0"/>
              </p:cNvCxnSpPr>
              <p:nvPr/>
            </p:nvCxnSpPr>
            <p:spPr>
              <a:xfrm flipH="1">
                <a:off x="865823" y="4478752"/>
                <a:ext cx="449934" cy="500379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727AC3A-9A31-DCB0-91AB-67B8F08E0C2D}"/>
                  </a:ext>
                </a:extLst>
              </p:cNvPr>
              <p:cNvCxnSpPr>
                <a:stCxn id="90" idx="4"/>
                <a:endCxn id="73" idx="0"/>
              </p:cNvCxnSpPr>
              <p:nvPr/>
            </p:nvCxnSpPr>
            <p:spPr>
              <a:xfrm>
                <a:off x="1387765" y="4550760"/>
                <a:ext cx="65910" cy="430516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2247B83-FADF-562D-2DFD-EA196E891777}"/>
                  </a:ext>
                </a:extLst>
              </p:cNvPr>
              <p:cNvCxnSpPr>
                <a:stCxn id="90" idx="6"/>
                <a:endCxn id="74" idx="7"/>
              </p:cNvCxnSpPr>
              <p:nvPr/>
            </p:nvCxnSpPr>
            <p:spPr>
              <a:xfrm>
                <a:off x="1459773" y="4478752"/>
                <a:ext cx="681103" cy="521470"/>
              </a:xfrm>
              <a:prstGeom prst="line">
                <a:avLst/>
              </a:prstGeom>
              <a:noFill/>
              <a:ln w="25400" cap="flat" cmpd="sng" algn="ctr">
                <a:solidFill>
                  <a:srgbClr val="181818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9682B8F-2E2D-CBE5-4D5A-CECB50E3775F}"/>
                  </a:ext>
                </a:extLst>
              </p:cNvPr>
              <p:cNvSpPr/>
              <p:nvPr/>
            </p:nvSpPr>
            <p:spPr>
              <a:xfrm>
                <a:off x="1315757" y="4406744"/>
                <a:ext cx="144016" cy="144016"/>
              </a:xfrm>
              <a:prstGeom prst="ellipse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1818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E74583D-9F3B-194D-8F5B-7299F2E89B5D}"/>
                </a:ext>
              </a:extLst>
            </p:cNvPr>
            <p:cNvSpPr txBox="1"/>
            <p:nvPr/>
          </p:nvSpPr>
          <p:spPr>
            <a:xfrm>
              <a:off x="1678026" y="465313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A68535-5AC4-44DD-3A19-602284AC9929}"/>
              </a:ext>
            </a:extLst>
          </p:cNvPr>
          <p:cNvGrpSpPr/>
          <p:nvPr/>
        </p:nvGrpSpPr>
        <p:grpSpPr>
          <a:xfrm>
            <a:off x="1372179" y="2422663"/>
            <a:ext cx="7771821" cy="430778"/>
            <a:chOff x="1372179" y="2422663"/>
            <a:chExt cx="7771821" cy="430778"/>
          </a:xfrm>
        </p:grpSpPr>
        <p:sp>
          <p:nvSpPr>
            <p:cNvPr id="9" name="Content Placeholder 3">
              <a:extLst>
                <a:ext uri="{FF2B5EF4-FFF2-40B4-BE49-F238E27FC236}">
                  <a16:creationId xmlns:a16="http://schemas.microsoft.com/office/drawing/2014/main" id="{F0FDA340-29A0-5759-3F47-26D0D0F296E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4248" y="2422663"/>
              <a:ext cx="1939752" cy="430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800" dirty="0">
                  <a:solidFill>
                    <a:srgbClr val="C00000"/>
                  </a:solidFill>
                </a:rPr>
                <a:t>(in)</a:t>
              </a:r>
            </a:p>
            <a:p>
              <a:pPr algn="r"/>
              <a:endParaRPr lang="LID4096" sz="1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ontent Placeholder 3">
                  <a:extLst>
                    <a:ext uri="{FF2B5EF4-FFF2-40B4-BE49-F238E27FC236}">
                      <a16:creationId xmlns:a16="http://schemas.microsoft.com/office/drawing/2014/main" id="{69CF9609-02D9-DFF6-D94B-888D972B71B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2179" y="2444750"/>
                  <a:ext cx="7391400" cy="3651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sz="1800" dirty="0"/>
                    <a:t> that with </a:t>
                  </a:r>
                  <a14:m>
                    <m:oMath xmlns:m="http://schemas.openxmlformats.org/officeDocument/2006/math"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80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a14:m>
                  <a:endParaRPr lang="en-US" sz="1800" dirty="0"/>
                </a:p>
                <a:p>
                  <a:pPr lvl="1"/>
                  <a:endParaRPr lang="en-US" dirty="0"/>
                </a:p>
                <a:p>
                  <a:endParaRPr lang="en-US" sz="1800" dirty="0"/>
                </a:p>
                <a:p>
                  <a:endParaRPr lang="en-US" sz="1800" dirty="0"/>
                </a:p>
                <a:p>
                  <a:endParaRPr lang="en-US" sz="1800" dirty="0"/>
                </a:p>
                <a:p>
                  <a:endParaRPr lang="LID4096" sz="1800" dirty="0"/>
                </a:p>
              </p:txBody>
            </p:sp>
          </mc:Choice>
          <mc:Fallback xmlns="">
            <p:sp>
              <p:nvSpPr>
                <p:cNvPr id="3" name="Content Placeholder 3">
                  <a:extLst>
                    <a:ext uri="{FF2B5EF4-FFF2-40B4-BE49-F238E27FC236}">
                      <a16:creationId xmlns:a16="http://schemas.microsoft.com/office/drawing/2014/main" id="{69CF9609-02D9-DFF6-D94B-888D972B7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2179" y="2444750"/>
                  <a:ext cx="7391400" cy="365125"/>
                </a:xfrm>
                <a:prstGeom prst="rect">
                  <a:avLst/>
                </a:prstGeom>
                <a:blipFill>
                  <a:blip r:embed="rId3"/>
                  <a:stretch>
                    <a:fillRect l="-165" t="-8333" b="-2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B392710A-C3AD-6EC8-7ED1-DB2BC48D575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71600" y="2756080"/>
                <a:ext cx="7391400" cy="6159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Leaf: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Internal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𝑐h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B392710A-C3AD-6EC8-7ED1-DB2BC48D5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1600" y="2756080"/>
                <a:ext cx="7391400" cy="615949"/>
              </a:xfrm>
              <a:prstGeom prst="rect">
                <a:avLst/>
              </a:prstGeom>
              <a:blipFill>
                <a:blip r:embed="rId4"/>
                <a:stretch>
                  <a:fillRect t="-10891" b="-980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3">
                <a:extLst>
                  <a:ext uri="{FF2B5EF4-FFF2-40B4-BE49-F238E27FC236}">
                    <a16:creationId xmlns:a16="http://schemas.microsoft.com/office/drawing/2014/main" id="{AEBC9A89-22D3-5BEB-7C98-104AA482E90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71600" y="3708702"/>
                <a:ext cx="7391400" cy="728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Leaf: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Internal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𝑐h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]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𝑐h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∖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LID4096" sz="1800" dirty="0"/>
              </a:p>
            </p:txBody>
          </p:sp>
        </mc:Choice>
        <mc:Fallback xmlns="">
          <p:sp>
            <p:nvSpPr>
              <p:cNvPr id="11" name="Content Placeholder 3">
                <a:extLst>
                  <a:ext uri="{FF2B5EF4-FFF2-40B4-BE49-F238E27FC236}">
                    <a16:creationId xmlns:a16="http://schemas.microsoft.com/office/drawing/2014/main" id="{AEBC9A89-22D3-5BEB-7C98-104AA482E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1600" y="3708702"/>
                <a:ext cx="7391400" cy="728410"/>
              </a:xfrm>
              <a:prstGeom prst="rect">
                <a:avLst/>
              </a:prstGeom>
              <a:blipFill>
                <a:blip r:embed="rId5"/>
                <a:stretch>
                  <a:fillRect t="-6667" b="-691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3">
                <a:extLst>
                  <a:ext uri="{FF2B5EF4-FFF2-40B4-BE49-F238E27FC236}">
                    <a16:creationId xmlns:a16="http://schemas.microsoft.com/office/drawing/2014/main" id="{B459B3C8-4077-ECC8-A2BB-1F6C69ADF9D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72380" y="4698303"/>
                <a:ext cx="7391400" cy="6738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0000"/>
                  <a:buFont typeface="Webdings" panose="05030102010509060703" pitchFamily="18" charset="2"/>
                  <a:buChar char="g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5000"/>
                  <a:buFont typeface="Webdings" panose="05030102010509060703" pitchFamily="18" charset="2"/>
                  <a:buChar char="g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Verdana" panose="020B0604030504040204" pitchFamily="34" charset="0"/>
                  <a:buChar char="−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Leaf: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Internal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𝑐h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𝑣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min</m:t>
                            </m:r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𝐼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LID4096" sz="1800" dirty="0"/>
              </a:p>
            </p:txBody>
          </p:sp>
        </mc:Choice>
        <mc:Fallback xmlns="">
          <p:sp>
            <p:nvSpPr>
              <p:cNvPr id="14" name="Content Placeholder 3">
                <a:extLst>
                  <a:ext uri="{FF2B5EF4-FFF2-40B4-BE49-F238E27FC236}">
                    <a16:creationId xmlns:a16="http://schemas.microsoft.com/office/drawing/2014/main" id="{B459B3C8-4077-ECC8-A2BB-1F6C69ADF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2380" y="4698303"/>
                <a:ext cx="7391400" cy="673806"/>
              </a:xfrm>
              <a:prstGeom prst="rect">
                <a:avLst/>
              </a:prstGeom>
              <a:blipFill>
                <a:blip r:embed="rId6"/>
                <a:stretch>
                  <a:fillRect t="-10000" b="-818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DE775E8-F828-BEFA-59A2-0DA9A684585F}"/>
              </a:ext>
            </a:extLst>
          </p:cNvPr>
          <p:cNvGrpSpPr/>
          <p:nvPr/>
        </p:nvGrpSpPr>
        <p:grpSpPr>
          <a:xfrm>
            <a:off x="1371600" y="4344363"/>
            <a:ext cx="7777112" cy="430778"/>
            <a:chOff x="1371600" y="4286253"/>
            <a:chExt cx="7777112" cy="430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3">
                  <a:extLst>
                    <a:ext uri="{FF2B5EF4-FFF2-40B4-BE49-F238E27FC236}">
                      <a16:creationId xmlns:a16="http://schemas.microsoft.com/office/drawing/2014/main" id="{4B0CD2D9-D464-4B3A-5999-A529692CA22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1600" y="4309547"/>
                  <a:ext cx="7391400" cy="4037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of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1800" dirty="0"/>
                </a:p>
                <a:p>
                  <a:pPr marL="0" indent="0">
                    <a:buNone/>
                  </a:pPr>
                  <a:endParaRPr lang="LID4096" sz="1800" dirty="0"/>
                </a:p>
              </p:txBody>
            </p:sp>
          </mc:Choice>
          <mc:Fallback xmlns="">
            <p:sp>
              <p:nvSpPr>
                <p:cNvPr id="12" name="Content Placeholder 3">
                  <a:extLst>
                    <a:ext uri="{FF2B5EF4-FFF2-40B4-BE49-F238E27FC236}">
                      <a16:creationId xmlns:a16="http://schemas.microsoft.com/office/drawing/2014/main" id="{4B0CD2D9-D464-4B3A-5999-A529692CA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1600" y="4309547"/>
                  <a:ext cx="7391400" cy="403762"/>
                </a:xfrm>
                <a:prstGeom prst="rect">
                  <a:avLst/>
                </a:prstGeom>
                <a:blipFill>
                  <a:blip r:embed="rId7"/>
                  <a:stretch>
                    <a:fillRect l="-165" t="-7463" b="-134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ontent Placeholder 3">
              <a:extLst>
                <a:ext uri="{FF2B5EF4-FFF2-40B4-BE49-F238E27FC236}">
                  <a16:creationId xmlns:a16="http://schemas.microsoft.com/office/drawing/2014/main" id="{1E2FB1EA-35DF-0E02-D2BB-2C6F41B9E28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8960" y="4286253"/>
              <a:ext cx="1939752" cy="430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800" dirty="0">
                  <a:solidFill>
                    <a:srgbClr val="C00000"/>
                  </a:solidFill>
                </a:rPr>
                <a:t>(unknown)</a:t>
              </a:r>
            </a:p>
            <a:p>
              <a:pPr algn="r"/>
              <a:endParaRPr lang="LID4096" sz="18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540C5F-6BA7-7607-87F2-4F5311F9E018}"/>
              </a:ext>
            </a:extLst>
          </p:cNvPr>
          <p:cNvGrpSpPr/>
          <p:nvPr/>
        </p:nvGrpSpPr>
        <p:grpSpPr>
          <a:xfrm>
            <a:off x="1371600" y="3349221"/>
            <a:ext cx="7772400" cy="449422"/>
            <a:chOff x="1371600" y="3349221"/>
            <a:chExt cx="7772400" cy="4494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ontent Placeholder 3">
                  <a:extLst>
                    <a:ext uri="{FF2B5EF4-FFF2-40B4-BE49-F238E27FC236}">
                      <a16:creationId xmlns:a16="http://schemas.microsoft.com/office/drawing/2014/main" id="{825C18C0-2826-DC4A-84A5-960AD8C5A011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371600" y="3365325"/>
                  <a:ext cx="7391400" cy="433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2900" indent="-3429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90000"/>
                    <a:buFont typeface="Webdings" panose="05030102010509060703" pitchFamily="18" charset="2"/>
                    <a:buChar char="g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85000"/>
                    <a:buFont typeface="Webdings" panose="05030102010509060703" pitchFamily="18" charset="2"/>
                    <a:buChar char="g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Verdana" panose="020B0604030504040204" pitchFamily="34" charset="0"/>
                    <a:buChar char="−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5621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Ø"/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81200" indent="-228600" algn="l" rtl="0" eaLnBrk="1" fontAlgn="base" hangingPunct="1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8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be the min weight DS of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r>
                    <a:rPr lang="en-US" sz="1800" dirty="0"/>
                    <a:t> with </a:t>
                  </a:r>
                  <a14:m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X</m:t>
                      </m:r>
                    </m:oMath>
                  </a14:m>
                  <a:endParaRPr lang="en-US" sz="1800" dirty="0"/>
                </a:p>
                <a:p>
                  <a:endParaRPr lang="LID4096" sz="1800" dirty="0"/>
                </a:p>
              </p:txBody>
            </p:sp>
          </mc:Choice>
          <mc:Fallback xmlns="">
            <p:sp>
              <p:nvSpPr>
                <p:cNvPr id="10" name="Content Placeholder 3">
                  <a:extLst>
                    <a:ext uri="{FF2B5EF4-FFF2-40B4-BE49-F238E27FC236}">
                      <a16:creationId xmlns:a16="http://schemas.microsoft.com/office/drawing/2014/main" id="{825C18C0-2826-DC4A-84A5-960AD8C5A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1600" y="3365325"/>
                  <a:ext cx="7391400" cy="433318"/>
                </a:xfrm>
                <a:prstGeom prst="rect">
                  <a:avLst/>
                </a:prstGeom>
                <a:blipFill>
                  <a:blip r:embed="rId8"/>
                  <a:stretch>
                    <a:fillRect l="-165" t="-7042" b="-704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Content Placeholder 3">
              <a:extLst>
                <a:ext uri="{FF2B5EF4-FFF2-40B4-BE49-F238E27FC236}">
                  <a16:creationId xmlns:a16="http://schemas.microsoft.com/office/drawing/2014/main" id="{6EFB0013-40BB-8C39-0E3E-9BBDD148E2E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204248" y="3349221"/>
              <a:ext cx="1939752" cy="432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90000"/>
                <a:buFont typeface="Webdings" panose="05030102010509060703" pitchFamily="18" charset="2"/>
                <a:buChar char="g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5000"/>
                <a:buFont typeface="Webdings" panose="05030102010509060703" pitchFamily="18" charset="2"/>
                <a:buChar char="g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Verdana" panose="020B0604030504040204" pitchFamily="34" charset="0"/>
                <a:buChar char="−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  <a:tabLst>
                  <a:tab pos="7358063" algn="l"/>
                </a:tabLst>
              </a:pPr>
              <a:r>
                <a:rPr lang="en-US" sz="1800" dirty="0">
                  <a:solidFill>
                    <a:srgbClr val="C00000"/>
                  </a:solidFill>
                </a:rPr>
                <a:t>(dominated)</a:t>
              </a:r>
            </a:p>
            <a:p>
              <a:pPr algn="r"/>
              <a:endParaRPr lang="LID4096" sz="18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E02A92B-6BBB-5745-8184-B67FE92B1D80}"/>
              </a:ext>
            </a:extLst>
          </p:cNvPr>
          <p:cNvSpPr/>
          <p:nvPr/>
        </p:nvSpPr>
        <p:spPr bwMode="auto">
          <a:xfrm>
            <a:off x="4427984" y="5842389"/>
            <a:ext cx="4536504" cy="51023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implemented in O(n) time</a:t>
            </a:r>
            <a:endParaRPr kumimoji="0" lang="LID4096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67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/>
              <a:t>Weighted Dominating Set and </a:t>
            </a:r>
            <a:r>
              <a:rPr lang="en-US" dirty="0" err="1"/>
              <a:t>Treewidth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r>
                  <a:rPr lang="en-US" dirty="0"/>
                  <a:t>Table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for bag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partition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​Every vertex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can have the state (in the partition) of being:</a:t>
                </a:r>
              </a:p>
              <a:p>
                <a:pPr lvl="2"/>
                <a:r>
                  <a:rPr lang="en-US" dirty="0"/>
                  <a:t>​</a:t>
                </a:r>
                <a:r>
                  <a:rPr lang="en-US" b="1" dirty="0">
                    <a:solidFill>
                      <a:srgbClr val="C00000"/>
                    </a:solidFill>
                  </a:rPr>
                  <a:t>In</a:t>
                </a:r>
                <a:r>
                  <a:rPr lang="en-US" dirty="0"/>
                  <a:t> the dominating set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) </a:t>
                </a:r>
              </a:p>
              <a:p>
                <a:pPr lvl="2"/>
                <a:r>
                  <a:rPr lang="en-US" dirty="0"/>
                  <a:t>Not in the dominating set and </a:t>
                </a:r>
                <a:r>
                  <a:rPr lang="en-US" b="1" dirty="0">
                    <a:solidFill>
                      <a:srgbClr val="C00000"/>
                    </a:solidFill>
                  </a:rPr>
                  <a:t>dominated</a:t>
                </a:r>
                <a:r>
                  <a:rPr lang="en-US" dirty="0"/>
                  <a:t> already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2"/>
                <a:r>
                  <a:rPr lang="en-US" dirty="0"/>
                  <a:t>Not in the dominating set and </a:t>
                </a:r>
                <a:r>
                  <a:rPr lang="en-US" b="1" dirty="0">
                    <a:solidFill>
                      <a:srgbClr val="C00000"/>
                    </a:solidFill>
                  </a:rPr>
                  <a:t>unknown</a:t>
                </a:r>
                <a:r>
                  <a:rPr lang="en-US" dirty="0"/>
                  <a:t> to be dominated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Gives tables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 tree decomposition of width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Leaf (almost identical to DP on trees):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,∅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∅,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∅,∅,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162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79FDEE-944D-4C65-9FDD-DDE07D21CF7D}" type="slidenum">
              <a:rPr lang="nl-NL" smtClean="0">
                <a:solidFill>
                  <a:srgbClr val="000000">
                    <a:tint val="75000"/>
                  </a:srgbClr>
                </a:solidFill>
              </a:rPr>
              <a:pPr/>
              <a:t>32</a:t>
            </a:fld>
            <a:endParaRPr lang="nl-NL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95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A521-C9E1-607C-6CA5-A755A3E2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38E9E2-0CB1-39A2-37C2-F1B7F82E1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/>
              <a:t>Weighted Dominating Set and </a:t>
            </a:r>
            <a:r>
              <a:rPr lang="en-US" dirty="0" err="1"/>
              <a:t>Treewidth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DD436E-8066-FC09-A6AB-713037B14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r>
                  <a:rPr lang="en-US" dirty="0"/>
                  <a:t>Introduce bag: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endParaRPr lang="en-US" dirty="0"/>
              </a:p>
              <a:p>
                <a:pPr lvl="2">
                  <a:buFont typeface="Wingdings" panose="05000000000000000000" pitchFamily="2" charset="2"/>
                  <a:buChar char="§"/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(newly dominated vertices)</a:t>
                </a:r>
              </a:p>
              <a:p>
                <a:pPr lvl="1"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≠∅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sz="1400" dirty="0"/>
              </a:p>
              <a:p>
                <a:r>
                  <a:rPr lang="en-US" dirty="0"/>
                  <a:t>Forget bag: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lit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},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>
                  <a:tabLst>
                    <a:tab pos="1346200" algn="l"/>
                  </a:tabLst>
                </a:pPr>
                <a:endParaRPr lang="en-US" dirty="0"/>
              </a:p>
              <a:p>
                <a:pPr>
                  <a:tabLst>
                    <a:tab pos="1346200" algn="l"/>
                  </a:tabLst>
                </a:pPr>
                <a:r>
                  <a:rPr lang="en-US" dirty="0"/>
                  <a:t>Join bag (more complicated):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tabLst>
                    <a:tab pos="1346200" algn="l"/>
                  </a:tabLst>
                </a:pPr>
                <a:r>
                  <a:rPr lang="en-US" dirty="0"/>
                  <a:t>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dirty="0"/>
                  <a:t> loop over all subsets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DD436E-8066-FC09-A6AB-713037B14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162" t="-923" b="-446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F68FBA-332B-A57C-E00D-9E00365AEA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79FDEE-944D-4C65-9FDD-DDE07D21CF7D}" type="slidenum">
              <a:rPr lang="nl-NL" smtClean="0">
                <a:solidFill>
                  <a:srgbClr val="000000">
                    <a:tint val="75000"/>
                  </a:srgbClr>
                </a:solidFill>
              </a:rPr>
              <a:pPr/>
              <a:t>33</a:t>
            </a:fld>
            <a:endParaRPr lang="nl-NL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C5EB98B-A2C2-5DB7-A0FF-AAA716CAF8B7}"/>
              </a:ext>
            </a:extLst>
          </p:cNvPr>
          <p:cNvGrpSpPr/>
          <p:nvPr/>
        </p:nvGrpSpPr>
        <p:grpSpPr>
          <a:xfrm>
            <a:off x="6956915" y="1538189"/>
            <a:ext cx="2151330" cy="2071634"/>
            <a:chOff x="6477000" y="1313545"/>
            <a:chExt cx="2616114" cy="251920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09B50BF-B07D-2F5C-0868-34B5515B1530}"/>
                </a:ext>
              </a:extLst>
            </p:cNvPr>
            <p:cNvGrpSpPr/>
            <p:nvPr/>
          </p:nvGrpSpPr>
          <p:grpSpPr>
            <a:xfrm>
              <a:off x="6477000" y="1546746"/>
              <a:ext cx="1066800" cy="2133600"/>
              <a:chOff x="5715000" y="2590800"/>
              <a:chExt cx="1066800" cy="2133600"/>
            </a:xfrm>
          </p:grpSpPr>
          <p:sp>
            <p:nvSpPr>
              <p:cNvPr id="33" name="Line 1030">
                <a:extLst>
                  <a:ext uri="{FF2B5EF4-FFF2-40B4-BE49-F238E27FC236}">
                    <a16:creationId xmlns:a16="http://schemas.microsoft.com/office/drawing/2014/main" id="{4C064D64-394D-7416-13F4-899DC4705A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67400" y="3886200"/>
                <a:ext cx="762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1031">
                <a:extLst>
                  <a:ext uri="{FF2B5EF4-FFF2-40B4-BE49-F238E27FC236}">
                    <a16:creationId xmlns:a16="http://schemas.microsoft.com/office/drawing/2014/main" id="{2EF90B84-E891-8AD4-6A3E-B53CB9FC0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43600" y="4343400"/>
                <a:ext cx="3810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1032">
                <a:extLst>
                  <a:ext uri="{FF2B5EF4-FFF2-40B4-BE49-F238E27FC236}">
                    <a16:creationId xmlns:a16="http://schemas.microsoft.com/office/drawing/2014/main" id="{F2C134D9-FA55-17FA-6C00-A00791334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6000" y="39624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Oval 1033">
                <a:extLst>
                  <a:ext uri="{FF2B5EF4-FFF2-40B4-BE49-F238E27FC236}">
                    <a16:creationId xmlns:a16="http://schemas.microsoft.com/office/drawing/2014/main" id="{BAB14656-56CC-F3F7-1AD3-CEE95A60E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000" y="2590800"/>
                <a:ext cx="1066800" cy="9144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b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100" dirty="0"/>
              </a:p>
            </p:txBody>
          </p:sp>
          <p:sp>
            <p:nvSpPr>
              <p:cNvPr id="37" name="Line 1034">
                <a:extLst>
                  <a:ext uri="{FF2B5EF4-FFF2-40B4-BE49-F238E27FC236}">
                    <a16:creationId xmlns:a16="http://schemas.microsoft.com/office/drawing/2014/main" id="{8E7A3D19-CE7F-2F57-E19E-DF221792E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77000" y="3124200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1035">
                <a:extLst>
                  <a:ext uri="{FF2B5EF4-FFF2-40B4-BE49-F238E27FC236}">
                    <a16:creationId xmlns:a16="http://schemas.microsoft.com/office/drawing/2014/main" id="{4FEC5161-256F-BCA7-C4AB-56AEC8864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19800" y="3048000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Oval 1036">
                <a:extLst>
                  <a:ext uri="{FF2B5EF4-FFF2-40B4-BE49-F238E27FC236}">
                    <a16:creationId xmlns:a16="http://schemas.microsoft.com/office/drawing/2014/main" id="{94FA73F4-1D65-1B7E-65CE-71B148CCA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7400" y="28194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40" name="Oval 1037">
                <a:extLst>
                  <a:ext uri="{FF2B5EF4-FFF2-40B4-BE49-F238E27FC236}">
                    <a16:creationId xmlns:a16="http://schemas.microsoft.com/office/drawing/2014/main" id="{54A5A2A6-7B24-7976-EE00-2045BDCEF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8400" y="28956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1" name="Oval 1038">
                <a:extLst>
                  <a:ext uri="{FF2B5EF4-FFF2-40B4-BE49-F238E27FC236}">
                    <a16:creationId xmlns:a16="http://schemas.microsoft.com/office/drawing/2014/main" id="{5C423B98-856A-CAEF-FBA9-EC6AA1395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8400" y="4191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2" name="Oval 1039">
                <a:extLst>
                  <a:ext uri="{FF2B5EF4-FFF2-40B4-BE49-F238E27FC236}">
                    <a16:creationId xmlns:a16="http://schemas.microsoft.com/office/drawing/2014/main" id="{7B2B10C7-6203-2382-CA93-367A4DC9B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000" y="44196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3" name="Line 1040">
                <a:extLst>
                  <a:ext uri="{FF2B5EF4-FFF2-40B4-BE49-F238E27FC236}">
                    <a16:creationId xmlns:a16="http://schemas.microsoft.com/office/drawing/2014/main" id="{3B4EC652-2034-87BD-585D-F4AAC1123C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19800" y="3200400"/>
                <a:ext cx="3810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Oval 1041">
                <a:extLst>
                  <a:ext uri="{FF2B5EF4-FFF2-40B4-BE49-F238E27FC236}">
                    <a16:creationId xmlns:a16="http://schemas.microsoft.com/office/drawing/2014/main" id="{8912B5C4-798F-3F09-B1DA-559896FE6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7400" y="37338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97FBA58-E133-8D1E-8F03-DF67BC3A5527}"/>
                </a:ext>
              </a:extLst>
            </p:cNvPr>
            <p:cNvGrpSpPr/>
            <p:nvPr/>
          </p:nvGrpSpPr>
          <p:grpSpPr>
            <a:xfrm>
              <a:off x="8001000" y="1313545"/>
              <a:ext cx="1066800" cy="2519201"/>
              <a:chOff x="7239000" y="2357599"/>
              <a:chExt cx="1066800" cy="2519201"/>
            </a:xfrm>
          </p:grpSpPr>
          <p:sp>
            <p:nvSpPr>
              <p:cNvPr id="46" name="Oval 1026">
                <a:extLst>
                  <a:ext uri="{FF2B5EF4-FFF2-40B4-BE49-F238E27FC236}">
                    <a16:creationId xmlns:a16="http://schemas.microsoft.com/office/drawing/2014/main" id="{8BF917B5-9B45-D4E4-91D2-72BCBD889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2357599"/>
                <a:ext cx="1066800" cy="1199979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7" name="Line 1027">
                <a:extLst>
                  <a:ext uri="{FF2B5EF4-FFF2-40B4-BE49-F238E27FC236}">
                    <a16:creationId xmlns:a16="http://schemas.microsoft.com/office/drawing/2014/main" id="{E729BB96-2EF2-957D-7D6A-F72D21AE31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72400" y="2667000"/>
                <a:ext cx="152400" cy="53340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1042">
                <a:extLst>
                  <a:ext uri="{FF2B5EF4-FFF2-40B4-BE49-F238E27FC236}">
                    <a16:creationId xmlns:a16="http://schemas.microsoft.com/office/drawing/2014/main" id="{C24D7445-BB9A-C814-47D4-788C522410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96579" y="4100744"/>
                <a:ext cx="762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Line 1043">
                <a:extLst>
                  <a:ext uri="{FF2B5EF4-FFF2-40B4-BE49-F238E27FC236}">
                    <a16:creationId xmlns:a16="http://schemas.microsoft.com/office/drawing/2014/main" id="{92502233-59AE-9523-0E95-FAAB07E35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467600" y="4495800"/>
                <a:ext cx="3810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1044">
                <a:extLst>
                  <a:ext uri="{FF2B5EF4-FFF2-40B4-BE49-F238E27FC236}">
                    <a16:creationId xmlns:a16="http://schemas.microsoft.com/office/drawing/2014/main" id="{BF969644-35B2-CACD-F0F3-E9F4A19D1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20000" y="41148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1045">
                <a:extLst>
                  <a:ext uri="{FF2B5EF4-FFF2-40B4-BE49-F238E27FC236}">
                    <a16:creationId xmlns:a16="http://schemas.microsoft.com/office/drawing/2014/main" id="{519C7C51-D1AA-EB4E-3A03-2B7D591DB3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000" y="3276600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Line 1046">
                <a:extLst>
                  <a:ext uri="{FF2B5EF4-FFF2-40B4-BE49-F238E27FC236}">
                    <a16:creationId xmlns:a16="http://schemas.microsoft.com/office/drawing/2014/main" id="{7250FDE7-9AF2-A5F2-23B4-AFFADAE76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3200400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Oval 1047">
                <a:extLst>
                  <a:ext uri="{FF2B5EF4-FFF2-40B4-BE49-F238E27FC236}">
                    <a16:creationId xmlns:a16="http://schemas.microsoft.com/office/drawing/2014/main" id="{68A8EB49-FC77-8BD6-D3F9-6ECE965D5D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29718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4" name="Oval 1048">
                <a:extLst>
                  <a:ext uri="{FF2B5EF4-FFF2-40B4-BE49-F238E27FC236}">
                    <a16:creationId xmlns:a16="http://schemas.microsoft.com/office/drawing/2014/main" id="{B20D611F-F905-34C5-576B-A2CD3AD4A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3048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dirty="0"/>
              </a:p>
            </p:txBody>
          </p:sp>
          <p:sp>
            <p:nvSpPr>
              <p:cNvPr id="55" name="Oval 1049">
                <a:extLst>
                  <a:ext uri="{FF2B5EF4-FFF2-40B4-BE49-F238E27FC236}">
                    <a16:creationId xmlns:a16="http://schemas.microsoft.com/office/drawing/2014/main" id="{1328E769-3542-B299-BD9D-3E8ACFEA9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43434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6" name="Oval 1050">
                <a:extLst>
                  <a:ext uri="{FF2B5EF4-FFF2-40B4-BE49-F238E27FC236}">
                    <a16:creationId xmlns:a16="http://schemas.microsoft.com/office/drawing/2014/main" id="{1A81CA96-0E20-C3F1-30B5-DA979801C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4572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7" name="Line 1051">
                <a:extLst>
                  <a:ext uri="{FF2B5EF4-FFF2-40B4-BE49-F238E27FC236}">
                    <a16:creationId xmlns:a16="http://schemas.microsoft.com/office/drawing/2014/main" id="{C4C6D098-5DF6-E39F-14DB-46B39903D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43800" y="3352800"/>
                <a:ext cx="3810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1052">
                <a:extLst>
                  <a:ext uri="{FF2B5EF4-FFF2-40B4-BE49-F238E27FC236}">
                    <a16:creationId xmlns:a16="http://schemas.microsoft.com/office/drawing/2014/main" id="{46CD5BE2-7548-0D4C-1408-965159CDC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38862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9" name="Oval 1053">
                <a:extLst>
                  <a:ext uri="{FF2B5EF4-FFF2-40B4-BE49-F238E27FC236}">
                    <a16:creationId xmlns:a16="http://schemas.microsoft.com/office/drawing/2014/main" id="{3C8BBFD7-C60E-5DAB-D111-B0A502F442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0" y="2514600"/>
                <a:ext cx="304800" cy="304800"/>
              </a:xfrm>
              <a:prstGeom prst="ellipse">
                <a:avLst/>
              </a:prstGeom>
              <a:solidFill>
                <a:srgbClr val="C00000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>
                    <a:solidFill>
                      <a:schemeClr val="bg1"/>
                    </a:solidFill>
                  </a:rPr>
                  <a:t>v</a:t>
                </a:r>
                <a:endParaRPr lang="nl-NL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0" name="Line 1054">
              <a:extLst>
                <a:ext uri="{FF2B5EF4-FFF2-40B4-BE49-F238E27FC236}">
                  <a16:creationId xmlns:a16="http://schemas.microsoft.com/office/drawing/2014/main" id="{9EB19226-BB7B-8DEC-BB5D-CBD46C4CB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7600" y="2665925"/>
              <a:ext cx="533400" cy="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D02127C-BD58-E932-3212-6476A9F2615A}"/>
                    </a:ext>
                  </a:extLst>
                </p:cNvPr>
                <p:cNvSpPr txBox="1"/>
                <p:nvPr/>
              </p:nvSpPr>
              <p:spPr>
                <a:xfrm>
                  <a:off x="8733073" y="1643789"/>
                  <a:ext cx="3600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D02127C-BD58-E932-3212-6476A9F261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3073" y="1643789"/>
                  <a:ext cx="360041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7D96BA9-2250-C4F0-9868-3CB5457A0373}"/>
                    </a:ext>
                  </a:extLst>
                </p:cNvPr>
                <p:cNvSpPr txBox="1"/>
                <p:nvPr/>
              </p:nvSpPr>
              <p:spPr>
                <a:xfrm>
                  <a:off x="7221859" y="1803303"/>
                  <a:ext cx="360041" cy="3250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7D96BA9-2250-C4F0-9868-3CB5457A0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1859" y="1803303"/>
                  <a:ext cx="360041" cy="325089"/>
                </a:xfrm>
                <a:prstGeom prst="rect">
                  <a:avLst/>
                </a:prstGeom>
                <a:blipFill>
                  <a:blip r:embed="rId4"/>
                  <a:stretch>
                    <a:fillRect r="-2083" b="-2500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C7BF4F4-F88E-1C85-0518-B726EB2D8588}"/>
              </a:ext>
            </a:extLst>
          </p:cNvPr>
          <p:cNvGrpSpPr/>
          <p:nvPr/>
        </p:nvGrpSpPr>
        <p:grpSpPr>
          <a:xfrm>
            <a:off x="6642450" y="3782228"/>
            <a:ext cx="2446132" cy="2134296"/>
            <a:chOff x="2800907" y="2393183"/>
            <a:chExt cx="2446132" cy="2134296"/>
          </a:xfrm>
        </p:grpSpPr>
        <p:sp>
          <p:nvSpPr>
            <p:cNvPr id="6" name="Line 1030">
              <a:extLst>
                <a:ext uri="{FF2B5EF4-FFF2-40B4-BE49-F238E27FC236}">
                  <a16:creationId xmlns:a16="http://schemas.microsoft.com/office/drawing/2014/main" id="{C78D4FA5-0759-DFAE-8CF2-C6295E6C4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7284" y="3838195"/>
              <a:ext cx="62662" cy="5639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031">
              <a:extLst>
                <a:ext uri="{FF2B5EF4-FFF2-40B4-BE49-F238E27FC236}">
                  <a16:creationId xmlns:a16="http://schemas.microsoft.com/office/drawing/2014/main" id="{E9B3B632-4F30-CB96-FD24-C02D9D0487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9946" y="4214168"/>
              <a:ext cx="313311" cy="187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032">
              <a:extLst>
                <a:ext uri="{FF2B5EF4-FFF2-40B4-BE49-F238E27FC236}">
                  <a16:creationId xmlns:a16="http://schemas.microsoft.com/office/drawing/2014/main" id="{088F66ED-4791-8C99-8774-3629E4B33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271" y="3900858"/>
              <a:ext cx="250649" cy="2506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033">
              <a:extLst>
                <a:ext uri="{FF2B5EF4-FFF2-40B4-BE49-F238E27FC236}">
                  <a16:creationId xmlns:a16="http://schemas.microsoft.com/office/drawing/2014/main" id="{56680BDB-B85F-13F5-95EC-08C115FCE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960" y="2772939"/>
              <a:ext cx="877270" cy="751946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b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100" dirty="0"/>
            </a:p>
          </p:txBody>
        </p:sp>
        <p:sp>
          <p:nvSpPr>
            <p:cNvPr id="10" name="Line 1034">
              <a:extLst>
                <a:ext uri="{FF2B5EF4-FFF2-40B4-BE49-F238E27FC236}">
                  <a16:creationId xmlns:a16="http://schemas.microsoft.com/office/drawing/2014/main" id="{4A1B28AD-67EF-626E-E3FA-0D789FFA7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5913" y="3211574"/>
              <a:ext cx="62668" cy="939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035">
              <a:extLst>
                <a:ext uri="{FF2B5EF4-FFF2-40B4-BE49-F238E27FC236}">
                  <a16:creationId xmlns:a16="http://schemas.microsoft.com/office/drawing/2014/main" id="{115594EC-1AEF-484F-F8ED-515814C79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609" y="3148912"/>
              <a:ext cx="0" cy="626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036">
              <a:extLst>
                <a:ext uri="{FF2B5EF4-FFF2-40B4-BE49-F238E27FC236}">
                  <a16:creationId xmlns:a16="http://schemas.microsoft.com/office/drawing/2014/main" id="{1307EE9F-9F77-C740-26C0-7F7FA2329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284" y="2960925"/>
              <a:ext cx="250649" cy="250649"/>
            </a:xfrm>
            <a:prstGeom prst="ellipse">
              <a:avLst/>
            </a:prstGeom>
            <a:solidFill>
              <a:schemeClr val="accent2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C00000"/>
                </a:solidFill>
              </a:endParaRPr>
            </a:p>
          </p:txBody>
        </p:sp>
        <p:sp>
          <p:nvSpPr>
            <p:cNvPr id="13" name="Oval 1038">
              <a:extLst>
                <a:ext uri="{FF2B5EF4-FFF2-40B4-BE49-F238E27FC236}">
                  <a16:creationId xmlns:a16="http://schemas.microsoft.com/office/drawing/2014/main" id="{88837C99-2A74-83FF-F76B-DFDA4409C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595" y="4088844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Oval 1039">
              <a:extLst>
                <a:ext uri="{FF2B5EF4-FFF2-40B4-BE49-F238E27FC236}">
                  <a16:creationId xmlns:a16="http://schemas.microsoft.com/office/drawing/2014/main" id="{A760B7C6-8C20-ACFD-6454-F0626B802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960" y="4276830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" name="Line 1040">
              <a:extLst>
                <a:ext uri="{FF2B5EF4-FFF2-40B4-BE49-F238E27FC236}">
                  <a16:creationId xmlns:a16="http://schemas.microsoft.com/office/drawing/2014/main" id="{E8AD0C83-349D-0782-D0F0-419F6ECCA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2609" y="3211574"/>
              <a:ext cx="250642" cy="626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041">
              <a:extLst>
                <a:ext uri="{FF2B5EF4-FFF2-40B4-BE49-F238E27FC236}">
                  <a16:creationId xmlns:a16="http://schemas.microsoft.com/office/drawing/2014/main" id="{C61D08F2-5E25-8CB0-7240-06A947795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284" y="3712871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4D61BD4-1CF7-9C25-94F7-48C5578D080E}"/>
                </a:ext>
              </a:extLst>
            </p:cNvPr>
            <p:cNvGrpSpPr/>
            <p:nvPr/>
          </p:nvGrpSpPr>
          <p:grpSpPr>
            <a:xfrm>
              <a:off x="2800907" y="2393183"/>
              <a:ext cx="877270" cy="2071634"/>
              <a:chOff x="7239000" y="2357599"/>
              <a:chExt cx="1066800" cy="2519201"/>
            </a:xfrm>
          </p:grpSpPr>
          <p:sp>
            <p:nvSpPr>
              <p:cNvPr id="24" name="Oval 1026">
                <a:extLst>
                  <a:ext uri="{FF2B5EF4-FFF2-40B4-BE49-F238E27FC236}">
                    <a16:creationId xmlns:a16="http://schemas.microsoft.com/office/drawing/2014/main" id="{5AC31658-D82F-65F4-F7CD-F57202FFF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2357599"/>
                <a:ext cx="1066800" cy="1199979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5" name="Line 1027">
                <a:extLst>
                  <a:ext uri="{FF2B5EF4-FFF2-40B4-BE49-F238E27FC236}">
                    <a16:creationId xmlns:a16="http://schemas.microsoft.com/office/drawing/2014/main" id="{292EC424-14A7-FA35-EA8F-BA830923E4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72400" y="2667000"/>
                <a:ext cx="152400" cy="53340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1042">
                <a:extLst>
                  <a:ext uri="{FF2B5EF4-FFF2-40B4-BE49-F238E27FC236}">
                    <a16:creationId xmlns:a16="http://schemas.microsoft.com/office/drawing/2014/main" id="{7FC2612F-064C-835B-244F-2D0142A58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96579" y="4100744"/>
                <a:ext cx="762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1043">
                <a:extLst>
                  <a:ext uri="{FF2B5EF4-FFF2-40B4-BE49-F238E27FC236}">
                    <a16:creationId xmlns:a16="http://schemas.microsoft.com/office/drawing/2014/main" id="{9C484D1F-7DE2-AAD2-C3F8-5015EFA88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467600" y="4495800"/>
                <a:ext cx="3810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1044">
                <a:extLst>
                  <a:ext uri="{FF2B5EF4-FFF2-40B4-BE49-F238E27FC236}">
                    <a16:creationId xmlns:a16="http://schemas.microsoft.com/office/drawing/2014/main" id="{199D0A5E-13CA-3278-64BF-BCC798105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20000" y="41148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1045">
                <a:extLst>
                  <a:ext uri="{FF2B5EF4-FFF2-40B4-BE49-F238E27FC236}">
                    <a16:creationId xmlns:a16="http://schemas.microsoft.com/office/drawing/2014/main" id="{F0EF92EE-4AC6-B32F-DF0F-90BE3D952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000" y="3276600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1046">
                <a:extLst>
                  <a:ext uri="{FF2B5EF4-FFF2-40B4-BE49-F238E27FC236}">
                    <a16:creationId xmlns:a16="http://schemas.microsoft.com/office/drawing/2014/main" id="{47224016-22CB-E32A-E41E-14A6AF689C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3200400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Oval 1047">
                <a:extLst>
                  <a:ext uri="{FF2B5EF4-FFF2-40B4-BE49-F238E27FC236}">
                    <a16:creationId xmlns:a16="http://schemas.microsoft.com/office/drawing/2014/main" id="{00C5841D-32B7-61F7-7CB7-19635327A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29718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4" name="Oval 1048">
                <a:extLst>
                  <a:ext uri="{FF2B5EF4-FFF2-40B4-BE49-F238E27FC236}">
                    <a16:creationId xmlns:a16="http://schemas.microsoft.com/office/drawing/2014/main" id="{8626FB78-1B03-FE82-0656-518B88601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3048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dirty="0"/>
              </a:p>
            </p:txBody>
          </p:sp>
          <p:sp>
            <p:nvSpPr>
              <p:cNvPr id="65" name="Oval 1049">
                <a:extLst>
                  <a:ext uri="{FF2B5EF4-FFF2-40B4-BE49-F238E27FC236}">
                    <a16:creationId xmlns:a16="http://schemas.microsoft.com/office/drawing/2014/main" id="{7BF73043-BA8E-9C9F-B066-85B534557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43434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6" name="Oval 1050">
                <a:extLst>
                  <a:ext uri="{FF2B5EF4-FFF2-40B4-BE49-F238E27FC236}">
                    <a16:creationId xmlns:a16="http://schemas.microsoft.com/office/drawing/2014/main" id="{468D6FFA-14F7-F207-AC5B-464E61CD3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4572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" name="Line 1051">
                <a:extLst>
                  <a:ext uri="{FF2B5EF4-FFF2-40B4-BE49-F238E27FC236}">
                    <a16:creationId xmlns:a16="http://schemas.microsoft.com/office/drawing/2014/main" id="{8BAAB345-F64A-AFB1-A78E-F840F0E314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43800" y="3352800"/>
                <a:ext cx="3810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Oval 1052">
                <a:extLst>
                  <a:ext uri="{FF2B5EF4-FFF2-40B4-BE49-F238E27FC236}">
                    <a16:creationId xmlns:a16="http://schemas.microsoft.com/office/drawing/2014/main" id="{BCBA22E7-A11B-C37E-E689-259FECCF7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38862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9" name="Oval 1053">
                <a:extLst>
                  <a:ext uri="{FF2B5EF4-FFF2-40B4-BE49-F238E27FC236}">
                    <a16:creationId xmlns:a16="http://schemas.microsoft.com/office/drawing/2014/main" id="{C8A9654B-7915-B3E0-4F3F-06A5EB79B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0" y="2514600"/>
                <a:ext cx="304800" cy="304800"/>
              </a:xfrm>
              <a:prstGeom prst="ellipse">
                <a:avLst/>
              </a:prstGeom>
              <a:solidFill>
                <a:srgbClr val="C00000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>
                    <a:solidFill>
                      <a:schemeClr val="bg1"/>
                    </a:solidFill>
                  </a:rPr>
                  <a:t>v</a:t>
                </a:r>
                <a:endParaRPr lang="nl-NL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" name="Line 1054">
              <a:extLst>
                <a:ext uri="{FF2B5EF4-FFF2-40B4-BE49-F238E27FC236}">
                  <a16:creationId xmlns:a16="http://schemas.microsoft.com/office/drawing/2014/main" id="{DEE85333-24A7-A4B8-AAF7-D49ABF236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8177" y="3529214"/>
              <a:ext cx="438635" cy="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7AA6CB3-2FF9-1A7F-C4DD-83A4C2A22CDD}"/>
                    </a:ext>
                  </a:extLst>
                </p:cNvPr>
                <p:cNvSpPr txBox="1"/>
                <p:nvPr/>
              </p:nvSpPr>
              <p:spPr>
                <a:xfrm>
                  <a:off x="3402919" y="2664755"/>
                  <a:ext cx="296075" cy="3250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7AA6CB3-2FF9-1A7F-C4DD-83A4C2A22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919" y="2664755"/>
                  <a:ext cx="296075" cy="325089"/>
                </a:xfrm>
                <a:prstGeom prst="rect">
                  <a:avLst/>
                </a:prstGeom>
                <a:blipFill>
                  <a:blip r:embed="rId5"/>
                  <a:stretch>
                    <a:fillRect r="-2041" b="-3774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811CBF8-6DE9-AF62-8813-E90F1DF1CF92}"/>
                    </a:ext>
                  </a:extLst>
                </p:cNvPr>
                <p:cNvSpPr txBox="1"/>
                <p:nvPr/>
              </p:nvSpPr>
              <p:spPr>
                <a:xfrm>
                  <a:off x="4824486" y="2983915"/>
                  <a:ext cx="2960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811CBF8-6DE9-AF62-8813-E90F1DF1C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4486" y="2983915"/>
                  <a:ext cx="296075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Line 1027">
              <a:extLst>
                <a:ext uri="{FF2B5EF4-FFF2-40B4-BE49-F238E27FC236}">
                  <a16:creationId xmlns:a16="http://schemas.microsoft.com/office/drawing/2014/main" id="{36ABD3E8-75A9-0756-5FD1-E3B9BA7B3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24486" y="3148911"/>
              <a:ext cx="297228" cy="529720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1053">
              <a:extLst>
                <a:ext uri="{FF2B5EF4-FFF2-40B4-BE49-F238E27FC236}">
                  <a16:creationId xmlns:a16="http://schemas.microsoft.com/office/drawing/2014/main" id="{A75FFE04-0109-56A0-52D0-3465CB116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390" y="3553308"/>
              <a:ext cx="250649" cy="250649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 dirty="0">
                  <a:solidFill>
                    <a:schemeClr val="bg1"/>
                  </a:solidFill>
                </a:rPr>
                <a:t>v</a:t>
              </a:r>
              <a:endParaRPr lang="nl-NL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3" name="Oval 1037">
              <a:extLst>
                <a:ext uri="{FF2B5EF4-FFF2-40B4-BE49-F238E27FC236}">
                  <a16:creationId xmlns:a16="http://schemas.microsoft.com/office/drawing/2014/main" id="{BB1BA123-CFA5-31CC-E4B7-E25AA5C1A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595" y="3023588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F13C247-4513-4A80-2BA8-07620BA78665}"/>
              </a:ext>
            </a:extLst>
          </p:cNvPr>
          <p:cNvSpPr txBox="1"/>
          <p:nvPr/>
        </p:nvSpPr>
        <p:spPr>
          <a:xfrm>
            <a:off x="7614861" y="2634637"/>
            <a:ext cx="1879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introduce</a:t>
            </a:r>
            <a:endParaRPr lang="LID4096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E81DAD-EF44-2710-8CD4-B2A1993603DF}"/>
              </a:ext>
            </a:extLst>
          </p:cNvPr>
          <p:cNvSpPr txBox="1"/>
          <p:nvPr/>
        </p:nvSpPr>
        <p:spPr>
          <a:xfrm>
            <a:off x="7432628" y="4881658"/>
            <a:ext cx="1879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forget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3979336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EB1D2-FD16-85DB-27B4-DF25EA4D6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753438-3307-96CB-AFC9-D41A343E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/>
              <a:t>Weighted Dominating Set and </a:t>
            </a:r>
            <a:r>
              <a:rPr lang="en-US" dirty="0" err="1"/>
              <a:t>Treewidth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096F5B-FD84-4888-483E-A0A6DC360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pPr>
                  <a:tabLst>
                    <a:tab pos="1346200" algn="l"/>
                  </a:tabLst>
                </a:pPr>
                <a:r>
                  <a:rPr lang="en-US" dirty="0"/>
                  <a:t>Join bag (more complicated):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tabLst>
                    <a:tab pos="1346200" algn="l"/>
                  </a:tabLst>
                </a:pPr>
                <a:r>
                  <a:rPr lang="en-US" dirty="0"/>
                  <a:t>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dirty="0"/>
                  <a:t> loop over all partitions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2">
                  <a:buFont typeface="Wingdings" panose="05000000000000000000" pitchFamily="2" charset="2"/>
                  <a:buChar char="§"/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⨃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dirty="0"/>
                  <a:t> in the formula below means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dirty="0"/>
              </a:p>
              <a:p>
                <a:pPr lvl="1"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⨃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tabLst>
                    <a:tab pos="1346200" algn="l"/>
                  </a:tabLst>
                </a:pPr>
                <a:endParaRPr lang="en-US" dirty="0"/>
              </a:p>
              <a:p>
                <a:pPr>
                  <a:tabLst>
                    <a:tab pos="1346200" algn="l"/>
                  </a:tabLst>
                </a:pPr>
                <a:r>
                  <a:rPr lang="en-US" dirty="0"/>
                  <a:t>Gives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algorithm (Alber et al.)</a:t>
                </a:r>
              </a:p>
              <a:p>
                <a:pPr lvl="1"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space</a:t>
                </a:r>
              </a:p>
              <a:p>
                <a:pPr lvl="1">
                  <a:tabLst>
                    <a:tab pos="1346200" algn="l"/>
                  </a:tabLst>
                </a:pPr>
                <a:endParaRPr lang="en-US" dirty="0"/>
              </a:p>
              <a:p>
                <a:pPr>
                  <a:tabLst>
                    <a:tab pos="1346200" algn="l"/>
                  </a:tabLst>
                </a:pPr>
                <a:r>
                  <a:rPr lang="en-US" dirty="0"/>
                  <a:t>Fastest known algorithm:</a:t>
                </a:r>
              </a:p>
              <a:p>
                <a:pPr lvl="1">
                  <a:tabLst>
                    <a:tab pos="134620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by van Rooij et al.</a:t>
                </a:r>
              </a:p>
              <a:p>
                <a:pPr lvl="1">
                  <a:tabLst>
                    <a:tab pos="1346200" algn="l"/>
                  </a:tabLst>
                </a:pPr>
                <a:r>
                  <a:rPr lang="en-US" dirty="0"/>
                  <a:t>Optimal under SETH!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096F5B-FD84-4888-483E-A0A6DC360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162" t="-9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C47FF-00F0-37B7-82BF-018C699C32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79FDEE-944D-4C65-9FDD-DDE07D21CF7D}" type="slidenum">
              <a:rPr lang="nl-NL" smtClean="0">
                <a:solidFill>
                  <a:srgbClr val="000000">
                    <a:tint val="75000"/>
                  </a:srgbClr>
                </a:solidFill>
              </a:rPr>
              <a:pPr/>
              <a:t>34</a:t>
            </a:fld>
            <a:endParaRPr lang="nl-NL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8E62579-4ADF-BA69-DC64-E2BE79B389A3}"/>
              </a:ext>
            </a:extLst>
          </p:cNvPr>
          <p:cNvGrpSpPr/>
          <p:nvPr/>
        </p:nvGrpSpPr>
        <p:grpSpPr>
          <a:xfrm>
            <a:off x="4788024" y="4005064"/>
            <a:ext cx="4259526" cy="1960734"/>
            <a:chOff x="1967387" y="2459854"/>
            <a:chExt cx="4800600" cy="2209800"/>
          </a:xfrm>
        </p:grpSpPr>
        <p:sp>
          <p:nvSpPr>
            <p:cNvPr id="73" name="Oval 2">
              <a:extLst>
                <a:ext uri="{FF2B5EF4-FFF2-40B4-BE49-F238E27FC236}">
                  <a16:creationId xmlns:a16="http://schemas.microsoft.com/office/drawing/2014/main" id="{EFB5272C-EBC4-D2D0-19D6-2AA50BA68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3987" y="2459854"/>
              <a:ext cx="1066800" cy="9144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4" name="Line 3">
              <a:extLst>
                <a:ext uri="{FF2B5EF4-FFF2-40B4-BE49-F238E27FC236}">
                  <a16:creationId xmlns:a16="http://schemas.microsoft.com/office/drawing/2014/main" id="{9773DEDC-2493-21BF-0628-E89950592D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9787" y="3831454"/>
              <a:ext cx="76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4">
              <a:extLst>
                <a:ext uri="{FF2B5EF4-FFF2-40B4-BE49-F238E27FC236}">
                  <a16:creationId xmlns:a16="http://schemas.microsoft.com/office/drawing/2014/main" id="{E9DFDEB8-A373-023E-E7AF-77CC6B996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5987" y="4288654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Line 5">
              <a:extLst>
                <a:ext uri="{FF2B5EF4-FFF2-40B4-BE49-F238E27FC236}">
                  <a16:creationId xmlns:a16="http://schemas.microsoft.com/office/drawing/2014/main" id="{0B070DEE-432A-3239-C8E5-B3849404C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8387" y="3907654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Oval 6">
              <a:extLst>
                <a:ext uri="{FF2B5EF4-FFF2-40B4-BE49-F238E27FC236}">
                  <a16:creationId xmlns:a16="http://schemas.microsoft.com/office/drawing/2014/main" id="{136380E9-455E-49E0-4D93-E4A16378C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387" y="2536054"/>
              <a:ext cx="1066800" cy="9144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8" name="Line 7">
              <a:extLst>
                <a:ext uri="{FF2B5EF4-FFF2-40B4-BE49-F238E27FC236}">
                  <a16:creationId xmlns:a16="http://schemas.microsoft.com/office/drawing/2014/main" id="{41A3C290-EC29-22C6-C25F-97CF91B62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387" y="3069454"/>
              <a:ext cx="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10">
              <a:extLst>
                <a:ext uri="{FF2B5EF4-FFF2-40B4-BE49-F238E27FC236}">
                  <a16:creationId xmlns:a16="http://schemas.microsoft.com/office/drawing/2014/main" id="{4126A2C5-8A9F-0A67-3F2E-09828E661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187" y="2993254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Oval 11">
              <a:extLst>
                <a:ext uri="{FF2B5EF4-FFF2-40B4-BE49-F238E27FC236}">
                  <a16:creationId xmlns:a16="http://schemas.microsoft.com/office/drawing/2014/main" id="{CC22AE66-5588-721B-9E42-83A563E5F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787" y="2764654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1" name="Oval 12">
              <a:extLst>
                <a:ext uri="{FF2B5EF4-FFF2-40B4-BE49-F238E27FC236}">
                  <a16:creationId xmlns:a16="http://schemas.microsoft.com/office/drawing/2014/main" id="{253BBFD1-BECB-134D-9B5B-79159B723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787" y="28408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2" name="Oval 13">
              <a:extLst>
                <a:ext uri="{FF2B5EF4-FFF2-40B4-BE49-F238E27FC236}">
                  <a16:creationId xmlns:a16="http://schemas.microsoft.com/office/drawing/2014/main" id="{FA927AAA-82CF-5433-1EC2-14C11235D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787" y="41362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3" name="Oval 14">
              <a:extLst>
                <a:ext uri="{FF2B5EF4-FFF2-40B4-BE49-F238E27FC236}">
                  <a16:creationId xmlns:a16="http://schemas.microsoft.com/office/drawing/2014/main" id="{9C8DCE88-9A11-CEEF-8FCA-445D786BA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387" y="43648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4" name="Line 15">
              <a:extLst>
                <a:ext uri="{FF2B5EF4-FFF2-40B4-BE49-F238E27FC236}">
                  <a16:creationId xmlns:a16="http://schemas.microsoft.com/office/drawing/2014/main" id="{5576C15A-76FB-3C14-DAB7-9DD5653854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72187" y="3145654"/>
              <a:ext cx="381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Oval 16">
              <a:extLst>
                <a:ext uri="{FF2B5EF4-FFF2-40B4-BE49-F238E27FC236}">
                  <a16:creationId xmlns:a16="http://schemas.microsoft.com/office/drawing/2014/main" id="{0E8753A4-82DB-D356-8F5E-F87F34735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787" y="36790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6" name="Line 17">
              <a:extLst>
                <a:ext uri="{FF2B5EF4-FFF2-40B4-BE49-F238E27FC236}">
                  <a16:creationId xmlns:a16="http://schemas.microsoft.com/office/drawing/2014/main" id="{E977DD05-3389-14C9-8B44-DA20D0B58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187" y="3679054"/>
              <a:ext cx="1524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Oval 18">
              <a:extLst>
                <a:ext uri="{FF2B5EF4-FFF2-40B4-BE49-F238E27FC236}">
                  <a16:creationId xmlns:a16="http://schemas.microsoft.com/office/drawing/2014/main" id="{9234870E-CD43-5733-A2BF-3F8302D13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987" y="2536054"/>
              <a:ext cx="1066800" cy="9144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8" name="Line 19">
              <a:extLst>
                <a:ext uri="{FF2B5EF4-FFF2-40B4-BE49-F238E27FC236}">
                  <a16:creationId xmlns:a16="http://schemas.microsoft.com/office/drawing/2014/main" id="{4EA73948-D60F-9C6E-D8F3-846FD2ECA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0987" y="3069454"/>
              <a:ext cx="457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20">
              <a:extLst>
                <a:ext uri="{FF2B5EF4-FFF2-40B4-BE49-F238E27FC236}">
                  <a16:creationId xmlns:a16="http://schemas.microsoft.com/office/drawing/2014/main" id="{BC096A7B-363B-6F57-0A42-3AC48828F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787" y="2917054"/>
              <a:ext cx="914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21">
              <a:extLst>
                <a:ext uri="{FF2B5EF4-FFF2-40B4-BE49-F238E27FC236}">
                  <a16:creationId xmlns:a16="http://schemas.microsoft.com/office/drawing/2014/main" id="{F3A8ADD2-4C48-D0D9-0A20-BDC156D7E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787" y="2993254"/>
              <a:ext cx="9906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Oval 22">
              <a:extLst>
                <a:ext uri="{FF2B5EF4-FFF2-40B4-BE49-F238E27FC236}">
                  <a16:creationId xmlns:a16="http://schemas.microsoft.com/office/drawing/2014/main" id="{D5F67D92-7D3E-DFD6-BEA5-2F4B37319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1387" y="2764654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2" name="Oval 23">
              <a:extLst>
                <a:ext uri="{FF2B5EF4-FFF2-40B4-BE49-F238E27FC236}">
                  <a16:creationId xmlns:a16="http://schemas.microsoft.com/office/drawing/2014/main" id="{EFDBF10A-E704-B504-0F54-E923CF584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2387" y="28408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3" name="Oval 24">
              <a:extLst>
                <a:ext uri="{FF2B5EF4-FFF2-40B4-BE49-F238E27FC236}">
                  <a16:creationId xmlns:a16="http://schemas.microsoft.com/office/drawing/2014/main" id="{C433F775-CD74-81F4-8C62-9A077B38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787" y="35266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4" name="Oval 25">
              <a:extLst>
                <a:ext uri="{FF2B5EF4-FFF2-40B4-BE49-F238E27FC236}">
                  <a16:creationId xmlns:a16="http://schemas.microsoft.com/office/drawing/2014/main" id="{9D4BA1D8-2E8C-E46D-C4BD-5FB6FA2FB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187" y="40600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5" name="Line 26">
              <a:extLst>
                <a:ext uri="{FF2B5EF4-FFF2-40B4-BE49-F238E27FC236}">
                  <a16:creationId xmlns:a16="http://schemas.microsoft.com/office/drawing/2014/main" id="{F81C52FF-5F73-B2AF-49F5-5F18B007AA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96387" y="3755254"/>
              <a:ext cx="76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1A6E6BCF-4161-89BB-5CB8-631B329EDD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2587" y="4212454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Line 28">
              <a:extLst>
                <a:ext uri="{FF2B5EF4-FFF2-40B4-BE49-F238E27FC236}">
                  <a16:creationId xmlns:a16="http://schemas.microsoft.com/office/drawing/2014/main" id="{A5D6B259-376C-D14D-55B7-179C966CF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987" y="3831454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Line 29">
              <a:extLst>
                <a:ext uri="{FF2B5EF4-FFF2-40B4-BE49-F238E27FC236}">
                  <a16:creationId xmlns:a16="http://schemas.microsoft.com/office/drawing/2014/main" id="{9FCDDDE7-9EA7-04E3-00E8-D019B86A0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987" y="2993254"/>
              <a:ext cx="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Line 30">
              <a:extLst>
                <a:ext uri="{FF2B5EF4-FFF2-40B4-BE49-F238E27FC236}">
                  <a16:creationId xmlns:a16="http://schemas.microsoft.com/office/drawing/2014/main" id="{BDFEB15F-0A8C-4CD8-8F85-AE6AE0934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8787" y="2917054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Oval 33">
              <a:extLst>
                <a:ext uri="{FF2B5EF4-FFF2-40B4-BE49-F238E27FC236}">
                  <a16:creationId xmlns:a16="http://schemas.microsoft.com/office/drawing/2014/main" id="{65F8E0F7-453D-4C08-716E-3730DD5AF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7387" y="40600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1" name="Oval 34">
              <a:extLst>
                <a:ext uri="{FF2B5EF4-FFF2-40B4-BE49-F238E27FC236}">
                  <a16:creationId xmlns:a16="http://schemas.microsoft.com/office/drawing/2014/main" id="{4F3858E7-D0CD-ECB0-629A-7FB5432B9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3987" y="42886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2" name="Line 35">
              <a:extLst>
                <a:ext uri="{FF2B5EF4-FFF2-40B4-BE49-F238E27FC236}">
                  <a16:creationId xmlns:a16="http://schemas.microsoft.com/office/drawing/2014/main" id="{64062381-369F-7C28-4A54-FFDB13E14F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8787" y="3069454"/>
              <a:ext cx="381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Oval 36">
              <a:extLst>
                <a:ext uri="{FF2B5EF4-FFF2-40B4-BE49-F238E27FC236}">
                  <a16:creationId xmlns:a16="http://schemas.microsoft.com/office/drawing/2014/main" id="{03FF1C99-1A42-DD82-84EB-84D18CDEA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387" y="36028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4" name="Line 37">
              <a:extLst>
                <a:ext uri="{FF2B5EF4-FFF2-40B4-BE49-F238E27FC236}">
                  <a16:creationId xmlns:a16="http://schemas.microsoft.com/office/drawing/2014/main" id="{087710BB-9BA3-2E29-6D4C-11D95117E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3187" y="3602854"/>
              <a:ext cx="1524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Line 38">
              <a:extLst>
                <a:ext uri="{FF2B5EF4-FFF2-40B4-BE49-F238E27FC236}">
                  <a16:creationId xmlns:a16="http://schemas.microsoft.com/office/drawing/2014/main" id="{B95DE7B4-F120-E2C8-9D09-6CF932CE9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987" y="2993254"/>
              <a:ext cx="457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Line 39">
              <a:extLst>
                <a:ext uri="{FF2B5EF4-FFF2-40B4-BE49-F238E27FC236}">
                  <a16:creationId xmlns:a16="http://schemas.microsoft.com/office/drawing/2014/main" id="{84D63413-9959-5E88-B103-294341CE4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8787" y="2840854"/>
              <a:ext cx="914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Line 40">
              <a:extLst>
                <a:ext uri="{FF2B5EF4-FFF2-40B4-BE49-F238E27FC236}">
                  <a16:creationId xmlns:a16="http://schemas.microsoft.com/office/drawing/2014/main" id="{9C380B05-2105-5721-FBF1-BC3F2E742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8787" y="2917054"/>
              <a:ext cx="9906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Oval 43">
              <a:extLst>
                <a:ext uri="{FF2B5EF4-FFF2-40B4-BE49-F238E27FC236}">
                  <a16:creationId xmlns:a16="http://schemas.microsoft.com/office/drawing/2014/main" id="{36446CC8-20DA-E42C-1C16-32AC1605F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787" y="34504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9" name="Oval 44">
              <a:extLst>
                <a:ext uri="{FF2B5EF4-FFF2-40B4-BE49-F238E27FC236}">
                  <a16:creationId xmlns:a16="http://schemas.microsoft.com/office/drawing/2014/main" id="{E1B15BA2-1B9B-83EE-E0C6-7BEDA677E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3187" y="39838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10" name="Text Box 45">
              <a:extLst>
                <a:ext uri="{FF2B5EF4-FFF2-40B4-BE49-F238E27FC236}">
                  <a16:creationId xmlns:a16="http://schemas.microsoft.com/office/drawing/2014/main" id="{725440B4-EE69-A827-DAFE-CA89B51F7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155" y="3002831"/>
              <a:ext cx="571256" cy="867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4400" b="1" dirty="0">
                  <a:solidFill>
                    <a:srgbClr val="7030A0"/>
                  </a:solidFill>
                </a:rPr>
                <a:t>+</a:t>
              </a:r>
              <a:endParaRPr lang="nl-NL" altLang="en-US" sz="4400" b="1" dirty="0">
                <a:solidFill>
                  <a:srgbClr val="7030A0"/>
                </a:solidFill>
              </a:endParaRPr>
            </a:p>
          </p:txBody>
        </p:sp>
        <p:sp>
          <p:nvSpPr>
            <p:cNvPr id="111" name="Oval 22">
              <a:extLst>
                <a:ext uri="{FF2B5EF4-FFF2-40B4-BE49-F238E27FC236}">
                  <a16:creationId xmlns:a16="http://schemas.microsoft.com/office/drawing/2014/main" id="{8CE0857E-A9F8-79D7-B164-575788B72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488" y="2726554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12" name="Oval 23">
              <a:extLst>
                <a:ext uri="{FF2B5EF4-FFF2-40B4-BE49-F238E27FC236}">
                  <a16:creationId xmlns:a16="http://schemas.microsoft.com/office/drawing/2014/main" id="{6F8AF855-FBED-574D-29DC-4680B1845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5488" y="2802754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13" name="Line 1054">
              <a:extLst>
                <a:ext uri="{FF2B5EF4-FFF2-40B4-BE49-F238E27FC236}">
                  <a16:creationId xmlns:a16="http://schemas.microsoft.com/office/drawing/2014/main" id="{8D4F618D-855A-15E6-207B-8FEECE2FE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0587" y="3374254"/>
              <a:ext cx="438635" cy="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5D8B4A4F-97A5-C72B-911B-1578AFFD8B8F}"/>
              </a:ext>
            </a:extLst>
          </p:cNvPr>
          <p:cNvSpPr txBox="1"/>
          <p:nvPr/>
        </p:nvSpPr>
        <p:spPr>
          <a:xfrm>
            <a:off x="7248878" y="4797720"/>
            <a:ext cx="1879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join</a:t>
            </a:r>
            <a:endParaRPr lang="LID4096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63036ED-659A-D8F7-2C9C-A023E7C3DFEB}"/>
                  </a:ext>
                </a:extLst>
              </p:cNvPr>
              <p:cNvSpPr txBox="1"/>
              <p:nvPr/>
            </p:nvSpPr>
            <p:spPr>
              <a:xfrm>
                <a:off x="5201870" y="4029732"/>
                <a:ext cx="296075" cy="325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63036ED-659A-D8F7-2C9C-A023E7C3D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870" y="4029732"/>
                <a:ext cx="296075" cy="325089"/>
              </a:xfrm>
              <a:prstGeom prst="rect">
                <a:avLst/>
              </a:prstGeom>
              <a:blipFill>
                <a:blip r:embed="rId3"/>
                <a:stretch>
                  <a:fillRect r="-2041" b="-377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9F55B4F-5F92-6693-FB5E-FAB7DC667B35}"/>
                  </a:ext>
                </a:extLst>
              </p:cNvPr>
              <p:cNvSpPr txBox="1"/>
              <p:nvPr/>
            </p:nvSpPr>
            <p:spPr>
              <a:xfrm>
                <a:off x="8176778" y="3992935"/>
                <a:ext cx="296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9F55B4F-5F92-6693-FB5E-FAB7DC667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778" y="3992935"/>
                <a:ext cx="29607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5739A0A-D491-CB5E-1584-263CB959CF2F}"/>
                  </a:ext>
                </a:extLst>
              </p:cNvPr>
              <p:cNvSpPr txBox="1"/>
              <p:nvPr/>
            </p:nvSpPr>
            <p:spPr>
              <a:xfrm>
                <a:off x="6368576" y="4029733"/>
                <a:ext cx="296075" cy="325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5739A0A-D491-CB5E-1584-263CB959C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76" y="4029733"/>
                <a:ext cx="296075" cy="325089"/>
              </a:xfrm>
              <a:prstGeom prst="rect">
                <a:avLst/>
              </a:prstGeom>
              <a:blipFill>
                <a:blip r:embed="rId5"/>
                <a:stretch>
                  <a:fillRect r="-16667" b="-377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011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8757-906C-4BA2-8AD2-A89D13DB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DB151E3-47FF-FC63-810C-B3957DFFFD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Treewidth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12DCA04-09EC-E270-2357-BB27C944F3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nl-NL" dirty="0"/>
              <a:t>Advanced Algorithms 2025/2026</a:t>
            </a:r>
          </a:p>
          <a:p>
            <a:pPr eaLnBrk="1" hangingPunct="1"/>
            <a:r>
              <a:rPr lang="en-US" altLang="nl-NL" dirty="0"/>
              <a:t>Johan M. M. van Rooij</a:t>
            </a:r>
          </a:p>
          <a:p>
            <a:pPr eaLnBrk="1" hangingPunct="1"/>
            <a:r>
              <a:rPr lang="en-US" altLang="nl-NL" dirty="0"/>
              <a:t>Til Miltzow</a:t>
            </a:r>
          </a:p>
        </p:txBody>
      </p:sp>
    </p:spTree>
    <p:extLst>
      <p:ext uri="{BB962C8B-B14F-4D97-AF65-F5344CB8AC3E}">
        <p14:creationId xmlns:p14="http://schemas.microsoft.com/office/powerpoint/2010/main" val="875598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0A6A-F111-C74D-D931-FA4FB2B1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>
            <a:extLst>
              <a:ext uri="{FF2B5EF4-FFF2-40B4-BE49-F238E27FC236}">
                <a16:creationId xmlns:a16="http://schemas.microsoft.com/office/drawing/2014/main" id="{D833ADF8-54F9-C34B-13D8-E90F07F54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Algorithms using tree decompositions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5" name="Rectangle 3">
                <a:extLst>
                  <a:ext uri="{FF2B5EF4-FFF2-40B4-BE49-F238E27FC236}">
                    <a16:creationId xmlns:a16="http://schemas.microsoft.com/office/drawing/2014/main" id="{E8E626B3-294C-C786-81EB-9FD28D9219FA}"/>
                  </a:ext>
                </a:extLst>
              </p:cNvPr>
              <p:cNvSpPr>
                <a:spLocks noGrp="1" noChangeArrowheads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Step 1</a:t>
                </a:r>
                <a:r>
                  <a:rPr lang="en-GB" altLang="en-US" dirty="0"/>
                  <a:t>: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Find</a:t>
                </a:r>
                <a:r>
                  <a:rPr lang="en-GB" altLang="en-US" dirty="0"/>
                  <a:t> a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tree</a:t>
                </a:r>
                <a:r>
                  <a:rPr lang="en-GB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decomposition</a:t>
                </a:r>
                <a:r>
                  <a:rPr lang="en-GB" altLang="en-US" dirty="0"/>
                  <a:t> of width bounded by some small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altLang="en-US" dirty="0"/>
                  <a:t>.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GB" altLang="en-US" dirty="0"/>
                  <a:t>Either because the class of graphs allows small width decompositions to be computed efficiently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GB" altLang="en-US" dirty="0"/>
                  <a:t>Or though exact algorithms or heuristics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Step 2</a:t>
                </a:r>
                <a:r>
                  <a:rPr lang="en-GB" altLang="en-US" dirty="0"/>
                  <a:t>: Use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dynamic</a:t>
                </a:r>
                <a:r>
                  <a:rPr lang="en-GB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programming</a:t>
                </a:r>
                <a:r>
                  <a:rPr lang="en-GB" altLang="en-US" dirty="0"/>
                  <a:t>, bottom-up on the tree.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Here we use a nice tree decomposition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Or transform the tree decomposition into a nice tree decomposition</a:t>
                </a:r>
              </a:p>
            </p:txBody>
          </p:sp>
        </mc:Choice>
        <mc:Fallback xmlns="">
          <p:sp>
            <p:nvSpPr>
              <p:cNvPr id="30725" name="Rectangle 3">
                <a:extLst>
                  <a:ext uri="{FF2B5EF4-FFF2-40B4-BE49-F238E27FC236}">
                    <a16:creationId xmlns:a16="http://schemas.microsoft.com/office/drawing/2014/main" id="{89F6299C-23EC-FCB4-9FD7-AD3733175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37" t="-1385" r="-505" b="-89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3">
            <a:extLst>
              <a:ext uri="{FF2B5EF4-FFF2-40B4-BE49-F238E27FC236}">
                <a16:creationId xmlns:a16="http://schemas.microsoft.com/office/drawing/2014/main" id="{6FCEA749-FE6C-38E2-EA08-95EF27CE0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362200"/>
            <a:ext cx="762000" cy="990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FF429CBB-D0F5-A55B-19B0-86EB453C6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267200"/>
            <a:ext cx="533400" cy="9144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F33DBB8-C9EF-1332-8B3F-B96B86E984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8213" y="2362200"/>
            <a:ext cx="1298575" cy="28194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69A04547-87FA-8B53-5DAE-A58B514AB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336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AE419DFC-9EB1-5078-A8E7-67CC10B02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480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F97E5CAA-A9AE-F04A-6D52-D1373E3CA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9624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15D18391-7830-F0D2-27A1-C08193432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8768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5EE112A4-4560-BB1F-8861-0B282CFAD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9530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D1281BCC-362F-E565-22F8-B57803222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15" name="Group 12">
            <a:extLst>
              <a:ext uri="{FF2B5EF4-FFF2-40B4-BE49-F238E27FC236}">
                <a16:creationId xmlns:a16="http://schemas.microsoft.com/office/drawing/2014/main" id="{F9C42905-B685-8BB5-AA15-3859B09CE5B3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800600"/>
            <a:ext cx="379413" cy="760413"/>
            <a:chOff x="3312" y="3024"/>
            <a:chExt cx="239" cy="479"/>
          </a:xfrm>
        </p:grpSpPr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F59C7492-A7D7-A6E9-5E6F-CFECF9663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B448EF0C-B76E-293F-E454-6810231BC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1</a:t>
              </a:r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1451EE88-65DB-723F-181A-2570F6662543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876800"/>
            <a:ext cx="379413" cy="760413"/>
            <a:chOff x="4656" y="3072"/>
            <a:chExt cx="239" cy="479"/>
          </a:xfrm>
        </p:grpSpPr>
        <p:sp>
          <p:nvSpPr>
            <p:cNvPr id="19" name="AutoShape 16">
              <a:extLst>
                <a:ext uri="{FF2B5EF4-FFF2-40B4-BE49-F238E27FC236}">
                  <a16:creationId xmlns:a16="http://schemas.microsoft.com/office/drawing/2014/main" id="{F7C9C25E-048C-3603-7EF4-B22C92D01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072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AutoShape 17">
              <a:extLst>
                <a:ext uri="{FF2B5EF4-FFF2-40B4-BE49-F238E27FC236}">
                  <a16:creationId xmlns:a16="http://schemas.microsoft.com/office/drawing/2014/main" id="{3E030DA0-C468-C009-AE28-430E71D82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072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2</a:t>
              </a:r>
            </a:p>
          </p:txBody>
        </p:sp>
      </p:grpSp>
      <p:grpSp>
        <p:nvGrpSpPr>
          <p:cNvPr id="21" name="Group 18">
            <a:extLst>
              <a:ext uri="{FF2B5EF4-FFF2-40B4-BE49-F238E27FC236}">
                <a16:creationId xmlns:a16="http://schemas.microsoft.com/office/drawing/2014/main" id="{79D5BB5D-BF8B-3C73-06CD-F93A94A928F4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810000"/>
            <a:ext cx="379413" cy="760413"/>
            <a:chOff x="3600" y="2400"/>
            <a:chExt cx="239" cy="479"/>
          </a:xfrm>
        </p:grpSpPr>
        <p:sp>
          <p:nvSpPr>
            <p:cNvPr id="22" name="AutoShape 19">
              <a:extLst>
                <a:ext uri="{FF2B5EF4-FFF2-40B4-BE49-F238E27FC236}">
                  <a16:creationId xmlns:a16="http://schemas.microsoft.com/office/drawing/2014/main" id="{AD0DE3B1-77D6-EF3F-F40A-8761136D8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400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20">
              <a:extLst>
                <a:ext uri="{FF2B5EF4-FFF2-40B4-BE49-F238E27FC236}">
                  <a16:creationId xmlns:a16="http://schemas.microsoft.com/office/drawing/2014/main" id="{33F15450-2CA0-7212-E8B8-62B1BAC46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400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3</a:t>
              </a:r>
            </a:p>
          </p:txBody>
        </p:sp>
      </p:grpSp>
      <p:grpSp>
        <p:nvGrpSpPr>
          <p:cNvPr id="24" name="Group 21">
            <a:extLst>
              <a:ext uri="{FF2B5EF4-FFF2-40B4-BE49-F238E27FC236}">
                <a16:creationId xmlns:a16="http://schemas.microsoft.com/office/drawing/2014/main" id="{C6BA4471-DFA9-A092-6607-08FE7D1F344B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819400"/>
            <a:ext cx="379413" cy="760413"/>
            <a:chOff x="3840" y="1776"/>
            <a:chExt cx="239" cy="479"/>
          </a:xfrm>
        </p:grpSpPr>
        <p:sp>
          <p:nvSpPr>
            <p:cNvPr id="25" name="AutoShape 22">
              <a:extLst>
                <a:ext uri="{FF2B5EF4-FFF2-40B4-BE49-F238E27FC236}">
                  <a16:creationId xmlns:a16="http://schemas.microsoft.com/office/drawing/2014/main" id="{066364FB-03ED-BD07-DAA8-83B6E5BAA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776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23">
              <a:extLst>
                <a:ext uri="{FF2B5EF4-FFF2-40B4-BE49-F238E27FC236}">
                  <a16:creationId xmlns:a16="http://schemas.microsoft.com/office/drawing/2014/main" id="{2761A1F2-E9D4-3367-3330-1B59CF30D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776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4</a:t>
              </a:r>
            </a:p>
          </p:txBody>
        </p:sp>
      </p:grpSp>
      <p:grpSp>
        <p:nvGrpSpPr>
          <p:cNvPr id="27" name="Group 24">
            <a:extLst>
              <a:ext uri="{FF2B5EF4-FFF2-40B4-BE49-F238E27FC236}">
                <a16:creationId xmlns:a16="http://schemas.microsoft.com/office/drawing/2014/main" id="{ADDF27E8-39F8-9B75-6DAA-3CBF42ED49C7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828800"/>
            <a:ext cx="379413" cy="760413"/>
            <a:chOff x="4176" y="1152"/>
            <a:chExt cx="239" cy="479"/>
          </a:xfrm>
        </p:grpSpPr>
        <p:sp>
          <p:nvSpPr>
            <p:cNvPr id="28" name="AutoShape 25">
              <a:extLst>
                <a:ext uri="{FF2B5EF4-FFF2-40B4-BE49-F238E27FC236}">
                  <a16:creationId xmlns:a16="http://schemas.microsoft.com/office/drawing/2014/main" id="{9E818930-2D65-EFE5-6007-56666AA9C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152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26">
              <a:extLst>
                <a:ext uri="{FF2B5EF4-FFF2-40B4-BE49-F238E27FC236}">
                  <a16:creationId xmlns:a16="http://schemas.microsoft.com/office/drawing/2014/main" id="{699D5C43-E88E-D024-4651-5D48B5638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152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6</a:t>
              </a:r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408A9FFE-F975-8D90-B0CE-92CF6824B093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3048000"/>
            <a:ext cx="379413" cy="760413"/>
            <a:chOff x="5328" y="1920"/>
            <a:chExt cx="239" cy="479"/>
          </a:xfrm>
        </p:grpSpPr>
        <p:sp>
          <p:nvSpPr>
            <p:cNvPr id="31" name="AutoShape 28">
              <a:extLst>
                <a:ext uri="{FF2B5EF4-FFF2-40B4-BE49-F238E27FC236}">
                  <a16:creationId xmlns:a16="http://schemas.microsoft.com/office/drawing/2014/main" id="{933D82F4-C4ED-C7E1-3F33-0C2674331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920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AutoShape 29">
              <a:extLst>
                <a:ext uri="{FF2B5EF4-FFF2-40B4-BE49-F238E27FC236}">
                  <a16:creationId xmlns:a16="http://schemas.microsoft.com/office/drawing/2014/main" id="{903D96EE-FC55-3F99-CC26-BFBEA070E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920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5</a:t>
              </a:r>
            </a:p>
          </p:txBody>
        </p:sp>
      </p:grpSp>
      <p:sp>
        <p:nvSpPr>
          <p:cNvPr id="33" name="Line 30">
            <a:extLst>
              <a:ext uri="{FF2B5EF4-FFF2-40B4-BE49-F238E27FC236}">
                <a16:creationId xmlns:a16="http://schemas.microsoft.com/office/drawing/2014/main" id="{92DE51FD-95DB-8FC1-1666-E096E1949C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42656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B99FFE28-7165-A3B8-7B25-865FBFC72B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32750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89F0D4FE-2E54-740F-6F33-01537E499C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2844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AC0C2386-620B-C63D-1581-943736DC3C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42013" y="4265613"/>
            <a:ext cx="1603375" cy="9175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58A26239-4B5A-D745-CDA2-3913145D36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6413" y="2208213"/>
            <a:ext cx="1755775" cy="9937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30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AD87-519A-65C7-3843-EC01A6C4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2E77-1C37-E96C-4CB7-72462E45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FF170-A50F-8320-1BAA-8DB45BAFD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characterizations of treewidth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37656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nl-NL" altLang="en-US" sz="1400" i="0"/>
              <a:t>Treewidth</a:t>
            </a:r>
          </a:p>
        </p:txBody>
      </p:sp>
      <p:sp>
        <p:nvSpPr>
          <p:cNvPr id="2969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fld id="{05ACDC3B-811D-4E29-A3D9-947FA29A415C}" type="slidenum">
              <a:rPr lang="nl-NL" smtClean="0"/>
              <a:pPr eaLnBrk="1" hangingPunct="1">
                <a:defRPr/>
              </a:pPr>
              <a:t>38</a:t>
            </a:fld>
            <a:endParaRPr lang="nl-NL" altLang="en-US" sz="1400" i="0"/>
          </a:p>
        </p:txBody>
      </p:sp>
      <p:sp>
        <p:nvSpPr>
          <p:cNvPr id="297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Treewidth is a measure of </a:t>
            </a:r>
            <a:br>
              <a:rPr lang="en-US" dirty="0"/>
            </a:br>
            <a:r>
              <a:rPr lang="en-US" dirty="0"/>
              <a:t>how ‘treelike’ a graphs is</a:t>
            </a:r>
            <a:endParaRPr lang="en-US" alt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11F701-67FB-9D42-0171-10F1BABB0961}"/>
              </a:ext>
            </a:extLst>
          </p:cNvPr>
          <p:cNvGrpSpPr/>
          <p:nvPr/>
        </p:nvGrpSpPr>
        <p:grpSpPr>
          <a:xfrm>
            <a:off x="6373018" y="4027405"/>
            <a:ext cx="2230438" cy="1944687"/>
            <a:chOff x="6373018" y="4027405"/>
            <a:chExt cx="2230438" cy="1944687"/>
          </a:xfrm>
        </p:grpSpPr>
        <p:sp>
          <p:nvSpPr>
            <p:cNvPr id="29700" name="Line 22"/>
            <p:cNvSpPr>
              <a:spLocks noChangeShapeType="1"/>
            </p:cNvSpPr>
            <p:nvPr/>
          </p:nvSpPr>
          <p:spPr bwMode="auto">
            <a:xfrm>
              <a:off x="7163593" y="4891005"/>
              <a:ext cx="574675" cy="792162"/>
            </a:xfrm>
            <a:prstGeom prst="lin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701" name="Line 21"/>
            <p:cNvSpPr>
              <a:spLocks noChangeShapeType="1"/>
            </p:cNvSpPr>
            <p:nvPr/>
          </p:nvSpPr>
          <p:spPr bwMode="auto">
            <a:xfrm>
              <a:off x="7668418" y="4027405"/>
              <a:ext cx="574675" cy="792162"/>
            </a:xfrm>
            <a:prstGeom prst="lin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702" name="Line 20"/>
            <p:cNvSpPr>
              <a:spLocks noChangeShapeType="1"/>
            </p:cNvSpPr>
            <p:nvPr/>
          </p:nvSpPr>
          <p:spPr bwMode="auto">
            <a:xfrm flipH="1">
              <a:off x="6731793" y="4819567"/>
              <a:ext cx="504825" cy="863600"/>
            </a:xfrm>
            <a:prstGeom prst="lin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703" name="Line 19"/>
            <p:cNvSpPr>
              <a:spLocks noChangeShapeType="1"/>
            </p:cNvSpPr>
            <p:nvPr/>
          </p:nvSpPr>
          <p:spPr bwMode="auto">
            <a:xfrm flipH="1">
              <a:off x="7163593" y="4027405"/>
              <a:ext cx="504825" cy="863600"/>
            </a:xfrm>
            <a:prstGeom prst="lin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algn="ctr"/>
              <a:endParaRPr lang="en-US" dirty="0"/>
            </a:p>
          </p:txBody>
        </p:sp>
        <p:sp>
          <p:nvSpPr>
            <p:cNvPr id="29716" name="Oval 15"/>
            <p:cNvSpPr>
              <a:spLocks noChangeArrowheads="1"/>
            </p:cNvSpPr>
            <p:nvPr/>
          </p:nvSpPr>
          <p:spPr bwMode="auto">
            <a:xfrm>
              <a:off x="6876256" y="4530642"/>
              <a:ext cx="647700" cy="649288"/>
            </a:xfrm>
            <a:prstGeom prst="ellipse">
              <a:avLst/>
            </a:prstGeom>
            <a:solidFill>
              <a:srgbClr val="FFC000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b a</a:t>
              </a:r>
            </a:p>
          </p:txBody>
        </p:sp>
        <p:sp>
          <p:nvSpPr>
            <p:cNvPr id="29717" name="Oval 16"/>
            <p:cNvSpPr>
              <a:spLocks noChangeArrowheads="1"/>
            </p:cNvSpPr>
            <p:nvPr/>
          </p:nvSpPr>
          <p:spPr bwMode="auto">
            <a:xfrm>
              <a:off x="6373018" y="5322805"/>
              <a:ext cx="647700" cy="649287"/>
            </a:xfrm>
            <a:prstGeom prst="ellipse">
              <a:avLst/>
            </a:prstGeom>
            <a:solidFill>
              <a:srgbClr val="FFC000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c b</a:t>
              </a:r>
            </a:p>
          </p:txBody>
        </p:sp>
        <p:sp>
          <p:nvSpPr>
            <p:cNvPr id="29718" name="Oval 17"/>
            <p:cNvSpPr>
              <a:spLocks noChangeArrowheads="1"/>
            </p:cNvSpPr>
            <p:nvPr/>
          </p:nvSpPr>
          <p:spPr bwMode="auto">
            <a:xfrm>
              <a:off x="7308056" y="5322805"/>
              <a:ext cx="647700" cy="649287"/>
            </a:xfrm>
            <a:prstGeom prst="ellipse">
              <a:avLst/>
            </a:prstGeom>
            <a:solidFill>
              <a:srgbClr val="FFC000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d b</a:t>
              </a:r>
            </a:p>
          </p:txBody>
        </p:sp>
        <p:sp>
          <p:nvSpPr>
            <p:cNvPr id="29719" name="Oval 18"/>
            <p:cNvSpPr>
              <a:spLocks noChangeArrowheads="1"/>
            </p:cNvSpPr>
            <p:nvPr/>
          </p:nvSpPr>
          <p:spPr bwMode="auto">
            <a:xfrm>
              <a:off x="7955756" y="4530642"/>
              <a:ext cx="647700" cy="649288"/>
            </a:xfrm>
            <a:prstGeom prst="ellipse">
              <a:avLst/>
            </a:prstGeom>
            <a:solidFill>
              <a:srgbClr val="FFC000"/>
            </a:solidFill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e 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709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371600" y="1828800"/>
                <a:ext cx="4425156" cy="39624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b="1" dirty="0"/>
                  <a:t>Theorem:</a:t>
                </a:r>
                <a:r>
                  <a:rPr lang="en-US" altLang="en-US" dirty="0"/>
                  <a:t> trees have treewidth one</a:t>
                </a:r>
              </a:p>
              <a:p>
                <a:pPr eaLnBrk="1" hangingPunct="1"/>
                <a:r>
                  <a:rPr lang="en-US" altLang="en-US" dirty="0"/>
                  <a:t>Choose a root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altLang="en-US" dirty="0"/>
                  <a:t> for the tree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Take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𝑋</m:t>
                    </m:r>
                    <m:r>
                      <a:rPr lang="en-US" altLang="en-US" i="1" baseline="-25000" dirty="0" err="1" smtClean="0">
                        <a:latin typeface="Cambria Math"/>
                      </a:rPr>
                      <m:t>𝑟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 </m:t>
                    </m:r>
                    <m:r>
                      <a:rPr lang="en-US" altLang="en-US" i="1" dirty="0" smtClean="0">
                        <a:latin typeface="Cambria Math"/>
                      </a:rPr>
                      <m:t>= {</m:t>
                    </m:r>
                    <m:r>
                      <a:rPr lang="en-US" altLang="en-US" i="1" dirty="0" smtClean="0">
                        <a:latin typeface="Cambria Math"/>
                      </a:rPr>
                      <m:t>𝑟</m:t>
                    </m:r>
                    <m:r>
                      <a:rPr lang="en-US" altLang="en-US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altLang="en-US" dirty="0"/>
              </a:p>
              <a:p>
                <a:pPr eaLnBrk="1" hangingPunct="1"/>
                <a:r>
                  <a:rPr lang="en-US" altLang="en-US" dirty="0"/>
                  <a:t>For each other node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𝑖</m:t>
                    </m:r>
                  </m:oMath>
                </a14:m>
                <a:endParaRPr lang="en-US" altLang="en-US" i="1" dirty="0">
                  <a:latin typeface="Cambria Math"/>
                </a:endParaRPr>
              </a:p>
              <a:p>
                <a:pPr lvl="1"/>
                <a:r>
                  <a:rPr lang="en-US" altLang="en-US" dirty="0"/>
                  <a:t>Set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𝑋</m:t>
                    </m:r>
                    <m:r>
                      <a:rPr lang="en-US" altLang="en-US" i="1" baseline="-25000" dirty="0" smtClean="0">
                        <a:latin typeface="Cambria Math"/>
                      </a:rPr>
                      <m:t>𝑖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i="1" dirty="0" smtClean="0">
                        <a:latin typeface="Cambria Math"/>
                      </a:rPr>
                      <m:t>, 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 smtClean="0">
                        <a:latin typeface="Cambria Math"/>
                      </a:rPr>
                      <m:t>𝑝𝑎𝑟𝑒𝑛𝑡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err="1" smtClean="0">
                        <a:latin typeface="Cambria Math"/>
                      </a:rPr>
                      <m:t>𝑖</m:t>
                    </m:r>
                    <m:r>
                      <a:rPr lang="en-US" altLang="en-US" i="1" dirty="0" smtClean="0">
                        <a:latin typeface="Cambria Math"/>
                      </a:rPr>
                      <m:t>)}</m:t>
                    </m:r>
                  </m:oMath>
                </a14:m>
                <a:endParaRPr lang="en-US" altLang="en-US" dirty="0"/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en-US" dirty="0"/>
                  <a:t> with these bags gives a tree decomposition of width 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2−1=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b="0" dirty="0"/>
              </a:p>
              <a:p>
                <a:pPr lvl="1"/>
                <a:r>
                  <a:rPr lang="en-US" b="1" dirty="0"/>
                  <a:t>Check:</a:t>
                </a:r>
              </a:p>
              <a:p>
                <a:pPr marL="800100" lvl="1" indent="-342900">
                  <a:buFont typeface="+mj-lt"/>
                  <a:buAutoNum type="arabicPeriod" startAt="2"/>
                </a:pPr>
                <a:r>
                  <a:rPr lang="en-US" dirty="0"/>
                  <a:t>For all edges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there is a bag containing both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 startAt="2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nodes that contain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form a connected subtree</a:t>
                </a:r>
                <a:br>
                  <a:rPr lang="en-US" altLang="en-US" dirty="0"/>
                </a:br>
                <a:endParaRPr lang="en-US" altLang="en-US" dirty="0"/>
              </a:p>
            </p:txBody>
          </p:sp>
        </mc:Choice>
        <mc:Fallback xmlns="">
          <p:sp>
            <p:nvSpPr>
              <p:cNvPr id="2970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371600" y="1828800"/>
                <a:ext cx="4425156" cy="3962400"/>
              </a:xfrm>
              <a:blipFill>
                <a:blip r:embed="rId2"/>
                <a:stretch>
                  <a:fillRect l="-1102" t="-769" r="-96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CA812DD-6304-0751-5D1A-46938EAD0418}"/>
              </a:ext>
            </a:extLst>
          </p:cNvPr>
          <p:cNvGrpSpPr/>
          <p:nvPr/>
        </p:nvGrpSpPr>
        <p:grpSpPr>
          <a:xfrm>
            <a:off x="6480175" y="1548565"/>
            <a:ext cx="1943100" cy="2017713"/>
            <a:chOff x="4500563" y="2276475"/>
            <a:chExt cx="1943100" cy="2017713"/>
          </a:xfrm>
        </p:grpSpPr>
        <p:sp>
          <p:nvSpPr>
            <p:cNvPr id="29704" name="Line 13"/>
            <p:cNvSpPr>
              <a:spLocks noChangeShapeType="1"/>
            </p:cNvSpPr>
            <p:nvPr/>
          </p:nvSpPr>
          <p:spPr bwMode="auto">
            <a:xfrm>
              <a:off x="5148263" y="3284538"/>
              <a:ext cx="503237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705" name="Line 12"/>
            <p:cNvSpPr>
              <a:spLocks noChangeShapeType="1"/>
            </p:cNvSpPr>
            <p:nvPr/>
          </p:nvSpPr>
          <p:spPr bwMode="auto">
            <a:xfrm>
              <a:off x="5724525" y="2492375"/>
              <a:ext cx="503238" cy="792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706" name="Line 11"/>
            <p:cNvSpPr>
              <a:spLocks noChangeShapeType="1"/>
            </p:cNvSpPr>
            <p:nvPr/>
          </p:nvSpPr>
          <p:spPr bwMode="auto">
            <a:xfrm flipH="1">
              <a:off x="4643438" y="3213100"/>
              <a:ext cx="576262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707" name="Line 10"/>
            <p:cNvSpPr>
              <a:spLocks noChangeShapeType="1"/>
            </p:cNvSpPr>
            <p:nvPr/>
          </p:nvSpPr>
          <p:spPr bwMode="auto">
            <a:xfrm flipH="1">
              <a:off x="5148263" y="2420938"/>
              <a:ext cx="576262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710" name="Oval 5"/>
            <p:cNvSpPr>
              <a:spLocks noChangeArrowheads="1"/>
            </p:cNvSpPr>
            <p:nvPr/>
          </p:nvSpPr>
          <p:spPr bwMode="auto">
            <a:xfrm>
              <a:off x="5508625" y="2276475"/>
              <a:ext cx="358775" cy="3603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a</a:t>
              </a:r>
            </a:p>
          </p:txBody>
        </p:sp>
        <p:sp>
          <p:nvSpPr>
            <p:cNvPr id="29711" name="Oval 6"/>
            <p:cNvSpPr>
              <a:spLocks noChangeArrowheads="1"/>
            </p:cNvSpPr>
            <p:nvPr/>
          </p:nvSpPr>
          <p:spPr bwMode="auto">
            <a:xfrm>
              <a:off x="5003800" y="3068638"/>
              <a:ext cx="358775" cy="36036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b</a:t>
              </a:r>
            </a:p>
          </p:txBody>
        </p:sp>
        <p:sp>
          <p:nvSpPr>
            <p:cNvPr id="29712" name="Oval 7"/>
            <p:cNvSpPr>
              <a:spLocks noChangeArrowheads="1"/>
            </p:cNvSpPr>
            <p:nvPr/>
          </p:nvSpPr>
          <p:spPr bwMode="auto">
            <a:xfrm>
              <a:off x="4500563" y="3860800"/>
              <a:ext cx="358775" cy="3603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c</a:t>
              </a:r>
            </a:p>
          </p:txBody>
        </p:sp>
        <p:sp>
          <p:nvSpPr>
            <p:cNvPr id="29713" name="Oval 8"/>
            <p:cNvSpPr>
              <a:spLocks noChangeArrowheads="1"/>
            </p:cNvSpPr>
            <p:nvPr/>
          </p:nvSpPr>
          <p:spPr bwMode="auto">
            <a:xfrm>
              <a:off x="5435600" y="3933825"/>
              <a:ext cx="358775" cy="36036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d</a:t>
              </a:r>
            </a:p>
          </p:txBody>
        </p:sp>
        <p:sp>
          <p:nvSpPr>
            <p:cNvPr id="29714" name="Oval 9"/>
            <p:cNvSpPr>
              <a:spLocks noChangeArrowheads="1"/>
            </p:cNvSpPr>
            <p:nvPr/>
          </p:nvSpPr>
          <p:spPr bwMode="auto">
            <a:xfrm>
              <a:off x="6084888" y="3141663"/>
              <a:ext cx="358775" cy="36036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/>
                <a:t>e</a:t>
              </a:r>
            </a:p>
          </p:txBody>
        </p:sp>
      </p:grpSp>
      <p:sp>
        <p:nvSpPr>
          <p:cNvPr id="29715" name="Oval 14"/>
          <p:cNvSpPr>
            <a:spLocks noChangeArrowheads="1"/>
          </p:cNvSpPr>
          <p:nvPr/>
        </p:nvSpPr>
        <p:spPr bwMode="auto">
          <a:xfrm>
            <a:off x="7379493" y="3738480"/>
            <a:ext cx="647700" cy="649287"/>
          </a:xfrm>
          <a:prstGeom prst="ellipse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63C605-900D-EBF0-770F-8CAA81334901}"/>
                  </a:ext>
                </a:extLst>
              </p:cNvPr>
              <p:cNvSpPr txBox="1"/>
              <p:nvPr/>
            </p:nvSpPr>
            <p:spPr>
              <a:xfrm>
                <a:off x="6731793" y="1653777"/>
                <a:ext cx="5981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root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LID4096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63C605-900D-EBF0-770F-8CAA81334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793" y="1653777"/>
                <a:ext cx="598134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E8146F-345E-357D-A991-BFA5DD6F3142}"/>
              </a:ext>
            </a:extLst>
          </p:cNvPr>
          <p:cNvCxnSpPr/>
          <p:nvPr/>
        </p:nvCxnSpPr>
        <p:spPr bwMode="auto">
          <a:xfrm>
            <a:off x="6696868" y="1693028"/>
            <a:ext cx="71834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7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7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7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7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7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7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7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7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7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7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7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7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5" grpId="0" animBg="1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Treewidth is a measure of </a:t>
            </a:r>
            <a:br>
              <a:rPr lang="en-US" dirty="0"/>
            </a:br>
            <a:r>
              <a:rPr lang="en-US" dirty="0"/>
              <a:t>how ‘treelike’ a graphs 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82E18B-ADFD-9E14-32B6-901DAD7D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246" y="1828800"/>
            <a:ext cx="3105233" cy="3962400"/>
          </a:xfrm>
        </p:spPr>
        <p:txBody>
          <a:bodyPr/>
          <a:lstStyle/>
          <a:p>
            <a:r>
              <a:rPr lang="en-US" dirty="0"/>
              <a:t>This graph has treewidth three</a:t>
            </a:r>
          </a:p>
          <a:p>
            <a:pPr lvl="1"/>
            <a:r>
              <a:rPr lang="en-US" dirty="0"/>
              <a:t>It is tree-like</a:t>
            </a:r>
          </a:p>
          <a:p>
            <a:pPr lvl="1"/>
            <a:endParaRPr lang="en-US" dirty="0"/>
          </a:p>
          <a:p>
            <a:r>
              <a:rPr lang="en-US" dirty="0"/>
              <a:t>To get a tree decomposition (the sketched tree is </a:t>
            </a:r>
            <a:r>
              <a:rPr lang="en-US" b="1" dirty="0"/>
              <a:t>no</a:t>
            </a:r>
            <a:r>
              <a:rPr lang="en-US" dirty="0"/>
              <a:t> tree decomposition!):</a:t>
            </a:r>
          </a:p>
          <a:p>
            <a:pPr lvl="1"/>
            <a:r>
              <a:rPr lang="en-US" dirty="0"/>
              <a:t>A bag for each white circle (with at most four vertices)</a:t>
            </a:r>
          </a:p>
          <a:p>
            <a:pPr lvl="1"/>
            <a:r>
              <a:rPr lang="en-US" dirty="0"/>
              <a:t>A bag for all ‘edges’ in the sketched tree (also having at most four vertices)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4F1F55-D83B-450D-A321-0FE1CED69176}" type="slidenum">
              <a:rPr lang="nl-NL" smtClean="0"/>
              <a:pPr/>
              <a:t>39</a:t>
            </a:fld>
            <a:endParaRPr lang="nl-NL"/>
          </a:p>
        </p:txBody>
      </p:sp>
      <p:grpSp>
        <p:nvGrpSpPr>
          <p:cNvPr id="145" name="Group 144"/>
          <p:cNvGrpSpPr/>
          <p:nvPr/>
        </p:nvGrpSpPr>
        <p:grpSpPr>
          <a:xfrm>
            <a:off x="395536" y="2204864"/>
            <a:ext cx="5478442" cy="2715136"/>
            <a:chOff x="1544747" y="3933056"/>
            <a:chExt cx="5478442" cy="2715136"/>
          </a:xfrm>
        </p:grpSpPr>
        <p:sp>
          <p:nvSpPr>
            <p:cNvPr id="23" name="Oval 22"/>
            <p:cNvSpPr/>
            <p:nvPr/>
          </p:nvSpPr>
          <p:spPr>
            <a:xfrm>
              <a:off x="2459684" y="4725144"/>
              <a:ext cx="866241" cy="866241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1544747" y="5733255"/>
              <a:ext cx="914937" cy="914937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3133443" y="5733256"/>
              <a:ext cx="934501" cy="914936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>
              <a:stCxn id="23" idx="1"/>
              <a:endCxn id="41" idx="1"/>
            </p:cNvCxnSpPr>
            <p:nvPr/>
          </p:nvCxnSpPr>
          <p:spPr>
            <a:xfrm flipH="1">
              <a:off x="1678736" y="4852002"/>
              <a:ext cx="907806" cy="101524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23" idx="6"/>
              <a:endCxn id="42" idx="7"/>
            </p:cNvCxnSpPr>
            <p:nvPr/>
          </p:nvCxnSpPr>
          <p:spPr>
            <a:xfrm>
              <a:off x="3325925" y="5158265"/>
              <a:ext cx="605164" cy="70898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23" idx="4"/>
              <a:endCxn id="41" idx="6"/>
            </p:cNvCxnSpPr>
            <p:nvPr/>
          </p:nvCxnSpPr>
          <p:spPr>
            <a:xfrm flipH="1">
              <a:off x="2459684" y="5591385"/>
              <a:ext cx="433121" cy="59933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2" idx="2"/>
              <a:endCxn id="23" idx="4"/>
            </p:cNvCxnSpPr>
            <p:nvPr/>
          </p:nvCxnSpPr>
          <p:spPr>
            <a:xfrm flipH="1" flipV="1">
              <a:off x="2892805" y="5591385"/>
              <a:ext cx="240638" cy="59933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Oval 66"/>
            <p:cNvSpPr/>
            <p:nvPr/>
          </p:nvSpPr>
          <p:spPr>
            <a:xfrm>
              <a:off x="5414929" y="4725144"/>
              <a:ext cx="866241" cy="866241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4499992" y="5733255"/>
              <a:ext cx="914937" cy="914937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6088688" y="5733256"/>
              <a:ext cx="934501" cy="914936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/>
            <p:cNvCxnSpPr>
              <a:stCxn id="67" idx="2"/>
              <a:endCxn id="68" idx="0"/>
            </p:cNvCxnSpPr>
            <p:nvPr/>
          </p:nvCxnSpPr>
          <p:spPr>
            <a:xfrm flipH="1">
              <a:off x="4957461" y="5158265"/>
              <a:ext cx="457468" cy="5749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stCxn id="67" idx="6"/>
              <a:endCxn id="69" idx="7"/>
            </p:cNvCxnSpPr>
            <p:nvPr/>
          </p:nvCxnSpPr>
          <p:spPr>
            <a:xfrm>
              <a:off x="6281170" y="5158265"/>
              <a:ext cx="605164" cy="70898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67" idx="4"/>
              <a:endCxn id="68" idx="6"/>
            </p:cNvCxnSpPr>
            <p:nvPr/>
          </p:nvCxnSpPr>
          <p:spPr>
            <a:xfrm flipH="1">
              <a:off x="5414929" y="5591385"/>
              <a:ext cx="433121" cy="59933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69" idx="1"/>
              <a:endCxn id="67" idx="4"/>
            </p:cNvCxnSpPr>
            <p:nvPr/>
          </p:nvCxnSpPr>
          <p:spPr>
            <a:xfrm flipH="1" flipV="1">
              <a:off x="5848050" y="5591385"/>
              <a:ext cx="377493" cy="2758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Oval 80"/>
            <p:cNvSpPr/>
            <p:nvPr/>
          </p:nvSpPr>
          <p:spPr>
            <a:xfrm>
              <a:off x="3861947" y="3933056"/>
              <a:ext cx="854069" cy="854069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/>
            <p:cNvCxnSpPr>
              <a:stCxn id="81" idx="1"/>
              <a:endCxn id="23" idx="0"/>
            </p:cNvCxnSpPr>
            <p:nvPr/>
          </p:nvCxnSpPr>
          <p:spPr>
            <a:xfrm flipH="1">
              <a:off x="2892805" y="4058132"/>
              <a:ext cx="1094218" cy="66701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81" idx="3"/>
              <a:endCxn id="23" idx="6"/>
            </p:cNvCxnSpPr>
            <p:nvPr/>
          </p:nvCxnSpPr>
          <p:spPr>
            <a:xfrm flipH="1">
              <a:off x="3325925" y="4662049"/>
              <a:ext cx="661098" cy="4962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81" idx="5"/>
              <a:endCxn id="67" idx="2"/>
            </p:cNvCxnSpPr>
            <p:nvPr/>
          </p:nvCxnSpPr>
          <p:spPr>
            <a:xfrm>
              <a:off x="4590940" y="4662049"/>
              <a:ext cx="823989" cy="4962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81" idx="7"/>
              <a:endCxn id="67" idx="0"/>
            </p:cNvCxnSpPr>
            <p:nvPr/>
          </p:nvCxnSpPr>
          <p:spPr>
            <a:xfrm>
              <a:off x="4590940" y="4058132"/>
              <a:ext cx="1257110" cy="66701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Oval 97"/>
          <p:cNvSpPr/>
          <p:nvPr/>
        </p:nvSpPr>
        <p:spPr>
          <a:xfrm>
            <a:off x="542469" y="422108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880006" y="422108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600512" y="4552213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952014" y="4486617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2126645" y="4414609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2464182" y="422108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2335972" y="461990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2673509" y="4426387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376291" y="3346813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1713828" y="3153292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1577074" y="3551049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1914611" y="335752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3441729" y="4379271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3779266" y="4185750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3641731" y="461990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3979268" y="4426387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2802096" y="254863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3139633" y="2355117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2968615" y="276733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3306152" y="2573817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4361641" y="3270657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Oval 119"/>
          <p:cNvSpPr/>
          <p:nvPr/>
        </p:nvSpPr>
        <p:spPr>
          <a:xfrm>
            <a:off x="4699178" y="3077136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Oval 120"/>
          <p:cNvSpPr/>
          <p:nvPr/>
        </p:nvSpPr>
        <p:spPr>
          <a:xfrm>
            <a:off x="4528160" y="350992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Oval 121"/>
          <p:cNvSpPr/>
          <p:nvPr/>
        </p:nvSpPr>
        <p:spPr>
          <a:xfrm>
            <a:off x="4890083" y="3287822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Oval 122"/>
          <p:cNvSpPr/>
          <p:nvPr/>
        </p:nvSpPr>
        <p:spPr>
          <a:xfrm>
            <a:off x="5051883" y="4269009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5389420" y="4075488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5268022" y="4569876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5605559" y="4376355"/>
            <a:ext cx="166519" cy="1665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Connector 127"/>
          <p:cNvCxnSpPr>
            <a:cxnSpLocks/>
            <a:stCxn id="123" idx="5"/>
            <a:endCxn id="125" idx="1"/>
          </p:cNvCxnSpPr>
          <p:nvPr/>
        </p:nvCxnSpPr>
        <p:spPr>
          <a:xfrm>
            <a:off x="5194016" y="4411142"/>
            <a:ext cx="98392" cy="183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124" idx="4"/>
            <a:endCxn id="125" idx="0"/>
          </p:cNvCxnSpPr>
          <p:nvPr/>
        </p:nvCxnSpPr>
        <p:spPr>
          <a:xfrm flipH="1">
            <a:off x="5351282" y="4242007"/>
            <a:ext cx="121398" cy="3278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124" idx="5"/>
            <a:endCxn id="126" idx="1"/>
          </p:cNvCxnSpPr>
          <p:nvPr/>
        </p:nvCxnSpPr>
        <p:spPr>
          <a:xfrm>
            <a:off x="5531553" y="4217621"/>
            <a:ext cx="98392" cy="183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124" idx="1"/>
            <a:endCxn id="122" idx="4"/>
          </p:cNvCxnSpPr>
          <p:nvPr/>
        </p:nvCxnSpPr>
        <p:spPr>
          <a:xfrm flipH="1" flipV="1">
            <a:off x="4973343" y="3454341"/>
            <a:ext cx="440463" cy="6455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cxnSpLocks/>
            <a:endCxn id="120" idx="4"/>
          </p:cNvCxnSpPr>
          <p:nvPr/>
        </p:nvCxnSpPr>
        <p:spPr>
          <a:xfrm flipH="1" flipV="1">
            <a:off x="4782438" y="3243655"/>
            <a:ext cx="568844" cy="13248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>
            <a:stCxn id="114" idx="6"/>
            <a:endCxn id="121" idx="4"/>
          </p:cNvCxnSpPr>
          <p:nvPr/>
        </p:nvCxnSpPr>
        <p:spPr>
          <a:xfrm flipV="1">
            <a:off x="4145787" y="3676447"/>
            <a:ext cx="465633" cy="833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13" idx="7"/>
            <a:endCxn id="119" idx="4"/>
          </p:cNvCxnSpPr>
          <p:nvPr/>
        </p:nvCxnSpPr>
        <p:spPr>
          <a:xfrm flipV="1">
            <a:off x="3783864" y="3437176"/>
            <a:ext cx="661037" cy="12071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cxnSpLocks/>
            <a:stCxn id="112" idx="0"/>
            <a:endCxn id="119" idx="3"/>
          </p:cNvCxnSpPr>
          <p:nvPr/>
        </p:nvCxnSpPr>
        <p:spPr>
          <a:xfrm flipV="1">
            <a:off x="3862526" y="3412790"/>
            <a:ext cx="523501" cy="7729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21" idx="0"/>
            <a:endCxn id="120" idx="3"/>
          </p:cNvCxnSpPr>
          <p:nvPr/>
        </p:nvCxnSpPr>
        <p:spPr>
          <a:xfrm flipV="1">
            <a:off x="4611420" y="3219269"/>
            <a:ext cx="112144" cy="290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02" idx="7"/>
            <a:endCxn id="103" idx="3"/>
          </p:cNvCxnSpPr>
          <p:nvPr/>
        </p:nvCxnSpPr>
        <p:spPr>
          <a:xfrm flipV="1">
            <a:off x="2268778" y="4363221"/>
            <a:ext cx="219790" cy="757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105" idx="6"/>
            <a:endCxn id="106" idx="3"/>
          </p:cNvCxnSpPr>
          <p:nvPr/>
        </p:nvCxnSpPr>
        <p:spPr>
          <a:xfrm flipV="1">
            <a:off x="2502491" y="4568520"/>
            <a:ext cx="195404" cy="134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>
            <a:stCxn id="105" idx="0"/>
            <a:endCxn id="103" idx="4"/>
          </p:cNvCxnSpPr>
          <p:nvPr/>
        </p:nvCxnSpPr>
        <p:spPr>
          <a:xfrm flipV="1">
            <a:off x="2419232" y="4387607"/>
            <a:ext cx="128210" cy="232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103" idx="1"/>
            <a:endCxn id="110" idx="5"/>
          </p:cNvCxnSpPr>
          <p:nvPr/>
        </p:nvCxnSpPr>
        <p:spPr>
          <a:xfrm flipH="1" flipV="1">
            <a:off x="2056744" y="3499661"/>
            <a:ext cx="431824" cy="7458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>
            <a:stCxn id="102" idx="0"/>
            <a:endCxn id="109" idx="5"/>
          </p:cNvCxnSpPr>
          <p:nvPr/>
        </p:nvCxnSpPr>
        <p:spPr>
          <a:xfrm flipH="1" flipV="1">
            <a:off x="1719207" y="3693182"/>
            <a:ext cx="490698" cy="7214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cxnSpLocks/>
            <a:stCxn id="100" idx="6"/>
            <a:endCxn id="101" idx="2"/>
          </p:cNvCxnSpPr>
          <p:nvPr/>
        </p:nvCxnSpPr>
        <p:spPr>
          <a:xfrm flipV="1">
            <a:off x="767031" y="4569877"/>
            <a:ext cx="184983" cy="655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98" idx="6"/>
            <a:endCxn id="99" idx="2"/>
          </p:cNvCxnSpPr>
          <p:nvPr/>
        </p:nvCxnSpPr>
        <p:spPr>
          <a:xfrm>
            <a:off x="708988" y="4304348"/>
            <a:ext cx="1710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98" idx="0"/>
            <a:endCxn id="107" idx="3"/>
          </p:cNvCxnSpPr>
          <p:nvPr/>
        </p:nvCxnSpPr>
        <p:spPr>
          <a:xfrm flipV="1">
            <a:off x="625729" y="3488946"/>
            <a:ext cx="774948" cy="7321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>
            <a:stCxn id="99" idx="7"/>
            <a:endCxn id="108" idx="3"/>
          </p:cNvCxnSpPr>
          <p:nvPr/>
        </p:nvCxnSpPr>
        <p:spPr>
          <a:xfrm flipV="1">
            <a:off x="1022139" y="3295425"/>
            <a:ext cx="716075" cy="9500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108" idx="6"/>
            <a:endCxn id="115" idx="3"/>
          </p:cNvCxnSpPr>
          <p:nvPr/>
        </p:nvCxnSpPr>
        <p:spPr>
          <a:xfrm flipV="1">
            <a:off x="1880347" y="2690771"/>
            <a:ext cx="946135" cy="5457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>
            <a:stCxn id="108" idx="6"/>
            <a:endCxn id="117" idx="2"/>
          </p:cNvCxnSpPr>
          <p:nvPr/>
        </p:nvCxnSpPr>
        <p:spPr>
          <a:xfrm flipV="1">
            <a:off x="1880347" y="2850598"/>
            <a:ext cx="1088268" cy="3859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stCxn id="110" idx="7"/>
            <a:endCxn id="115" idx="3"/>
          </p:cNvCxnSpPr>
          <p:nvPr/>
        </p:nvCxnSpPr>
        <p:spPr>
          <a:xfrm flipV="1">
            <a:off x="2056744" y="2690771"/>
            <a:ext cx="769738" cy="6911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>
            <a:stCxn id="118" idx="6"/>
            <a:endCxn id="120" idx="1"/>
          </p:cNvCxnSpPr>
          <p:nvPr/>
        </p:nvCxnSpPr>
        <p:spPr>
          <a:xfrm>
            <a:off x="3472671" y="2657077"/>
            <a:ext cx="1250893" cy="444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>
            <a:stCxn id="116" idx="4"/>
            <a:endCxn id="117" idx="7"/>
          </p:cNvCxnSpPr>
          <p:nvPr/>
        </p:nvCxnSpPr>
        <p:spPr>
          <a:xfrm flipH="1">
            <a:off x="3110748" y="2521636"/>
            <a:ext cx="112145" cy="2700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>
            <a:stCxn id="115" idx="6"/>
            <a:endCxn id="116" idx="3"/>
          </p:cNvCxnSpPr>
          <p:nvPr/>
        </p:nvCxnSpPr>
        <p:spPr>
          <a:xfrm flipV="1">
            <a:off x="2968615" y="2497250"/>
            <a:ext cx="195404" cy="134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0291CB-E41C-74AA-3452-7BE723163780}"/>
              </a:ext>
            </a:extLst>
          </p:cNvPr>
          <p:cNvCxnSpPr>
            <a:cxnSpLocks/>
            <a:stCxn id="101" idx="0"/>
            <a:endCxn id="99" idx="4"/>
          </p:cNvCxnSpPr>
          <p:nvPr/>
        </p:nvCxnSpPr>
        <p:spPr>
          <a:xfrm flipH="1" flipV="1">
            <a:off x="963266" y="4387607"/>
            <a:ext cx="72008" cy="990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04478D-A6A9-4C69-4693-EDA0567ECE19}"/>
              </a:ext>
            </a:extLst>
          </p:cNvPr>
          <p:cNvCxnSpPr>
            <a:cxnSpLocks/>
            <a:stCxn id="101" idx="1"/>
            <a:endCxn id="98" idx="5"/>
          </p:cNvCxnSpPr>
          <p:nvPr/>
        </p:nvCxnSpPr>
        <p:spPr>
          <a:xfrm flipH="1" flipV="1">
            <a:off x="684602" y="4363221"/>
            <a:ext cx="291798" cy="147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BF8A1C-F2B7-3322-4111-130504267A7C}"/>
              </a:ext>
            </a:extLst>
          </p:cNvPr>
          <p:cNvCxnSpPr>
            <a:cxnSpLocks/>
            <a:stCxn id="100" idx="7"/>
            <a:endCxn id="99" idx="3"/>
          </p:cNvCxnSpPr>
          <p:nvPr/>
        </p:nvCxnSpPr>
        <p:spPr>
          <a:xfrm flipV="1">
            <a:off x="742645" y="4363221"/>
            <a:ext cx="161747" cy="213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CD4C675-D3CC-9833-FE51-1209D5AD532C}"/>
              </a:ext>
            </a:extLst>
          </p:cNvPr>
          <p:cNvCxnSpPr>
            <a:cxnSpLocks/>
            <a:stCxn id="100" idx="0"/>
            <a:endCxn id="98" idx="4"/>
          </p:cNvCxnSpPr>
          <p:nvPr/>
        </p:nvCxnSpPr>
        <p:spPr>
          <a:xfrm flipH="1" flipV="1">
            <a:off x="625729" y="4387607"/>
            <a:ext cx="58043" cy="1646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A6F6B5E-4D0A-E895-6345-8520AF7909AD}"/>
              </a:ext>
            </a:extLst>
          </p:cNvPr>
          <p:cNvCxnSpPr>
            <a:cxnSpLocks/>
            <a:stCxn id="110" idx="2"/>
            <a:endCxn id="107" idx="6"/>
          </p:cNvCxnSpPr>
          <p:nvPr/>
        </p:nvCxnSpPr>
        <p:spPr>
          <a:xfrm flipH="1" flipV="1">
            <a:off x="1542810" y="3430073"/>
            <a:ext cx="371801" cy="107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7A4F1FC-DB4D-AC07-6EB0-D2C76265DB28}"/>
              </a:ext>
            </a:extLst>
          </p:cNvPr>
          <p:cNvCxnSpPr>
            <a:cxnSpLocks/>
            <a:stCxn id="108" idx="2"/>
            <a:endCxn id="107" idx="0"/>
          </p:cNvCxnSpPr>
          <p:nvPr/>
        </p:nvCxnSpPr>
        <p:spPr>
          <a:xfrm flipH="1">
            <a:off x="1459551" y="3236552"/>
            <a:ext cx="254277" cy="110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215A26A-B8D5-D9F9-41D2-113F25E6CAB5}"/>
              </a:ext>
            </a:extLst>
          </p:cNvPr>
          <p:cNvCxnSpPr>
            <a:cxnSpLocks/>
            <a:stCxn id="112" idx="0"/>
            <a:endCxn id="121" idx="3"/>
          </p:cNvCxnSpPr>
          <p:nvPr/>
        </p:nvCxnSpPr>
        <p:spPr>
          <a:xfrm flipV="1">
            <a:off x="3862526" y="3652061"/>
            <a:ext cx="690020" cy="5336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25CB89-5A12-F9A8-D885-D7997598875F}"/>
              </a:ext>
            </a:extLst>
          </p:cNvPr>
          <p:cNvCxnSpPr>
            <a:cxnSpLocks/>
            <a:stCxn id="117" idx="6"/>
            <a:endCxn id="120" idx="2"/>
          </p:cNvCxnSpPr>
          <p:nvPr/>
        </p:nvCxnSpPr>
        <p:spPr>
          <a:xfrm>
            <a:off x="3135134" y="2850598"/>
            <a:ext cx="1564044" cy="3097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12323B-FBC6-B638-3764-F68812F24391}"/>
              </a:ext>
            </a:extLst>
          </p:cNvPr>
          <p:cNvCxnSpPr>
            <a:cxnSpLocks/>
            <a:stCxn id="116" idx="5"/>
            <a:endCxn id="118" idx="1"/>
          </p:cNvCxnSpPr>
          <p:nvPr/>
        </p:nvCxnSpPr>
        <p:spPr>
          <a:xfrm>
            <a:off x="3281766" y="2497250"/>
            <a:ext cx="48772" cy="1009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E1792AB-5659-25AC-431D-48C3BAFA58B8}"/>
              </a:ext>
            </a:extLst>
          </p:cNvPr>
          <p:cNvCxnSpPr>
            <a:cxnSpLocks/>
            <a:stCxn id="116" idx="6"/>
            <a:endCxn id="120" idx="1"/>
          </p:cNvCxnSpPr>
          <p:nvPr/>
        </p:nvCxnSpPr>
        <p:spPr>
          <a:xfrm>
            <a:off x="3306152" y="2438377"/>
            <a:ext cx="1417412" cy="6631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D0FCD59-124D-FA56-5235-A1884F74B02E}"/>
              </a:ext>
            </a:extLst>
          </p:cNvPr>
          <p:cNvCxnSpPr>
            <a:cxnSpLocks/>
            <a:stCxn id="120" idx="5"/>
            <a:endCxn id="122" idx="1"/>
          </p:cNvCxnSpPr>
          <p:nvPr/>
        </p:nvCxnSpPr>
        <p:spPr>
          <a:xfrm>
            <a:off x="4841311" y="3219269"/>
            <a:ext cx="73158" cy="929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EF040AD-B51C-2678-CF53-6F275C153526}"/>
              </a:ext>
            </a:extLst>
          </p:cNvPr>
          <p:cNvCxnSpPr>
            <a:cxnSpLocks/>
            <a:stCxn id="112" idx="2"/>
            <a:endCxn id="111" idx="7"/>
          </p:cNvCxnSpPr>
          <p:nvPr/>
        </p:nvCxnSpPr>
        <p:spPr>
          <a:xfrm flipH="1">
            <a:off x="3583862" y="4269010"/>
            <a:ext cx="195404" cy="134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1FDCBEF-4929-3E12-5C16-65EF7F4C44A9}"/>
              </a:ext>
            </a:extLst>
          </p:cNvPr>
          <p:cNvCxnSpPr>
            <a:cxnSpLocks/>
            <a:stCxn id="111" idx="4"/>
            <a:endCxn id="113" idx="1"/>
          </p:cNvCxnSpPr>
          <p:nvPr/>
        </p:nvCxnSpPr>
        <p:spPr>
          <a:xfrm>
            <a:off x="3524989" y="4545790"/>
            <a:ext cx="141128" cy="985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598453E-1137-DAA7-0019-D445481E00C6}"/>
              </a:ext>
            </a:extLst>
          </p:cNvPr>
          <p:cNvCxnSpPr>
            <a:cxnSpLocks/>
            <a:stCxn id="113" idx="0"/>
            <a:endCxn id="112" idx="4"/>
          </p:cNvCxnSpPr>
          <p:nvPr/>
        </p:nvCxnSpPr>
        <p:spPr>
          <a:xfrm flipV="1">
            <a:off x="3724991" y="4352269"/>
            <a:ext cx="137535" cy="2676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01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6D8F-C12E-105D-BEC6-E634FB57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63DC1E-33DF-2CF7-6910-FC744BD2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Characterization 1:</a:t>
            </a:r>
            <a:br>
              <a:rPr lang="en-US" altLang="en-US" dirty="0"/>
            </a:br>
            <a:r>
              <a:rPr lang="en-US" altLang="en-US" dirty="0"/>
              <a:t>Tree decompositions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A75B4E-22AF-C05A-BFE3-9B96DC46AC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1828800"/>
                <a:ext cx="4184724" cy="3962400"/>
              </a:xfrm>
            </p:spPr>
            <p:txBody>
              <a:bodyPr/>
              <a:lstStyle/>
              <a:p>
                <a:r>
                  <a:rPr lang="en-US" dirty="0"/>
                  <a:t>A tree decomposition is: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Tree with a vertex set associated to every node, we call this a bag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all edges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there is a bag containing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nodes that contain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form a connected subtree</a:t>
                </a:r>
              </a:p>
              <a:p>
                <a:r>
                  <a:rPr lang="en-US" dirty="0"/>
                  <a:t>Width of tree decomposition: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LID4096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LID4096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LID4096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LID4096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LID4096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fName>
                      <m:e>
                        <m:r>
                          <a:rPr lang="LID4096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sSub>
                      <m:sSubPr>
                        <m:ctrlPr>
                          <a:rPr lang="LID4096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LID4096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ID4096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Treewidth of graph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: minimum width over all tree decompositions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pPr marL="400050">
                  <a:buFont typeface="+mj-lt"/>
                  <a:buAutoNum type="arabicPeriod"/>
                </a:pPr>
                <a:endParaRPr 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A75B4E-22AF-C05A-BFE3-9B96DC46A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1828800"/>
                <a:ext cx="4184724" cy="3962400"/>
              </a:xfrm>
              <a:blipFill>
                <a:blip r:embed="rId2"/>
                <a:stretch>
                  <a:fillRect l="-292" t="-769" r="-2187" b="-2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5" name="Rectangle 1027">
            <a:extLst>
              <a:ext uri="{FF2B5EF4-FFF2-40B4-BE49-F238E27FC236}">
                <a16:creationId xmlns:a16="http://schemas.microsoft.com/office/drawing/2014/main" id="{63290AB7-2BCF-F6F8-DA09-9A7411787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2633117"/>
            <a:ext cx="3810000" cy="434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endParaRPr lang="en-US" altLang="en-US" sz="2000" i="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01F4B2F-051D-2261-DFC0-B121ABF611F2}"/>
              </a:ext>
            </a:extLst>
          </p:cNvPr>
          <p:cNvGrpSpPr/>
          <p:nvPr/>
        </p:nvGrpSpPr>
        <p:grpSpPr>
          <a:xfrm>
            <a:off x="5600774" y="3767684"/>
            <a:ext cx="3429000" cy="1752600"/>
            <a:chOff x="5105400" y="2895600"/>
            <a:chExt cx="3429000" cy="1752600"/>
          </a:xfrm>
        </p:grpSpPr>
        <p:sp>
          <p:nvSpPr>
            <p:cNvPr id="25606" name="Line 1028">
              <a:extLst>
                <a:ext uri="{FF2B5EF4-FFF2-40B4-BE49-F238E27FC236}">
                  <a16:creationId xmlns:a16="http://schemas.microsoft.com/office/drawing/2014/main" id="{3D06D000-FF1F-182B-D75D-719B1D07B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33528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Line 1029">
              <a:extLst>
                <a:ext uri="{FF2B5EF4-FFF2-40B4-BE49-F238E27FC236}">
                  <a16:creationId xmlns:a16="http://schemas.microsoft.com/office/drawing/2014/main" id="{8A1CBF79-ABF7-CE5F-BDF8-D8AAC881F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33528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Oval 1045">
              <a:extLst>
                <a:ext uri="{FF2B5EF4-FFF2-40B4-BE49-F238E27FC236}">
                  <a16:creationId xmlns:a16="http://schemas.microsoft.com/office/drawing/2014/main" id="{6F8500B2-01C2-404C-6E62-196F23D11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4" name="Oval 1046">
              <a:extLst>
                <a:ext uri="{FF2B5EF4-FFF2-40B4-BE49-F238E27FC236}">
                  <a16:creationId xmlns:a16="http://schemas.microsoft.com/office/drawing/2014/main" id="{360455FF-FA90-B1BA-88EC-BAFE55212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9624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5" name="Oval 1047">
              <a:extLst>
                <a:ext uri="{FF2B5EF4-FFF2-40B4-BE49-F238E27FC236}">
                  <a16:creationId xmlns:a16="http://schemas.microsoft.com/office/drawing/2014/main" id="{85D9995B-2678-ED5F-2EED-E6BA55715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6" name="Oval 1048">
              <a:extLst>
                <a:ext uri="{FF2B5EF4-FFF2-40B4-BE49-F238E27FC236}">
                  <a16:creationId xmlns:a16="http://schemas.microsoft.com/office/drawing/2014/main" id="{E251BF5F-D875-18D3-F19F-F90FCFE48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7" name="Oval 1049">
              <a:extLst>
                <a:ext uri="{FF2B5EF4-FFF2-40B4-BE49-F238E27FC236}">
                  <a16:creationId xmlns:a16="http://schemas.microsoft.com/office/drawing/2014/main" id="{6EEC395A-82DB-8141-7119-A9D5292BC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971800"/>
              <a:ext cx="685800" cy="6858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8" name="Text Box 1050">
              <a:extLst>
                <a:ext uri="{FF2B5EF4-FFF2-40B4-BE49-F238E27FC236}">
                  <a16:creationId xmlns:a16="http://schemas.microsoft.com/office/drawing/2014/main" id="{D22C5A3C-05B1-AEB1-5554-9F71B0C3A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29" name="Text Box 1051">
              <a:extLst>
                <a:ext uri="{FF2B5EF4-FFF2-40B4-BE49-F238E27FC236}">
                  <a16:creationId xmlns:a16="http://schemas.microsoft.com/office/drawing/2014/main" id="{AF7729E5-1359-0628-4577-38508D476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895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30" name="Text Box 1052">
              <a:extLst>
                <a:ext uri="{FF2B5EF4-FFF2-40B4-BE49-F238E27FC236}">
                  <a16:creationId xmlns:a16="http://schemas.microsoft.com/office/drawing/2014/main" id="{5EEB82B4-33DA-3FCA-D351-CCC24977A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3200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b</a:t>
              </a:r>
            </a:p>
          </p:txBody>
        </p:sp>
        <p:sp>
          <p:nvSpPr>
            <p:cNvPr id="25631" name="Text Box 1053">
              <a:extLst>
                <a:ext uri="{FF2B5EF4-FFF2-40B4-BE49-F238E27FC236}">
                  <a16:creationId xmlns:a16="http://schemas.microsoft.com/office/drawing/2014/main" id="{05094962-6524-5F14-7404-B4048F3C3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2" name="Text Box 1054">
              <a:extLst>
                <a:ext uri="{FF2B5EF4-FFF2-40B4-BE49-F238E27FC236}">
                  <a16:creationId xmlns:a16="http://schemas.microsoft.com/office/drawing/2014/main" id="{3F78DE16-A798-1495-E226-DA9C5B844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2004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3" name="Text Box 1055">
              <a:extLst>
                <a:ext uri="{FF2B5EF4-FFF2-40B4-BE49-F238E27FC236}">
                  <a16:creationId xmlns:a16="http://schemas.microsoft.com/office/drawing/2014/main" id="{88A88EF5-51DE-20AF-FC8D-1E3A6B591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038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  <p:sp>
          <p:nvSpPr>
            <p:cNvPr id="25634" name="Text Box 1056">
              <a:extLst>
                <a:ext uri="{FF2B5EF4-FFF2-40B4-BE49-F238E27FC236}">
                  <a16:creationId xmlns:a16="http://schemas.microsoft.com/office/drawing/2014/main" id="{81A1C3EF-B43D-A1EE-F58B-D4B4EC816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9624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d</a:t>
              </a:r>
            </a:p>
          </p:txBody>
        </p:sp>
        <p:sp>
          <p:nvSpPr>
            <p:cNvPr id="25635" name="Text Box 1057">
              <a:extLst>
                <a:ext uri="{FF2B5EF4-FFF2-40B4-BE49-F238E27FC236}">
                  <a16:creationId xmlns:a16="http://schemas.microsoft.com/office/drawing/2014/main" id="{C4EA1ED3-A037-4B92-01EA-85FDF37BE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4191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e</a:t>
              </a:r>
            </a:p>
          </p:txBody>
        </p:sp>
        <p:sp>
          <p:nvSpPr>
            <p:cNvPr id="25637" name="Text Box 1059">
              <a:extLst>
                <a:ext uri="{FF2B5EF4-FFF2-40B4-BE49-F238E27FC236}">
                  <a16:creationId xmlns:a16="http://schemas.microsoft.com/office/drawing/2014/main" id="{1891B09A-C713-17E0-254C-18F925880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34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h</a:t>
              </a:r>
            </a:p>
          </p:txBody>
        </p:sp>
        <p:sp>
          <p:nvSpPr>
            <p:cNvPr id="25638" name="Text Box 1060">
              <a:extLst>
                <a:ext uri="{FF2B5EF4-FFF2-40B4-BE49-F238E27FC236}">
                  <a16:creationId xmlns:a16="http://schemas.microsoft.com/office/drawing/2014/main" id="{CB370035-48E8-0F2A-799B-8B98C8032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30480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25639" name="Text Box 1061">
              <a:extLst>
                <a:ext uri="{FF2B5EF4-FFF2-40B4-BE49-F238E27FC236}">
                  <a16:creationId xmlns:a16="http://schemas.microsoft.com/office/drawing/2014/main" id="{4D38C30F-3AE1-4A3A-47ED-F8CB2A96F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3200400"/>
              <a:ext cx="285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f</a:t>
              </a:r>
            </a:p>
          </p:txBody>
        </p:sp>
        <p:sp>
          <p:nvSpPr>
            <p:cNvPr id="25640" name="Text Box 1062">
              <a:extLst>
                <a:ext uri="{FF2B5EF4-FFF2-40B4-BE49-F238E27FC236}">
                  <a16:creationId xmlns:a16="http://schemas.microsoft.com/office/drawing/2014/main" id="{3E69DE47-D8D2-B39B-DF86-8DD25F670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30480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a</a:t>
              </a:r>
            </a:p>
          </p:txBody>
        </p:sp>
        <p:sp>
          <p:nvSpPr>
            <p:cNvPr id="25641" name="Text Box 1063">
              <a:extLst>
                <a:ext uri="{FF2B5EF4-FFF2-40B4-BE49-F238E27FC236}">
                  <a16:creationId xmlns:a16="http://schemas.microsoft.com/office/drawing/2014/main" id="{D45790B0-8B8F-1B89-30F6-13C121E22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28956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g</a:t>
              </a:r>
            </a:p>
          </p:txBody>
        </p:sp>
        <p:sp>
          <p:nvSpPr>
            <p:cNvPr id="25642" name="Text Box 1064">
              <a:extLst>
                <a:ext uri="{FF2B5EF4-FFF2-40B4-BE49-F238E27FC236}">
                  <a16:creationId xmlns:a16="http://schemas.microsoft.com/office/drawing/2014/main" id="{D2A76AB6-A4FF-3FC5-A9A4-0A1B707DC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304800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/>
                <a:t>g</a:t>
              </a:r>
            </a:p>
          </p:txBody>
        </p:sp>
      </p:grpSp>
      <p:grpSp>
        <p:nvGrpSpPr>
          <p:cNvPr id="5" name="Group 61">
            <a:extLst>
              <a:ext uri="{FF2B5EF4-FFF2-40B4-BE49-F238E27FC236}">
                <a16:creationId xmlns:a16="http://schemas.microsoft.com/office/drawing/2014/main" id="{C0BFAD6A-8B3B-51E8-7C92-4B03FD6600EF}"/>
              </a:ext>
            </a:extLst>
          </p:cNvPr>
          <p:cNvGrpSpPr>
            <a:grpSpLocks/>
          </p:cNvGrpSpPr>
          <p:nvPr/>
        </p:nvGrpSpPr>
        <p:grpSpPr bwMode="auto">
          <a:xfrm>
            <a:off x="6019874" y="1413917"/>
            <a:ext cx="2286000" cy="1676400"/>
            <a:chOff x="4128" y="816"/>
            <a:chExt cx="1440" cy="1056"/>
          </a:xfrm>
        </p:grpSpPr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54CC0D15-023E-BFFD-3F84-F75ABECD2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8">
              <a:extLst>
                <a:ext uri="{FF2B5EF4-FFF2-40B4-BE49-F238E27FC236}">
                  <a16:creationId xmlns:a16="http://schemas.microsoft.com/office/drawing/2014/main" id="{5E45DA9F-6090-9239-00FB-266025FE7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29">
              <a:extLst>
                <a:ext uri="{FF2B5EF4-FFF2-40B4-BE49-F238E27FC236}">
                  <a16:creationId xmlns:a16="http://schemas.microsoft.com/office/drawing/2014/main" id="{33FD0670-695A-DFFA-339B-6C5A70DBF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30">
              <a:extLst>
                <a:ext uri="{FF2B5EF4-FFF2-40B4-BE49-F238E27FC236}">
                  <a16:creationId xmlns:a16="http://schemas.microsoft.com/office/drawing/2014/main" id="{1F5E6397-BF84-4E0B-B229-56E2267E9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31">
              <a:extLst>
                <a:ext uri="{FF2B5EF4-FFF2-40B4-BE49-F238E27FC236}">
                  <a16:creationId xmlns:a16="http://schemas.microsoft.com/office/drawing/2014/main" id="{68F52D87-58DB-416B-1D46-E866CB4D9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F3E45E4F-87AE-89AC-5616-698C34CED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DE623E5D-1AEF-DC94-C1B5-5C8B19BAC3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34">
              <a:extLst>
                <a:ext uri="{FF2B5EF4-FFF2-40B4-BE49-F238E27FC236}">
                  <a16:creationId xmlns:a16="http://schemas.microsoft.com/office/drawing/2014/main" id="{FDDE6E75-41EA-4D6B-EB9B-82CB49B99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35">
              <a:extLst>
                <a:ext uri="{FF2B5EF4-FFF2-40B4-BE49-F238E27FC236}">
                  <a16:creationId xmlns:a16="http://schemas.microsoft.com/office/drawing/2014/main" id="{B2FAB7F1-0210-B8BD-D286-EF7BA66D2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36">
              <a:extLst>
                <a:ext uri="{FF2B5EF4-FFF2-40B4-BE49-F238E27FC236}">
                  <a16:creationId xmlns:a16="http://schemas.microsoft.com/office/drawing/2014/main" id="{655F4E55-4A52-02AE-8AD2-9CE4AD59E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" name="Group 37">
              <a:extLst>
                <a:ext uri="{FF2B5EF4-FFF2-40B4-BE49-F238E27FC236}">
                  <a16:creationId xmlns:a16="http://schemas.microsoft.com/office/drawing/2014/main" id="{D19CE2F7-B80D-38B3-38DC-CE60130C86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38" name="Oval 38">
                <a:extLst>
                  <a:ext uri="{FF2B5EF4-FFF2-40B4-BE49-F238E27FC236}">
                    <a16:creationId xmlns:a16="http://schemas.microsoft.com/office/drawing/2014/main" id="{9345A61C-4B7C-B891-A0C7-0D2063635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9" name="Text Box 39">
                <a:extLst>
                  <a:ext uri="{FF2B5EF4-FFF2-40B4-BE49-F238E27FC236}">
                    <a16:creationId xmlns:a16="http://schemas.microsoft.com/office/drawing/2014/main" id="{B1704487-91DA-A202-8844-A1336AA97E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17" name="Group 40">
              <a:extLst>
                <a:ext uri="{FF2B5EF4-FFF2-40B4-BE49-F238E27FC236}">
                  <a16:creationId xmlns:a16="http://schemas.microsoft.com/office/drawing/2014/main" id="{40D67EC4-9B6B-8B5B-6401-6E1962C512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36" name="Oval 41">
                <a:extLst>
                  <a:ext uri="{FF2B5EF4-FFF2-40B4-BE49-F238E27FC236}">
                    <a16:creationId xmlns:a16="http://schemas.microsoft.com/office/drawing/2014/main" id="{2AEA430E-E2FA-6C31-C123-F8113A0AF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" name="Text Box 42">
                <a:extLst>
                  <a:ext uri="{FF2B5EF4-FFF2-40B4-BE49-F238E27FC236}">
                    <a16:creationId xmlns:a16="http://schemas.microsoft.com/office/drawing/2014/main" id="{71C4E608-0311-7C4F-24FA-82EB6CC45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18" name="Group 43">
              <a:extLst>
                <a:ext uri="{FF2B5EF4-FFF2-40B4-BE49-F238E27FC236}">
                  <a16:creationId xmlns:a16="http://schemas.microsoft.com/office/drawing/2014/main" id="{0AD23A35-7B90-DDEC-3D72-81609DCC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34" name="Oval 44">
                <a:extLst>
                  <a:ext uri="{FF2B5EF4-FFF2-40B4-BE49-F238E27FC236}">
                    <a16:creationId xmlns:a16="http://schemas.microsoft.com/office/drawing/2014/main" id="{C808C744-49CD-59CE-7AC4-71F8772E7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" name="Text Box 45">
                <a:extLst>
                  <a:ext uri="{FF2B5EF4-FFF2-40B4-BE49-F238E27FC236}">
                    <a16:creationId xmlns:a16="http://schemas.microsoft.com/office/drawing/2014/main" id="{A2E229B7-8947-C58A-CACF-6BCDA3608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19" name="Group 46">
              <a:extLst>
                <a:ext uri="{FF2B5EF4-FFF2-40B4-BE49-F238E27FC236}">
                  <a16:creationId xmlns:a16="http://schemas.microsoft.com/office/drawing/2014/main" id="{E8E2931E-09BD-19ED-6BDB-B0119649C3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32" name="Oval 47">
                <a:extLst>
                  <a:ext uri="{FF2B5EF4-FFF2-40B4-BE49-F238E27FC236}">
                    <a16:creationId xmlns:a16="http://schemas.microsoft.com/office/drawing/2014/main" id="{FF4DB2B2-9358-7714-2B7C-0C5EB7A42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3" name="Text Box 48">
                <a:extLst>
                  <a:ext uri="{FF2B5EF4-FFF2-40B4-BE49-F238E27FC236}">
                    <a16:creationId xmlns:a16="http://schemas.microsoft.com/office/drawing/2014/main" id="{1FF081FD-E39E-1A65-55D6-52AFA024F4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20" name="Group 49">
              <a:extLst>
                <a:ext uri="{FF2B5EF4-FFF2-40B4-BE49-F238E27FC236}">
                  <a16:creationId xmlns:a16="http://schemas.microsoft.com/office/drawing/2014/main" id="{6B1B5A3B-073F-6010-3B56-FA47A642A6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30" name="Oval 50">
                <a:extLst>
                  <a:ext uri="{FF2B5EF4-FFF2-40B4-BE49-F238E27FC236}">
                    <a16:creationId xmlns:a16="http://schemas.microsoft.com/office/drawing/2014/main" id="{0F047D91-8DC8-9042-1033-251DAF95F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1" name="Text Box 51">
                <a:extLst>
                  <a:ext uri="{FF2B5EF4-FFF2-40B4-BE49-F238E27FC236}">
                    <a16:creationId xmlns:a16="http://schemas.microsoft.com/office/drawing/2014/main" id="{B44B5C7C-E3EC-A91D-5FBC-E52C90F10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21" name="Group 52">
              <a:extLst>
                <a:ext uri="{FF2B5EF4-FFF2-40B4-BE49-F238E27FC236}">
                  <a16:creationId xmlns:a16="http://schemas.microsoft.com/office/drawing/2014/main" id="{0E7AA871-E0D1-A339-38ED-A52151B228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28" name="Oval 53">
                <a:extLst>
                  <a:ext uri="{FF2B5EF4-FFF2-40B4-BE49-F238E27FC236}">
                    <a16:creationId xmlns:a16="http://schemas.microsoft.com/office/drawing/2014/main" id="{0B58FF04-47FC-0937-B449-C118E34A6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9" name="Text Box 54">
                <a:extLst>
                  <a:ext uri="{FF2B5EF4-FFF2-40B4-BE49-F238E27FC236}">
                    <a16:creationId xmlns:a16="http://schemas.microsoft.com/office/drawing/2014/main" id="{E6A40D1C-7DA7-891F-B77F-F1694BB88D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22" name="Group 55">
              <a:extLst>
                <a:ext uri="{FF2B5EF4-FFF2-40B4-BE49-F238E27FC236}">
                  <a16:creationId xmlns:a16="http://schemas.microsoft.com/office/drawing/2014/main" id="{81807E52-F03B-C38E-91D4-327AEEFB19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7" y="821"/>
              <a:ext cx="204" cy="288"/>
              <a:chOff x="1917" y="2016"/>
              <a:chExt cx="204" cy="288"/>
            </a:xfrm>
          </p:grpSpPr>
          <p:sp>
            <p:nvSpPr>
              <p:cNvPr id="26" name="Oval 56">
                <a:extLst>
                  <a:ext uri="{FF2B5EF4-FFF2-40B4-BE49-F238E27FC236}">
                    <a16:creationId xmlns:a16="http://schemas.microsoft.com/office/drawing/2014/main" id="{A909473C-C3A8-E9A1-DE2F-9AE921395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" name="Text Box 57">
                <a:extLst>
                  <a:ext uri="{FF2B5EF4-FFF2-40B4-BE49-F238E27FC236}">
                    <a16:creationId xmlns:a16="http://schemas.microsoft.com/office/drawing/2014/main" id="{B0BD33D0-2515-FF46-844E-ADB3BB7AD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201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23" name="Group 58">
              <a:extLst>
                <a:ext uri="{FF2B5EF4-FFF2-40B4-BE49-F238E27FC236}">
                  <a16:creationId xmlns:a16="http://schemas.microsoft.com/office/drawing/2014/main" id="{697166D4-9504-CF11-84FF-CE134858B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24" name="Oval 59">
                <a:extLst>
                  <a:ext uri="{FF2B5EF4-FFF2-40B4-BE49-F238E27FC236}">
                    <a16:creationId xmlns:a16="http://schemas.microsoft.com/office/drawing/2014/main" id="{856DDA1E-0955-4623-8FD8-D631ED10F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5" name="Text Box 60">
                <a:extLst>
                  <a:ext uri="{FF2B5EF4-FFF2-40B4-BE49-F238E27FC236}">
                    <a16:creationId xmlns:a16="http://schemas.microsoft.com/office/drawing/2014/main" id="{1EEC5C99-2851-62D8-0FBA-E7C2D6ABD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18308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Characterization 2:</a:t>
            </a:r>
            <a:br>
              <a:rPr lang="en-US" dirty="0"/>
            </a:br>
            <a:r>
              <a:rPr lang="en-US" dirty="0"/>
              <a:t>k-boundary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599" y="1828800"/>
                <a:ext cx="5584159" cy="39624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i="1" dirty="0"/>
                  <a:t>-</a:t>
                </a:r>
                <a:r>
                  <a:rPr lang="en-US" dirty="0"/>
                  <a:t>boundary graph: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𝑉</m:t>
                        </m:r>
                        <m:r>
                          <a:rPr lang="en-US" i="1" dirty="0" smtClean="0">
                            <a:latin typeface="Cambria Math"/>
                          </a:rPr>
                          <m:t>,</m:t>
                        </m:r>
                        <m:r>
                          <a:rPr lang="en-US" i="1" dirty="0" smtClean="0">
                            <a:latin typeface="Cambria Math"/>
                          </a:rPr>
                          <m:t>𝐸</m:t>
                        </m:r>
                        <m:r>
                          <a:rPr lang="en-US" i="1" dirty="0" smtClean="0">
                            <a:latin typeface="Cambria Math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|=</m:t>
                    </m:r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Operations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US" i="1" dirty="0"/>
                  <a:t>-</a:t>
                </a:r>
                <a:r>
                  <a:rPr lang="en-US" dirty="0"/>
                  <a:t>boundary graphs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𝑙</m:t>
                    </m:r>
                    <m:r>
                      <a:rPr lang="en-US" b="0" i="1" dirty="0" smtClean="0">
                        <a:latin typeface="Cambria Math"/>
                      </a:rPr>
                      <m:t>≤</m:t>
                    </m:r>
                    <m:r>
                      <a:rPr lang="en-US" i="1" dirty="0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Take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-boundary graph with one vertex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Add a new boundary vertex with edges only to (some of) the boundary vertices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Make a boundary vertex `normal’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Join two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i="1" dirty="0"/>
                  <a:t>-</a:t>
                </a:r>
                <a:r>
                  <a:rPr lang="en-US" dirty="0"/>
                  <a:t>boundary graphs by `gluing’</a:t>
                </a:r>
              </a:p>
              <a:p>
                <a:r>
                  <a:rPr lang="en-US" dirty="0"/>
                  <a:t>The four operations map directly to nice</a:t>
                </a:r>
                <a:br>
                  <a:rPr lang="en-US" dirty="0"/>
                </a:br>
                <a:r>
                  <a:rPr lang="en-US" dirty="0"/>
                  <a:t>tree decompositions </a:t>
                </a:r>
              </a:p>
              <a:p>
                <a:pPr lvl="1"/>
                <a:r>
                  <a:rPr lang="en-US" dirty="0"/>
                  <a:t>1. Leaf; 2. Introduce; 3. Forget; 4. Join</a:t>
                </a:r>
              </a:p>
              <a:p>
                <a:r>
                  <a:rPr lang="en-US" dirty="0"/>
                  <a:t>Treewidth is the number of boundary vertices needed to build the graph </a:t>
                </a:r>
                <a:br>
                  <a:rPr lang="en-US" dirty="0"/>
                </a:br>
                <a:r>
                  <a:rPr lang="en-US" dirty="0"/>
                  <a:t>minus 1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1828800"/>
                <a:ext cx="5584159" cy="3962400"/>
              </a:xfrm>
              <a:blipFill>
                <a:blip r:embed="rId2"/>
                <a:stretch>
                  <a:fillRect l="-218" t="-769" r="-109" b="-46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Treewidth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38FEFD8-6A94-4B2F-926A-196D186353AF}" type="slidenum">
              <a:rPr lang="nl-NL" smtClean="0"/>
              <a:pPr>
                <a:defRPr/>
              </a:pPr>
              <a:t>41</a:t>
            </a:fld>
            <a:endParaRPr lang="nl-NL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EAE13B-CF3C-4910-BA94-8BDFDF9B9F63}"/>
              </a:ext>
            </a:extLst>
          </p:cNvPr>
          <p:cNvGrpSpPr/>
          <p:nvPr/>
        </p:nvGrpSpPr>
        <p:grpSpPr>
          <a:xfrm>
            <a:off x="6956914" y="1729959"/>
            <a:ext cx="877270" cy="1754540"/>
            <a:chOff x="5715000" y="2590800"/>
            <a:chExt cx="1066800" cy="2133600"/>
          </a:xfrm>
        </p:grpSpPr>
        <p:sp>
          <p:nvSpPr>
            <p:cNvPr id="26" name="Line 1030">
              <a:extLst>
                <a:ext uri="{FF2B5EF4-FFF2-40B4-BE49-F238E27FC236}">
                  <a16:creationId xmlns:a16="http://schemas.microsoft.com/office/drawing/2014/main" id="{E2FF130C-C470-9061-7020-907FE7BE40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7400" y="3886200"/>
              <a:ext cx="76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1031">
              <a:extLst>
                <a:ext uri="{FF2B5EF4-FFF2-40B4-BE49-F238E27FC236}">
                  <a16:creationId xmlns:a16="http://schemas.microsoft.com/office/drawing/2014/main" id="{A1B5A272-8C48-FA85-3A1F-EF25398308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43600" y="4343400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1032">
              <a:extLst>
                <a:ext uri="{FF2B5EF4-FFF2-40B4-BE49-F238E27FC236}">
                  <a16:creationId xmlns:a16="http://schemas.microsoft.com/office/drawing/2014/main" id="{59A48C62-7FDE-CE04-7C3E-8495A6C51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3962400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1033">
              <a:extLst>
                <a:ext uri="{FF2B5EF4-FFF2-40B4-BE49-F238E27FC236}">
                  <a16:creationId xmlns:a16="http://schemas.microsoft.com/office/drawing/2014/main" id="{EB06528F-B2B2-6FA8-A2C2-7424AF7B5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2590800"/>
              <a:ext cx="1066800" cy="9144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b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100" dirty="0"/>
            </a:p>
          </p:txBody>
        </p:sp>
        <p:sp>
          <p:nvSpPr>
            <p:cNvPr id="30" name="Line 1034">
              <a:extLst>
                <a:ext uri="{FF2B5EF4-FFF2-40B4-BE49-F238E27FC236}">
                  <a16:creationId xmlns:a16="http://schemas.microsoft.com/office/drawing/2014/main" id="{08BB73EE-C47B-BDFE-15F8-C07391053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7000" y="3124200"/>
              <a:ext cx="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035">
              <a:extLst>
                <a:ext uri="{FF2B5EF4-FFF2-40B4-BE49-F238E27FC236}">
                  <a16:creationId xmlns:a16="http://schemas.microsoft.com/office/drawing/2014/main" id="{500BC434-6F8D-7317-3E61-6644DC0F5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30480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1036">
              <a:extLst>
                <a:ext uri="{FF2B5EF4-FFF2-40B4-BE49-F238E27FC236}">
                  <a16:creationId xmlns:a16="http://schemas.microsoft.com/office/drawing/2014/main" id="{18681A38-93F5-5F8C-E82F-CF7D7258C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28194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C00000"/>
                </a:solidFill>
              </a:endParaRPr>
            </a:p>
          </p:txBody>
        </p:sp>
        <p:sp>
          <p:nvSpPr>
            <p:cNvPr id="33" name="Oval 1037">
              <a:extLst>
                <a:ext uri="{FF2B5EF4-FFF2-40B4-BE49-F238E27FC236}">
                  <a16:creationId xmlns:a16="http://schemas.microsoft.com/office/drawing/2014/main" id="{0F317C78-7A0B-5AA0-5816-04D51E06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8956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" name="Oval 1038">
              <a:extLst>
                <a:ext uri="{FF2B5EF4-FFF2-40B4-BE49-F238E27FC236}">
                  <a16:creationId xmlns:a16="http://schemas.microsoft.com/office/drawing/2014/main" id="{D77CF583-CD18-0734-D6D8-EF045786F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4191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" name="Oval 1039">
              <a:extLst>
                <a:ext uri="{FF2B5EF4-FFF2-40B4-BE49-F238E27FC236}">
                  <a16:creationId xmlns:a16="http://schemas.microsoft.com/office/drawing/2014/main" id="{8F967B77-996A-CB46-D881-42461B24E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44196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" name="Line 1040">
              <a:extLst>
                <a:ext uri="{FF2B5EF4-FFF2-40B4-BE49-F238E27FC236}">
                  <a16:creationId xmlns:a16="http://schemas.microsoft.com/office/drawing/2014/main" id="{8617214F-ED47-302E-98C5-8718F391B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9800" y="3200400"/>
              <a:ext cx="381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1041">
              <a:extLst>
                <a:ext uri="{FF2B5EF4-FFF2-40B4-BE49-F238E27FC236}">
                  <a16:creationId xmlns:a16="http://schemas.microsoft.com/office/drawing/2014/main" id="{E4B4F43E-D4CE-FFA5-EC7E-C3DFE01BF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37338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D904F4E-D168-9D7C-87CD-C02E7E29E220}"/>
              </a:ext>
            </a:extLst>
          </p:cNvPr>
          <p:cNvGrpSpPr/>
          <p:nvPr/>
        </p:nvGrpSpPr>
        <p:grpSpPr>
          <a:xfrm>
            <a:off x="8210157" y="1538189"/>
            <a:ext cx="877270" cy="2071634"/>
            <a:chOff x="7239000" y="2357599"/>
            <a:chExt cx="1066800" cy="2519201"/>
          </a:xfrm>
        </p:grpSpPr>
        <p:sp>
          <p:nvSpPr>
            <p:cNvPr id="12" name="Oval 1026">
              <a:extLst>
                <a:ext uri="{FF2B5EF4-FFF2-40B4-BE49-F238E27FC236}">
                  <a16:creationId xmlns:a16="http://schemas.microsoft.com/office/drawing/2014/main" id="{2B62131F-BA12-2648-3EB5-A236EA6E8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2357599"/>
              <a:ext cx="1066800" cy="1199979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Line 1027">
              <a:extLst>
                <a:ext uri="{FF2B5EF4-FFF2-40B4-BE49-F238E27FC236}">
                  <a16:creationId xmlns:a16="http://schemas.microsoft.com/office/drawing/2014/main" id="{E7BBB383-D961-BA19-62B8-210BC5810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2400" y="2667000"/>
              <a:ext cx="152400" cy="53340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042">
              <a:extLst>
                <a:ext uri="{FF2B5EF4-FFF2-40B4-BE49-F238E27FC236}">
                  <a16:creationId xmlns:a16="http://schemas.microsoft.com/office/drawing/2014/main" id="{5C824561-799C-CF8F-2819-B30D724D4A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6579" y="4100744"/>
              <a:ext cx="76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043">
              <a:extLst>
                <a:ext uri="{FF2B5EF4-FFF2-40B4-BE49-F238E27FC236}">
                  <a16:creationId xmlns:a16="http://schemas.microsoft.com/office/drawing/2014/main" id="{EEF7D63E-8219-21F5-644A-D44AA19E6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7600" y="4495800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044">
              <a:extLst>
                <a:ext uri="{FF2B5EF4-FFF2-40B4-BE49-F238E27FC236}">
                  <a16:creationId xmlns:a16="http://schemas.microsoft.com/office/drawing/2014/main" id="{14F217B2-8EF2-15C4-6895-5E4A1E620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0" y="4114800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045">
              <a:extLst>
                <a:ext uri="{FF2B5EF4-FFF2-40B4-BE49-F238E27FC236}">
                  <a16:creationId xmlns:a16="http://schemas.microsoft.com/office/drawing/2014/main" id="{73738358-3CDA-0A71-4419-4846E7B42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3276600"/>
              <a:ext cx="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046">
              <a:extLst>
                <a:ext uri="{FF2B5EF4-FFF2-40B4-BE49-F238E27FC236}">
                  <a16:creationId xmlns:a16="http://schemas.microsoft.com/office/drawing/2014/main" id="{CD190FAD-E5B2-0EC8-5F44-2B6322125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32004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1047">
              <a:extLst>
                <a:ext uri="{FF2B5EF4-FFF2-40B4-BE49-F238E27FC236}">
                  <a16:creationId xmlns:a16="http://schemas.microsoft.com/office/drawing/2014/main" id="{DB0BE484-D6F0-7DEC-C129-28FD95BA5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2971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" name="Oval 1048">
              <a:extLst>
                <a:ext uri="{FF2B5EF4-FFF2-40B4-BE49-F238E27FC236}">
                  <a16:creationId xmlns:a16="http://schemas.microsoft.com/office/drawing/2014/main" id="{9B8BAB4F-882A-0454-F323-D746EC978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3048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  <p:sp>
          <p:nvSpPr>
            <p:cNvPr id="21" name="Oval 1049">
              <a:extLst>
                <a:ext uri="{FF2B5EF4-FFF2-40B4-BE49-F238E27FC236}">
                  <a16:creationId xmlns:a16="http://schemas.microsoft.com/office/drawing/2014/main" id="{501186EF-C424-B872-F2AB-14BA01D04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43434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Oval 1050">
              <a:extLst>
                <a:ext uri="{FF2B5EF4-FFF2-40B4-BE49-F238E27FC236}">
                  <a16:creationId xmlns:a16="http://schemas.microsoft.com/office/drawing/2014/main" id="{F9194632-BDCF-4084-36F0-8E2237DCC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45720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" name="Line 1051">
              <a:extLst>
                <a:ext uri="{FF2B5EF4-FFF2-40B4-BE49-F238E27FC236}">
                  <a16:creationId xmlns:a16="http://schemas.microsoft.com/office/drawing/2014/main" id="{A4CFD90C-5AAB-2EA3-BEE2-C117E471B0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3352800"/>
              <a:ext cx="381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1052">
              <a:extLst>
                <a:ext uri="{FF2B5EF4-FFF2-40B4-BE49-F238E27FC236}">
                  <a16:creationId xmlns:a16="http://schemas.microsoft.com/office/drawing/2014/main" id="{149A6CC8-251F-9453-60BF-F249B5B3E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3886200"/>
              <a:ext cx="304800" cy="3048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Oval 1053">
              <a:extLst>
                <a:ext uri="{FF2B5EF4-FFF2-40B4-BE49-F238E27FC236}">
                  <a16:creationId xmlns:a16="http://schemas.microsoft.com/office/drawing/2014/main" id="{67B3B971-DABF-366D-8AD3-105347FCE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0" y="2514600"/>
              <a:ext cx="304800" cy="304800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 dirty="0">
                  <a:solidFill>
                    <a:schemeClr val="bg1"/>
                  </a:solidFill>
                </a:rPr>
                <a:t>v</a:t>
              </a:r>
              <a:endParaRPr lang="nl-NL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Line 1054">
            <a:extLst>
              <a:ext uri="{FF2B5EF4-FFF2-40B4-BE49-F238E27FC236}">
                <a16:creationId xmlns:a16="http://schemas.microsoft.com/office/drawing/2014/main" id="{5D52B6FC-4568-ECCE-AC82-D78EA9411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1522" y="2650302"/>
            <a:ext cx="438635" cy="0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C35E3D0-28EE-BBE7-1C6A-BB67D9F9CFCA}"/>
              </a:ext>
            </a:extLst>
          </p:cNvPr>
          <p:cNvGrpSpPr/>
          <p:nvPr/>
        </p:nvGrpSpPr>
        <p:grpSpPr>
          <a:xfrm>
            <a:off x="6642450" y="3782228"/>
            <a:ext cx="2446132" cy="2134296"/>
            <a:chOff x="2800907" y="2393183"/>
            <a:chExt cx="2446132" cy="2134296"/>
          </a:xfrm>
        </p:grpSpPr>
        <p:sp>
          <p:nvSpPr>
            <p:cNvPr id="39" name="Line 1030">
              <a:extLst>
                <a:ext uri="{FF2B5EF4-FFF2-40B4-BE49-F238E27FC236}">
                  <a16:creationId xmlns:a16="http://schemas.microsoft.com/office/drawing/2014/main" id="{13FE56D8-B22F-B08F-A81A-286C46292E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7284" y="3838195"/>
              <a:ext cx="62662" cy="5639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1031">
              <a:extLst>
                <a:ext uri="{FF2B5EF4-FFF2-40B4-BE49-F238E27FC236}">
                  <a16:creationId xmlns:a16="http://schemas.microsoft.com/office/drawing/2014/main" id="{1FD96926-E9A1-EA81-ECED-2FDA48F2D1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9946" y="4214168"/>
              <a:ext cx="313311" cy="187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1032">
              <a:extLst>
                <a:ext uri="{FF2B5EF4-FFF2-40B4-BE49-F238E27FC236}">
                  <a16:creationId xmlns:a16="http://schemas.microsoft.com/office/drawing/2014/main" id="{5451A3EE-6FBF-7A10-6389-298C07985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271" y="3900858"/>
              <a:ext cx="250649" cy="2506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033">
              <a:extLst>
                <a:ext uri="{FF2B5EF4-FFF2-40B4-BE49-F238E27FC236}">
                  <a16:creationId xmlns:a16="http://schemas.microsoft.com/office/drawing/2014/main" id="{5148D3B3-606A-64F3-BC26-6B4BCDF5F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960" y="2772939"/>
              <a:ext cx="877270" cy="751946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b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100" dirty="0"/>
            </a:p>
          </p:txBody>
        </p:sp>
        <p:sp>
          <p:nvSpPr>
            <p:cNvPr id="43" name="Line 1034">
              <a:extLst>
                <a:ext uri="{FF2B5EF4-FFF2-40B4-BE49-F238E27FC236}">
                  <a16:creationId xmlns:a16="http://schemas.microsoft.com/office/drawing/2014/main" id="{D743AD32-E176-8D9E-DC0F-72892D6C0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5913" y="3211574"/>
              <a:ext cx="62668" cy="939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1035">
              <a:extLst>
                <a:ext uri="{FF2B5EF4-FFF2-40B4-BE49-F238E27FC236}">
                  <a16:creationId xmlns:a16="http://schemas.microsoft.com/office/drawing/2014/main" id="{C8208AC4-E557-EE92-3A5D-824B43D4B7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609" y="3148912"/>
              <a:ext cx="0" cy="626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036">
              <a:extLst>
                <a:ext uri="{FF2B5EF4-FFF2-40B4-BE49-F238E27FC236}">
                  <a16:creationId xmlns:a16="http://schemas.microsoft.com/office/drawing/2014/main" id="{6A075AB3-5026-5B73-F68B-1DB521E45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284" y="2960925"/>
              <a:ext cx="250649" cy="250649"/>
            </a:xfrm>
            <a:prstGeom prst="ellipse">
              <a:avLst/>
            </a:prstGeom>
            <a:solidFill>
              <a:schemeClr val="accent2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C00000"/>
                </a:solidFill>
              </a:endParaRPr>
            </a:p>
          </p:txBody>
        </p:sp>
        <p:sp>
          <p:nvSpPr>
            <p:cNvPr id="46" name="Oval 1038">
              <a:extLst>
                <a:ext uri="{FF2B5EF4-FFF2-40B4-BE49-F238E27FC236}">
                  <a16:creationId xmlns:a16="http://schemas.microsoft.com/office/drawing/2014/main" id="{CC8F1C6F-0D0D-2DA4-9EAE-215FF2DFA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595" y="4088844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" name="Oval 1039">
              <a:extLst>
                <a:ext uri="{FF2B5EF4-FFF2-40B4-BE49-F238E27FC236}">
                  <a16:creationId xmlns:a16="http://schemas.microsoft.com/office/drawing/2014/main" id="{23065194-004C-FB21-1B50-5D4B3890F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960" y="4276830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8" name="Line 1040">
              <a:extLst>
                <a:ext uri="{FF2B5EF4-FFF2-40B4-BE49-F238E27FC236}">
                  <a16:creationId xmlns:a16="http://schemas.microsoft.com/office/drawing/2014/main" id="{7A303DFB-02D3-EB97-382A-17FBA0C392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2609" y="3211574"/>
              <a:ext cx="250642" cy="626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1041">
              <a:extLst>
                <a:ext uri="{FF2B5EF4-FFF2-40B4-BE49-F238E27FC236}">
                  <a16:creationId xmlns:a16="http://schemas.microsoft.com/office/drawing/2014/main" id="{1AC2DF3E-BCA6-3194-70C4-EA94F233F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284" y="3712871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85B1151-8438-69EC-5830-43E2CE197029}"/>
                </a:ext>
              </a:extLst>
            </p:cNvPr>
            <p:cNvGrpSpPr/>
            <p:nvPr/>
          </p:nvGrpSpPr>
          <p:grpSpPr>
            <a:xfrm>
              <a:off x="2800907" y="2393183"/>
              <a:ext cx="877270" cy="2071634"/>
              <a:chOff x="7239000" y="2357599"/>
              <a:chExt cx="1066800" cy="2519201"/>
            </a:xfrm>
          </p:grpSpPr>
          <p:sp>
            <p:nvSpPr>
              <p:cNvPr id="57" name="Oval 1026">
                <a:extLst>
                  <a:ext uri="{FF2B5EF4-FFF2-40B4-BE49-F238E27FC236}">
                    <a16:creationId xmlns:a16="http://schemas.microsoft.com/office/drawing/2014/main" id="{0C1355F5-A5B5-6B22-0A3F-21487F820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2357599"/>
                <a:ext cx="1066800" cy="1199979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8" name="Line 1027">
                <a:extLst>
                  <a:ext uri="{FF2B5EF4-FFF2-40B4-BE49-F238E27FC236}">
                    <a16:creationId xmlns:a16="http://schemas.microsoft.com/office/drawing/2014/main" id="{92DEF402-C2D0-641B-3BB2-6A739B266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72400" y="2667000"/>
                <a:ext cx="152400" cy="53340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Line 1042">
                <a:extLst>
                  <a:ext uri="{FF2B5EF4-FFF2-40B4-BE49-F238E27FC236}">
                    <a16:creationId xmlns:a16="http://schemas.microsoft.com/office/drawing/2014/main" id="{44EA2337-FE23-99F7-5288-D23C36A32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96579" y="4100744"/>
                <a:ext cx="762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Line 1043">
                <a:extLst>
                  <a:ext uri="{FF2B5EF4-FFF2-40B4-BE49-F238E27FC236}">
                    <a16:creationId xmlns:a16="http://schemas.microsoft.com/office/drawing/2014/main" id="{7CAA55E2-B1D3-C40F-15A6-2409EC641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467600" y="4495800"/>
                <a:ext cx="3810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Line 1044">
                <a:extLst>
                  <a:ext uri="{FF2B5EF4-FFF2-40B4-BE49-F238E27FC236}">
                    <a16:creationId xmlns:a16="http://schemas.microsoft.com/office/drawing/2014/main" id="{D44F6656-0571-D53F-1251-FDC96DDAF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20000" y="41148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Line 1045">
                <a:extLst>
                  <a:ext uri="{FF2B5EF4-FFF2-40B4-BE49-F238E27FC236}">
                    <a16:creationId xmlns:a16="http://schemas.microsoft.com/office/drawing/2014/main" id="{E8DC4A8C-F4C1-B10F-FDE1-2A4378FAB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000" y="3276600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Line 1046">
                <a:extLst>
                  <a:ext uri="{FF2B5EF4-FFF2-40B4-BE49-F238E27FC236}">
                    <a16:creationId xmlns:a16="http://schemas.microsoft.com/office/drawing/2014/main" id="{F59E4E86-4514-2237-BDD8-5D95B4486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3200400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Oval 1047">
                <a:extLst>
                  <a:ext uri="{FF2B5EF4-FFF2-40B4-BE49-F238E27FC236}">
                    <a16:creationId xmlns:a16="http://schemas.microsoft.com/office/drawing/2014/main" id="{17CB6BC6-41AC-249B-5763-556BBECB2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29718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5" name="Oval 1048">
                <a:extLst>
                  <a:ext uri="{FF2B5EF4-FFF2-40B4-BE49-F238E27FC236}">
                    <a16:creationId xmlns:a16="http://schemas.microsoft.com/office/drawing/2014/main" id="{10351705-F03F-C544-7A60-997A64242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3048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dirty="0"/>
              </a:p>
            </p:txBody>
          </p:sp>
          <p:sp>
            <p:nvSpPr>
              <p:cNvPr id="66" name="Oval 1049">
                <a:extLst>
                  <a:ext uri="{FF2B5EF4-FFF2-40B4-BE49-F238E27FC236}">
                    <a16:creationId xmlns:a16="http://schemas.microsoft.com/office/drawing/2014/main" id="{13239EBB-8341-D440-49DB-A5B7CFEE9C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2400" y="43434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" name="Oval 1050">
                <a:extLst>
                  <a:ext uri="{FF2B5EF4-FFF2-40B4-BE49-F238E27FC236}">
                    <a16:creationId xmlns:a16="http://schemas.microsoft.com/office/drawing/2014/main" id="{D2282A90-808C-7D71-786E-78FAA9083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000" y="45720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8" name="Line 1051">
                <a:extLst>
                  <a:ext uri="{FF2B5EF4-FFF2-40B4-BE49-F238E27FC236}">
                    <a16:creationId xmlns:a16="http://schemas.microsoft.com/office/drawing/2014/main" id="{7199DFCE-0762-98BD-8F53-8E62824AB9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43800" y="3352800"/>
                <a:ext cx="3810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Oval 1052">
                <a:extLst>
                  <a:ext uri="{FF2B5EF4-FFF2-40B4-BE49-F238E27FC236}">
                    <a16:creationId xmlns:a16="http://schemas.microsoft.com/office/drawing/2014/main" id="{D7A527BB-E3D4-C285-0959-674A5A92E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00" y="3886200"/>
                <a:ext cx="304800" cy="30480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0" name="Oval 1053">
                <a:extLst>
                  <a:ext uri="{FF2B5EF4-FFF2-40B4-BE49-F238E27FC236}">
                    <a16:creationId xmlns:a16="http://schemas.microsoft.com/office/drawing/2014/main" id="{EA11C7F1-35D7-CC18-66DF-8AB4E4ADC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0" y="2514600"/>
                <a:ext cx="304800" cy="304800"/>
              </a:xfrm>
              <a:prstGeom prst="ellipse">
                <a:avLst/>
              </a:prstGeom>
              <a:solidFill>
                <a:srgbClr val="C00000"/>
              </a:solidFill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>
                    <a:solidFill>
                      <a:schemeClr val="bg1"/>
                    </a:solidFill>
                  </a:rPr>
                  <a:t>v</a:t>
                </a:r>
                <a:endParaRPr lang="nl-NL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1" name="Line 1054">
              <a:extLst>
                <a:ext uri="{FF2B5EF4-FFF2-40B4-BE49-F238E27FC236}">
                  <a16:creationId xmlns:a16="http://schemas.microsoft.com/office/drawing/2014/main" id="{8E48DF32-A1F1-E998-B03A-5397295B8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8177" y="3529214"/>
              <a:ext cx="438635" cy="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1027">
              <a:extLst>
                <a:ext uri="{FF2B5EF4-FFF2-40B4-BE49-F238E27FC236}">
                  <a16:creationId xmlns:a16="http://schemas.microsoft.com/office/drawing/2014/main" id="{F4349C97-691F-676E-9DEB-DC724E841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24486" y="3148911"/>
              <a:ext cx="297228" cy="529720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1053">
              <a:extLst>
                <a:ext uri="{FF2B5EF4-FFF2-40B4-BE49-F238E27FC236}">
                  <a16:creationId xmlns:a16="http://schemas.microsoft.com/office/drawing/2014/main" id="{B641CCDC-5861-9907-D52A-2E2B9C603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390" y="3553308"/>
              <a:ext cx="250649" cy="250649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 dirty="0">
                  <a:solidFill>
                    <a:schemeClr val="bg1"/>
                  </a:solidFill>
                </a:rPr>
                <a:t>v</a:t>
              </a:r>
              <a:endParaRPr lang="nl-NL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6" name="Oval 1037">
              <a:extLst>
                <a:ext uri="{FF2B5EF4-FFF2-40B4-BE49-F238E27FC236}">
                  <a16:creationId xmlns:a16="http://schemas.microsoft.com/office/drawing/2014/main" id="{3B45A007-EC84-C08C-6410-6F3A9800F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595" y="3023588"/>
              <a:ext cx="250649" cy="250649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57BED501-E060-7D9E-446E-66E103386522}"/>
              </a:ext>
            </a:extLst>
          </p:cNvPr>
          <p:cNvSpPr txBox="1"/>
          <p:nvPr/>
        </p:nvSpPr>
        <p:spPr>
          <a:xfrm>
            <a:off x="7520874" y="2427500"/>
            <a:ext cx="87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add</a:t>
            </a:r>
            <a:br>
              <a:rPr lang="en-US" sz="1200" dirty="0"/>
            </a:br>
            <a:r>
              <a:rPr lang="en-US" sz="1200" dirty="0"/>
              <a:t>(introduce)</a:t>
            </a:r>
            <a:endParaRPr lang="LID4096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76BE46-78A6-8FCA-6AAD-B1E6349A161A}"/>
              </a:ext>
            </a:extLst>
          </p:cNvPr>
          <p:cNvSpPr txBox="1"/>
          <p:nvPr/>
        </p:nvSpPr>
        <p:spPr>
          <a:xfrm>
            <a:off x="7308211" y="4505711"/>
            <a:ext cx="683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make normal</a:t>
            </a:r>
          </a:p>
          <a:p>
            <a:r>
              <a:rPr lang="en-US" sz="1200" dirty="0"/>
              <a:t>(forget)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345003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1" grpId="0"/>
      <p:bldP spid="7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3507-4EA2-2B96-C42C-A6845739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Characterization 3:</a:t>
            </a:r>
            <a:br>
              <a:rPr lang="en-US" dirty="0"/>
            </a:br>
            <a:r>
              <a:rPr lang="en-US" dirty="0"/>
              <a:t>Cops and Robber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F6BB7-3727-0F7C-3169-A56A5D034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4136504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latin typeface="+mj-lt"/>
                  </a:rPr>
                  <a:t>Game:</a:t>
                </a:r>
              </a:p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cops try to capture a robber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Everybody sees everybody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 each turn, the cops can move from vertex to vertex arbitrarily with helicopters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The robber moves infinitely fast on the edges, and sees where the cops will land</a:t>
                </a:r>
              </a:p>
              <a:p>
                <a:pPr marL="0" indent="0">
                  <a:buNone/>
                </a:pPr>
                <a:r>
                  <a:rPr lang="en-US" b="1" dirty="0"/>
                  <a:t>Theorem: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cops can eventually win </a:t>
                </a:r>
                <a:r>
                  <a:rPr lang="en-US" dirty="0" err="1"/>
                  <a:t>iff</a:t>
                </a:r>
                <a:r>
                  <a:rPr lang="en-US" dirty="0"/>
                  <a:t> graph has treewidth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Proof is not easy and we skip it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F6BB7-3727-0F7C-3169-A56A5D034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4136504" cy="3962400"/>
              </a:xfrm>
              <a:blipFill>
                <a:blip r:embed="rId2"/>
                <a:stretch>
                  <a:fillRect l="-1178" t="-769" r="-442" b="-3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jnederlo\Desktop\lecturenotes\L7\scotlandYard.jpg">
            <a:extLst>
              <a:ext uri="{FF2B5EF4-FFF2-40B4-BE49-F238E27FC236}">
                <a16:creationId xmlns:a16="http://schemas.microsoft.com/office/drawing/2014/main" id="{BEE04BDC-D198-3103-43B4-0737B58D5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420888"/>
            <a:ext cx="3743536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5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51C9-6166-EF1E-94F9-2774FE3B1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AEFD-5EA8-277A-9A80-4E80B19D9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Characterization 3:</a:t>
            </a:r>
            <a:br>
              <a:rPr lang="en-US" dirty="0"/>
            </a:br>
            <a:r>
              <a:rPr lang="en-US" dirty="0"/>
              <a:t>Cops and Robber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0A4209-49B0-DE46-BC37-1B6C57AA25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4136504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latin typeface="+mj-lt"/>
                  </a:rPr>
                  <a:t>Game:</a:t>
                </a:r>
              </a:p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cops try to capture a robber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Everybody sees everybody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 each turn, the cops can move from vertex to vertex arbitrarily with helicopters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The robber moves infinitely fast on the edges, and sees where the cops will land</a:t>
                </a:r>
              </a:p>
              <a:p>
                <a:pPr marL="0" indent="0">
                  <a:buNone/>
                </a:pPr>
                <a:r>
                  <a:rPr lang="en-US" b="1" dirty="0"/>
                  <a:t>Theorem: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cops can eventually win </a:t>
                </a:r>
                <a:r>
                  <a:rPr lang="en-US" dirty="0" err="1"/>
                  <a:t>iff</a:t>
                </a:r>
                <a:r>
                  <a:rPr lang="en-US" dirty="0"/>
                  <a:t> graph has treewidth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Proof is not easy and we skip it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0A4209-49B0-DE46-BC37-1B6C57AA25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4136504" cy="3962400"/>
              </a:xfrm>
              <a:blipFill>
                <a:blip r:embed="rId2"/>
                <a:stretch>
                  <a:fillRect l="-1178" t="-769" r="-442" b="-3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4DAC7FC-8E5A-7F03-D7AD-4DBC6801519C}"/>
              </a:ext>
            </a:extLst>
          </p:cNvPr>
          <p:cNvGrpSpPr/>
          <p:nvPr/>
        </p:nvGrpSpPr>
        <p:grpSpPr>
          <a:xfrm>
            <a:off x="6355160" y="2564904"/>
            <a:ext cx="2106612" cy="2045536"/>
            <a:chOff x="543820" y="2276872"/>
            <a:chExt cx="3168352" cy="302433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E714DBA-64BA-71AE-F3D3-EFAA903E73C4}"/>
                </a:ext>
              </a:extLst>
            </p:cNvPr>
            <p:cNvSpPr/>
            <p:nvPr/>
          </p:nvSpPr>
          <p:spPr>
            <a:xfrm>
              <a:off x="543820" y="2276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7E90628-0473-69F9-57A1-D4D116153618}"/>
                </a:ext>
              </a:extLst>
            </p:cNvPr>
            <p:cNvSpPr/>
            <p:nvPr/>
          </p:nvSpPr>
          <p:spPr>
            <a:xfrm>
              <a:off x="1767956" y="2276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D71A57-2B9A-EE09-91CE-1424D5A77909}"/>
                </a:ext>
              </a:extLst>
            </p:cNvPr>
            <p:cNvSpPr/>
            <p:nvPr/>
          </p:nvSpPr>
          <p:spPr>
            <a:xfrm>
              <a:off x="2992092" y="2276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6322D13-6C5B-ED32-F0D8-718EE1BF6D9A}"/>
                </a:ext>
              </a:extLst>
            </p:cNvPr>
            <p:cNvSpPr/>
            <p:nvPr/>
          </p:nvSpPr>
          <p:spPr>
            <a:xfrm>
              <a:off x="543820" y="3429000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7AEE0B5-2CD7-8D6F-A8A6-C95F384CD6E4}"/>
                </a:ext>
              </a:extLst>
            </p:cNvPr>
            <p:cNvSpPr/>
            <p:nvPr/>
          </p:nvSpPr>
          <p:spPr>
            <a:xfrm>
              <a:off x="2992092" y="3429000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73E9AEC-27F2-5407-39F0-18480E25EEC7}"/>
                </a:ext>
              </a:extLst>
            </p:cNvPr>
            <p:cNvSpPr/>
            <p:nvPr/>
          </p:nvSpPr>
          <p:spPr>
            <a:xfrm>
              <a:off x="543820" y="4581128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1C7F559-2FE9-4771-A61C-442A234A8540}"/>
                </a:ext>
              </a:extLst>
            </p:cNvPr>
            <p:cNvSpPr/>
            <p:nvPr/>
          </p:nvSpPr>
          <p:spPr>
            <a:xfrm>
              <a:off x="1767956" y="4581128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33E371D-2B96-D95B-C3B3-D2DB8022EE9E}"/>
                </a:ext>
              </a:extLst>
            </p:cNvPr>
            <p:cNvSpPr/>
            <p:nvPr/>
          </p:nvSpPr>
          <p:spPr>
            <a:xfrm>
              <a:off x="2992092" y="4581128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FE1F4D-7FA6-05E4-0E75-DCEAEE3D0C70}"/>
                </a:ext>
              </a:extLst>
            </p:cNvPr>
            <p:cNvCxnSpPr>
              <a:stCxn id="6" idx="4"/>
              <a:endCxn id="9" idx="0"/>
            </p:cNvCxnSpPr>
            <p:nvPr/>
          </p:nvCxnSpPr>
          <p:spPr>
            <a:xfrm>
              <a:off x="903860" y="2996952"/>
              <a:ext cx="0" cy="43204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76EFA97-BA62-BCA6-B36B-2AB8CAF4A9F2}"/>
                </a:ext>
              </a:extLst>
            </p:cNvPr>
            <p:cNvCxnSpPr>
              <a:stCxn id="9" idx="4"/>
              <a:endCxn id="11" idx="0"/>
            </p:cNvCxnSpPr>
            <p:nvPr/>
          </p:nvCxnSpPr>
          <p:spPr>
            <a:xfrm>
              <a:off x="903860" y="4149080"/>
              <a:ext cx="0" cy="43204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0F61A21-6F9F-6820-029F-88567526770C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1263900" y="2636912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1FD1ED7-D26E-C8E4-8840-E2616A36C819}"/>
                </a:ext>
              </a:extLst>
            </p:cNvPr>
            <p:cNvCxnSpPr>
              <a:stCxn id="9" idx="7"/>
              <a:endCxn id="7" idx="3"/>
            </p:cNvCxnSpPr>
            <p:nvPr/>
          </p:nvCxnSpPr>
          <p:spPr>
            <a:xfrm flipV="1">
              <a:off x="1158447" y="2891499"/>
              <a:ext cx="714962" cy="64295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F3FB2FF-ABD1-CD4E-CAFE-96016F7DA5AE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2488036" y="2636912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9A524F-07B9-29F5-AD50-F3EC185F1A74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>
            <a:xfrm>
              <a:off x="2382583" y="2891499"/>
              <a:ext cx="714962" cy="64295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35DFB71-456A-52E7-E390-11FC046A54D1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3352132" y="2996952"/>
              <a:ext cx="0" cy="43204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5245736-028B-08E2-3154-6584A28E3E18}"/>
                </a:ext>
              </a:extLst>
            </p:cNvPr>
            <p:cNvCxnSpPr>
              <a:stCxn id="10" idx="4"/>
              <a:endCxn id="13" idx="0"/>
            </p:cNvCxnSpPr>
            <p:nvPr/>
          </p:nvCxnSpPr>
          <p:spPr>
            <a:xfrm>
              <a:off x="3352132" y="4149080"/>
              <a:ext cx="0" cy="43204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1685469-7EB3-3000-3FC6-86CEC10F4940}"/>
                </a:ext>
              </a:extLst>
            </p:cNvPr>
            <p:cNvCxnSpPr>
              <a:stCxn id="13" idx="2"/>
              <a:endCxn id="12" idx="6"/>
            </p:cNvCxnSpPr>
            <p:nvPr/>
          </p:nvCxnSpPr>
          <p:spPr>
            <a:xfrm flipH="1">
              <a:off x="2488036" y="4941168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8B4E33D-16FF-4EE2-849E-8A4DA4A204FA}"/>
                </a:ext>
              </a:extLst>
            </p:cNvPr>
            <p:cNvCxnSpPr>
              <a:stCxn id="12" idx="7"/>
              <a:endCxn id="10" idx="3"/>
            </p:cNvCxnSpPr>
            <p:nvPr/>
          </p:nvCxnSpPr>
          <p:spPr>
            <a:xfrm flipV="1">
              <a:off x="2382583" y="4043627"/>
              <a:ext cx="714962" cy="64295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1ACFB06-BBD1-1611-68A1-EC43B40BBFFB}"/>
                </a:ext>
              </a:extLst>
            </p:cNvPr>
            <p:cNvCxnSpPr>
              <a:stCxn id="9" idx="5"/>
              <a:endCxn id="12" idx="1"/>
            </p:cNvCxnSpPr>
            <p:nvPr/>
          </p:nvCxnSpPr>
          <p:spPr>
            <a:xfrm>
              <a:off x="1158447" y="4043627"/>
              <a:ext cx="714962" cy="64295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EA1323-EF13-6DFE-7C47-F41293BC8B2E}"/>
                </a:ext>
              </a:extLst>
            </p:cNvPr>
            <p:cNvCxnSpPr>
              <a:stCxn id="11" idx="6"/>
              <a:endCxn id="12" idx="2"/>
            </p:cNvCxnSpPr>
            <p:nvPr/>
          </p:nvCxnSpPr>
          <p:spPr>
            <a:xfrm>
              <a:off x="1263900" y="4941168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E098F0A9-AFE4-DA61-FD90-BE81E11424B6}"/>
              </a:ext>
            </a:extLst>
          </p:cNvPr>
          <p:cNvSpPr/>
          <p:nvPr/>
        </p:nvSpPr>
        <p:spPr>
          <a:xfrm>
            <a:off x="7168159" y="2564903"/>
            <a:ext cx="478776" cy="487032"/>
          </a:xfrm>
          <a:prstGeom prst="ellipse">
            <a:avLst/>
          </a:prstGeom>
          <a:solidFill>
            <a:srgbClr val="0B4499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33C6CE-6B9E-139D-D2F4-5364A2587D0A}"/>
              </a:ext>
            </a:extLst>
          </p:cNvPr>
          <p:cNvSpPr/>
          <p:nvPr/>
        </p:nvSpPr>
        <p:spPr>
          <a:xfrm>
            <a:off x="6349600" y="3350416"/>
            <a:ext cx="478776" cy="487032"/>
          </a:xfrm>
          <a:prstGeom prst="ellipse">
            <a:avLst/>
          </a:prstGeom>
          <a:solidFill>
            <a:srgbClr val="0B4499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C97FE9D-F8F4-416D-DFB4-07F790F21A20}"/>
              </a:ext>
            </a:extLst>
          </p:cNvPr>
          <p:cNvSpPr/>
          <p:nvPr/>
        </p:nvSpPr>
        <p:spPr>
          <a:xfrm>
            <a:off x="7169855" y="4123407"/>
            <a:ext cx="478776" cy="487032"/>
          </a:xfrm>
          <a:prstGeom prst="ellipse">
            <a:avLst/>
          </a:prstGeom>
          <a:solidFill>
            <a:srgbClr val="0B4499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AF50A2-E479-E8EC-01B0-B7EAE72B9F3D}"/>
              </a:ext>
            </a:extLst>
          </p:cNvPr>
          <p:cNvSpPr/>
          <p:nvPr/>
        </p:nvSpPr>
        <p:spPr>
          <a:xfrm>
            <a:off x="6356078" y="2563781"/>
            <a:ext cx="478776" cy="48703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50C2EA-A638-1EAD-3391-300FAE459A3B}"/>
              </a:ext>
            </a:extLst>
          </p:cNvPr>
          <p:cNvSpPr/>
          <p:nvPr/>
        </p:nvSpPr>
        <p:spPr>
          <a:xfrm>
            <a:off x="6356077" y="2566027"/>
            <a:ext cx="478776" cy="487032"/>
          </a:xfrm>
          <a:prstGeom prst="ellipse">
            <a:avLst/>
          </a:prstGeom>
          <a:solidFill>
            <a:srgbClr val="0B4499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840558-B751-FA43-D464-C93DC80F8C82}"/>
              </a:ext>
            </a:extLst>
          </p:cNvPr>
          <p:cNvSpPr txBox="1"/>
          <p:nvPr/>
        </p:nvSpPr>
        <p:spPr>
          <a:xfrm>
            <a:off x="6713703" y="4635428"/>
            <a:ext cx="1387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Treewidth 2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E9287D2E-1DF3-261B-5920-43B44909C32F}"/>
              </a:ext>
            </a:extLst>
          </p:cNvPr>
          <p:cNvSpPr txBox="1">
            <a:spLocks/>
          </p:cNvSpPr>
          <p:nvPr/>
        </p:nvSpPr>
        <p:spPr>
          <a:xfrm>
            <a:off x="7155725" y="5936708"/>
            <a:ext cx="2869551" cy="4910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79FDEE-944D-4C65-9FDD-DDE07D21CF7D}" type="slidenum">
              <a:rPr lang="nl-NL" smtClean="0">
                <a:solidFill>
                  <a:srgbClr val="000000">
                    <a:tint val="75000"/>
                  </a:srgbClr>
                </a:solidFill>
              </a:rPr>
              <a:pPr/>
              <a:t>43</a:t>
            </a:fld>
            <a:endParaRPr lang="nl-NL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47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8" grpId="1" animBg="1"/>
      <p:bldP spid="29" grpId="0" animBg="1"/>
      <p:bldP spid="3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29F2F-64EB-F869-C6E3-4C911805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DA3A-168F-B759-EC03-D1A21974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Characterization 3:</a:t>
            </a:r>
            <a:br>
              <a:rPr lang="en-US" dirty="0"/>
            </a:br>
            <a:r>
              <a:rPr lang="en-US" dirty="0"/>
              <a:t>Cops and Robber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96F147-8CCA-3240-9CCF-995EFC9D3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4136504" cy="3962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latin typeface="+mj-lt"/>
                  </a:rPr>
                  <a:t>Game:</a:t>
                </a:r>
              </a:p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cops try to capture a robber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Everybody sees everybody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In each turn, the cops can move from vertex to vertex arbitrarily with helicopters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The robber moves infinitely fast on the edges, and sees where the cops will land</a:t>
                </a:r>
              </a:p>
              <a:p>
                <a:pPr marL="0" indent="0">
                  <a:buNone/>
                </a:pPr>
                <a:r>
                  <a:rPr lang="en-US" b="1" dirty="0"/>
                  <a:t>Theorem: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cops can eventually win </a:t>
                </a:r>
                <a:r>
                  <a:rPr lang="en-US" dirty="0" err="1"/>
                  <a:t>iff</a:t>
                </a:r>
                <a:r>
                  <a:rPr lang="en-US" dirty="0"/>
                  <a:t> graph has treewidth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Proof is not easy and we skip it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96F147-8CCA-3240-9CCF-995EFC9D3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4136504" cy="3962400"/>
              </a:xfrm>
              <a:blipFill>
                <a:blip r:embed="rId2"/>
                <a:stretch>
                  <a:fillRect l="-1178" t="-769" r="-442" b="-3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CDC7AC4A-D12A-64DF-9B3F-96769AC6F33B}"/>
              </a:ext>
            </a:extLst>
          </p:cNvPr>
          <p:cNvSpPr txBox="1">
            <a:spLocks/>
          </p:cNvSpPr>
          <p:nvPr/>
        </p:nvSpPr>
        <p:spPr>
          <a:xfrm>
            <a:off x="7155725" y="5936708"/>
            <a:ext cx="2869551" cy="4910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79FDEE-944D-4C65-9FDD-DDE07D21CF7D}" type="slidenum">
              <a:rPr lang="nl-NL" smtClean="0">
                <a:solidFill>
                  <a:srgbClr val="000000">
                    <a:tint val="75000"/>
                  </a:srgbClr>
                </a:solidFill>
              </a:rPr>
              <a:pPr/>
              <a:t>44</a:t>
            </a:fld>
            <a:endParaRPr lang="nl-NL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3E55DB-8FD0-2081-057A-E7377C29F675}"/>
              </a:ext>
            </a:extLst>
          </p:cNvPr>
          <p:cNvGrpSpPr/>
          <p:nvPr/>
        </p:nvGrpSpPr>
        <p:grpSpPr>
          <a:xfrm>
            <a:off x="6083025" y="2079344"/>
            <a:ext cx="2656476" cy="3418955"/>
            <a:chOff x="4572000" y="4617115"/>
            <a:chExt cx="1975173" cy="254209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70B6261-D989-44F1-989A-990BB7195D12}"/>
                </a:ext>
              </a:extLst>
            </p:cNvPr>
            <p:cNvGrpSpPr/>
            <p:nvPr/>
          </p:nvGrpSpPr>
          <p:grpSpPr>
            <a:xfrm>
              <a:off x="5173053" y="5409220"/>
              <a:ext cx="1374120" cy="1404156"/>
              <a:chOff x="6870288" y="5229200"/>
              <a:chExt cx="1374120" cy="1404156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A8DDF07-3D58-6A3C-2321-DF6444417FDF}"/>
                  </a:ext>
                </a:extLst>
              </p:cNvPr>
              <p:cNvSpPr/>
              <p:nvPr/>
            </p:nvSpPr>
            <p:spPr>
              <a:xfrm>
                <a:off x="6870288" y="5229200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C4314BF-6F2A-0C42-E677-53C7051F2715}"/>
                  </a:ext>
                </a:extLst>
              </p:cNvPr>
              <p:cNvSpPr/>
              <p:nvPr/>
            </p:nvSpPr>
            <p:spPr>
              <a:xfrm>
                <a:off x="6870288" y="5517232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1C2544E-62A6-8A20-1DD9-2480BD22DD0E}"/>
                  </a:ext>
                </a:extLst>
              </p:cNvPr>
              <p:cNvSpPr/>
              <p:nvPr/>
            </p:nvSpPr>
            <p:spPr>
              <a:xfrm>
                <a:off x="6875368" y="5805264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77F9005-FBB9-FD16-9FDE-F258F4D6BE34}"/>
                  </a:ext>
                </a:extLst>
              </p:cNvPr>
              <p:cNvSpPr/>
              <p:nvPr/>
            </p:nvSpPr>
            <p:spPr>
              <a:xfrm>
                <a:off x="6875812" y="5805264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4D5A1C9-2C3E-EBD3-2F7D-B0AF03CA2112}"/>
                  </a:ext>
                </a:extLst>
              </p:cNvPr>
              <p:cNvSpPr/>
              <p:nvPr/>
            </p:nvSpPr>
            <p:spPr>
              <a:xfrm>
                <a:off x="6876256" y="6453336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CF114D8-760C-1C78-3514-289573D1E254}"/>
                  </a:ext>
                </a:extLst>
              </p:cNvPr>
              <p:cNvCxnSpPr>
                <a:stCxn id="40" idx="4"/>
                <a:endCxn id="41" idx="0"/>
              </p:cNvCxnSpPr>
              <p:nvPr/>
            </p:nvCxnSpPr>
            <p:spPr>
              <a:xfrm>
                <a:off x="6960298" y="5409220"/>
                <a:ext cx="0" cy="1080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890615C-E4DD-5648-8C93-9508D626A23E}"/>
                  </a:ext>
                </a:extLst>
              </p:cNvPr>
              <p:cNvCxnSpPr>
                <a:stCxn id="41" idx="4"/>
                <a:endCxn id="43" idx="0"/>
              </p:cNvCxnSpPr>
              <p:nvPr/>
            </p:nvCxnSpPr>
            <p:spPr>
              <a:xfrm>
                <a:off x="6960298" y="5697252"/>
                <a:ext cx="5524" cy="1080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11A1067-4ACA-4190-AAE2-5A21AB363F33}"/>
                  </a:ext>
                </a:extLst>
              </p:cNvPr>
              <p:cNvSpPr/>
              <p:nvPr/>
            </p:nvSpPr>
            <p:spPr>
              <a:xfrm>
                <a:off x="7163844" y="5229200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D9360C4-12E5-13D0-E50D-F36EFAE6A881}"/>
                  </a:ext>
                </a:extLst>
              </p:cNvPr>
              <p:cNvSpPr/>
              <p:nvPr/>
            </p:nvSpPr>
            <p:spPr>
              <a:xfrm>
                <a:off x="7163844" y="5517232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97851D5-027A-9C5E-89B6-688E08AF6CCD}"/>
                  </a:ext>
                </a:extLst>
              </p:cNvPr>
              <p:cNvSpPr/>
              <p:nvPr/>
            </p:nvSpPr>
            <p:spPr>
              <a:xfrm>
                <a:off x="7168924" y="5805264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721FD03-B5E8-CA44-DDB5-C366E4A11178}"/>
                  </a:ext>
                </a:extLst>
              </p:cNvPr>
              <p:cNvSpPr/>
              <p:nvPr/>
            </p:nvSpPr>
            <p:spPr>
              <a:xfrm>
                <a:off x="7169368" y="5805264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C07DA4C-F96C-5FE3-5E07-99D98C11E872}"/>
                  </a:ext>
                </a:extLst>
              </p:cNvPr>
              <p:cNvSpPr/>
              <p:nvPr/>
            </p:nvSpPr>
            <p:spPr>
              <a:xfrm>
                <a:off x="7169812" y="6453336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E4661D03-1666-B6D5-1C62-C602F573ADC3}"/>
                  </a:ext>
                </a:extLst>
              </p:cNvPr>
              <p:cNvCxnSpPr>
                <a:stCxn id="47" idx="4"/>
                <a:endCxn id="48" idx="0"/>
              </p:cNvCxnSpPr>
              <p:nvPr/>
            </p:nvCxnSpPr>
            <p:spPr>
              <a:xfrm>
                <a:off x="7253854" y="5409220"/>
                <a:ext cx="0" cy="1080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771A609-B074-C50A-31BF-C714EAFC1059}"/>
                  </a:ext>
                </a:extLst>
              </p:cNvPr>
              <p:cNvCxnSpPr>
                <a:stCxn id="48" idx="4"/>
                <a:endCxn id="50" idx="0"/>
              </p:cNvCxnSpPr>
              <p:nvPr/>
            </p:nvCxnSpPr>
            <p:spPr>
              <a:xfrm>
                <a:off x="7253854" y="5697252"/>
                <a:ext cx="5524" cy="1080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0CF3106-464B-D20C-F011-33F1B8993084}"/>
                  </a:ext>
                </a:extLst>
              </p:cNvPr>
              <p:cNvSpPr/>
              <p:nvPr/>
            </p:nvSpPr>
            <p:spPr>
              <a:xfrm>
                <a:off x="7441716" y="5229200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BED78F3-5097-DB6E-C2F0-3AB0B9E17E6C}"/>
                  </a:ext>
                </a:extLst>
              </p:cNvPr>
              <p:cNvSpPr/>
              <p:nvPr/>
            </p:nvSpPr>
            <p:spPr>
              <a:xfrm>
                <a:off x="7441716" y="5517232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7540B99-F18A-4944-C9A0-B20EFB911DBE}"/>
                  </a:ext>
                </a:extLst>
              </p:cNvPr>
              <p:cNvSpPr/>
              <p:nvPr/>
            </p:nvSpPr>
            <p:spPr>
              <a:xfrm>
                <a:off x="7446796" y="5800184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D3C4D69-BD36-17EC-E29A-C6020BED2C86}"/>
                  </a:ext>
                </a:extLst>
              </p:cNvPr>
              <p:cNvSpPr/>
              <p:nvPr/>
            </p:nvSpPr>
            <p:spPr>
              <a:xfrm>
                <a:off x="7447240" y="5805264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49A33376-3689-0747-5A89-C190A3895A40}"/>
                  </a:ext>
                </a:extLst>
              </p:cNvPr>
              <p:cNvSpPr/>
              <p:nvPr/>
            </p:nvSpPr>
            <p:spPr>
              <a:xfrm>
                <a:off x="7447684" y="6453336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DE72BCBD-0463-8FCE-4DE1-93C8AA9F6E58}"/>
                  </a:ext>
                </a:extLst>
              </p:cNvPr>
              <p:cNvCxnSpPr>
                <a:stCxn id="54" idx="4"/>
                <a:endCxn id="55" idx="0"/>
              </p:cNvCxnSpPr>
              <p:nvPr/>
            </p:nvCxnSpPr>
            <p:spPr>
              <a:xfrm>
                <a:off x="7531726" y="5409220"/>
                <a:ext cx="0" cy="1080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F0E446E7-21E1-2EBE-9FDD-C62ACBF0CD2D}"/>
                  </a:ext>
                </a:extLst>
              </p:cNvPr>
              <p:cNvCxnSpPr>
                <a:stCxn id="55" idx="4"/>
                <a:endCxn id="57" idx="0"/>
              </p:cNvCxnSpPr>
              <p:nvPr/>
            </p:nvCxnSpPr>
            <p:spPr>
              <a:xfrm>
                <a:off x="7531726" y="5697252"/>
                <a:ext cx="5524" cy="1080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08ED0A0E-6DBF-12AB-1C7F-BC56E08D41CA}"/>
                  </a:ext>
                </a:extLst>
              </p:cNvPr>
              <p:cNvSpPr/>
              <p:nvPr/>
            </p:nvSpPr>
            <p:spPr>
              <a:xfrm>
                <a:off x="8058420" y="5229200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1DB0AF8B-200D-3B0A-FD31-834C24C5C2DC}"/>
                  </a:ext>
                </a:extLst>
              </p:cNvPr>
              <p:cNvSpPr/>
              <p:nvPr/>
            </p:nvSpPr>
            <p:spPr>
              <a:xfrm>
                <a:off x="8058420" y="5517232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17A17C8-2EE5-BE06-9EEC-1869FCF4BAE2}"/>
                  </a:ext>
                </a:extLst>
              </p:cNvPr>
              <p:cNvSpPr/>
              <p:nvPr/>
            </p:nvSpPr>
            <p:spPr>
              <a:xfrm>
                <a:off x="8063500" y="5805264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AEA8BBD-72CD-C567-B157-0A9969C992DA}"/>
                  </a:ext>
                </a:extLst>
              </p:cNvPr>
              <p:cNvSpPr/>
              <p:nvPr/>
            </p:nvSpPr>
            <p:spPr>
              <a:xfrm>
                <a:off x="8058864" y="5805264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40C87E6-7975-CCE2-7049-744708B6342F}"/>
                  </a:ext>
                </a:extLst>
              </p:cNvPr>
              <p:cNvSpPr/>
              <p:nvPr/>
            </p:nvSpPr>
            <p:spPr>
              <a:xfrm>
                <a:off x="8064388" y="6453336"/>
                <a:ext cx="180020" cy="1800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1B1B3013-E7FC-F072-6605-BE0F9B50AE43}"/>
                  </a:ext>
                </a:extLst>
              </p:cNvPr>
              <p:cNvCxnSpPr>
                <a:stCxn id="61" idx="4"/>
                <a:endCxn id="62" idx="0"/>
              </p:cNvCxnSpPr>
              <p:nvPr/>
            </p:nvCxnSpPr>
            <p:spPr>
              <a:xfrm>
                <a:off x="8148430" y="5409220"/>
                <a:ext cx="0" cy="1080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3416A038-B73E-7BEC-8071-5560EBB4B7B0}"/>
                  </a:ext>
                </a:extLst>
              </p:cNvPr>
              <p:cNvCxnSpPr>
                <a:stCxn id="62" idx="4"/>
                <a:endCxn id="64" idx="0"/>
              </p:cNvCxnSpPr>
              <p:nvPr/>
            </p:nvCxnSpPr>
            <p:spPr>
              <a:xfrm>
                <a:off x="8148430" y="5697252"/>
                <a:ext cx="444" cy="1080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92D51C7F-BB20-D4A5-FEF0-C11F3F5DF5F5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>
                <a:off x="7050308" y="5319210"/>
                <a:ext cx="11353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607DFA43-2BA2-753B-200F-691C23E8D4FD}"/>
                  </a:ext>
                </a:extLst>
              </p:cNvPr>
              <p:cNvCxnSpPr>
                <a:stCxn id="41" idx="6"/>
                <a:endCxn id="48" idx="2"/>
              </p:cNvCxnSpPr>
              <p:nvPr/>
            </p:nvCxnSpPr>
            <p:spPr>
              <a:xfrm>
                <a:off x="7050308" y="5607242"/>
                <a:ext cx="11353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35B9ACB-9FFA-AC30-1A72-4E229A3133E6}"/>
                  </a:ext>
                </a:extLst>
              </p:cNvPr>
              <p:cNvCxnSpPr>
                <a:stCxn id="43" idx="6"/>
                <a:endCxn id="50" idx="2"/>
              </p:cNvCxnSpPr>
              <p:nvPr/>
            </p:nvCxnSpPr>
            <p:spPr>
              <a:xfrm>
                <a:off x="7055832" y="5895274"/>
                <a:ext cx="11353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64983B8E-1A57-626F-CDD5-039F07269DE5}"/>
                  </a:ext>
                </a:extLst>
              </p:cNvPr>
              <p:cNvCxnSpPr>
                <a:stCxn id="44" idx="6"/>
                <a:endCxn id="51" idx="2"/>
              </p:cNvCxnSpPr>
              <p:nvPr/>
            </p:nvCxnSpPr>
            <p:spPr>
              <a:xfrm>
                <a:off x="7056276" y="6543346"/>
                <a:ext cx="11353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06EB59C-5CBA-6F21-523D-0322CF2BDEFE}"/>
                  </a:ext>
                </a:extLst>
              </p:cNvPr>
              <p:cNvCxnSpPr>
                <a:stCxn id="47" idx="6"/>
                <a:endCxn id="54" idx="2"/>
              </p:cNvCxnSpPr>
              <p:nvPr/>
            </p:nvCxnSpPr>
            <p:spPr>
              <a:xfrm>
                <a:off x="7343864" y="5319210"/>
                <a:ext cx="978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DF993AA-6207-581A-EEBA-77D4EE5F1B67}"/>
                  </a:ext>
                </a:extLst>
              </p:cNvPr>
              <p:cNvCxnSpPr>
                <a:stCxn id="48" idx="6"/>
                <a:endCxn id="55" idx="2"/>
              </p:cNvCxnSpPr>
              <p:nvPr/>
            </p:nvCxnSpPr>
            <p:spPr>
              <a:xfrm>
                <a:off x="7343864" y="5607242"/>
                <a:ext cx="978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D47A7F1-FC99-7629-EC74-60BA6E83227B}"/>
                  </a:ext>
                </a:extLst>
              </p:cNvPr>
              <p:cNvCxnSpPr>
                <a:stCxn id="50" idx="6"/>
                <a:endCxn id="57" idx="2"/>
              </p:cNvCxnSpPr>
              <p:nvPr/>
            </p:nvCxnSpPr>
            <p:spPr>
              <a:xfrm>
                <a:off x="7349388" y="5895274"/>
                <a:ext cx="978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016BBCC5-ABA9-4B93-ABFF-C587EA272B89}"/>
                  </a:ext>
                </a:extLst>
              </p:cNvPr>
              <p:cNvCxnSpPr>
                <a:stCxn id="51" idx="6"/>
                <a:endCxn id="58" idx="2"/>
              </p:cNvCxnSpPr>
              <p:nvPr/>
            </p:nvCxnSpPr>
            <p:spPr>
              <a:xfrm>
                <a:off x="7349832" y="6543346"/>
                <a:ext cx="978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BE79CAB-E799-1CD7-5C3D-A7AE2C047F53}"/>
                  </a:ext>
                </a:extLst>
              </p:cNvPr>
              <p:cNvCxnSpPr>
                <a:stCxn id="43" idx="4"/>
                <a:endCxn id="44" idx="0"/>
              </p:cNvCxnSpPr>
              <p:nvPr/>
            </p:nvCxnSpPr>
            <p:spPr>
              <a:xfrm>
                <a:off x="6965822" y="5985284"/>
                <a:ext cx="444" cy="468052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9D9CB59A-3B80-989F-055B-597A2C3E1A77}"/>
                  </a:ext>
                </a:extLst>
              </p:cNvPr>
              <p:cNvCxnSpPr/>
              <p:nvPr/>
            </p:nvCxnSpPr>
            <p:spPr>
              <a:xfrm>
                <a:off x="7260808" y="5985284"/>
                <a:ext cx="444" cy="468052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8182537D-5651-CB3F-0790-08CF1D7F42F2}"/>
                  </a:ext>
                </a:extLst>
              </p:cNvPr>
              <p:cNvCxnSpPr/>
              <p:nvPr/>
            </p:nvCxnSpPr>
            <p:spPr>
              <a:xfrm>
                <a:off x="7538680" y="5985284"/>
                <a:ext cx="444" cy="468052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A8B8C735-66B6-4CD3-4026-3215A004941F}"/>
                  </a:ext>
                </a:extLst>
              </p:cNvPr>
              <p:cNvCxnSpPr>
                <a:stCxn id="54" idx="6"/>
                <a:endCxn id="61" idx="2"/>
              </p:cNvCxnSpPr>
              <p:nvPr/>
            </p:nvCxnSpPr>
            <p:spPr>
              <a:xfrm>
                <a:off x="7621736" y="5319210"/>
                <a:ext cx="436684" cy="0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28067D3-7306-9192-BB4F-C75A9C2C6E41}"/>
                  </a:ext>
                </a:extLst>
              </p:cNvPr>
              <p:cNvCxnSpPr>
                <a:stCxn id="55" idx="6"/>
                <a:endCxn id="62" idx="2"/>
              </p:cNvCxnSpPr>
              <p:nvPr/>
            </p:nvCxnSpPr>
            <p:spPr>
              <a:xfrm>
                <a:off x="7621736" y="5607242"/>
                <a:ext cx="436684" cy="0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3A8E2AD-F147-8425-1BF7-ECE33C93ABCC}"/>
                  </a:ext>
                </a:extLst>
              </p:cNvPr>
              <p:cNvCxnSpPr>
                <a:stCxn id="57" idx="6"/>
                <a:endCxn id="64" idx="2"/>
              </p:cNvCxnSpPr>
              <p:nvPr/>
            </p:nvCxnSpPr>
            <p:spPr>
              <a:xfrm>
                <a:off x="7627260" y="5895274"/>
                <a:ext cx="431604" cy="0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2ED08B1-4556-C79A-64E0-A59E6E6A4DA2}"/>
                  </a:ext>
                </a:extLst>
              </p:cNvPr>
              <p:cNvCxnSpPr>
                <a:stCxn id="58" idx="6"/>
                <a:endCxn id="65" idx="2"/>
              </p:cNvCxnSpPr>
              <p:nvPr/>
            </p:nvCxnSpPr>
            <p:spPr>
              <a:xfrm>
                <a:off x="7627704" y="6543346"/>
                <a:ext cx="436684" cy="0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11E6BF6-9BDD-1A19-019C-9F2BB3C732A9}"/>
                  </a:ext>
                </a:extLst>
              </p:cNvPr>
              <p:cNvCxnSpPr>
                <a:stCxn id="63" idx="4"/>
                <a:endCxn id="65" idx="0"/>
              </p:cNvCxnSpPr>
              <p:nvPr/>
            </p:nvCxnSpPr>
            <p:spPr>
              <a:xfrm>
                <a:off x="8153510" y="5985284"/>
                <a:ext cx="888" cy="468052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E0688B4-FC93-62E2-6A2D-ECFE3520CA14}"/>
                  </a:ext>
                </a:extLst>
              </p:cNvPr>
              <p:cNvCxnSpPr>
                <a:stCxn id="56" idx="5"/>
                <a:endCxn id="65" idx="1"/>
              </p:cNvCxnSpPr>
              <p:nvPr/>
            </p:nvCxnSpPr>
            <p:spPr>
              <a:xfrm>
                <a:off x="7600453" y="5953841"/>
                <a:ext cx="490298" cy="525858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5" name="Left Brace 34">
              <a:extLst>
                <a:ext uri="{FF2B5EF4-FFF2-40B4-BE49-F238E27FC236}">
                  <a16:creationId xmlns:a16="http://schemas.microsoft.com/office/drawing/2014/main" id="{F357A168-1603-4FCD-AF35-88E84CCCCBC4}"/>
                </a:ext>
              </a:extLst>
            </p:cNvPr>
            <p:cNvSpPr/>
            <p:nvPr/>
          </p:nvSpPr>
          <p:spPr>
            <a:xfrm>
              <a:off x="4838050" y="5373216"/>
              <a:ext cx="190987" cy="144016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Left Brace 35">
              <a:extLst>
                <a:ext uri="{FF2B5EF4-FFF2-40B4-BE49-F238E27FC236}">
                  <a16:creationId xmlns:a16="http://schemas.microsoft.com/office/drawing/2014/main" id="{B0A1A26D-0CA5-C4BB-CA7F-747DF07D9343}"/>
                </a:ext>
              </a:extLst>
            </p:cNvPr>
            <p:cNvSpPr/>
            <p:nvPr/>
          </p:nvSpPr>
          <p:spPr>
            <a:xfrm rot="5400000">
              <a:off x="5719613" y="4575393"/>
              <a:ext cx="190989" cy="128411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6C2B2F1-F548-62DA-3656-2B3225059740}"/>
                    </a:ext>
                  </a:extLst>
                </p:cNvPr>
                <p:cNvSpPr txBox="1"/>
                <p:nvPr/>
              </p:nvSpPr>
              <p:spPr>
                <a:xfrm>
                  <a:off x="5678958" y="4617115"/>
                  <a:ext cx="285813" cy="3661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 sz="2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6C2B2F1-F548-62DA-3656-2B32250597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8958" y="4617115"/>
                  <a:ext cx="285813" cy="36614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026AB14-4EE9-133F-0672-847011A39B27}"/>
                    </a:ext>
                  </a:extLst>
                </p:cNvPr>
                <p:cNvSpPr txBox="1"/>
                <p:nvPr/>
              </p:nvSpPr>
              <p:spPr>
                <a:xfrm>
                  <a:off x="4572000" y="5805264"/>
                  <a:ext cx="285813" cy="3661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 sz="2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026AB14-4EE9-133F-0672-847011A39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5805264"/>
                  <a:ext cx="285813" cy="36614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2B8A81A-39CE-2BF6-60B4-1BFB87C5562B}"/>
                    </a:ext>
                  </a:extLst>
                </p:cNvPr>
                <p:cNvSpPr txBox="1"/>
                <p:nvPr/>
              </p:nvSpPr>
              <p:spPr>
                <a:xfrm>
                  <a:off x="5029038" y="6884604"/>
                  <a:ext cx="1435933" cy="274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+mj-lt"/>
                    </a:rPr>
                    <a:t>has </a:t>
                  </a:r>
                  <a:r>
                    <a:rPr lang="en-US" sz="1800" dirty="0" err="1">
                      <a:latin typeface="+mj-lt"/>
                    </a:rPr>
                    <a:t>treewidth</a:t>
                  </a:r>
                  <a:r>
                    <a:rPr lang="en-US" sz="1800" dirty="0"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endParaRPr lang="en-US" sz="1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2B8A81A-39CE-2BF6-60B4-1BFB87C556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038" y="6884604"/>
                  <a:ext cx="1435933" cy="274610"/>
                </a:xfrm>
                <a:prstGeom prst="rect">
                  <a:avLst/>
                </a:prstGeom>
                <a:blipFill>
                  <a:blip r:embed="rId5"/>
                  <a:stretch>
                    <a:fillRect l="-2839" t="-8197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41759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2A595-6BA0-A627-7626-00FDBBB7D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725F-9499-2C12-B5C0-9E364DBE4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F82A2-7EB1-7156-04ED-C0318FDF5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decompositions and separators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13881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1FD4F5B-8412-6044-887F-29FEBDE590CC}"/>
              </a:ext>
            </a:extLst>
          </p:cNvPr>
          <p:cNvGrpSpPr/>
          <p:nvPr/>
        </p:nvGrpSpPr>
        <p:grpSpPr>
          <a:xfrm>
            <a:off x="6273401" y="582960"/>
            <a:ext cx="2547360" cy="2473507"/>
            <a:chOff x="543820" y="2276872"/>
            <a:chExt cx="3168352" cy="302433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C49F7B7-500A-2CCC-6F50-3EE967873D3F}"/>
                </a:ext>
              </a:extLst>
            </p:cNvPr>
            <p:cNvSpPr/>
            <p:nvPr/>
          </p:nvSpPr>
          <p:spPr>
            <a:xfrm>
              <a:off x="543820" y="2276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E280635-5244-DC92-6421-764889A2B17E}"/>
                </a:ext>
              </a:extLst>
            </p:cNvPr>
            <p:cNvSpPr/>
            <p:nvPr/>
          </p:nvSpPr>
          <p:spPr>
            <a:xfrm>
              <a:off x="1767956" y="2276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9F53EE8-D352-FAE9-8143-3FAC84DEBDB5}"/>
                </a:ext>
              </a:extLst>
            </p:cNvPr>
            <p:cNvSpPr/>
            <p:nvPr/>
          </p:nvSpPr>
          <p:spPr>
            <a:xfrm>
              <a:off x="2992092" y="2276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9F49E72-C58C-6E2E-8FC2-8EC67AB2A72A}"/>
                </a:ext>
              </a:extLst>
            </p:cNvPr>
            <p:cNvSpPr/>
            <p:nvPr/>
          </p:nvSpPr>
          <p:spPr>
            <a:xfrm>
              <a:off x="543820" y="3429000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1C9B9DF-BE73-022D-DE2B-70C73D8FF7E0}"/>
                </a:ext>
              </a:extLst>
            </p:cNvPr>
            <p:cNvSpPr/>
            <p:nvPr/>
          </p:nvSpPr>
          <p:spPr>
            <a:xfrm>
              <a:off x="2992092" y="3429000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D909DD6-1E18-ACF1-F6F9-82526164D09E}"/>
                </a:ext>
              </a:extLst>
            </p:cNvPr>
            <p:cNvSpPr/>
            <p:nvPr/>
          </p:nvSpPr>
          <p:spPr>
            <a:xfrm>
              <a:off x="543820" y="4581128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CDB89AB-0BE5-1CC1-1741-C2848D97D353}"/>
                </a:ext>
              </a:extLst>
            </p:cNvPr>
            <p:cNvSpPr/>
            <p:nvPr/>
          </p:nvSpPr>
          <p:spPr>
            <a:xfrm>
              <a:off x="1767956" y="4581128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B7EEEB0-7EF1-8279-4F61-863BBADC9427}"/>
                </a:ext>
              </a:extLst>
            </p:cNvPr>
            <p:cNvSpPr/>
            <p:nvPr/>
          </p:nvSpPr>
          <p:spPr>
            <a:xfrm>
              <a:off x="2992092" y="4581128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8B1E0E7-D924-AFB6-848C-1CD5534F902B}"/>
                </a:ext>
              </a:extLst>
            </p:cNvPr>
            <p:cNvCxnSpPr>
              <a:stCxn id="6" idx="4"/>
              <a:endCxn id="9" idx="0"/>
            </p:cNvCxnSpPr>
            <p:nvPr/>
          </p:nvCxnSpPr>
          <p:spPr>
            <a:xfrm>
              <a:off x="903860" y="2996952"/>
              <a:ext cx="0" cy="43204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C0877F-1E32-BE7B-1BE0-ECE7379AA7FC}"/>
                </a:ext>
              </a:extLst>
            </p:cNvPr>
            <p:cNvCxnSpPr>
              <a:stCxn id="9" idx="4"/>
              <a:endCxn id="11" idx="0"/>
            </p:cNvCxnSpPr>
            <p:nvPr/>
          </p:nvCxnSpPr>
          <p:spPr>
            <a:xfrm>
              <a:off x="903860" y="4149080"/>
              <a:ext cx="0" cy="43204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5E6AA69-7E1A-7C7D-34AA-DFE9C86059E8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1263900" y="2636912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77C79D6-31A2-62E7-09FC-678D07CBDE3F}"/>
                </a:ext>
              </a:extLst>
            </p:cNvPr>
            <p:cNvCxnSpPr>
              <a:stCxn id="9" idx="7"/>
              <a:endCxn id="7" idx="3"/>
            </p:cNvCxnSpPr>
            <p:nvPr/>
          </p:nvCxnSpPr>
          <p:spPr>
            <a:xfrm flipV="1">
              <a:off x="1158447" y="2891499"/>
              <a:ext cx="714962" cy="64295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BCBD76-61FD-2CAF-28C2-E56D104DE12F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2488036" y="2636912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7611875-AC8E-2EE3-AD94-7DF6EDE5F2DC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>
            <a:xfrm>
              <a:off x="2382583" y="2891499"/>
              <a:ext cx="714962" cy="64295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DF7947-2CF3-5A4A-22CA-10038561D163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3352132" y="2996952"/>
              <a:ext cx="0" cy="43204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E6610D-D94B-765F-FD56-AEFE5F2C05BD}"/>
                </a:ext>
              </a:extLst>
            </p:cNvPr>
            <p:cNvCxnSpPr>
              <a:stCxn id="10" idx="4"/>
              <a:endCxn id="13" idx="0"/>
            </p:cNvCxnSpPr>
            <p:nvPr/>
          </p:nvCxnSpPr>
          <p:spPr>
            <a:xfrm>
              <a:off x="3352132" y="4149080"/>
              <a:ext cx="0" cy="43204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F2BBC56-C3AD-8B71-CBE9-150F1EBDF58D}"/>
                </a:ext>
              </a:extLst>
            </p:cNvPr>
            <p:cNvCxnSpPr>
              <a:stCxn id="13" idx="2"/>
              <a:endCxn id="12" idx="6"/>
            </p:cNvCxnSpPr>
            <p:nvPr/>
          </p:nvCxnSpPr>
          <p:spPr>
            <a:xfrm flipH="1">
              <a:off x="2488036" y="4941168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55908F8-1155-9587-75CA-E6DD13870A70}"/>
                </a:ext>
              </a:extLst>
            </p:cNvPr>
            <p:cNvCxnSpPr>
              <a:stCxn id="12" idx="7"/>
              <a:endCxn id="10" idx="3"/>
            </p:cNvCxnSpPr>
            <p:nvPr/>
          </p:nvCxnSpPr>
          <p:spPr>
            <a:xfrm flipV="1">
              <a:off x="2382583" y="4043627"/>
              <a:ext cx="714962" cy="64295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EF612DA-1F53-7F0C-C608-94ADF93B87A6}"/>
                </a:ext>
              </a:extLst>
            </p:cNvPr>
            <p:cNvCxnSpPr>
              <a:stCxn id="9" idx="5"/>
              <a:endCxn id="12" idx="1"/>
            </p:cNvCxnSpPr>
            <p:nvPr/>
          </p:nvCxnSpPr>
          <p:spPr>
            <a:xfrm>
              <a:off x="1158447" y="4043627"/>
              <a:ext cx="714962" cy="64295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E37DDD-8E2F-927E-E4F9-FA688C955C0C}"/>
                </a:ext>
              </a:extLst>
            </p:cNvPr>
            <p:cNvCxnSpPr>
              <a:stCxn id="11" idx="6"/>
              <a:endCxn id="12" idx="2"/>
            </p:cNvCxnSpPr>
            <p:nvPr/>
          </p:nvCxnSpPr>
          <p:spPr>
            <a:xfrm>
              <a:off x="1263900" y="4941168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9CB361-77FD-3708-C08E-A11DD7483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4449700" cy="1143000"/>
          </a:xfrm>
        </p:spPr>
        <p:txBody>
          <a:bodyPr/>
          <a:lstStyle/>
          <a:p>
            <a:r>
              <a:rPr lang="en-US" dirty="0"/>
              <a:t>Another example</a:t>
            </a:r>
            <a:endParaRPr lang="LID4096" dirty="0"/>
          </a:p>
        </p:txBody>
      </p:sp>
      <p:sp>
        <p:nvSpPr>
          <p:cNvPr id="4" name="Freeform 15">
            <a:extLst>
              <a:ext uri="{FF2B5EF4-FFF2-40B4-BE49-F238E27FC236}">
                <a16:creationId xmlns:a16="http://schemas.microsoft.com/office/drawing/2014/main" id="{BC8BB986-4911-6FFD-013D-6F068FB820CD}"/>
              </a:ext>
            </a:extLst>
          </p:cNvPr>
          <p:cNvSpPr/>
          <p:nvPr/>
        </p:nvSpPr>
        <p:spPr>
          <a:xfrm>
            <a:off x="6084168" y="548680"/>
            <a:ext cx="1867989" cy="1647221"/>
          </a:xfrm>
          <a:custGeom>
            <a:avLst/>
            <a:gdLst>
              <a:gd name="connsiteX0" fmla="*/ 600891 w 1867989"/>
              <a:gd name="connsiteY0" fmla="*/ 1645920 h 1647221"/>
              <a:gd name="connsiteX1" fmla="*/ 666206 w 1867989"/>
              <a:gd name="connsiteY1" fmla="*/ 1606731 h 1647221"/>
              <a:gd name="connsiteX2" fmla="*/ 744583 w 1867989"/>
              <a:gd name="connsiteY2" fmla="*/ 1554480 h 1647221"/>
              <a:gd name="connsiteX3" fmla="*/ 849086 w 1867989"/>
              <a:gd name="connsiteY3" fmla="*/ 1463040 h 1647221"/>
              <a:gd name="connsiteX4" fmla="*/ 927463 w 1867989"/>
              <a:gd name="connsiteY4" fmla="*/ 1410789 h 1647221"/>
              <a:gd name="connsiteX5" fmla="*/ 992777 w 1867989"/>
              <a:gd name="connsiteY5" fmla="*/ 1358537 h 1647221"/>
              <a:gd name="connsiteX6" fmla="*/ 1031966 w 1867989"/>
              <a:gd name="connsiteY6" fmla="*/ 1319349 h 1647221"/>
              <a:gd name="connsiteX7" fmla="*/ 1071154 w 1867989"/>
              <a:gd name="connsiteY7" fmla="*/ 1293223 h 1647221"/>
              <a:gd name="connsiteX8" fmla="*/ 1136469 w 1867989"/>
              <a:gd name="connsiteY8" fmla="*/ 1214846 h 1647221"/>
              <a:gd name="connsiteX9" fmla="*/ 1175657 w 1867989"/>
              <a:gd name="connsiteY9" fmla="*/ 1188720 h 1647221"/>
              <a:gd name="connsiteX10" fmla="*/ 1240971 w 1867989"/>
              <a:gd name="connsiteY10" fmla="*/ 1123406 h 1647221"/>
              <a:gd name="connsiteX11" fmla="*/ 1267097 w 1867989"/>
              <a:gd name="connsiteY11" fmla="*/ 1084217 h 1647221"/>
              <a:gd name="connsiteX12" fmla="*/ 1306286 w 1867989"/>
              <a:gd name="connsiteY12" fmla="*/ 1071154 h 1647221"/>
              <a:gd name="connsiteX13" fmla="*/ 1345474 w 1867989"/>
              <a:gd name="connsiteY13" fmla="*/ 1045029 h 1647221"/>
              <a:gd name="connsiteX14" fmla="*/ 1397726 w 1867989"/>
              <a:gd name="connsiteY14" fmla="*/ 927463 h 1647221"/>
              <a:gd name="connsiteX15" fmla="*/ 1410789 w 1867989"/>
              <a:gd name="connsiteY15" fmla="*/ 888274 h 1647221"/>
              <a:gd name="connsiteX16" fmla="*/ 1449977 w 1867989"/>
              <a:gd name="connsiteY16" fmla="*/ 862149 h 1647221"/>
              <a:gd name="connsiteX17" fmla="*/ 1528354 w 1867989"/>
              <a:gd name="connsiteY17" fmla="*/ 809897 h 1647221"/>
              <a:gd name="connsiteX18" fmla="*/ 1593669 w 1867989"/>
              <a:gd name="connsiteY18" fmla="*/ 757646 h 1647221"/>
              <a:gd name="connsiteX19" fmla="*/ 1632857 w 1867989"/>
              <a:gd name="connsiteY19" fmla="*/ 718457 h 1647221"/>
              <a:gd name="connsiteX20" fmla="*/ 1658983 w 1867989"/>
              <a:gd name="connsiteY20" fmla="*/ 679269 h 1647221"/>
              <a:gd name="connsiteX21" fmla="*/ 1698171 w 1867989"/>
              <a:gd name="connsiteY21" fmla="*/ 666206 h 1647221"/>
              <a:gd name="connsiteX22" fmla="*/ 1789611 w 1867989"/>
              <a:gd name="connsiteY22" fmla="*/ 548640 h 1647221"/>
              <a:gd name="connsiteX23" fmla="*/ 1828800 w 1867989"/>
              <a:gd name="connsiteY23" fmla="*/ 470263 h 1647221"/>
              <a:gd name="connsiteX24" fmla="*/ 1867989 w 1867989"/>
              <a:gd name="connsiteY24" fmla="*/ 326571 h 1647221"/>
              <a:gd name="connsiteX25" fmla="*/ 1854926 w 1867989"/>
              <a:gd name="connsiteY25" fmla="*/ 235131 h 1647221"/>
              <a:gd name="connsiteX26" fmla="*/ 1841863 w 1867989"/>
              <a:gd name="connsiteY26" fmla="*/ 195943 h 1647221"/>
              <a:gd name="connsiteX27" fmla="*/ 1802674 w 1867989"/>
              <a:gd name="connsiteY27" fmla="*/ 169817 h 1647221"/>
              <a:gd name="connsiteX28" fmla="*/ 1711234 w 1867989"/>
              <a:gd name="connsiteY28" fmla="*/ 78377 h 1647221"/>
              <a:gd name="connsiteX29" fmla="*/ 1593669 w 1867989"/>
              <a:gd name="connsiteY29" fmla="*/ 13063 h 1647221"/>
              <a:gd name="connsiteX30" fmla="*/ 1502229 w 1867989"/>
              <a:gd name="connsiteY30" fmla="*/ 0 h 1647221"/>
              <a:gd name="connsiteX31" fmla="*/ 1110343 w 1867989"/>
              <a:gd name="connsiteY31" fmla="*/ 13063 h 1647221"/>
              <a:gd name="connsiteX32" fmla="*/ 1031966 w 1867989"/>
              <a:gd name="connsiteY32" fmla="*/ 26126 h 1647221"/>
              <a:gd name="connsiteX33" fmla="*/ 548640 w 1867989"/>
              <a:gd name="connsiteY33" fmla="*/ 0 h 1647221"/>
              <a:gd name="connsiteX34" fmla="*/ 326571 w 1867989"/>
              <a:gd name="connsiteY34" fmla="*/ 13063 h 1647221"/>
              <a:gd name="connsiteX35" fmla="*/ 248194 w 1867989"/>
              <a:gd name="connsiteY35" fmla="*/ 39189 h 1647221"/>
              <a:gd name="connsiteX36" fmla="*/ 222069 w 1867989"/>
              <a:gd name="connsiteY36" fmla="*/ 78377 h 1647221"/>
              <a:gd name="connsiteX37" fmla="*/ 182880 w 1867989"/>
              <a:gd name="connsiteY37" fmla="*/ 104503 h 1647221"/>
              <a:gd name="connsiteX38" fmla="*/ 91440 w 1867989"/>
              <a:gd name="connsiteY38" fmla="*/ 222069 h 1647221"/>
              <a:gd name="connsiteX39" fmla="*/ 65314 w 1867989"/>
              <a:gd name="connsiteY39" fmla="*/ 300446 h 1647221"/>
              <a:gd name="connsiteX40" fmla="*/ 52251 w 1867989"/>
              <a:gd name="connsiteY40" fmla="*/ 339634 h 1647221"/>
              <a:gd name="connsiteX41" fmla="*/ 13063 w 1867989"/>
              <a:gd name="connsiteY41" fmla="*/ 640080 h 1647221"/>
              <a:gd name="connsiteX42" fmla="*/ 0 w 1867989"/>
              <a:gd name="connsiteY42" fmla="*/ 796834 h 1647221"/>
              <a:gd name="connsiteX43" fmla="*/ 13063 w 1867989"/>
              <a:gd name="connsiteY43" fmla="*/ 1175657 h 1647221"/>
              <a:gd name="connsiteX44" fmla="*/ 26126 w 1867989"/>
              <a:gd name="connsiteY44" fmla="*/ 1280160 h 1647221"/>
              <a:gd name="connsiteX45" fmla="*/ 39189 w 1867989"/>
              <a:gd name="connsiteY45" fmla="*/ 1397726 h 1647221"/>
              <a:gd name="connsiteX46" fmla="*/ 91440 w 1867989"/>
              <a:gd name="connsiteY46" fmla="*/ 1515291 h 1647221"/>
              <a:gd name="connsiteX47" fmla="*/ 169817 w 1867989"/>
              <a:gd name="connsiteY47" fmla="*/ 1567543 h 1647221"/>
              <a:gd name="connsiteX48" fmla="*/ 404949 w 1867989"/>
              <a:gd name="connsiteY48" fmla="*/ 1593669 h 1647221"/>
              <a:gd name="connsiteX49" fmla="*/ 444137 w 1867989"/>
              <a:gd name="connsiteY49" fmla="*/ 1606731 h 1647221"/>
              <a:gd name="connsiteX50" fmla="*/ 483326 w 1867989"/>
              <a:gd name="connsiteY50" fmla="*/ 1632857 h 1647221"/>
              <a:gd name="connsiteX51" fmla="*/ 600891 w 1867989"/>
              <a:gd name="connsiteY51" fmla="*/ 1645920 h 1647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867989" h="1647221">
                <a:moveTo>
                  <a:pt x="600891" y="1645920"/>
                </a:moveTo>
                <a:cubicBezTo>
                  <a:pt x="631371" y="1641566"/>
                  <a:pt x="644785" y="1620362"/>
                  <a:pt x="666206" y="1606731"/>
                </a:cubicBezTo>
                <a:cubicBezTo>
                  <a:pt x="692696" y="1589874"/>
                  <a:pt x="744583" y="1554480"/>
                  <a:pt x="744583" y="1554480"/>
                </a:cubicBezTo>
                <a:cubicBezTo>
                  <a:pt x="818611" y="1443438"/>
                  <a:pt x="696677" y="1615452"/>
                  <a:pt x="849086" y="1463040"/>
                </a:cubicBezTo>
                <a:cubicBezTo>
                  <a:pt x="898010" y="1414114"/>
                  <a:pt x="870748" y="1429692"/>
                  <a:pt x="927463" y="1410789"/>
                </a:cubicBezTo>
                <a:cubicBezTo>
                  <a:pt x="985892" y="1323146"/>
                  <a:pt x="917063" y="1409013"/>
                  <a:pt x="992777" y="1358537"/>
                </a:cubicBezTo>
                <a:cubicBezTo>
                  <a:pt x="1008148" y="1348290"/>
                  <a:pt x="1017774" y="1331176"/>
                  <a:pt x="1031966" y="1319349"/>
                </a:cubicBezTo>
                <a:cubicBezTo>
                  <a:pt x="1044027" y="1309298"/>
                  <a:pt x="1059093" y="1303274"/>
                  <a:pt x="1071154" y="1293223"/>
                </a:cubicBezTo>
                <a:cubicBezTo>
                  <a:pt x="1199557" y="1186219"/>
                  <a:pt x="1033714" y="1317601"/>
                  <a:pt x="1136469" y="1214846"/>
                </a:cubicBezTo>
                <a:cubicBezTo>
                  <a:pt x="1147570" y="1203745"/>
                  <a:pt x="1162594" y="1197429"/>
                  <a:pt x="1175657" y="1188720"/>
                </a:cubicBezTo>
                <a:cubicBezTo>
                  <a:pt x="1245327" y="1084214"/>
                  <a:pt x="1153885" y="1210492"/>
                  <a:pt x="1240971" y="1123406"/>
                </a:cubicBezTo>
                <a:cubicBezTo>
                  <a:pt x="1252072" y="1112305"/>
                  <a:pt x="1254838" y="1094025"/>
                  <a:pt x="1267097" y="1084217"/>
                </a:cubicBezTo>
                <a:cubicBezTo>
                  <a:pt x="1277849" y="1075615"/>
                  <a:pt x="1293970" y="1077312"/>
                  <a:pt x="1306286" y="1071154"/>
                </a:cubicBezTo>
                <a:cubicBezTo>
                  <a:pt x="1320328" y="1064133"/>
                  <a:pt x="1332411" y="1053737"/>
                  <a:pt x="1345474" y="1045029"/>
                </a:cubicBezTo>
                <a:cubicBezTo>
                  <a:pt x="1376565" y="951757"/>
                  <a:pt x="1356324" y="989565"/>
                  <a:pt x="1397726" y="927463"/>
                </a:cubicBezTo>
                <a:cubicBezTo>
                  <a:pt x="1402080" y="914400"/>
                  <a:pt x="1402187" y="899026"/>
                  <a:pt x="1410789" y="888274"/>
                </a:cubicBezTo>
                <a:cubicBezTo>
                  <a:pt x="1420596" y="876015"/>
                  <a:pt x="1437916" y="872199"/>
                  <a:pt x="1449977" y="862149"/>
                </a:cubicBezTo>
                <a:cubicBezTo>
                  <a:pt x="1515211" y="807787"/>
                  <a:pt x="1459484" y="832854"/>
                  <a:pt x="1528354" y="809897"/>
                </a:cubicBezTo>
                <a:cubicBezTo>
                  <a:pt x="1586785" y="722252"/>
                  <a:pt x="1517951" y="808125"/>
                  <a:pt x="1593669" y="757646"/>
                </a:cubicBezTo>
                <a:cubicBezTo>
                  <a:pt x="1609040" y="747399"/>
                  <a:pt x="1621030" y="732649"/>
                  <a:pt x="1632857" y="718457"/>
                </a:cubicBezTo>
                <a:cubicBezTo>
                  <a:pt x="1642908" y="706396"/>
                  <a:pt x="1646724" y="689076"/>
                  <a:pt x="1658983" y="679269"/>
                </a:cubicBezTo>
                <a:cubicBezTo>
                  <a:pt x="1669735" y="670667"/>
                  <a:pt x="1685108" y="670560"/>
                  <a:pt x="1698171" y="666206"/>
                </a:cubicBezTo>
                <a:cubicBezTo>
                  <a:pt x="1760670" y="572458"/>
                  <a:pt x="1728221" y="610032"/>
                  <a:pt x="1789611" y="548640"/>
                </a:cubicBezTo>
                <a:cubicBezTo>
                  <a:pt x="1837251" y="405721"/>
                  <a:pt x="1761273" y="622195"/>
                  <a:pt x="1828800" y="470263"/>
                </a:cubicBezTo>
                <a:cubicBezTo>
                  <a:pt x="1852907" y="416023"/>
                  <a:pt x="1856814" y="382448"/>
                  <a:pt x="1867989" y="326571"/>
                </a:cubicBezTo>
                <a:cubicBezTo>
                  <a:pt x="1863635" y="296091"/>
                  <a:pt x="1860964" y="265323"/>
                  <a:pt x="1854926" y="235131"/>
                </a:cubicBezTo>
                <a:cubicBezTo>
                  <a:pt x="1852226" y="221629"/>
                  <a:pt x="1850465" y="206695"/>
                  <a:pt x="1841863" y="195943"/>
                </a:cubicBezTo>
                <a:cubicBezTo>
                  <a:pt x="1832055" y="183684"/>
                  <a:pt x="1815737" y="178526"/>
                  <a:pt x="1802674" y="169817"/>
                </a:cubicBezTo>
                <a:cubicBezTo>
                  <a:pt x="1742785" y="79983"/>
                  <a:pt x="1780211" y="101369"/>
                  <a:pt x="1711234" y="78377"/>
                </a:cubicBezTo>
                <a:cubicBezTo>
                  <a:pt x="1666343" y="48450"/>
                  <a:pt x="1642936" y="22917"/>
                  <a:pt x="1593669" y="13063"/>
                </a:cubicBezTo>
                <a:cubicBezTo>
                  <a:pt x="1563477" y="7025"/>
                  <a:pt x="1532709" y="4354"/>
                  <a:pt x="1502229" y="0"/>
                </a:cubicBezTo>
                <a:cubicBezTo>
                  <a:pt x="1371600" y="4354"/>
                  <a:pt x="1240843" y="5813"/>
                  <a:pt x="1110343" y="13063"/>
                </a:cubicBezTo>
                <a:cubicBezTo>
                  <a:pt x="1083898" y="14532"/>
                  <a:pt x="1058452" y="26126"/>
                  <a:pt x="1031966" y="26126"/>
                </a:cubicBezTo>
                <a:cubicBezTo>
                  <a:pt x="981669" y="26126"/>
                  <a:pt x="615370" y="3925"/>
                  <a:pt x="548640" y="0"/>
                </a:cubicBezTo>
                <a:cubicBezTo>
                  <a:pt x="474617" y="4354"/>
                  <a:pt x="400099" y="3472"/>
                  <a:pt x="326571" y="13063"/>
                </a:cubicBezTo>
                <a:cubicBezTo>
                  <a:pt x="299263" y="16625"/>
                  <a:pt x="248194" y="39189"/>
                  <a:pt x="248194" y="39189"/>
                </a:cubicBezTo>
                <a:cubicBezTo>
                  <a:pt x="239486" y="52252"/>
                  <a:pt x="233170" y="67276"/>
                  <a:pt x="222069" y="78377"/>
                </a:cubicBezTo>
                <a:cubicBezTo>
                  <a:pt x="210968" y="89478"/>
                  <a:pt x="194941" y="94452"/>
                  <a:pt x="182880" y="104503"/>
                </a:cubicBezTo>
                <a:cubicBezTo>
                  <a:pt x="151666" y="130514"/>
                  <a:pt x="102645" y="188453"/>
                  <a:pt x="91440" y="222069"/>
                </a:cubicBezTo>
                <a:lnTo>
                  <a:pt x="65314" y="300446"/>
                </a:lnTo>
                <a:lnTo>
                  <a:pt x="52251" y="339634"/>
                </a:lnTo>
                <a:cubicBezTo>
                  <a:pt x="39767" y="427029"/>
                  <a:pt x="19050" y="568243"/>
                  <a:pt x="13063" y="640080"/>
                </a:cubicBezTo>
                <a:lnTo>
                  <a:pt x="0" y="796834"/>
                </a:lnTo>
                <a:cubicBezTo>
                  <a:pt x="4354" y="923108"/>
                  <a:pt x="6243" y="1049492"/>
                  <a:pt x="13063" y="1175657"/>
                </a:cubicBezTo>
                <a:cubicBezTo>
                  <a:pt x="14958" y="1210711"/>
                  <a:pt x="22024" y="1245295"/>
                  <a:pt x="26126" y="1280160"/>
                </a:cubicBezTo>
                <a:cubicBezTo>
                  <a:pt x="30733" y="1319320"/>
                  <a:pt x="31456" y="1359062"/>
                  <a:pt x="39189" y="1397726"/>
                </a:cubicBezTo>
                <a:cubicBezTo>
                  <a:pt x="44202" y="1422793"/>
                  <a:pt x="64904" y="1492072"/>
                  <a:pt x="91440" y="1515291"/>
                </a:cubicBezTo>
                <a:cubicBezTo>
                  <a:pt x="115070" y="1535968"/>
                  <a:pt x="139355" y="1559928"/>
                  <a:pt x="169817" y="1567543"/>
                </a:cubicBezTo>
                <a:cubicBezTo>
                  <a:pt x="281360" y="1595429"/>
                  <a:pt x="204161" y="1579327"/>
                  <a:pt x="404949" y="1593669"/>
                </a:cubicBezTo>
                <a:cubicBezTo>
                  <a:pt x="418012" y="1598023"/>
                  <a:pt x="431821" y="1600573"/>
                  <a:pt x="444137" y="1606731"/>
                </a:cubicBezTo>
                <a:cubicBezTo>
                  <a:pt x="458179" y="1613752"/>
                  <a:pt x="467931" y="1629778"/>
                  <a:pt x="483326" y="1632857"/>
                </a:cubicBezTo>
                <a:cubicBezTo>
                  <a:pt x="534740" y="1643140"/>
                  <a:pt x="570411" y="1650274"/>
                  <a:pt x="600891" y="1645920"/>
                </a:cubicBezTo>
                <a:close/>
              </a:path>
            </a:pathLst>
          </a:custGeom>
          <a:solidFill>
            <a:srgbClr val="00B050">
              <a:alpha val="4300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085079-4CBD-451B-B07A-9BDD5F73F07B}"/>
              </a:ext>
            </a:extLst>
          </p:cNvPr>
          <p:cNvSpPr txBox="1"/>
          <p:nvPr/>
        </p:nvSpPr>
        <p:spPr>
          <a:xfrm>
            <a:off x="6358330" y="570903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83393D-F9B6-5E82-F033-E3101B84FBD5}"/>
              </a:ext>
            </a:extLst>
          </p:cNvPr>
          <p:cNvSpPr txBox="1"/>
          <p:nvPr/>
        </p:nvSpPr>
        <p:spPr>
          <a:xfrm>
            <a:off x="7327898" y="56379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6D4528-63D1-180A-128E-F71FEAD9F638}"/>
              </a:ext>
            </a:extLst>
          </p:cNvPr>
          <p:cNvSpPr txBox="1"/>
          <p:nvPr/>
        </p:nvSpPr>
        <p:spPr>
          <a:xfrm>
            <a:off x="8336010" y="582960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32970E-3FBF-3FD4-DBCE-007D0436D129}"/>
              </a:ext>
            </a:extLst>
          </p:cNvPr>
          <p:cNvSpPr txBox="1"/>
          <p:nvPr/>
        </p:nvSpPr>
        <p:spPr>
          <a:xfrm>
            <a:off x="6368832" y="151906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B08B01-6E94-5EB5-7373-5F6294E8760E}"/>
              </a:ext>
            </a:extLst>
          </p:cNvPr>
          <p:cNvSpPr txBox="1"/>
          <p:nvPr/>
        </p:nvSpPr>
        <p:spPr>
          <a:xfrm>
            <a:off x="6368832" y="2455168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D6DF6-9E4A-D29E-22A2-59CC63DB7A6A}"/>
              </a:ext>
            </a:extLst>
          </p:cNvPr>
          <p:cNvSpPr txBox="1"/>
          <p:nvPr/>
        </p:nvSpPr>
        <p:spPr>
          <a:xfrm>
            <a:off x="7327898" y="245516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C1B0E6-5D9E-FEA2-10F6-DF9FE7F6B259}"/>
              </a:ext>
            </a:extLst>
          </p:cNvPr>
          <p:cNvSpPr txBox="1"/>
          <p:nvPr/>
        </p:nvSpPr>
        <p:spPr>
          <a:xfrm>
            <a:off x="8336010" y="24360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3D1139-6715-51BD-13BA-B4FF0FAF4888}"/>
              </a:ext>
            </a:extLst>
          </p:cNvPr>
          <p:cNvSpPr txBox="1"/>
          <p:nvPr/>
        </p:nvSpPr>
        <p:spPr>
          <a:xfrm>
            <a:off x="8336010" y="1519064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E5A57D-024D-CB03-83D7-F6E116AD8F7F}"/>
              </a:ext>
            </a:extLst>
          </p:cNvPr>
          <p:cNvGrpSpPr/>
          <p:nvPr/>
        </p:nvGrpSpPr>
        <p:grpSpPr>
          <a:xfrm>
            <a:off x="4971364" y="3575253"/>
            <a:ext cx="968788" cy="927150"/>
            <a:chOff x="4496347" y="5192752"/>
            <a:chExt cx="1296144" cy="1240437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5C717A4-53F2-C6C3-E275-1F18A256AC87}"/>
                </a:ext>
              </a:extLst>
            </p:cNvPr>
            <p:cNvSpPr/>
            <p:nvPr/>
          </p:nvSpPr>
          <p:spPr>
            <a:xfrm>
              <a:off x="4496347" y="5192752"/>
              <a:ext cx="1296144" cy="1240437"/>
            </a:xfrm>
            <a:prstGeom prst="ellipse">
              <a:avLst/>
            </a:prstGeom>
            <a:solidFill>
              <a:srgbClr val="00B050">
                <a:alpha val="43000"/>
              </a:srgb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FFFFFF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FAB87A6-23C3-E16C-EEE5-422F793F4186}"/>
                </a:ext>
              </a:extLst>
            </p:cNvPr>
            <p:cNvSpPr txBox="1"/>
            <p:nvPr/>
          </p:nvSpPr>
          <p:spPr>
            <a:xfrm>
              <a:off x="4893776" y="5727151"/>
              <a:ext cx="513003" cy="700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5669E24-5EEB-B3D9-7A46-020B1857DECD}"/>
                </a:ext>
              </a:extLst>
            </p:cNvPr>
            <p:cNvSpPr txBox="1"/>
            <p:nvPr/>
          </p:nvSpPr>
          <p:spPr>
            <a:xfrm>
              <a:off x="5168529" y="5261720"/>
              <a:ext cx="510859" cy="700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C1F1F51-A4C0-B2E8-5570-14CA5EED0348}"/>
                </a:ext>
              </a:extLst>
            </p:cNvPr>
            <p:cNvSpPr txBox="1"/>
            <p:nvPr/>
          </p:nvSpPr>
          <p:spPr>
            <a:xfrm>
              <a:off x="4700028" y="5261720"/>
              <a:ext cx="480834" cy="700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3">
                <a:extLst>
                  <a:ext uri="{FF2B5EF4-FFF2-40B4-BE49-F238E27FC236}">
                    <a16:creationId xmlns:a16="http://schemas.microsoft.com/office/drawing/2014/main" id="{A30E5AAD-B0C1-D796-3F20-922455EDF9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</p:spPr>
            <p:txBody>
              <a:bodyPr/>
              <a:lstStyle/>
              <a:p>
                <a:r>
                  <a:rPr lang="en-US" dirty="0"/>
                  <a:t>A tree decomposition is: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Tree with a vertex set associated to every node, we call this a bag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all edges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there is a bag containing both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nodes that contain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form a connected subtree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0" name="Content Placeholder 3">
                <a:extLst>
                  <a:ext uri="{FF2B5EF4-FFF2-40B4-BE49-F238E27FC236}">
                    <a16:creationId xmlns:a16="http://schemas.microsoft.com/office/drawing/2014/main" id="{A30E5AAD-B0C1-D796-3F20-922455EDF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  <a:blipFill>
                <a:blip r:embed="rId2"/>
                <a:stretch>
                  <a:fillRect l="-344" t="-769" r="-223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Freeform 1146">
            <a:extLst>
              <a:ext uri="{FF2B5EF4-FFF2-40B4-BE49-F238E27FC236}">
                <a16:creationId xmlns:a16="http://schemas.microsoft.com/office/drawing/2014/main" id="{96A7A384-103E-A244-9247-EF89A3188961}"/>
              </a:ext>
            </a:extLst>
          </p:cNvPr>
          <p:cNvSpPr/>
          <p:nvPr/>
        </p:nvSpPr>
        <p:spPr>
          <a:xfrm>
            <a:off x="6214536" y="559594"/>
            <a:ext cx="1667826" cy="2538412"/>
          </a:xfrm>
          <a:custGeom>
            <a:avLst/>
            <a:gdLst>
              <a:gd name="connsiteX0" fmla="*/ 1615438 w 1667826"/>
              <a:gd name="connsiteY0" fmla="*/ 195262 h 2538412"/>
              <a:gd name="connsiteX1" fmla="*/ 1601151 w 1667826"/>
              <a:gd name="connsiteY1" fmla="*/ 133350 h 2538412"/>
              <a:gd name="connsiteX2" fmla="*/ 1596388 w 1667826"/>
              <a:gd name="connsiteY2" fmla="*/ 119062 h 2538412"/>
              <a:gd name="connsiteX3" fmla="*/ 1582101 w 1667826"/>
              <a:gd name="connsiteY3" fmla="*/ 109537 h 2538412"/>
              <a:gd name="connsiteX4" fmla="*/ 1577338 w 1667826"/>
              <a:gd name="connsiteY4" fmla="*/ 95250 h 2538412"/>
              <a:gd name="connsiteX5" fmla="*/ 1548763 w 1667826"/>
              <a:gd name="connsiteY5" fmla="*/ 76200 h 2538412"/>
              <a:gd name="connsiteX6" fmla="*/ 1534476 w 1667826"/>
              <a:gd name="connsiteY6" fmla="*/ 66675 h 2538412"/>
              <a:gd name="connsiteX7" fmla="*/ 1491613 w 1667826"/>
              <a:gd name="connsiteY7" fmla="*/ 38100 h 2538412"/>
              <a:gd name="connsiteX8" fmla="*/ 1477326 w 1667826"/>
              <a:gd name="connsiteY8" fmla="*/ 28575 h 2538412"/>
              <a:gd name="connsiteX9" fmla="*/ 1434463 w 1667826"/>
              <a:gd name="connsiteY9" fmla="*/ 14287 h 2538412"/>
              <a:gd name="connsiteX10" fmla="*/ 1420176 w 1667826"/>
              <a:gd name="connsiteY10" fmla="*/ 9525 h 2538412"/>
              <a:gd name="connsiteX11" fmla="*/ 1367788 w 1667826"/>
              <a:gd name="connsiteY11" fmla="*/ 0 h 2538412"/>
              <a:gd name="connsiteX12" fmla="*/ 1324926 w 1667826"/>
              <a:gd name="connsiteY12" fmla="*/ 4762 h 2538412"/>
              <a:gd name="connsiteX13" fmla="*/ 1305876 w 1667826"/>
              <a:gd name="connsiteY13" fmla="*/ 9525 h 2538412"/>
              <a:gd name="connsiteX14" fmla="*/ 1210626 w 1667826"/>
              <a:gd name="connsiteY14" fmla="*/ 14287 h 2538412"/>
              <a:gd name="connsiteX15" fmla="*/ 1196338 w 1667826"/>
              <a:gd name="connsiteY15" fmla="*/ 19050 h 2538412"/>
              <a:gd name="connsiteX16" fmla="*/ 1177288 w 1667826"/>
              <a:gd name="connsiteY16" fmla="*/ 23812 h 2538412"/>
              <a:gd name="connsiteX17" fmla="*/ 1148713 w 1667826"/>
              <a:gd name="connsiteY17" fmla="*/ 33337 h 2538412"/>
              <a:gd name="connsiteX18" fmla="*/ 1120138 w 1667826"/>
              <a:gd name="connsiteY18" fmla="*/ 52387 h 2538412"/>
              <a:gd name="connsiteX19" fmla="*/ 1096326 w 1667826"/>
              <a:gd name="connsiteY19" fmla="*/ 76200 h 2538412"/>
              <a:gd name="connsiteX20" fmla="*/ 1077276 w 1667826"/>
              <a:gd name="connsiteY20" fmla="*/ 104775 h 2538412"/>
              <a:gd name="connsiteX21" fmla="*/ 1067751 w 1667826"/>
              <a:gd name="connsiteY21" fmla="*/ 119062 h 2538412"/>
              <a:gd name="connsiteX22" fmla="*/ 1039176 w 1667826"/>
              <a:gd name="connsiteY22" fmla="*/ 147637 h 2538412"/>
              <a:gd name="connsiteX23" fmla="*/ 1005838 w 1667826"/>
              <a:gd name="connsiteY23" fmla="*/ 190500 h 2538412"/>
              <a:gd name="connsiteX24" fmla="*/ 986788 w 1667826"/>
              <a:gd name="connsiteY24" fmla="*/ 233362 h 2538412"/>
              <a:gd name="connsiteX25" fmla="*/ 977263 w 1667826"/>
              <a:gd name="connsiteY25" fmla="*/ 261937 h 2538412"/>
              <a:gd name="connsiteX26" fmla="*/ 972501 w 1667826"/>
              <a:gd name="connsiteY26" fmla="*/ 276225 h 2538412"/>
              <a:gd name="connsiteX27" fmla="*/ 953451 w 1667826"/>
              <a:gd name="connsiteY27" fmla="*/ 304800 h 2538412"/>
              <a:gd name="connsiteX28" fmla="*/ 943926 w 1667826"/>
              <a:gd name="connsiteY28" fmla="*/ 319087 h 2538412"/>
              <a:gd name="connsiteX29" fmla="*/ 929638 w 1667826"/>
              <a:gd name="connsiteY29" fmla="*/ 328612 h 2538412"/>
              <a:gd name="connsiteX30" fmla="*/ 910588 w 1667826"/>
              <a:gd name="connsiteY30" fmla="*/ 357187 h 2538412"/>
              <a:gd name="connsiteX31" fmla="*/ 905826 w 1667826"/>
              <a:gd name="connsiteY31" fmla="*/ 371475 h 2538412"/>
              <a:gd name="connsiteX32" fmla="*/ 896301 w 1667826"/>
              <a:gd name="connsiteY32" fmla="*/ 385762 h 2538412"/>
              <a:gd name="connsiteX33" fmla="*/ 891538 w 1667826"/>
              <a:gd name="connsiteY33" fmla="*/ 400050 h 2538412"/>
              <a:gd name="connsiteX34" fmla="*/ 858201 w 1667826"/>
              <a:gd name="connsiteY34" fmla="*/ 442912 h 2538412"/>
              <a:gd name="connsiteX35" fmla="*/ 848676 w 1667826"/>
              <a:gd name="connsiteY35" fmla="*/ 457200 h 2538412"/>
              <a:gd name="connsiteX36" fmla="*/ 834388 w 1667826"/>
              <a:gd name="connsiteY36" fmla="*/ 471487 h 2538412"/>
              <a:gd name="connsiteX37" fmla="*/ 815338 w 1667826"/>
              <a:gd name="connsiteY37" fmla="*/ 504825 h 2538412"/>
              <a:gd name="connsiteX38" fmla="*/ 801051 w 1667826"/>
              <a:gd name="connsiteY38" fmla="*/ 528637 h 2538412"/>
              <a:gd name="connsiteX39" fmla="*/ 786763 w 1667826"/>
              <a:gd name="connsiteY39" fmla="*/ 538162 h 2538412"/>
              <a:gd name="connsiteX40" fmla="*/ 758188 w 1667826"/>
              <a:gd name="connsiteY40" fmla="*/ 581025 h 2538412"/>
              <a:gd name="connsiteX41" fmla="*/ 748663 w 1667826"/>
              <a:gd name="connsiteY41" fmla="*/ 595312 h 2538412"/>
              <a:gd name="connsiteX42" fmla="*/ 739138 w 1667826"/>
              <a:gd name="connsiteY42" fmla="*/ 623887 h 2538412"/>
              <a:gd name="connsiteX43" fmla="*/ 734376 w 1667826"/>
              <a:gd name="connsiteY43" fmla="*/ 638175 h 2538412"/>
              <a:gd name="connsiteX44" fmla="*/ 715326 w 1667826"/>
              <a:gd name="connsiteY44" fmla="*/ 666750 h 2538412"/>
              <a:gd name="connsiteX45" fmla="*/ 701038 w 1667826"/>
              <a:gd name="connsiteY45" fmla="*/ 681037 h 2538412"/>
              <a:gd name="connsiteX46" fmla="*/ 667701 w 1667826"/>
              <a:gd name="connsiteY46" fmla="*/ 714375 h 2538412"/>
              <a:gd name="connsiteX47" fmla="*/ 653413 w 1667826"/>
              <a:gd name="connsiteY47" fmla="*/ 728662 h 2538412"/>
              <a:gd name="connsiteX48" fmla="*/ 624838 w 1667826"/>
              <a:gd name="connsiteY48" fmla="*/ 747712 h 2538412"/>
              <a:gd name="connsiteX49" fmla="*/ 610551 w 1667826"/>
              <a:gd name="connsiteY49" fmla="*/ 762000 h 2538412"/>
              <a:gd name="connsiteX50" fmla="*/ 581976 w 1667826"/>
              <a:gd name="connsiteY50" fmla="*/ 781050 h 2538412"/>
              <a:gd name="connsiteX51" fmla="*/ 567688 w 1667826"/>
              <a:gd name="connsiteY51" fmla="*/ 790575 h 2538412"/>
              <a:gd name="connsiteX52" fmla="*/ 539113 w 1667826"/>
              <a:gd name="connsiteY52" fmla="*/ 809625 h 2538412"/>
              <a:gd name="connsiteX53" fmla="*/ 524826 w 1667826"/>
              <a:gd name="connsiteY53" fmla="*/ 819150 h 2538412"/>
              <a:gd name="connsiteX54" fmla="*/ 505776 w 1667826"/>
              <a:gd name="connsiteY54" fmla="*/ 823912 h 2538412"/>
              <a:gd name="connsiteX55" fmla="*/ 491488 w 1667826"/>
              <a:gd name="connsiteY55" fmla="*/ 828675 h 2538412"/>
              <a:gd name="connsiteX56" fmla="*/ 453388 w 1667826"/>
              <a:gd name="connsiteY56" fmla="*/ 838200 h 2538412"/>
              <a:gd name="connsiteX57" fmla="*/ 439101 w 1667826"/>
              <a:gd name="connsiteY57" fmla="*/ 847725 h 2538412"/>
              <a:gd name="connsiteX58" fmla="*/ 420051 w 1667826"/>
              <a:gd name="connsiteY58" fmla="*/ 852487 h 2538412"/>
              <a:gd name="connsiteX59" fmla="*/ 391476 w 1667826"/>
              <a:gd name="connsiteY59" fmla="*/ 862012 h 2538412"/>
              <a:gd name="connsiteX60" fmla="*/ 377188 w 1667826"/>
              <a:gd name="connsiteY60" fmla="*/ 866775 h 2538412"/>
              <a:gd name="connsiteX61" fmla="*/ 329563 w 1667826"/>
              <a:gd name="connsiteY61" fmla="*/ 890587 h 2538412"/>
              <a:gd name="connsiteX62" fmla="*/ 286701 w 1667826"/>
              <a:gd name="connsiteY62" fmla="*/ 909637 h 2538412"/>
              <a:gd name="connsiteX63" fmla="*/ 272413 w 1667826"/>
              <a:gd name="connsiteY63" fmla="*/ 914400 h 2538412"/>
              <a:gd name="connsiteX64" fmla="*/ 243838 w 1667826"/>
              <a:gd name="connsiteY64" fmla="*/ 933450 h 2538412"/>
              <a:gd name="connsiteX65" fmla="*/ 220026 w 1667826"/>
              <a:gd name="connsiteY65" fmla="*/ 952500 h 2538412"/>
              <a:gd name="connsiteX66" fmla="*/ 191451 w 1667826"/>
              <a:gd name="connsiteY66" fmla="*/ 971550 h 2538412"/>
              <a:gd name="connsiteX67" fmla="*/ 177163 w 1667826"/>
              <a:gd name="connsiteY67" fmla="*/ 981075 h 2538412"/>
              <a:gd name="connsiteX68" fmla="*/ 148588 w 1667826"/>
              <a:gd name="connsiteY68" fmla="*/ 990600 h 2538412"/>
              <a:gd name="connsiteX69" fmla="*/ 134301 w 1667826"/>
              <a:gd name="connsiteY69" fmla="*/ 1004887 h 2538412"/>
              <a:gd name="connsiteX70" fmla="*/ 120013 w 1667826"/>
              <a:gd name="connsiteY70" fmla="*/ 1009650 h 2538412"/>
              <a:gd name="connsiteX71" fmla="*/ 110488 w 1667826"/>
              <a:gd name="connsiteY71" fmla="*/ 1023937 h 2538412"/>
              <a:gd name="connsiteX72" fmla="*/ 96201 w 1667826"/>
              <a:gd name="connsiteY72" fmla="*/ 1033462 h 2538412"/>
              <a:gd name="connsiteX73" fmla="*/ 77151 w 1667826"/>
              <a:gd name="connsiteY73" fmla="*/ 1062037 h 2538412"/>
              <a:gd name="connsiteX74" fmla="*/ 67626 w 1667826"/>
              <a:gd name="connsiteY74" fmla="*/ 1076325 h 2538412"/>
              <a:gd name="connsiteX75" fmla="*/ 53338 w 1667826"/>
              <a:gd name="connsiteY75" fmla="*/ 1085850 h 2538412"/>
              <a:gd name="connsiteX76" fmla="*/ 34288 w 1667826"/>
              <a:gd name="connsiteY76" fmla="*/ 1128712 h 2538412"/>
              <a:gd name="connsiteX77" fmla="*/ 15238 w 1667826"/>
              <a:gd name="connsiteY77" fmla="*/ 1185862 h 2538412"/>
              <a:gd name="connsiteX78" fmla="*/ 10476 w 1667826"/>
              <a:gd name="connsiteY78" fmla="*/ 1200150 h 2538412"/>
              <a:gd name="connsiteX79" fmla="*/ 5713 w 1667826"/>
              <a:gd name="connsiteY79" fmla="*/ 1214437 h 2538412"/>
              <a:gd name="connsiteX80" fmla="*/ 5713 w 1667826"/>
              <a:gd name="connsiteY80" fmla="*/ 1314450 h 2538412"/>
              <a:gd name="connsiteX81" fmla="*/ 20001 w 1667826"/>
              <a:gd name="connsiteY81" fmla="*/ 1347787 h 2538412"/>
              <a:gd name="connsiteX82" fmla="*/ 34288 w 1667826"/>
              <a:gd name="connsiteY82" fmla="*/ 1352550 h 2538412"/>
              <a:gd name="connsiteX83" fmla="*/ 43813 w 1667826"/>
              <a:gd name="connsiteY83" fmla="*/ 1381125 h 2538412"/>
              <a:gd name="connsiteX84" fmla="*/ 58101 w 1667826"/>
              <a:gd name="connsiteY84" fmla="*/ 1409700 h 2538412"/>
              <a:gd name="connsiteX85" fmla="*/ 72388 w 1667826"/>
              <a:gd name="connsiteY85" fmla="*/ 1490662 h 2538412"/>
              <a:gd name="connsiteX86" fmla="*/ 86676 w 1667826"/>
              <a:gd name="connsiteY86" fmla="*/ 1495425 h 2538412"/>
              <a:gd name="connsiteX87" fmla="*/ 120013 w 1667826"/>
              <a:gd name="connsiteY87" fmla="*/ 1538287 h 2538412"/>
              <a:gd name="connsiteX88" fmla="*/ 129538 w 1667826"/>
              <a:gd name="connsiteY88" fmla="*/ 1552575 h 2538412"/>
              <a:gd name="connsiteX89" fmla="*/ 158113 w 1667826"/>
              <a:gd name="connsiteY89" fmla="*/ 1566862 h 2538412"/>
              <a:gd name="connsiteX90" fmla="*/ 167638 w 1667826"/>
              <a:gd name="connsiteY90" fmla="*/ 1581150 h 2538412"/>
              <a:gd name="connsiteX91" fmla="*/ 181926 w 1667826"/>
              <a:gd name="connsiteY91" fmla="*/ 1585912 h 2538412"/>
              <a:gd name="connsiteX92" fmla="*/ 210501 w 1667826"/>
              <a:gd name="connsiteY92" fmla="*/ 1600200 h 2538412"/>
              <a:gd name="connsiteX93" fmla="*/ 220026 w 1667826"/>
              <a:gd name="connsiteY93" fmla="*/ 1614487 h 2538412"/>
              <a:gd name="connsiteX94" fmla="*/ 234313 w 1667826"/>
              <a:gd name="connsiteY94" fmla="*/ 1619250 h 2538412"/>
              <a:gd name="connsiteX95" fmla="*/ 262888 w 1667826"/>
              <a:gd name="connsiteY95" fmla="*/ 1633537 h 2538412"/>
              <a:gd name="connsiteX96" fmla="*/ 291463 w 1667826"/>
              <a:gd name="connsiteY96" fmla="*/ 1657350 h 2538412"/>
              <a:gd name="connsiteX97" fmla="*/ 334326 w 1667826"/>
              <a:gd name="connsiteY97" fmla="*/ 1685925 h 2538412"/>
              <a:gd name="connsiteX98" fmla="*/ 348613 w 1667826"/>
              <a:gd name="connsiteY98" fmla="*/ 1695450 h 2538412"/>
              <a:gd name="connsiteX99" fmla="*/ 362901 w 1667826"/>
              <a:gd name="connsiteY99" fmla="*/ 1709737 h 2538412"/>
              <a:gd name="connsiteX100" fmla="*/ 377188 w 1667826"/>
              <a:gd name="connsiteY100" fmla="*/ 1714500 h 2538412"/>
              <a:gd name="connsiteX101" fmla="*/ 396238 w 1667826"/>
              <a:gd name="connsiteY101" fmla="*/ 1724025 h 2538412"/>
              <a:gd name="connsiteX102" fmla="*/ 410526 w 1667826"/>
              <a:gd name="connsiteY102" fmla="*/ 1738312 h 2538412"/>
              <a:gd name="connsiteX103" fmla="*/ 429576 w 1667826"/>
              <a:gd name="connsiteY103" fmla="*/ 1781175 h 2538412"/>
              <a:gd name="connsiteX104" fmla="*/ 439101 w 1667826"/>
              <a:gd name="connsiteY104" fmla="*/ 1800225 h 2538412"/>
              <a:gd name="connsiteX105" fmla="*/ 453388 w 1667826"/>
              <a:gd name="connsiteY105" fmla="*/ 1809750 h 2538412"/>
              <a:gd name="connsiteX106" fmla="*/ 491488 w 1667826"/>
              <a:gd name="connsiteY106" fmla="*/ 1833562 h 2538412"/>
              <a:gd name="connsiteX107" fmla="*/ 510538 w 1667826"/>
              <a:gd name="connsiteY107" fmla="*/ 1862137 h 2538412"/>
              <a:gd name="connsiteX108" fmla="*/ 515301 w 1667826"/>
              <a:gd name="connsiteY108" fmla="*/ 1876425 h 2538412"/>
              <a:gd name="connsiteX109" fmla="*/ 534351 w 1667826"/>
              <a:gd name="connsiteY109" fmla="*/ 1895475 h 2538412"/>
              <a:gd name="connsiteX110" fmla="*/ 562926 w 1667826"/>
              <a:gd name="connsiteY110" fmla="*/ 1928812 h 2538412"/>
              <a:gd name="connsiteX111" fmla="*/ 567688 w 1667826"/>
              <a:gd name="connsiteY111" fmla="*/ 1943100 h 2538412"/>
              <a:gd name="connsiteX112" fmla="*/ 591501 w 1667826"/>
              <a:gd name="connsiteY112" fmla="*/ 1971675 h 2538412"/>
              <a:gd name="connsiteX113" fmla="*/ 605788 w 1667826"/>
              <a:gd name="connsiteY113" fmla="*/ 2000250 h 2538412"/>
              <a:gd name="connsiteX114" fmla="*/ 624838 w 1667826"/>
              <a:gd name="connsiteY114" fmla="*/ 2005012 h 2538412"/>
              <a:gd name="connsiteX115" fmla="*/ 639126 w 1667826"/>
              <a:gd name="connsiteY115" fmla="*/ 2014537 h 2538412"/>
              <a:gd name="connsiteX116" fmla="*/ 667701 w 1667826"/>
              <a:gd name="connsiteY116" fmla="*/ 2024062 h 2538412"/>
              <a:gd name="connsiteX117" fmla="*/ 705801 w 1667826"/>
              <a:gd name="connsiteY117" fmla="*/ 2057400 h 2538412"/>
              <a:gd name="connsiteX118" fmla="*/ 720088 w 1667826"/>
              <a:gd name="connsiteY118" fmla="*/ 2066925 h 2538412"/>
              <a:gd name="connsiteX119" fmla="*/ 734376 w 1667826"/>
              <a:gd name="connsiteY119" fmla="*/ 2076450 h 2538412"/>
              <a:gd name="connsiteX120" fmla="*/ 743901 w 1667826"/>
              <a:gd name="connsiteY120" fmla="*/ 2090737 h 2538412"/>
              <a:gd name="connsiteX121" fmla="*/ 786763 w 1667826"/>
              <a:gd name="connsiteY121" fmla="*/ 2105025 h 2538412"/>
              <a:gd name="connsiteX122" fmla="*/ 801051 w 1667826"/>
              <a:gd name="connsiteY122" fmla="*/ 2114550 h 2538412"/>
              <a:gd name="connsiteX123" fmla="*/ 824863 w 1667826"/>
              <a:gd name="connsiteY123" fmla="*/ 2138362 h 2538412"/>
              <a:gd name="connsiteX124" fmla="*/ 853438 w 1667826"/>
              <a:gd name="connsiteY124" fmla="*/ 2143125 h 2538412"/>
              <a:gd name="connsiteX125" fmla="*/ 896301 w 1667826"/>
              <a:gd name="connsiteY125" fmla="*/ 2176462 h 2538412"/>
              <a:gd name="connsiteX126" fmla="*/ 915351 w 1667826"/>
              <a:gd name="connsiteY126" fmla="*/ 2205037 h 2538412"/>
              <a:gd name="connsiteX127" fmla="*/ 924876 w 1667826"/>
              <a:gd name="connsiteY127" fmla="*/ 2219325 h 2538412"/>
              <a:gd name="connsiteX128" fmla="*/ 929638 w 1667826"/>
              <a:gd name="connsiteY128" fmla="*/ 2233612 h 2538412"/>
              <a:gd name="connsiteX129" fmla="*/ 948688 w 1667826"/>
              <a:gd name="connsiteY129" fmla="*/ 2262187 h 2538412"/>
              <a:gd name="connsiteX130" fmla="*/ 972501 w 1667826"/>
              <a:gd name="connsiteY130" fmla="*/ 2300287 h 2538412"/>
              <a:gd name="connsiteX131" fmla="*/ 991551 w 1667826"/>
              <a:gd name="connsiteY131" fmla="*/ 2333625 h 2538412"/>
              <a:gd name="connsiteX132" fmla="*/ 1020126 w 1667826"/>
              <a:gd name="connsiteY132" fmla="*/ 2376487 h 2538412"/>
              <a:gd name="connsiteX133" fmla="*/ 1029651 w 1667826"/>
              <a:gd name="connsiteY133" fmla="*/ 2390775 h 2538412"/>
              <a:gd name="connsiteX134" fmla="*/ 1058226 w 1667826"/>
              <a:gd name="connsiteY134" fmla="*/ 2409825 h 2538412"/>
              <a:gd name="connsiteX135" fmla="*/ 1077276 w 1667826"/>
              <a:gd name="connsiteY135" fmla="*/ 2438400 h 2538412"/>
              <a:gd name="connsiteX136" fmla="*/ 1086801 w 1667826"/>
              <a:gd name="connsiteY136" fmla="*/ 2486025 h 2538412"/>
              <a:gd name="connsiteX137" fmla="*/ 1096326 w 1667826"/>
              <a:gd name="connsiteY137" fmla="*/ 2500312 h 2538412"/>
              <a:gd name="connsiteX138" fmla="*/ 1110613 w 1667826"/>
              <a:gd name="connsiteY138" fmla="*/ 2505075 h 2538412"/>
              <a:gd name="connsiteX139" fmla="*/ 1148713 w 1667826"/>
              <a:gd name="connsiteY139" fmla="*/ 2509837 h 2538412"/>
              <a:gd name="connsiteX140" fmla="*/ 1210626 w 1667826"/>
              <a:gd name="connsiteY140" fmla="*/ 2524125 h 2538412"/>
              <a:gd name="connsiteX141" fmla="*/ 1263013 w 1667826"/>
              <a:gd name="connsiteY141" fmla="*/ 2533650 h 2538412"/>
              <a:gd name="connsiteX142" fmla="*/ 1296351 w 1667826"/>
              <a:gd name="connsiteY142" fmla="*/ 2538412 h 2538412"/>
              <a:gd name="connsiteX143" fmla="*/ 1439226 w 1667826"/>
              <a:gd name="connsiteY143" fmla="*/ 2533650 h 2538412"/>
              <a:gd name="connsiteX144" fmla="*/ 1482088 w 1667826"/>
              <a:gd name="connsiteY144" fmla="*/ 2509837 h 2538412"/>
              <a:gd name="connsiteX145" fmla="*/ 1496376 w 1667826"/>
              <a:gd name="connsiteY145" fmla="*/ 2500312 h 2538412"/>
              <a:gd name="connsiteX146" fmla="*/ 1505901 w 1667826"/>
              <a:gd name="connsiteY146" fmla="*/ 2486025 h 2538412"/>
              <a:gd name="connsiteX147" fmla="*/ 1534476 w 1667826"/>
              <a:gd name="connsiteY147" fmla="*/ 2466975 h 2538412"/>
              <a:gd name="connsiteX148" fmla="*/ 1544001 w 1667826"/>
              <a:gd name="connsiteY148" fmla="*/ 2452687 h 2538412"/>
              <a:gd name="connsiteX149" fmla="*/ 1558288 w 1667826"/>
              <a:gd name="connsiteY149" fmla="*/ 2443162 h 2538412"/>
              <a:gd name="connsiteX150" fmla="*/ 1577338 w 1667826"/>
              <a:gd name="connsiteY150" fmla="*/ 2414587 h 2538412"/>
              <a:gd name="connsiteX151" fmla="*/ 1582101 w 1667826"/>
              <a:gd name="connsiteY151" fmla="*/ 2400300 h 2538412"/>
              <a:gd name="connsiteX152" fmla="*/ 1596388 w 1667826"/>
              <a:gd name="connsiteY152" fmla="*/ 2386012 h 2538412"/>
              <a:gd name="connsiteX153" fmla="*/ 1615438 w 1667826"/>
              <a:gd name="connsiteY153" fmla="*/ 2357437 h 2538412"/>
              <a:gd name="connsiteX154" fmla="*/ 1620201 w 1667826"/>
              <a:gd name="connsiteY154" fmla="*/ 2343150 h 2538412"/>
              <a:gd name="connsiteX155" fmla="*/ 1629726 w 1667826"/>
              <a:gd name="connsiteY155" fmla="*/ 2328862 h 2538412"/>
              <a:gd name="connsiteX156" fmla="*/ 1644013 w 1667826"/>
              <a:gd name="connsiteY156" fmla="*/ 2266950 h 2538412"/>
              <a:gd name="connsiteX157" fmla="*/ 1648776 w 1667826"/>
              <a:gd name="connsiteY157" fmla="*/ 2252662 h 2538412"/>
              <a:gd name="connsiteX158" fmla="*/ 1653538 w 1667826"/>
              <a:gd name="connsiteY158" fmla="*/ 2233612 h 2538412"/>
              <a:gd name="connsiteX159" fmla="*/ 1658301 w 1667826"/>
              <a:gd name="connsiteY159" fmla="*/ 2190750 h 2538412"/>
              <a:gd name="connsiteX160" fmla="*/ 1663063 w 1667826"/>
              <a:gd name="connsiteY160" fmla="*/ 2176462 h 2538412"/>
              <a:gd name="connsiteX161" fmla="*/ 1667826 w 1667826"/>
              <a:gd name="connsiteY161" fmla="*/ 2133600 h 2538412"/>
              <a:gd name="connsiteX162" fmla="*/ 1658301 w 1667826"/>
              <a:gd name="connsiteY162" fmla="*/ 1957387 h 2538412"/>
              <a:gd name="connsiteX163" fmla="*/ 1644013 w 1667826"/>
              <a:gd name="connsiteY163" fmla="*/ 1952625 h 2538412"/>
              <a:gd name="connsiteX164" fmla="*/ 1639251 w 1667826"/>
              <a:gd name="connsiteY164" fmla="*/ 1933575 h 2538412"/>
              <a:gd name="connsiteX165" fmla="*/ 1629726 w 1667826"/>
              <a:gd name="connsiteY165" fmla="*/ 1890712 h 2538412"/>
              <a:gd name="connsiteX166" fmla="*/ 1634488 w 1667826"/>
              <a:gd name="connsiteY166" fmla="*/ 1438275 h 2538412"/>
              <a:gd name="connsiteX167" fmla="*/ 1639251 w 1667826"/>
              <a:gd name="connsiteY167" fmla="*/ 514350 h 2538412"/>
              <a:gd name="connsiteX168" fmla="*/ 1644013 w 1667826"/>
              <a:gd name="connsiteY168" fmla="*/ 500062 h 2538412"/>
              <a:gd name="connsiteX169" fmla="*/ 1644013 w 1667826"/>
              <a:gd name="connsiteY169" fmla="*/ 280987 h 2538412"/>
              <a:gd name="connsiteX170" fmla="*/ 1634488 w 1667826"/>
              <a:gd name="connsiteY170" fmla="*/ 266700 h 2538412"/>
              <a:gd name="connsiteX171" fmla="*/ 1624963 w 1667826"/>
              <a:gd name="connsiteY171" fmla="*/ 238125 h 2538412"/>
              <a:gd name="connsiteX172" fmla="*/ 1615438 w 1667826"/>
              <a:gd name="connsiteY172" fmla="*/ 223837 h 2538412"/>
              <a:gd name="connsiteX173" fmla="*/ 1615438 w 1667826"/>
              <a:gd name="connsiteY173" fmla="*/ 195262 h 253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</a:cxnLst>
            <a:rect l="l" t="t" r="r" b="b"/>
            <a:pathLst>
              <a:path w="1667826" h="2538412">
                <a:moveTo>
                  <a:pt x="1615438" y="195262"/>
                </a:moveTo>
                <a:cubicBezTo>
                  <a:pt x="1613057" y="180181"/>
                  <a:pt x="1620674" y="172395"/>
                  <a:pt x="1601151" y="133350"/>
                </a:cubicBezTo>
                <a:cubicBezTo>
                  <a:pt x="1598906" y="128860"/>
                  <a:pt x="1599524" y="122982"/>
                  <a:pt x="1596388" y="119062"/>
                </a:cubicBezTo>
                <a:cubicBezTo>
                  <a:pt x="1592812" y="114593"/>
                  <a:pt x="1586863" y="112712"/>
                  <a:pt x="1582101" y="109537"/>
                </a:cubicBezTo>
                <a:cubicBezTo>
                  <a:pt x="1580513" y="104775"/>
                  <a:pt x="1580888" y="98800"/>
                  <a:pt x="1577338" y="95250"/>
                </a:cubicBezTo>
                <a:cubicBezTo>
                  <a:pt x="1569243" y="87155"/>
                  <a:pt x="1558288" y="82550"/>
                  <a:pt x="1548763" y="76200"/>
                </a:cubicBezTo>
                <a:lnTo>
                  <a:pt x="1534476" y="66675"/>
                </a:lnTo>
                <a:lnTo>
                  <a:pt x="1491613" y="38100"/>
                </a:lnTo>
                <a:cubicBezTo>
                  <a:pt x="1486851" y="34925"/>
                  <a:pt x="1482756" y="30385"/>
                  <a:pt x="1477326" y="28575"/>
                </a:cubicBezTo>
                <a:lnTo>
                  <a:pt x="1434463" y="14287"/>
                </a:lnTo>
                <a:cubicBezTo>
                  <a:pt x="1429701" y="12700"/>
                  <a:pt x="1425145" y="10235"/>
                  <a:pt x="1420176" y="9525"/>
                </a:cubicBezTo>
                <a:cubicBezTo>
                  <a:pt x="1380358" y="3836"/>
                  <a:pt x="1397728" y="7484"/>
                  <a:pt x="1367788" y="0"/>
                </a:cubicBezTo>
                <a:cubicBezTo>
                  <a:pt x="1353501" y="1587"/>
                  <a:pt x="1339134" y="2576"/>
                  <a:pt x="1324926" y="4762"/>
                </a:cubicBezTo>
                <a:cubicBezTo>
                  <a:pt x="1318457" y="5757"/>
                  <a:pt x="1312399" y="8981"/>
                  <a:pt x="1305876" y="9525"/>
                </a:cubicBezTo>
                <a:cubicBezTo>
                  <a:pt x="1274196" y="12165"/>
                  <a:pt x="1242376" y="12700"/>
                  <a:pt x="1210626" y="14287"/>
                </a:cubicBezTo>
                <a:cubicBezTo>
                  <a:pt x="1205863" y="15875"/>
                  <a:pt x="1201165" y="17671"/>
                  <a:pt x="1196338" y="19050"/>
                </a:cubicBezTo>
                <a:cubicBezTo>
                  <a:pt x="1190044" y="20848"/>
                  <a:pt x="1183557" y="21931"/>
                  <a:pt x="1177288" y="23812"/>
                </a:cubicBezTo>
                <a:cubicBezTo>
                  <a:pt x="1167671" y="26697"/>
                  <a:pt x="1148713" y="33337"/>
                  <a:pt x="1148713" y="33337"/>
                </a:cubicBezTo>
                <a:cubicBezTo>
                  <a:pt x="1139188" y="39687"/>
                  <a:pt x="1126488" y="42862"/>
                  <a:pt x="1120138" y="52387"/>
                </a:cubicBezTo>
                <a:cubicBezTo>
                  <a:pt x="1107438" y="71437"/>
                  <a:pt x="1115376" y="63500"/>
                  <a:pt x="1096326" y="76200"/>
                </a:cubicBezTo>
                <a:lnTo>
                  <a:pt x="1077276" y="104775"/>
                </a:lnTo>
                <a:cubicBezTo>
                  <a:pt x="1074101" y="109537"/>
                  <a:pt x="1071798" y="115015"/>
                  <a:pt x="1067751" y="119062"/>
                </a:cubicBezTo>
                <a:cubicBezTo>
                  <a:pt x="1058226" y="128587"/>
                  <a:pt x="1046648" y="136429"/>
                  <a:pt x="1039176" y="147637"/>
                </a:cubicBezTo>
                <a:cubicBezTo>
                  <a:pt x="1016390" y="181816"/>
                  <a:pt x="1028221" y="168117"/>
                  <a:pt x="1005838" y="190500"/>
                </a:cubicBezTo>
                <a:cubicBezTo>
                  <a:pt x="994503" y="224505"/>
                  <a:pt x="1001882" y="210721"/>
                  <a:pt x="986788" y="233362"/>
                </a:cubicBezTo>
                <a:lnTo>
                  <a:pt x="977263" y="261937"/>
                </a:lnTo>
                <a:cubicBezTo>
                  <a:pt x="975676" y="266700"/>
                  <a:pt x="975286" y="272048"/>
                  <a:pt x="972501" y="276225"/>
                </a:cubicBezTo>
                <a:lnTo>
                  <a:pt x="953451" y="304800"/>
                </a:lnTo>
                <a:cubicBezTo>
                  <a:pt x="950276" y="309562"/>
                  <a:pt x="948688" y="315912"/>
                  <a:pt x="943926" y="319087"/>
                </a:cubicBezTo>
                <a:lnTo>
                  <a:pt x="929638" y="328612"/>
                </a:lnTo>
                <a:cubicBezTo>
                  <a:pt x="918315" y="362586"/>
                  <a:pt x="934371" y="321512"/>
                  <a:pt x="910588" y="357187"/>
                </a:cubicBezTo>
                <a:cubicBezTo>
                  <a:pt x="907803" y="361364"/>
                  <a:pt x="908071" y="366985"/>
                  <a:pt x="905826" y="371475"/>
                </a:cubicBezTo>
                <a:cubicBezTo>
                  <a:pt x="903266" y="376594"/>
                  <a:pt x="898861" y="380643"/>
                  <a:pt x="896301" y="385762"/>
                </a:cubicBezTo>
                <a:cubicBezTo>
                  <a:pt x="894056" y="390252"/>
                  <a:pt x="893976" y="395661"/>
                  <a:pt x="891538" y="400050"/>
                </a:cubicBezTo>
                <a:cubicBezTo>
                  <a:pt x="867462" y="443387"/>
                  <a:pt x="881342" y="415142"/>
                  <a:pt x="858201" y="442912"/>
                </a:cubicBezTo>
                <a:cubicBezTo>
                  <a:pt x="854537" y="447309"/>
                  <a:pt x="852340" y="452803"/>
                  <a:pt x="848676" y="457200"/>
                </a:cubicBezTo>
                <a:cubicBezTo>
                  <a:pt x="844364" y="462374"/>
                  <a:pt x="838700" y="466313"/>
                  <a:pt x="834388" y="471487"/>
                </a:cubicBezTo>
                <a:cubicBezTo>
                  <a:pt x="824410" y="483460"/>
                  <a:pt x="823100" y="490854"/>
                  <a:pt x="815338" y="504825"/>
                </a:cubicBezTo>
                <a:cubicBezTo>
                  <a:pt x="810843" y="512917"/>
                  <a:pt x="807075" y="521609"/>
                  <a:pt x="801051" y="528637"/>
                </a:cubicBezTo>
                <a:cubicBezTo>
                  <a:pt x="797326" y="532983"/>
                  <a:pt x="791526" y="534987"/>
                  <a:pt x="786763" y="538162"/>
                </a:cubicBezTo>
                <a:lnTo>
                  <a:pt x="758188" y="581025"/>
                </a:lnTo>
                <a:lnTo>
                  <a:pt x="748663" y="595312"/>
                </a:lnTo>
                <a:lnTo>
                  <a:pt x="739138" y="623887"/>
                </a:lnTo>
                <a:cubicBezTo>
                  <a:pt x="737551" y="628650"/>
                  <a:pt x="737161" y="633998"/>
                  <a:pt x="734376" y="638175"/>
                </a:cubicBezTo>
                <a:cubicBezTo>
                  <a:pt x="728026" y="647700"/>
                  <a:pt x="723421" y="658656"/>
                  <a:pt x="715326" y="666750"/>
                </a:cubicBezTo>
                <a:cubicBezTo>
                  <a:pt x="710563" y="671512"/>
                  <a:pt x="705173" y="675721"/>
                  <a:pt x="701038" y="681037"/>
                </a:cubicBezTo>
                <a:cubicBezTo>
                  <a:pt x="674289" y="715427"/>
                  <a:pt x="695003" y="705273"/>
                  <a:pt x="667701" y="714375"/>
                </a:cubicBezTo>
                <a:cubicBezTo>
                  <a:pt x="662938" y="719137"/>
                  <a:pt x="658729" y="724527"/>
                  <a:pt x="653413" y="728662"/>
                </a:cubicBezTo>
                <a:cubicBezTo>
                  <a:pt x="644377" y="735690"/>
                  <a:pt x="632932" y="739617"/>
                  <a:pt x="624838" y="747712"/>
                </a:cubicBezTo>
                <a:cubicBezTo>
                  <a:pt x="620076" y="752475"/>
                  <a:pt x="615867" y="757865"/>
                  <a:pt x="610551" y="762000"/>
                </a:cubicBezTo>
                <a:cubicBezTo>
                  <a:pt x="601515" y="769028"/>
                  <a:pt x="591501" y="774700"/>
                  <a:pt x="581976" y="781050"/>
                </a:cubicBezTo>
                <a:cubicBezTo>
                  <a:pt x="577213" y="784225"/>
                  <a:pt x="571735" y="786528"/>
                  <a:pt x="567688" y="790575"/>
                </a:cubicBezTo>
                <a:cubicBezTo>
                  <a:pt x="540605" y="817658"/>
                  <a:pt x="566683" y="795840"/>
                  <a:pt x="539113" y="809625"/>
                </a:cubicBezTo>
                <a:cubicBezTo>
                  <a:pt x="533994" y="812185"/>
                  <a:pt x="530087" y="816895"/>
                  <a:pt x="524826" y="819150"/>
                </a:cubicBezTo>
                <a:cubicBezTo>
                  <a:pt x="518810" y="821728"/>
                  <a:pt x="512070" y="822114"/>
                  <a:pt x="505776" y="823912"/>
                </a:cubicBezTo>
                <a:cubicBezTo>
                  <a:pt x="500949" y="825291"/>
                  <a:pt x="496331" y="827354"/>
                  <a:pt x="491488" y="828675"/>
                </a:cubicBezTo>
                <a:cubicBezTo>
                  <a:pt x="478858" y="832120"/>
                  <a:pt x="453388" y="838200"/>
                  <a:pt x="453388" y="838200"/>
                </a:cubicBezTo>
                <a:cubicBezTo>
                  <a:pt x="448626" y="841375"/>
                  <a:pt x="444362" y="845470"/>
                  <a:pt x="439101" y="847725"/>
                </a:cubicBezTo>
                <a:cubicBezTo>
                  <a:pt x="433085" y="850303"/>
                  <a:pt x="426320" y="850606"/>
                  <a:pt x="420051" y="852487"/>
                </a:cubicBezTo>
                <a:cubicBezTo>
                  <a:pt x="410434" y="855372"/>
                  <a:pt x="401001" y="858837"/>
                  <a:pt x="391476" y="862012"/>
                </a:cubicBezTo>
                <a:cubicBezTo>
                  <a:pt x="386713" y="863600"/>
                  <a:pt x="381365" y="863990"/>
                  <a:pt x="377188" y="866775"/>
                </a:cubicBezTo>
                <a:cubicBezTo>
                  <a:pt x="343167" y="889456"/>
                  <a:pt x="359719" y="883049"/>
                  <a:pt x="329563" y="890587"/>
                </a:cubicBezTo>
                <a:cubicBezTo>
                  <a:pt x="306922" y="905682"/>
                  <a:pt x="320707" y="898301"/>
                  <a:pt x="286701" y="909637"/>
                </a:cubicBezTo>
                <a:cubicBezTo>
                  <a:pt x="281938" y="911225"/>
                  <a:pt x="276590" y="911615"/>
                  <a:pt x="272413" y="914400"/>
                </a:cubicBezTo>
                <a:lnTo>
                  <a:pt x="243838" y="933450"/>
                </a:lnTo>
                <a:cubicBezTo>
                  <a:pt x="226239" y="959847"/>
                  <a:pt x="244382" y="938969"/>
                  <a:pt x="220026" y="952500"/>
                </a:cubicBezTo>
                <a:cubicBezTo>
                  <a:pt x="210019" y="958060"/>
                  <a:pt x="200976" y="965200"/>
                  <a:pt x="191451" y="971550"/>
                </a:cubicBezTo>
                <a:cubicBezTo>
                  <a:pt x="186688" y="974725"/>
                  <a:pt x="182593" y="979265"/>
                  <a:pt x="177163" y="981075"/>
                </a:cubicBezTo>
                <a:lnTo>
                  <a:pt x="148588" y="990600"/>
                </a:lnTo>
                <a:cubicBezTo>
                  <a:pt x="143826" y="995362"/>
                  <a:pt x="139905" y="1001151"/>
                  <a:pt x="134301" y="1004887"/>
                </a:cubicBezTo>
                <a:cubicBezTo>
                  <a:pt x="130124" y="1007672"/>
                  <a:pt x="123933" y="1006514"/>
                  <a:pt x="120013" y="1009650"/>
                </a:cubicBezTo>
                <a:cubicBezTo>
                  <a:pt x="115544" y="1013226"/>
                  <a:pt x="114535" y="1019890"/>
                  <a:pt x="110488" y="1023937"/>
                </a:cubicBezTo>
                <a:cubicBezTo>
                  <a:pt x="106441" y="1027984"/>
                  <a:pt x="100963" y="1030287"/>
                  <a:pt x="96201" y="1033462"/>
                </a:cubicBezTo>
                <a:lnTo>
                  <a:pt x="77151" y="1062037"/>
                </a:lnTo>
                <a:cubicBezTo>
                  <a:pt x="73976" y="1066800"/>
                  <a:pt x="72389" y="1073150"/>
                  <a:pt x="67626" y="1076325"/>
                </a:cubicBezTo>
                <a:lnTo>
                  <a:pt x="53338" y="1085850"/>
                </a:lnTo>
                <a:cubicBezTo>
                  <a:pt x="42003" y="1119855"/>
                  <a:pt x="49382" y="1106071"/>
                  <a:pt x="34288" y="1128712"/>
                </a:cubicBezTo>
                <a:lnTo>
                  <a:pt x="15238" y="1185862"/>
                </a:lnTo>
                <a:lnTo>
                  <a:pt x="10476" y="1200150"/>
                </a:lnTo>
                <a:lnTo>
                  <a:pt x="5713" y="1214437"/>
                </a:lnTo>
                <a:cubicBezTo>
                  <a:pt x="-2196" y="1261896"/>
                  <a:pt x="-1609" y="1244887"/>
                  <a:pt x="5713" y="1314450"/>
                </a:cubicBezTo>
                <a:cubicBezTo>
                  <a:pt x="6765" y="1324443"/>
                  <a:pt x="11304" y="1340830"/>
                  <a:pt x="20001" y="1347787"/>
                </a:cubicBezTo>
                <a:cubicBezTo>
                  <a:pt x="23921" y="1350923"/>
                  <a:pt x="29526" y="1350962"/>
                  <a:pt x="34288" y="1352550"/>
                </a:cubicBezTo>
                <a:cubicBezTo>
                  <a:pt x="37463" y="1362075"/>
                  <a:pt x="38244" y="1372771"/>
                  <a:pt x="43813" y="1381125"/>
                </a:cubicBezTo>
                <a:cubicBezTo>
                  <a:pt x="56123" y="1399589"/>
                  <a:pt x="51528" y="1389982"/>
                  <a:pt x="58101" y="1409700"/>
                </a:cubicBezTo>
                <a:cubicBezTo>
                  <a:pt x="58754" y="1418837"/>
                  <a:pt x="51663" y="1474083"/>
                  <a:pt x="72388" y="1490662"/>
                </a:cubicBezTo>
                <a:cubicBezTo>
                  <a:pt x="76308" y="1493798"/>
                  <a:pt x="81913" y="1493837"/>
                  <a:pt x="86676" y="1495425"/>
                </a:cubicBezTo>
                <a:cubicBezTo>
                  <a:pt x="134829" y="1567655"/>
                  <a:pt x="82707" y="1493519"/>
                  <a:pt x="120013" y="1538287"/>
                </a:cubicBezTo>
                <a:cubicBezTo>
                  <a:pt x="123677" y="1542684"/>
                  <a:pt x="125491" y="1548528"/>
                  <a:pt x="129538" y="1552575"/>
                </a:cubicBezTo>
                <a:cubicBezTo>
                  <a:pt x="138770" y="1561807"/>
                  <a:pt x="146493" y="1562989"/>
                  <a:pt x="158113" y="1566862"/>
                </a:cubicBezTo>
                <a:cubicBezTo>
                  <a:pt x="161288" y="1571625"/>
                  <a:pt x="163168" y="1577574"/>
                  <a:pt x="167638" y="1581150"/>
                </a:cubicBezTo>
                <a:cubicBezTo>
                  <a:pt x="171558" y="1584286"/>
                  <a:pt x="177436" y="1583667"/>
                  <a:pt x="181926" y="1585912"/>
                </a:cubicBezTo>
                <a:cubicBezTo>
                  <a:pt x="218863" y="1604380"/>
                  <a:pt x="174580" y="1588225"/>
                  <a:pt x="210501" y="1600200"/>
                </a:cubicBezTo>
                <a:cubicBezTo>
                  <a:pt x="213676" y="1604962"/>
                  <a:pt x="215557" y="1610911"/>
                  <a:pt x="220026" y="1614487"/>
                </a:cubicBezTo>
                <a:cubicBezTo>
                  <a:pt x="223946" y="1617623"/>
                  <a:pt x="229823" y="1617005"/>
                  <a:pt x="234313" y="1619250"/>
                </a:cubicBezTo>
                <a:cubicBezTo>
                  <a:pt x="271234" y="1637711"/>
                  <a:pt x="226985" y="1621570"/>
                  <a:pt x="262888" y="1633537"/>
                </a:cubicBezTo>
                <a:cubicBezTo>
                  <a:pt x="313938" y="1667569"/>
                  <a:pt x="236467" y="1614574"/>
                  <a:pt x="291463" y="1657350"/>
                </a:cubicBezTo>
                <a:cubicBezTo>
                  <a:pt x="291473" y="1657358"/>
                  <a:pt x="327177" y="1681159"/>
                  <a:pt x="334326" y="1685925"/>
                </a:cubicBezTo>
                <a:cubicBezTo>
                  <a:pt x="339088" y="1689100"/>
                  <a:pt x="344566" y="1691403"/>
                  <a:pt x="348613" y="1695450"/>
                </a:cubicBezTo>
                <a:cubicBezTo>
                  <a:pt x="353376" y="1700212"/>
                  <a:pt x="357297" y="1706001"/>
                  <a:pt x="362901" y="1709737"/>
                </a:cubicBezTo>
                <a:cubicBezTo>
                  <a:pt x="367078" y="1712522"/>
                  <a:pt x="372574" y="1712522"/>
                  <a:pt x="377188" y="1714500"/>
                </a:cubicBezTo>
                <a:cubicBezTo>
                  <a:pt x="383713" y="1717297"/>
                  <a:pt x="390461" y="1719899"/>
                  <a:pt x="396238" y="1724025"/>
                </a:cubicBezTo>
                <a:cubicBezTo>
                  <a:pt x="401719" y="1727940"/>
                  <a:pt x="405763" y="1733550"/>
                  <a:pt x="410526" y="1738312"/>
                </a:cubicBezTo>
                <a:cubicBezTo>
                  <a:pt x="418289" y="1769369"/>
                  <a:pt x="410851" y="1747469"/>
                  <a:pt x="429576" y="1781175"/>
                </a:cubicBezTo>
                <a:cubicBezTo>
                  <a:pt x="433024" y="1787381"/>
                  <a:pt x="434556" y="1794771"/>
                  <a:pt x="439101" y="1800225"/>
                </a:cubicBezTo>
                <a:cubicBezTo>
                  <a:pt x="442765" y="1804622"/>
                  <a:pt x="448809" y="1806316"/>
                  <a:pt x="453388" y="1809750"/>
                </a:cubicBezTo>
                <a:cubicBezTo>
                  <a:pt x="484448" y="1833045"/>
                  <a:pt x="465915" y="1825038"/>
                  <a:pt x="491488" y="1833562"/>
                </a:cubicBezTo>
                <a:cubicBezTo>
                  <a:pt x="497838" y="1843087"/>
                  <a:pt x="506918" y="1851277"/>
                  <a:pt x="510538" y="1862137"/>
                </a:cubicBezTo>
                <a:cubicBezTo>
                  <a:pt x="512126" y="1866900"/>
                  <a:pt x="512383" y="1872340"/>
                  <a:pt x="515301" y="1876425"/>
                </a:cubicBezTo>
                <a:cubicBezTo>
                  <a:pt x="520521" y="1883733"/>
                  <a:pt x="528438" y="1888717"/>
                  <a:pt x="534351" y="1895475"/>
                </a:cubicBezTo>
                <a:cubicBezTo>
                  <a:pt x="577105" y="1944338"/>
                  <a:pt x="522299" y="1888187"/>
                  <a:pt x="562926" y="1928812"/>
                </a:cubicBezTo>
                <a:cubicBezTo>
                  <a:pt x="564513" y="1933575"/>
                  <a:pt x="565443" y="1938610"/>
                  <a:pt x="567688" y="1943100"/>
                </a:cubicBezTo>
                <a:cubicBezTo>
                  <a:pt x="574317" y="1956359"/>
                  <a:pt x="580970" y="1961144"/>
                  <a:pt x="591501" y="1971675"/>
                </a:cubicBezTo>
                <a:cubicBezTo>
                  <a:pt x="594218" y="1979825"/>
                  <a:pt x="597875" y="1994974"/>
                  <a:pt x="605788" y="2000250"/>
                </a:cubicBezTo>
                <a:cubicBezTo>
                  <a:pt x="611234" y="2003881"/>
                  <a:pt x="618488" y="2003425"/>
                  <a:pt x="624838" y="2005012"/>
                </a:cubicBezTo>
                <a:cubicBezTo>
                  <a:pt x="629601" y="2008187"/>
                  <a:pt x="633895" y="2012212"/>
                  <a:pt x="639126" y="2014537"/>
                </a:cubicBezTo>
                <a:cubicBezTo>
                  <a:pt x="648301" y="2018615"/>
                  <a:pt x="667701" y="2024062"/>
                  <a:pt x="667701" y="2024062"/>
                </a:cubicBezTo>
                <a:cubicBezTo>
                  <a:pt x="683576" y="2047875"/>
                  <a:pt x="672463" y="2035174"/>
                  <a:pt x="705801" y="2057400"/>
                </a:cubicBezTo>
                <a:lnTo>
                  <a:pt x="720088" y="2066925"/>
                </a:lnTo>
                <a:lnTo>
                  <a:pt x="734376" y="2076450"/>
                </a:lnTo>
                <a:cubicBezTo>
                  <a:pt x="737551" y="2081212"/>
                  <a:pt x="739504" y="2087073"/>
                  <a:pt x="743901" y="2090737"/>
                </a:cubicBezTo>
                <a:cubicBezTo>
                  <a:pt x="756354" y="2101114"/>
                  <a:pt x="771766" y="2102025"/>
                  <a:pt x="786763" y="2105025"/>
                </a:cubicBezTo>
                <a:cubicBezTo>
                  <a:pt x="791526" y="2108200"/>
                  <a:pt x="796743" y="2110781"/>
                  <a:pt x="801051" y="2114550"/>
                </a:cubicBezTo>
                <a:cubicBezTo>
                  <a:pt x="809499" y="2121942"/>
                  <a:pt x="815009" y="2132987"/>
                  <a:pt x="824863" y="2138362"/>
                </a:cubicBezTo>
                <a:cubicBezTo>
                  <a:pt x="833340" y="2142986"/>
                  <a:pt x="843913" y="2141537"/>
                  <a:pt x="853438" y="2143125"/>
                </a:cubicBezTo>
                <a:cubicBezTo>
                  <a:pt x="870055" y="2154203"/>
                  <a:pt x="884250" y="2160969"/>
                  <a:pt x="896301" y="2176462"/>
                </a:cubicBezTo>
                <a:cubicBezTo>
                  <a:pt x="903329" y="2185498"/>
                  <a:pt x="909001" y="2195512"/>
                  <a:pt x="915351" y="2205037"/>
                </a:cubicBezTo>
                <a:lnTo>
                  <a:pt x="924876" y="2219325"/>
                </a:lnTo>
                <a:cubicBezTo>
                  <a:pt x="926463" y="2224087"/>
                  <a:pt x="927200" y="2229224"/>
                  <a:pt x="929638" y="2233612"/>
                </a:cubicBezTo>
                <a:cubicBezTo>
                  <a:pt x="935197" y="2243619"/>
                  <a:pt x="945068" y="2251327"/>
                  <a:pt x="948688" y="2262187"/>
                </a:cubicBezTo>
                <a:cubicBezTo>
                  <a:pt x="960023" y="2296192"/>
                  <a:pt x="949859" y="2285193"/>
                  <a:pt x="972501" y="2300287"/>
                </a:cubicBezTo>
                <a:cubicBezTo>
                  <a:pt x="1005457" y="2349722"/>
                  <a:pt x="955289" y="2273188"/>
                  <a:pt x="991551" y="2333625"/>
                </a:cubicBezTo>
                <a:cubicBezTo>
                  <a:pt x="991561" y="2333642"/>
                  <a:pt x="1015358" y="2369335"/>
                  <a:pt x="1020126" y="2376487"/>
                </a:cubicBezTo>
                <a:cubicBezTo>
                  <a:pt x="1023301" y="2381250"/>
                  <a:pt x="1024888" y="2387600"/>
                  <a:pt x="1029651" y="2390775"/>
                </a:cubicBezTo>
                <a:lnTo>
                  <a:pt x="1058226" y="2409825"/>
                </a:lnTo>
                <a:cubicBezTo>
                  <a:pt x="1064576" y="2419350"/>
                  <a:pt x="1075394" y="2427108"/>
                  <a:pt x="1077276" y="2438400"/>
                </a:cubicBezTo>
                <a:cubicBezTo>
                  <a:pt x="1078351" y="2444852"/>
                  <a:pt x="1082924" y="2476980"/>
                  <a:pt x="1086801" y="2486025"/>
                </a:cubicBezTo>
                <a:cubicBezTo>
                  <a:pt x="1089056" y="2491286"/>
                  <a:pt x="1091857" y="2496736"/>
                  <a:pt x="1096326" y="2500312"/>
                </a:cubicBezTo>
                <a:cubicBezTo>
                  <a:pt x="1100246" y="2503448"/>
                  <a:pt x="1105674" y="2504177"/>
                  <a:pt x="1110613" y="2505075"/>
                </a:cubicBezTo>
                <a:cubicBezTo>
                  <a:pt x="1123205" y="2507365"/>
                  <a:pt x="1136013" y="2508250"/>
                  <a:pt x="1148713" y="2509837"/>
                </a:cubicBezTo>
                <a:cubicBezTo>
                  <a:pt x="1187937" y="2522912"/>
                  <a:pt x="1167349" y="2517942"/>
                  <a:pt x="1210626" y="2524125"/>
                </a:cubicBezTo>
                <a:cubicBezTo>
                  <a:pt x="1237758" y="2533168"/>
                  <a:pt x="1218140" y="2527667"/>
                  <a:pt x="1263013" y="2533650"/>
                </a:cubicBezTo>
                <a:lnTo>
                  <a:pt x="1296351" y="2538412"/>
                </a:lnTo>
                <a:cubicBezTo>
                  <a:pt x="1343976" y="2536825"/>
                  <a:pt x="1391662" y="2536533"/>
                  <a:pt x="1439226" y="2533650"/>
                </a:cubicBezTo>
                <a:cubicBezTo>
                  <a:pt x="1453055" y="2532812"/>
                  <a:pt x="1475146" y="2514465"/>
                  <a:pt x="1482088" y="2509837"/>
                </a:cubicBezTo>
                <a:lnTo>
                  <a:pt x="1496376" y="2500312"/>
                </a:lnTo>
                <a:cubicBezTo>
                  <a:pt x="1499551" y="2495550"/>
                  <a:pt x="1501593" y="2489794"/>
                  <a:pt x="1505901" y="2486025"/>
                </a:cubicBezTo>
                <a:cubicBezTo>
                  <a:pt x="1514516" y="2478487"/>
                  <a:pt x="1534476" y="2466975"/>
                  <a:pt x="1534476" y="2466975"/>
                </a:cubicBezTo>
                <a:cubicBezTo>
                  <a:pt x="1537651" y="2462212"/>
                  <a:pt x="1539954" y="2456735"/>
                  <a:pt x="1544001" y="2452687"/>
                </a:cubicBezTo>
                <a:cubicBezTo>
                  <a:pt x="1548048" y="2448640"/>
                  <a:pt x="1554519" y="2447470"/>
                  <a:pt x="1558288" y="2443162"/>
                </a:cubicBezTo>
                <a:cubicBezTo>
                  <a:pt x="1565826" y="2434547"/>
                  <a:pt x="1570988" y="2424112"/>
                  <a:pt x="1577338" y="2414587"/>
                </a:cubicBezTo>
                <a:cubicBezTo>
                  <a:pt x="1580123" y="2410410"/>
                  <a:pt x="1579316" y="2404477"/>
                  <a:pt x="1582101" y="2400300"/>
                </a:cubicBezTo>
                <a:cubicBezTo>
                  <a:pt x="1585837" y="2394696"/>
                  <a:pt x="1591626" y="2390775"/>
                  <a:pt x="1596388" y="2386012"/>
                </a:cubicBezTo>
                <a:cubicBezTo>
                  <a:pt x="1607713" y="2352041"/>
                  <a:pt x="1591655" y="2393111"/>
                  <a:pt x="1615438" y="2357437"/>
                </a:cubicBezTo>
                <a:cubicBezTo>
                  <a:pt x="1618223" y="2353260"/>
                  <a:pt x="1617956" y="2347640"/>
                  <a:pt x="1620201" y="2343150"/>
                </a:cubicBezTo>
                <a:cubicBezTo>
                  <a:pt x="1622761" y="2338030"/>
                  <a:pt x="1626551" y="2333625"/>
                  <a:pt x="1629726" y="2328862"/>
                </a:cubicBezTo>
                <a:cubicBezTo>
                  <a:pt x="1648332" y="2273045"/>
                  <a:pt x="1631647" y="2328778"/>
                  <a:pt x="1644013" y="2266950"/>
                </a:cubicBezTo>
                <a:cubicBezTo>
                  <a:pt x="1644998" y="2262027"/>
                  <a:pt x="1647397" y="2257489"/>
                  <a:pt x="1648776" y="2252662"/>
                </a:cubicBezTo>
                <a:cubicBezTo>
                  <a:pt x="1650574" y="2246368"/>
                  <a:pt x="1651951" y="2239962"/>
                  <a:pt x="1653538" y="2233612"/>
                </a:cubicBezTo>
                <a:cubicBezTo>
                  <a:pt x="1655126" y="2219325"/>
                  <a:pt x="1655938" y="2204930"/>
                  <a:pt x="1658301" y="2190750"/>
                </a:cubicBezTo>
                <a:cubicBezTo>
                  <a:pt x="1659126" y="2185798"/>
                  <a:pt x="1662238" y="2181414"/>
                  <a:pt x="1663063" y="2176462"/>
                </a:cubicBezTo>
                <a:cubicBezTo>
                  <a:pt x="1665426" y="2162282"/>
                  <a:pt x="1666238" y="2147887"/>
                  <a:pt x="1667826" y="2133600"/>
                </a:cubicBezTo>
                <a:cubicBezTo>
                  <a:pt x="1664651" y="2074862"/>
                  <a:pt x="1665975" y="2015708"/>
                  <a:pt x="1658301" y="1957387"/>
                </a:cubicBezTo>
                <a:cubicBezTo>
                  <a:pt x="1657646" y="1952410"/>
                  <a:pt x="1647149" y="1956545"/>
                  <a:pt x="1644013" y="1952625"/>
                </a:cubicBezTo>
                <a:cubicBezTo>
                  <a:pt x="1639924" y="1947514"/>
                  <a:pt x="1640535" y="1939993"/>
                  <a:pt x="1639251" y="1933575"/>
                </a:cubicBezTo>
                <a:cubicBezTo>
                  <a:pt x="1630870" y="1891668"/>
                  <a:pt x="1638993" y="1918518"/>
                  <a:pt x="1629726" y="1890712"/>
                </a:cubicBezTo>
                <a:cubicBezTo>
                  <a:pt x="1631313" y="1739900"/>
                  <a:pt x="1633444" y="1589092"/>
                  <a:pt x="1634488" y="1438275"/>
                </a:cubicBezTo>
                <a:cubicBezTo>
                  <a:pt x="1636619" y="1130303"/>
                  <a:pt x="1636124" y="822313"/>
                  <a:pt x="1639251" y="514350"/>
                </a:cubicBezTo>
                <a:cubicBezTo>
                  <a:pt x="1639302" y="509330"/>
                  <a:pt x="1642426" y="504825"/>
                  <a:pt x="1644013" y="500062"/>
                </a:cubicBezTo>
                <a:cubicBezTo>
                  <a:pt x="1656446" y="413042"/>
                  <a:pt x="1655076" y="435865"/>
                  <a:pt x="1644013" y="280987"/>
                </a:cubicBezTo>
                <a:cubicBezTo>
                  <a:pt x="1643605" y="275278"/>
                  <a:pt x="1637663" y="271462"/>
                  <a:pt x="1634488" y="266700"/>
                </a:cubicBezTo>
                <a:cubicBezTo>
                  <a:pt x="1631313" y="257175"/>
                  <a:pt x="1630532" y="246479"/>
                  <a:pt x="1624963" y="238125"/>
                </a:cubicBezTo>
                <a:cubicBezTo>
                  <a:pt x="1621788" y="233362"/>
                  <a:pt x="1616379" y="229483"/>
                  <a:pt x="1615438" y="223837"/>
                </a:cubicBezTo>
                <a:cubicBezTo>
                  <a:pt x="1613089" y="209744"/>
                  <a:pt x="1617819" y="210343"/>
                  <a:pt x="1615438" y="195262"/>
                </a:cubicBezTo>
                <a:close/>
              </a:path>
            </a:pathLst>
          </a:custGeom>
          <a:solidFill>
            <a:schemeClr val="accent2">
              <a:alpha val="43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C77B6FF-3061-C2E7-230B-87103C9AA6E9}"/>
              </a:ext>
            </a:extLst>
          </p:cNvPr>
          <p:cNvGrpSpPr/>
          <p:nvPr/>
        </p:nvGrpSpPr>
        <p:grpSpPr>
          <a:xfrm>
            <a:off x="5798276" y="4285116"/>
            <a:ext cx="1038656" cy="967631"/>
            <a:chOff x="5798276" y="4581127"/>
            <a:chExt cx="1038656" cy="9676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FF7C2F1-CB19-A670-0EA2-0E9C208160AE}"/>
                </a:ext>
              </a:extLst>
            </p:cNvPr>
            <p:cNvGrpSpPr/>
            <p:nvPr/>
          </p:nvGrpSpPr>
          <p:grpSpPr>
            <a:xfrm>
              <a:off x="5868144" y="4581127"/>
              <a:ext cx="968788" cy="967631"/>
              <a:chOff x="4496347" y="5138592"/>
              <a:chExt cx="1296144" cy="1294597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E01EF36-C83A-AAD4-8F1F-0171A89684E3}"/>
                  </a:ext>
                </a:extLst>
              </p:cNvPr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chemeClr val="accent2">
                  <a:alpha val="43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BDBB20B-C9FC-1971-93A2-DF20BBF04CF2}"/>
                  </a:ext>
                </a:extLst>
              </p:cNvPr>
              <p:cNvSpPr txBox="1"/>
              <p:nvPr/>
            </p:nvSpPr>
            <p:spPr>
              <a:xfrm>
                <a:off x="4592687" y="5401973"/>
                <a:ext cx="513003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</a:rPr>
                  <a:t>d</a:t>
                </a:r>
                <a:endParaRPr lang="nl-NL" sz="28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E0AB5BC-FEE4-D620-7AA1-D5A9E94BBBBF}"/>
                  </a:ext>
                </a:extLst>
              </p:cNvPr>
              <p:cNvSpPr txBox="1"/>
              <p:nvPr/>
            </p:nvSpPr>
            <p:spPr>
              <a:xfrm>
                <a:off x="5026650" y="5723213"/>
                <a:ext cx="485123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8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49A7D6A-7AB4-EFDB-CA29-8BFBDB813C3C}"/>
                  </a:ext>
                </a:extLst>
              </p:cNvPr>
              <p:cNvSpPr txBox="1"/>
              <p:nvPr/>
            </p:nvSpPr>
            <p:spPr>
              <a:xfrm>
                <a:off x="5037834" y="5138592"/>
                <a:ext cx="510859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800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05B7766-B0A1-1A60-5047-576C26E2D9A2}"/>
                </a:ext>
              </a:extLst>
            </p:cNvPr>
            <p:cNvCxnSpPr>
              <a:endCxn id="45" idx="1"/>
            </p:cNvCxnSpPr>
            <p:nvPr/>
          </p:nvCxnSpPr>
          <p:spPr>
            <a:xfrm>
              <a:off x="5798276" y="4662636"/>
              <a:ext cx="211744" cy="947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Freeform 29"/>
          <p:cNvSpPr/>
          <p:nvPr/>
        </p:nvSpPr>
        <p:spPr>
          <a:xfrm>
            <a:off x="6179137" y="1460347"/>
            <a:ext cx="1711494" cy="1645985"/>
          </a:xfrm>
          <a:custGeom>
            <a:avLst/>
            <a:gdLst>
              <a:gd name="connsiteX0" fmla="*/ 39188 w 1711494"/>
              <a:gd name="connsiteY0" fmla="*/ 65314 h 1645985"/>
              <a:gd name="connsiteX1" fmla="*/ 52251 w 1711494"/>
              <a:gd name="connsiteY1" fmla="*/ 313509 h 1645985"/>
              <a:gd name="connsiteX2" fmla="*/ 26126 w 1711494"/>
              <a:gd name="connsiteY2" fmla="*/ 666206 h 1645985"/>
              <a:gd name="connsiteX3" fmla="*/ 0 w 1711494"/>
              <a:gd name="connsiteY3" fmla="*/ 1084217 h 1645985"/>
              <a:gd name="connsiteX4" fmla="*/ 13063 w 1711494"/>
              <a:gd name="connsiteY4" fmla="*/ 1162594 h 1645985"/>
              <a:gd name="connsiteX5" fmla="*/ 52251 w 1711494"/>
              <a:gd name="connsiteY5" fmla="*/ 1463040 h 1645985"/>
              <a:gd name="connsiteX6" fmla="*/ 78377 w 1711494"/>
              <a:gd name="connsiteY6" fmla="*/ 1502229 h 1645985"/>
              <a:gd name="connsiteX7" fmla="*/ 117566 w 1711494"/>
              <a:gd name="connsiteY7" fmla="*/ 1528354 h 1645985"/>
              <a:gd name="connsiteX8" fmla="*/ 143691 w 1711494"/>
              <a:gd name="connsiteY8" fmla="*/ 1567543 h 1645985"/>
              <a:gd name="connsiteX9" fmla="*/ 261257 w 1711494"/>
              <a:gd name="connsiteY9" fmla="*/ 1619794 h 1645985"/>
              <a:gd name="connsiteX10" fmla="*/ 404948 w 1711494"/>
              <a:gd name="connsiteY10" fmla="*/ 1645920 h 1645985"/>
              <a:gd name="connsiteX11" fmla="*/ 953588 w 1711494"/>
              <a:gd name="connsiteY11" fmla="*/ 1632857 h 1645985"/>
              <a:gd name="connsiteX12" fmla="*/ 1593668 w 1711494"/>
              <a:gd name="connsiteY12" fmla="*/ 1632857 h 1645985"/>
              <a:gd name="connsiteX13" fmla="*/ 1645920 w 1711494"/>
              <a:gd name="connsiteY13" fmla="*/ 1554480 h 1645985"/>
              <a:gd name="connsiteX14" fmla="*/ 1658983 w 1711494"/>
              <a:gd name="connsiteY14" fmla="*/ 1515291 h 1645985"/>
              <a:gd name="connsiteX15" fmla="*/ 1698171 w 1711494"/>
              <a:gd name="connsiteY15" fmla="*/ 1436914 h 1645985"/>
              <a:gd name="connsiteX16" fmla="*/ 1711234 w 1711494"/>
              <a:gd name="connsiteY16" fmla="*/ 1319349 h 1645985"/>
              <a:gd name="connsiteX17" fmla="*/ 1672046 w 1711494"/>
              <a:gd name="connsiteY17" fmla="*/ 1149531 h 1645985"/>
              <a:gd name="connsiteX18" fmla="*/ 1632857 w 1711494"/>
              <a:gd name="connsiteY18" fmla="*/ 1123406 h 1645985"/>
              <a:gd name="connsiteX19" fmla="*/ 1619794 w 1711494"/>
              <a:gd name="connsiteY19" fmla="*/ 1084217 h 1645985"/>
              <a:gd name="connsiteX20" fmla="*/ 1580606 w 1711494"/>
              <a:gd name="connsiteY20" fmla="*/ 1045029 h 1645985"/>
              <a:gd name="connsiteX21" fmla="*/ 1489166 w 1711494"/>
              <a:gd name="connsiteY21" fmla="*/ 979714 h 1645985"/>
              <a:gd name="connsiteX22" fmla="*/ 1423851 w 1711494"/>
              <a:gd name="connsiteY22" fmla="*/ 901337 h 1645985"/>
              <a:gd name="connsiteX23" fmla="*/ 1384663 w 1711494"/>
              <a:gd name="connsiteY23" fmla="*/ 875211 h 1645985"/>
              <a:gd name="connsiteX24" fmla="*/ 1306286 w 1711494"/>
              <a:gd name="connsiteY24" fmla="*/ 849086 h 1645985"/>
              <a:gd name="connsiteX25" fmla="*/ 1254034 w 1711494"/>
              <a:gd name="connsiteY25" fmla="*/ 809897 h 1645985"/>
              <a:gd name="connsiteX26" fmla="*/ 1214846 w 1711494"/>
              <a:gd name="connsiteY26" fmla="*/ 783771 h 1645985"/>
              <a:gd name="connsiteX27" fmla="*/ 1175657 w 1711494"/>
              <a:gd name="connsiteY27" fmla="*/ 744583 h 1645985"/>
              <a:gd name="connsiteX28" fmla="*/ 1097280 w 1711494"/>
              <a:gd name="connsiteY28" fmla="*/ 692331 h 1645985"/>
              <a:gd name="connsiteX29" fmla="*/ 1018903 w 1711494"/>
              <a:gd name="connsiteY29" fmla="*/ 613954 h 1645985"/>
              <a:gd name="connsiteX30" fmla="*/ 966651 w 1711494"/>
              <a:gd name="connsiteY30" fmla="*/ 496389 h 1645985"/>
              <a:gd name="connsiteX31" fmla="*/ 927463 w 1711494"/>
              <a:gd name="connsiteY31" fmla="*/ 470263 h 1645985"/>
              <a:gd name="connsiteX32" fmla="*/ 914400 w 1711494"/>
              <a:gd name="connsiteY32" fmla="*/ 418011 h 1645985"/>
              <a:gd name="connsiteX33" fmla="*/ 822960 w 1711494"/>
              <a:gd name="connsiteY33" fmla="*/ 287383 h 1645985"/>
              <a:gd name="connsiteX34" fmla="*/ 770708 w 1711494"/>
              <a:gd name="connsiteY34" fmla="*/ 195943 h 1645985"/>
              <a:gd name="connsiteX35" fmla="*/ 705394 w 1711494"/>
              <a:gd name="connsiteY35" fmla="*/ 143691 h 1645985"/>
              <a:gd name="connsiteX36" fmla="*/ 679268 w 1711494"/>
              <a:gd name="connsiteY36" fmla="*/ 104503 h 1645985"/>
              <a:gd name="connsiteX37" fmla="*/ 600891 w 1711494"/>
              <a:gd name="connsiteY37" fmla="*/ 78377 h 1645985"/>
              <a:gd name="connsiteX38" fmla="*/ 561703 w 1711494"/>
              <a:gd name="connsiteY38" fmla="*/ 52251 h 1645985"/>
              <a:gd name="connsiteX39" fmla="*/ 444137 w 1711494"/>
              <a:gd name="connsiteY39" fmla="*/ 0 h 1645985"/>
              <a:gd name="connsiteX40" fmla="*/ 222068 w 1711494"/>
              <a:gd name="connsiteY40" fmla="*/ 13063 h 1645985"/>
              <a:gd name="connsiteX41" fmla="*/ 65314 w 1711494"/>
              <a:gd name="connsiteY41" fmla="*/ 91440 h 1645985"/>
              <a:gd name="connsiteX42" fmla="*/ 39188 w 1711494"/>
              <a:gd name="connsiteY42" fmla="*/ 65314 h 164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711494" h="1645985">
                <a:moveTo>
                  <a:pt x="39188" y="65314"/>
                </a:moveTo>
                <a:cubicBezTo>
                  <a:pt x="43542" y="148046"/>
                  <a:pt x="54051" y="230682"/>
                  <a:pt x="52251" y="313509"/>
                </a:cubicBezTo>
                <a:cubicBezTo>
                  <a:pt x="49689" y="431369"/>
                  <a:pt x="31733" y="548452"/>
                  <a:pt x="26126" y="666206"/>
                </a:cubicBezTo>
                <a:cubicBezTo>
                  <a:pt x="10775" y="988566"/>
                  <a:pt x="21351" y="849358"/>
                  <a:pt x="0" y="1084217"/>
                </a:cubicBezTo>
                <a:cubicBezTo>
                  <a:pt x="4354" y="1110343"/>
                  <a:pt x="10769" y="1136208"/>
                  <a:pt x="13063" y="1162594"/>
                </a:cubicBezTo>
                <a:cubicBezTo>
                  <a:pt x="15794" y="1194000"/>
                  <a:pt x="7116" y="1395337"/>
                  <a:pt x="52251" y="1463040"/>
                </a:cubicBezTo>
                <a:cubicBezTo>
                  <a:pt x="60960" y="1476103"/>
                  <a:pt x="67275" y="1491128"/>
                  <a:pt x="78377" y="1502229"/>
                </a:cubicBezTo>
                <a:cubicBezTo>
                  <a:pt x="89478" y="1513330"/>
                  <a:pt x="104503" y="1519646"/>
                  <a:pt x="117566" y="1528354"/>
                </a:cubicBezTo>
                <a:cubicBezTo>
                  <a:pt x="126274" y="1541417"/>
                  <a:pt x="132590" y="1556442"/>
                  <a:pt x="143691" y="1567543"/>
                </a:cubicBezTo>
                <a:cubicBezTo>
                  <a:pt x="174742" y="1598595"/>
                  <a:pt x="222453" y="1606860"/>
                  <a:pt x="261257" y="1619794"/>
                </a:cubicBezTo>
                <a:cubicBezTo>
                  <a:pt x="333752" y="1643958"/>
                  <a:pt x="286778" y="1631148"/>
                  <a:pt x="404948" y="1645920"/>
                </a:cubicBezTo>
                <a:cubicBezTo>
                  <a:pt x="587828" y="1641566"/>
                  <a:pt x="770656" y="1632857"/>
                  <a:pt x="953588" y="1632857"/>
                </a:cubicBezTo>
                <a:cubicBezTo>
                  <a:pt x="1687965" y="1632857"/>
                  <a:pt x="1150587" y="1662396"/>
                  <a:pt x="1593668" y="1632857"/>
                </a:cubicBezTo>
                <a:cubicBezTo>
                  <a:pt x="1611085" y="1606731"/>
                  <a:pt x="1635991" y="1584268"/>
                  <a:pt x="1645920" y="1554480"/>
                </a:cubicBezTo>
                <a:cubicBezTo>
                  <a:pt x="1650274" y="1541417"/>
                  <a:pt x="1652825" y="1527607"/>
                  <a:pt x="1658983" y="1515291"/>
                </a:cubicBezTo>
                <a:cubicBezTo>
                  <a:pt x="1709628" y="1414000"/>
                  <a:pt x="1665336" y="1535418"/>
                  <a:pt x="1698171" y="1436914"/>
                </a:cubicBezTo>
                <a:cubicBezTo>
                  <a:pt x="1702525" y="1397726"/>
                  <a:pt x="1711234" y="1358779"/>
                  <a:pt x="1711234" y="1319349"/>
                </a:cubicBezTo>
                <a:cubicBezTo>
                  <a:pt x="1711234" y="1257970"/>
                  <a:pt x="1717197" y="1194682"/>
                  <a:pt x="1672046" y="1149531"/>
                </a:cubicBezTo>
                <a:cubicBezTo>
                  <a:pt x="1660945" y="1138430"/>
                  <a:pt x="1645920" y="1132114"/>
                  <a:pt x="1632857" y="1123406"/>
                </a:cubicBezTo>
                <a:cubicBezTo>
                  <a:pt x="1628503" y="1110343"/>
                  <a:pt x="1627432" y="1095674"/>
                  <a:pt x="1619794" y="1084217"/>
                </a:cubicBezTo>
                <a:cubicBezTo>
                  <a:pt x="1609547" y="1068846"/>
                  <a:pt x="1594798" y="1056855"/>
                  <a:pt x="1580606" y="1045029"/>
                </a:cubicBezTo>
                <a:cubicBezTo>
                  <a:pt x="1536099" y="1007940"/>
                  <a:pt x="1536231" y="1026779"/>
                  <a:pt x="1489166" y="979714"/>
                </a:cubicBezTo>
                <a:cubicBezTo>
                  <a:pt x="1386411" y="876959"/>
                  <a:pt x="1552254" y="1008341"/>
                  <a:pt x="1423851" y="901337"/>
                </a:cubicBezTo>
                <a:cubicBezTo>
                  <a:pt x="1411790" y="891286"/>
                  <a:pt x="1399009" y="881587"/>
                  <a:pt x="1384663" y="875211"/>
                </a:cubicBezTo>
                <a:cubicBezTo>
                  <a:pt x="1359498" y="864026"/>
                  <a:pt x="1306286" y="849086"/>
                  <a:pt x="1306286" y="849086"/>
                </a:cubicBezTo>
                <a:cubicBezTo>
                  <a:pt x="1288869" y="836023"/>
                  <a:pt x="1271750" y="822552"/>
                  <a:pt x="1254034" y="809897"/>
                </a:cubicBezTo>
                <a:cubicBezTo>
                  <a:pt x="1241259" y="800772"/>
                  <a:pt x="1226907" y="793822"/>
                  <a:pt x="1214846" y="783771"/>
                </a:cubicBezTo>
                <a:cubicBezTo>
                  <a:pt x="1200654" y="771944"/>
                  <a:pt x="1190239" y="755925"/>
                  <a:pt x="1175657" y="744583"/>
                </a:cubicBezTo>
                <a:cubicBezTo>
                  <a:pt x="1150872" y="725306"/>
                  <a:pt x="1119483" y="714534"/>
                  <a:pt x="1097280" y="692331"/>
                </a:cubicBezTo>
                <a:lnTo>
                  <a:pt x="1018903" y="613954"/>
                </a:lnTo>
                <a:cubicBezTo>
                  <a:pt x="1005967" y="575148"/>
                  <a:pt x="997703" y="527441"/>
                  <a:pt x="966651" y="496389"/>
                </a:cubicBezTo>
                <a:cubicBezTo>
                  <a:pt x="955550" y="485288"/>
                  <a:pt x="940526" y="478972"/>
                  <a:pt x="927463" y="470263"/>
                </a:cubicBezTo>
                <a:cubicBezTo>
                  <a:pt x="923109" y="452846"/>
                  <a:pt x="922429" y="434069"/>
                  <a:pt x="914400" y="418011"/>
                </a:cubicBezTo>
                <a:cubicBezTo>
                  <a:pt x="898320" y="385851"/>
                  <a:pt x="847534" y="320148"/>
                  <a:pt x="822960" y="287383"/>
                </a:cubicBezTo>
                <a:cubicBezTo>
                  <a:pt x="801814" y="202800"/>
                  <a:pt x="826299" y="262652"/>
                  <a:pt x="770708" y="195943"/>
                </a:cubicBezTo>
                <a:cubicBezTo>
                  <a:pt x="725256" y="141400"/>
                  <a:pt x="769729" y="165136"/>
                  <a:pt x="705394" y="143691"/>
                </a:cubicBezTo>
                <a:cubicBezTo>
                  <a:pt x="696685" y="130628"/>
                  <a:pt x="692581" y="112824"/>
                  <a:pt x="679268" y="104503"/>
                </a:cubicBezTo>
                <a:cubicBezTo>
                  <a:pt x="655915" y="89907"/>
                  <a:pt x="600891" y="78377"/>
                  <a:pt x="600891" y="78377"/>
                </a:cubicBezTo>
                <a:cubicBezTo>
                  <a:pt x="587828" y="69668"/>
                  <a:pt x="576049" y="58627"/>
                  <a:pt x="561703" y="52251"/>
                </a:cubicBezTo>
                <a:cubicBezTo>
                  <a:pt x="421793" y="-9931"/>
                  <a:pt x="532828" y="59127"/>
                  <a:pt x="444137" y="0"/>
                </a:cubicBezTo>
                <a:cubicBezTo>
                  <a:pt x="370114" y="4354"/>
                  <a:pt x="295596" y="3472"/>
                  <a:pt x="222068" y="13063"/>
                </a:cubicBezTo>
                <a:cubicBezTo>
                  <a:pt x="133225" y="24651"/>
                  <a:pt x="144574" y="51810"/>
                  <a:pt x="65314" y="91440"/>
                </a:cubicBezTo>
                <a:lnTo>
                  <a:pt x="39188" y="65314"/>
                </a:lnTo>
                <a:close/>
              </a:path>
            </a:pathLst>
          </a:custGeom>
          <a:solidFill>
            <a:schemeClr val="accent1">
              <a:alpha val="43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4971364" y="4974941"/>
            <a:ext cx="1038656" cy="966358"/>
            <a:chOff x="4971364" y="5270952"/>
            <a:chExt cx="1038656" cy="966358"/>
          </a:xfrm>
        </p:grpSpPr>
        <p:cxnSp>
          <p:nvCxnSpPr>
            <p:cNvPr id="227" name="Straight Connector 226"/>
            <p:cNvCxnSpPr/>
            <p:nvPr/>
          </p:nvCxnSpPr>
          <p:spPr>
            <a:xfrm flipV="1">
              <a:off x="5870284" y="5412981"/>
              <a:ext cx="139736" cy="67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1" name="Group 240"/>
            <p:cNvGrpSpPr/>
            <p:nvPr/>
          </p:nvGrpSpPr>
          <p:grpSpPr>
            <a:xfrm>
              <a:off x="4971364" y="5270952"/>
              <a:ext cx="968788" cy="966358"/>
              <a:chOff x="4496347" y="5140295"/>
              <a:chExt cx="1296144" cy="1292894"/>
            </a:xfrm>
          </p:grpSpPr>
          <p:sp>
            <p:nvSpPr>
              <p:cNvPr id="242" name="Oval 241"/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chemeClr val="accent1">
                  <a:alpha val="43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FFFFFF"/>
                  </a:solidFill>
                </a:endParaRPr>
              </a:p>
            </p:txBody>
          </p:sp>
          <p:sp>
            <p:nvSpPr>
              <p:cNvPr id="243" name="TextBox 242"/>
              <p:cNvSpPr txBox="1"/>
              <p:nvPr/>
            </p:nvSpPr>
            <p:spPr>
              <a:xfrm>
                <a:off x="4627274" y="5520806"/>
                <a:ext cx="392902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800" dirty="0">
                    <a:solidFill>
                      <a:srgbClr val="000000"/>
                    </a:solidFill>
                  </a:rPr>
                  <a:t>f</a:t>
                </a:r>
              </a:p>
            </p:txBody>
          </p:sp>
          <p:sp>
            <p:nvSpPr>
              <p:cNvPr id="244" name="TextBox 243"/>
              <p:cNvSpPr txBox="1"/>
              <p:nvPr/>
            </p:nvSpPr>
            <p:spPr>
              <a:xfrm>
                <a:off x="5102474" y="5559013"/>
                <a:ext cx="485123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8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245" name="TextBox 244"/>
              <p:cNvSpPr txBox="1"/>
              <p:nvPr/>
            </p:nvSpPr>
            <p:spPr>
              <a:xfrm>
                <a:off x="4910956" y="5140295"/>
                <a:ext cx="513003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</a:rPr>
                  <a:t>d</a:t>
                </a:r>
                <a:endParaRPr lang="nl-NL" sz="2800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51" name="Freeform 1148"/>
          <p:cNvSpPr/>
          <p:nvPr/>
        </p:nvSpPr>
        <p:spPr>
          <a:xfrm>
            <a:off x="7214407" y="543018"/>
            <a:ext cx="1633551" cy="2566988"/>
          </a:xfrm>
          <a:custGeom>
            <a:avLst/>
            <a:gdLst>
              <a:gd name="connsiteX0" fmla="*/ 290526 w 1633551"/>
              <a:gd name="connsiteY0" fmla="*/ 14288 h 2566988"/>
              <a:gd name="connsiteX1" fmla="*/ 266713 w 1633551"/>
              <a:gd name="connsiteY1" fmla="*/ 19050 h 2566988"/>
              <a:gd name="connsiteX2" fmla="*/ 252426 w 1633551"/>
              <a:gd name="connsiteY2" fmla="*/ 23813 h 2566988"/>
              <a:gd name="connsiteX3" fmla="*/ 233376 w 1633551"/>
              <a:gd name="connsiteY3" fmla="*/ 28575 h 2566988"/>
              <a:gd name="connsiteX4" fmla="*/ 195276 w 1633551"/>
              <a:gd name="connsiteY4" fmla="*/ 38100 h 2566988"/>
              <a:gd name="connsiteX5" fmla="*/ 166701 w 1633551"/>
              <a:gd name="connsiteY5" fmla="*/ 57150 h 2566988"/>
              <a:gd name="connsiteX6" fmla="*/ 152413 w 1633551"/>
              <a:gd name="connsiteY6" fmla="*/ 71438 h 2566988"/>
              <a:gd name="connsiteX7" fmla="*/ 123838 w 1633551"/>
              <a:gd name="connsiteY7" fmla="*/ 80963 h 2566988"/>
              <a:gd name="connsiteX8" fmla="*/ 95263 w 1633551"/>
              <a:gd name="connsiteY8" fmla="*/ 95250 h 2566988"/>
              <a:gd name="connsiteX9" fmla="*/ 61926 w 1633551"/>
              <a:gd name="connsiteY9" fmla="*/ 133350 h 2566988"/>
              <a:gd name="connsiteX10" fmla="*/ 52401 w 1633551"/>
              <a:gd name="connsiteY10" fmla="*/ 161925 h 2566988"/>
              <a:gd name="connsiteX11" fmla="*/ 33351 w 1633551"/>
              <a:gd name="connsiteY11" fmla="*/ 190500 h 2566988"/>
              <a:gd name="connsiteX12" fmla="*/ 23826 w 1633551"/>
              <a:gd name="connsiteY12" fmla="*/ 219075 h 2566988"/>
              <a:gd name="connsiteX13" fmla="*/ 14301 w 1633551"/>
              <a:gd name="connsiteY13" fmla="*/ 233363 h 2566988"/>
              <a:gd name="connsiteX14" fmla="*/ 4776 w 1633551"/>
              <a:gd name="connsiteY14" fmla="*/ 261938 h 2566988"/>
              <a:gd name="connsiteX15" fmla="*/ 13 w 1633551"/>
              <a:gd name="connsiteY15" fmla="*/ 276225 h 2566988"/>
              <a:gd name="connsiteX16" fmla="*/ 9538 w 1633551"/>
              <a:gd name="connsiteY16" fmla="*/ 447675 h 2566988"/>
              <a:gd name="connsiteX17" fmla="*/ 19063 w 1633551"/>
              <a:gd name="connsiteY17" fmla="*/ 500063 h 2566988"/>
              <a:gd name="connsiteX18" fmla="*/ 28588 w 1633551"/>
              <a:gd name="connsiteY18" fmla="*/ 566738 h 2566988"/>
              <a:gd name="connsiteX19" fmla="*/ 33351 w 1633551"/>
              <a:gd name="connsiteY19" fmla="*/ 600075 h 2566988"/>
              <a:gd name="connsiteX20" fmla="*/ 42876 w 1633551"/>
              <a:gd name="connsiteY20" fmla="*/ 628650 h 2566988"/>
              <a:gd name="connsiteX21" fmla="*/ 47638 w 1633551"/>
              <a:gd name="connsiteY21" fmla="*/ 790575 h 2566988"/>
              <a:gd name="connsiteX22" fmla="*/ 38113 w 1633551"/>
              <a:gd name="connsiteY22" fmla="*/ 1428750 h 2566988"/>
              <a:gd name="connsiteX23" fmla="*/ 42876 w 1633551"/>
              <a:gd name="connsiteY23" fmla="*/ 1509713 h 2566988"/>
              <a:gd name="connsiteX24" fmla="*/ 33351 w 1633551"/>
              <a:gd name="connsiteY24" fmla="*/ 1685925 h 2566988"/>
              <a:gd name="connsiteX25" fmla="*/ 28588 w 1633551"/>
              <a:gd name="connsiteY25" fmla="*/ 1709738 h 2566988"/>
              <a:gd name="connsiteX26" fmla="*/ 33351 w 1633551"/>
              <a:gd name="connsiteY26" fmla="*/ 1800225 h 2566988"/>
              <a:gd name="connsiteX27" fmla="*/ 38113 w 1633551"/>
              <a:gd name="connsiteY27" fmla="*/ 1814513 h 2566988"/>
              <a:gd name="connsiteX28" fmla="*/ 47638 w 1633551"/>
              <a:gd name="connsiteY28" fmla="*/ 1828800 h 2566988"/>
              <a:gd name="connsiteX29" fmla="*/ 47638 w 1633551"/>
              <a:gd name="connsiteY29" fmla="*/ 2005013 h 2566988"/>
              <a:gd name="connsiteX30" fmla="*/ 42876 w 1633551"/>
              <a:gd name="connsiteY30" fmla="*/ 2047875 h 2566988"/>
              <a:gd name="connsiteX31" fmla="*/ 38113 w 1633551"/>
              <a:gd name="connsiteY31" fmla="*/ 2095500 h 2566988"/>
              <a:gd name="connsiteX32" fmla="*/ 28588 w 1633551"/>
              <a:gd name="connsiteY32" fmla="*/ 2124075 h 2566988"/>
              <a:gd name="connsiteX33" fmla="*/ 23826 w 1633551"/>
              <a:gd name="connsiteY33" fmla="*/ 2138363 h 2566988"/>
              <a:gd name="connsiteX34" fmla="*/ 14301 w 1633551"/>
              <a:gd name="connsiteY34" fmla="*/ 2185988 h 2566988"/>
              <a:gd name="connsiteX35" fmla="*/ 4776 w 1633551"/>
              <a:gd name="connsiteY35" fmla="*/ 2219325 h 2566988"/>
              <a:gd name="connsiteX36" fmla="*/ 13 w 1633551"/>
              <a:gd name="connsiteY36" fmla="*/ 2309813 h 2566988"/>
              <a:gd name="connsiteX37" fmla="*/ 4776 w 1633551"/>
              <a:gd name="connsiteY37" fmla="*/ 2371725 h 2566988"/>
              <a:gd name="connsiteX38" fmla="*/ 38113 w 1633551"/>
              <a:gd name="connsiteY38" fmla="*/ 2409825 h 2566988"/>
              <a:gd name="connsiteX39" fmla="*/ 47638 w 1633551"/>
              <a:gd name="connsiteY39" fmla="*/ 2424113 h 2566988"/>
              <a:gd name="connsiteX40" fmla="*/ 52401 w 1633551"/>
              <a:gd name="connsiteY40" fmla="*/ 2438400 h 2566988"/>
              <a:gd name="connsiteX41" fmla="*/ 66688 w 1633551"/>
              <a:gd name="connsiteY41" fmla="*/ 2447925 h 2566988"/>
              <a:gd name="connsiteX42" fmla="*/ 90501 w 1633551"/>
              <a:gd name="connsiteY42" fmla="*/ 2490788 h 2566988"/>
              <a:gd name="connsiteX43" fmla="*/ 104788 w 1633551"/>
              <a:gd name="connsiteY43" fmla="*/ 2495550 h 2566988"/>
              <a:gd name="connsiteX44" fmla="*/ 119076 w 1633551"/>
              <a:gd name="connsiteY44" fmla="*/ 2509838 h 2566988"/>
              <a:gd name="connsiteX45" fmla="*/ 147651 w 1633551"/>
              <a:gd name="connsiteY45" fmla="*/ 2519363 h 2566988"/>
              <a:gd name="connsiteX46" fmla="*/ 190513 w 1633551"/>
              <a:gd name="connsiteY46" fmla="*/ 2528888 h 2566988"/>
              <a:gd name="connsiteX47" fmla="*/ 204801 w 1633551"/>
              <a:gd name="connsiteY47" fmla="*/ 2533650 h 2566988"/>
              <a:gd name="connsiteX48" fmla="*/ 238138 w 1633551"/>
              <a:gd name="connsiteY48" fmla="*/ 2543175 h 2566988"/>
              <a:gd name="connsiteX49" fmla="*/ 281001 w 1633551"/>
              <a:gd name="connsiteY49" fmla="*/ 2566988 h 2566988"/>
              <a:gd name="connsiteX50" fmla="*/ 457213 w 1633551"/>
              <a:gd name="connsiteY50" fmla="*/ 2557463 h 2566988"/>
              <a:gd name="connsiteX51" fmla="*/ 471501 w 1633551"/>
              <a:gd name="connsiteY51" fmla="*/ 2552700 h 2566988"/>
              <a:gd name="connsiteX52" fmla="*/ 500076 w 1633551"/>
              <a:gd name="connsiteY52" fmla="*/ 2533650 h 2566988"/>
              <a:gd name="connsiteX53" fmla="*/ 528651 w 1633551"/>
              <a:gd name="connsiteY53" fmla="*/ 2505075 h 2566988"/>
              <a:gd name="connsiteX54" fmla="*/ 542938 w 1633551"/>
              <a:gd name="connsiteY54" fmla="*/ 2490788 h 2566988"/>
              <a:gd name="connsiteX55" fmla="*/ 557226 w 1633551"/>
              <a:gd name="connsiteY55" fmla="*/ 2486025 h 2566988"/>
              <a:gd name="connsiteX56" fmla="*/ 571513 w 1633551"/>
              <a:gd name="connsiteY56" fmla="*/ 2466975 h 2566988"/>
              <a:gd name="connsiteX57" fmla="*/ 600088 w 1633551"/>
              <a:gd name="connsiteY57" fmla="*/ 2438400 h 2566988"/>
              <a:gd name="connsiteX58" fmla="*/ 633426 w 1633551"/>
              <a:gd name="connsiteY58" fmla="*/ 2400300 h 2566988"/>
              <a:gd name="connsiteX59" fmla="*/ 652476 w 1633551"/>
              <a:gd name="connsiteY59" fmla="*/ 2381250 h 2566988"/>
              <a:gd name="connsiteX60" fmla="*/ 671526 w 1633551"/>
              <a:gd name="connsiteY60" fmla="*/ 2352675 h 2566988"/>
              <a:gd name="connsiteX61" fmla="*/ 695338 w 1633551"/>
              <a:gd name="connsiteY61" fmla="*/ 2324100 h 2566988"/>
              <a:gd name="connsiteX62" fmla="*/ 704863 w 1633551"/>
              <a:gd name="connsiteY62" fmla="*/ 2309813 h 2566988"/>
              <a:gd name="connsiteX63" fmla="*/ 738201 w 1633551"/>
              <a:gd name="connsiteY63" fmla="*/ 2276475 h 2566988"/>
              <a:gd name="connsiteX64" fmla="*/ 762013 w 1633551"/>
              <a:gd name="connsiteY64" fmla="*/ 2252663 h 2566988"/>
              <a:gd name="connsiteX65" fmla="*/ 790588 w 1633551"/>
              <a:gd name="connsiteY65" fmla="*/ 2228850 h 2566988"/>
              <a:gd name="connsiteX66" fmla="*/ 828688 w 1633551"/>
              <a:gd name="connsiteY66" fmla="*/ 2195513 h 2566988"/>
              <a:gd name="connsiteX67" fmla="*/ 857263 w 1633551"/>
              <a:gd name="connsiteY67" fmla="*/ 2176463 h 2566988"/>
              <a:gd name="connsiteX68" fmla="*/ 885838 w 1633551"/>
              <a:gd name="connsiteY68" fmla="*/ 2157413 h 2566988"/>
              <a:gd name="connsiteX69" fmla="*/ 909651 w 1633551"/>
              <a:gd name="connsiteY69" fmla="*/ 2138363 h 2566988"/>
              <a:gd name="connsiteX70" fmla="*/ 923938 w 1633551"/>
              <a:gd name="connsiteY70" fmla="*/ 2124075 h 2566988"/>
              <a:gd name="connsiteX71" fmla="*/ 942988 w 1633551"/>
              <a:gd name="connsiteY71" fmla="*/ 2114550 h 2566988"/>
              <a:gd name="connsiteX72" fmla="*/ 962038 w 1633551"/>
              <a:gd name="connsiteY72" fmla="*/ 2100263 h 2566988"/>
              <a:gd name="connsiteX73" fmla="*/ 1004901 w 1633551"/>
              <a:gd name="connsiteY73" fmla="*/ 2071688 h 2566988"/>
              <a:gd name="connsiteX74" fmla="*/ 1019188 w 1633551"/>
              <a:gd name="connsiteY74" fmla="*/ 2062163 h 2566988"/>
              <a:gd name="connsiteX75" fmla="*/ 1028713 w 1633551"/>
              <a:gd name="connsiteY75" fmla="*/ 2047875 h 2566988"/>
              <a:gd name="connsiteX76" fmla="*/ 1043001 w 1633551"/>
              <a:gd name="connsiteY76" fmla="*/ 2033588 h 2566988"/>
              <a:gd name="connsiteX77" fmla="*/ 1047763 w 1633551"/>
              <a:gd name="connsiteY77" fmla="*/ 2019300 h 2566988"/>
              <a:gd name="connsiteX78" fmla="*/ 1066813 w 1633551"/>
              <a:gd name="connsiteY78" fmla="*/ 1990725 h 2566988"/>
              <a:gd name="connsiteX79" fmla="*/ 1085863 w 1633551"/>
              <a:gd name="connsiteY79" fmla="*/ 1962150 h 2566988"/>
              <a:gd name="connsiteX80" fmla="*/ 1109676 w 1633551"/>
              <a:gd name="connsiteY80" fmla="*/ 1924050 h 2566988"/>
              <a:gd name="connsiteX81" fmla="*/ 1119201 w 1633551"/>
              <a:gd name="connsiteY81" fmla="*/ 1909763 h 2566988"/>
              <a:gd name="connsiteX82" fmla="*/ 1157301 w 1633551"/>
              <a:gd name="connsiteY82" fmla="*/ 1852613 h 2566988"/>
              <a:gd name="connsiteX83" fmla="*/ 1181113 w 1633551"/>
              <a:gd name="connsiteY83" fmla="*/ 1824038 h 2566988"/>
              <a:gd name="connsiteX84" fmla="*/ 1190638 w 1633551"/>
              <a:gd name="connsiteY84" fmla="*/ 1809750 h 2566988"/>
              <a:gd name="connsiteX85" fmla="*/ 1219213 w 1633551"/>
              <a:gd name="connsiteY85" fmla="*/ 1785938 h 2566988"/>
              <a:gd name="connsiteX86" fmla="*/ 1257313 w 1633551"/>
              <a:gd name="connsiteY86" fmla="*/ 1743075 h 2566988"/>
              <a:gd name="connsiteX87" fmla="*/ 1271601 w 1633551"/>
              <a:gd name="connsiteY87" fmla="*/ 1728788 h 2566988"/>
              <a:gd name="connsiteX88" fmla="*/ 1285888 w 1633551"/>
              <a:gd name="connsiteY88" fmla="*/ 1714500 h 2566988"/>
              <a:gd name="connsiteX89" fmla="*/ 1300176 w 1633551"/>
              <a:gd name="connsiteY89" fmla="*/ 1709738 h 2566988"/>
              <a:gd name="connsiteX90" fmla="*/ 1314463 w 1633551"/>
              <a:gd name="connsiteY90" fmla="*/ 1695450 h 2566988"/>
              <a:gd name="connsiteX91" fmla="*/ 1328751 w 1633551"/>
              <a:gd name="connsiteY91" fmla="*/ 1685925 h 2566988"/>
              <a:gd name="connsiteX92" fmla="*/ 1347801 w 1633551"/>
              <a:gd name="connsiteY92" fmla="*/ 1671638 h 2566988"/>
              <a:gd name="connsiteX93" fmla="*/ 1376376 w 1633551"/>
              <a:gd name="connsiteY93" fmla="*/ 1652588 h 2566988"/>
              <a:gd name="connsiteX94" fmla="*/ 1414476 w 1633551"/>
              <a:gd name="connsiteY94" fmla="*/ 1619250 h 2566988"/>
              <a:gd name="connsiteX95" fmla="*/ 1443051 w 1633551"/>
              <a:gd name="connsiteY95" fmla="*/ 1609725 h 2566988"/>
              <a:gd name="connsiteX96" fmla="*/ 1457338 w 1633551"/>
              <a:gd name="connsiteY96" fmla="*/ 1604963 h 2566988"/>
              <a:gd name="connsiteX97" fmla="*/ 1481151 w 1633551"/>
              <a:gd name="connsiteY97" fmla="*/ 1585913 h 2566988"/>
              <a:gd name="connsiteX98" fmla="*/ 1495438 w 1633551"/>
              <a:gd name="connsiteY98" fmla="*/ 1576388 h 2566988"/>
              <a:gd name="connsiteX99" fmla="*/ 1528776 w 1633551"/>
              <a:gd name="connsiteY99" fmla="*/ 1552575 h 2566988"/>
              <a:gd name="connsiteX100" fmla="*/ 1538301 w 1633551"/>
              <a:gd name="connsiteY100" fmla="*/ 1538288 h 2566988"/>
              <a:gd name="connsiteX101" fmla="*/ 1552588 w 1633551"/>
              <a:gd name="connsiteY101" fmla="*/ 1519238 h 2566988"/>
              <a:gd name="connsiteX102" fmla="*/ 1562113 w 1633551"/>
              <a:gd name="connsiteY102" fmla="*/ 1500188 h 2566988"/>
              <a:gd name="connsiteX103" fmla="*/ 1543063 w 1633551"/>
              <a:gd name="connsiteY103" fmla="*/ 1476375 h 2566988"/>
              <a:gd name="connsiteX104" fmla="*/ 1547826 w 1633551"/>
              <a:gd name="connsiteY104" fmla="*/ 1462088 h 2566988"/>
              <a:gd name="connsiteX105" fmla="*/ 1566876 w 1633551"/>
              <a:gd name="connsiteY105" fmla="*/ 1433513 h 2566988"/>
              <a:gd name="connsiteX106" fmla="*/ 1585926 w 1633551"/>
              <a:gd name="connsiteY106" fmla="*/ 1404938 h 2566988"/>
              <a:gd name="connsiteX107" fmla="*/ 1600213 w 1633551"/>
              <a:gd name="connsiteY107" fmla="*/ 1390650 h 2566988"/>
              <a:gd name="connsiteX108" fmla="*/ 1604976 w 1633551"/>
              <a:gd name="connsiteY108" fmla="*/ 1376363 h 2566988"/>
              <a:gd name="connsiteX109" fmla="*/ 1614501 w 1633551"/>
              <a:gd name="connsiteY109" fmla="*/ 1362075 h 2566988"/>
              <a:gd name="connsiteX110" fmla="*/ 1624026 w 1633551"/>
              <a:gd name="connsiteY110" fmla="*/ 1333500 h 2566988"/>
              <a:gd name="connsiteX111" fmla="*/ 1628788 w 1633551"/>
              <a:gd name="connsiteY111" fmla="*/ 1300163 h 2566988"/>
              <a:gd name="connsiteX112" fmla="*/ 1633551 w 1633551"/>
              <a:gd name="connsiteY112" fmla="*/ 1285875 h 2566988"/>
              <a:gd name="connsiteX113" fmla="*/ 1628788 w 1633551"/>
              <a:gd name="connsiteY113" fmla="*/ 1200150 h 2566988"/>
              <a:gd name="connsiteX114" fmla="*/ 1624026 w 1633551"/>
              <a:gd name="connsiteY114" fmla="*/ 1185863 h 2566988"/>
              <a:gd name="connsiteX115" fmla="*/ 1619263 w 1633551"/>
              <a:gd name="connsiteY115" fmla="*/ 1166813 h 2566988"/>
              <a:gd name="connsiteX116" fmla="*/ 1609738 w 1633551"/>
              <a:gd name="connsiteY116" fmla="*/ 1133475 h 2566988"/>
              <a:gd name="connsiteX117" fmla="*/ 1595451 w 1633551"/>
              <a:gd name="connsiteY117" fmla="*/ 1100138 h 2566988"/>
              <a:gd name="connsiteX118" fmla="*/ 1576401 w 1633551"/>
              <a:gd name="connsiteY118" fmla="*/ 1085850 h 2566988"/>
              <a:gd name="connsiteX119" fmla="*/ 1552588 w 1633551"/>
              <a:gd name="connsiteY119" fmla="*/ 1042988 h 2566988"/>
              <a:gd name="connsiteX120" fmla="*/ 1538301 w 1633551"/>
              <a:gd name="connsiteY120" fmla="*/ 1033463 h 2566988"/>
              <a:gd name="connsiteX121" fmla="*/ 1504963 w 1633551"/>
              <a:gd name="connsiteY121" fmla="*/ 1000125 h 2566988"/>
              <a:gd name="connsiteX122" fmla="*/ 1490676 w 1633551"/>
              <a:gd name="connsiteY122" fmla="*/ 995363 h 2566988"/>
              <a:gd name="connsiteX123" fmla="*/ 1447813 w 1633551"/>
              <a:gd name="connsiteY123" fmla="*/ 971550 h 2566988"/>
              <a:gd name="connsiteX124" fmla="*/ 1428763 w 1633551"/>
              <a:gd name="connsiteY124" fmla="*/ 957263 h 2566988"/>
              <a:gd name="connsiteX125" fmla="*/ 1400188 w 1633551"/>
              <a:gd name="connsiteY125" fmla="*/ 938213 h 2566988"/>
              <a:gd name="connsiteX126" fmla="*/ 1385901 w 1633551"/>
              <a:gd name="connsiteY126" fmla="*/ 928688 h 2566988"/>
              <a:gd name="connsiteX127" fmla="*/ 1366851 w 1633551"/>
              <a:gd name="connsiteY127" fmla="*/ 919163 h 2566988"/>
              <a:gd name="connsiteX128" fmla="*/ 1333513 w 1633551"/>
              <a:gd name="connsiteY128" fmla="*/ 895350 h 2566988"/>
              <a:gd name="connsiteX129" fmla="*/ 1314463 w 1633551"/>
              <a:gd name="connsiteY129" fmla="*/ 890588 h 2566988"/>
              <a:gd name="connsiteX130" fmla="*/ 1300176 w 1633551"/>
              <a:gd name="connsiteY130" fmla="*/ 881063 h 2566988"/>
              <a:gd name="connsiteX131" fmla="*/ 1266838 w 1633551"/>
              <a:gd name="connsiteY131" fmla="*/ 862013 h 2566988"/>
              <a:gd name="connsiteX132" fmla="*/ 1233501 w 1633551"/>
              <a:gd name="connsiteY132" fmla="*/ 838200 h 2566988"/>
              <a:gd name="connsiteX133" fmla="*/ 1209688 w 1633551"/>
              <a:gd name="connsiteY133" fmla="*/ 828675 h 2566988"/>
              <a:gd name="connsiteX134" fmla="*/ 1176351 w 1633551"/>
              <a:gd name="connsiteY134" fmla="*/ 800100 h 2566988"/>
              <a:gd name="connsiteX135" fmla="*/ 1162063 w 1633551"/>
              <a:gd name="connsiteY135" fmla="*/ 795338 h 2566988"/>
              <a:gd name="connsiteX136" fmla="*/ 1133488 w 1633551"/>
              <a:gd name="connsiteY136" fmla="*/ 776288 h 2566988"/>
              <a:gd name="connsiteX137" fmla="*/ 1090626 w 1633551"/>
              <a:gd name="connsiteY137" fmla="*/ 742950 h 2566988"/>
              <a:gd name="connsiteX138" fmla="*/ 1076338 w 1633551"/>
              <a:gd name="connsiteY138" fmla="*/ 733425 h 2566988"/>
              <a:gd name="connsiteX139" fmla="*/ 1052526 w 1633551"/>
              <a:gd name="connsiteY139" fmla="*/ 704850 h 2566988"/>
              <a:gd name="connsiteX140" fmla="*/ 1038238 w 1633551"/>
              <a:gd name="connsiteY140" fmla="*/ 676275 h 2566988"/>
              <a:gd name="connsiteX141" fmla="*/ 1023951 w 1633551"/>
              <a:gd name="connsiteY141" fmla="*/ 666750 h 2566988"/>
              <a:gd name="connsiteX142" fmla="*/ 1014426 w 1633551"/>
              <a:gd name="connsiteY142" fmla="*/ 647700 h 2566988"/>
              <a:gd name="connsiteX143" fmla="*/ 1009663 w 1633551"/>
              <a:gd name="connsiteY143" fmla="*/ 633413 h 2566988"/>
              <a:gd name="connsiteX144" fmla="*/ 985851 w 1633551"/>
              <a:gd name="connsiteY144" fmla="*/ 604838 h 2566988"/>
              <a:gd name="connsiteX145" fmla="*/ 976326 w 1633551"/>
              <a:gd name="connsiteY145" fmla="*/ 585788 h 2566988"/>
              <a:gd name="connsiteX146" fmla="*/ 971563 w 1633551"/>
              <a:gd name="connsiteY146" fmla="*/ 571500 h 2566988"/>
              <a:gd name="connsiteX147" fmla="*/ 957276 w 1633551"/>
              <a:gd name="connsiteY147" fmla="*/ 561975 h 2566988"/>
              <a:gd name="connsiteX148" fmla="*/ 947751 w 1633551"/>
              <a:gd name="connsiteY148" fmla="*/ 547688 h 2566988"/>
              <a:gd name="connsiteX149" fmla="*/ 933463 w 1633551"/>
              <a:gd name="connsiteY149" fmla="*/ 538163 h 2566988"/>
              <a:gd name="connsiteX150" fmla="*/ 904888 w 1633551"/>
              <a:gd name="connsiteY150" fmla="*/ 500063 h 2566988"/>
              <a:gd name="connsiteX151" fmla="*/ 857263 w 1633551"/>
              <a:gd name="connsiteY151" fmla="*/ 471488 h 2566988"/>
              <a:gd name="connsiteX152" fmla="*/ 823926 w 1633551"/>
              <a:gd name="connsiteY152" fmla="*/ 447675 h 2566988"/>
              <a:gd name="connsiteX153" fmla="*/ 795351 w 1633551"/>
              <a:gd name="connsiteY153" fmla="*/ 428625 h 2566988"/>
              <a:gd name="connsiteX154" fmla="*/ 785826 w 1633551"/>
              <a:gd name="connsiteY154" fmla="*/ 414338 h 2566988"/>
              <a:gd name="connsiteX155" fmla="*/ 771538 w 1633551"/>
              <a:gd name="connsiteY155" fmla="*/ 404813 h 2566988"/>
              <a:gd name="connsiteX156" fmla="*/ 733438 w 1633551"/>
              <a:gd name="connsiteY156" fmla="*/ 390525 h 2566988"/>
              <a:gd name="connsiteX157" fmla="*/ 723913 w 1633551"/>
              <a:gd name="connsiteY157" fmla="*/ 376238 h 2566988"/>
              <a:gd name="connsiteX158" fmla="*/ 695338 w 1633551"/>
              <a:gd name="connsiteY158" fmla="*/ 361950 h 2566988"/>
              <a:gd name="connsiteX159" fmla="*/ 676288 w 1633551"/>
              <a:gd name="connsiteY159" fmla="*/ 319088 h 2566988"/>
              <a:gd name="connsiteX160" fmla="*/ 666763 w 1633551"/>
              <a:gd name="connsiteY160" fmla="*/ 290513 h 2566988"/>
              <a:gd name="connsiteX161" fmla="*/ 657238 w 1633551"/>
              <a:gd name="connsiteY161" fmla="*/ 276225 h 2566988"/>
              <a:gd name="connsiteX162" fmla="*/ 647713 w 1633551"/>
              <a:gd name="connsiteY162" fmla="*/ 247650 h 2566988"/>
              <a:gd name="connsiteX163" fmla="*/ 642951 w 1633551"/>
              <a:gd name="connsiteY163" fmla="*/ 233363 h 2566988"/>
              <a:gd name="connsiteX164" fmla="*/ 633426 w 1633551"/>
              <a:gd name="connsiteY164" fmla="*/ 219075 h 2566988"/>
              <a:gd name="connsiteX165" fmla="*/ 623901 w 1633551"/>
              <a:gd name="connsiteY165" fmla="*/ 190500 h 2566988"/>
              <a:gd name="connsiteX166" fmla="*/ 619138 w 1633551"/>
              <a:gd name="connsiteY166" fmla="*/ 176213 h 2566988"/>
              <a:gd name="connsiteX167" fmla="*/ 604851 w 1633551"/>
              <a:gd name="connsiteY167" fmla="*/ 133350 h 2566988"/>
              <a:gd name="connsiteX168" fmla="*/ 600088 w 1633551"/>
              <a:gd name="connsiteY168" fmla="*/ 119063 h 2566988"/>
              <a:gd name="connsiteX169" fmla="*/ 571513 w 1633551"/>
              <a:gd name="connsiteY169" fmla="*/ 90488 h 2566988"/>
              <a:gd name="connsiteX170" fmla="*/ 552463 w 1633551"/>
              <a:gd name="connsiteY170" fmla="*/ 80963 h 2566988"/>
              <a:gd name="connsiteX171" fmla="*/ 538176 w 1633551"/>
              <a:gd name="connsiteY171" fmla="*/ 71438 h 2566988"/>
              <a:gd name="connsiteX172" fmla="*/ 523888 w 1633551"/>
              <a:gd name="connsiteY172" fmla="*/ 66675 h 2566988"/>
              <a:gd name="connsiteX173" fmla="*/ 495313 w 1633551"/>
              <a:gd name="connsiteY173" fmla="*/ 52388 h 2566988"/>
              <a:gd name="connsiteX174" fmla="*/ 466738 w 1633551"/>
              <a:gd name="connsiteY174" fmla="*/ 33338 h 2566988"/>
              <a:gd name="connsiteX175" fmla="*/ 442926 w 1633551"/>
              <a:gd name="connsiteY175" fmla="*/ 19050 h 2566988"/>
              <a:gd name="connsiteX176" fmla="*/ 400063 w 1633551"/>
              <a:gd name="connsiteY176" fmla="*/ 4763 h 2566988"/>
              <a:gd name="connsiteX177" fmla="*/ 385776 w 1633551"/>
              <a:gd name="connsiteY177" fmla="*/ 0 h 2566988"/>
              <a:gd name="connsiteX178" fmla="*/ 300051 w 1633551"/>
              <a:gd name="connsiteY178" fmla="*/ 4763 h 2566988"/>
              <a:gd name="connsiteX179" fmla="*/ 285763 w 1633551"/>
              <a:gd name="connsiteY179" fmla="*/ 9525 h 2566988"/>
              <a:gd name="connsiteX180" fmla="*/ 290526 w 1633551"/>
              <a:gd name="connsiteY180" fmla="*/ 14288 h 256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</a:cxnLst>
            <a:rect l="l" t="t" r="r" b="b"/>
            <a:pathLst>
              <a:path w="1633551" h="2566988">
                <a:moveTo>
                  <a:pt x="290526" y="14288"/>
                </a:moveTo>
                <a:cubicBezTo>
                  <a:pt x="287351" y="15875"/>
                  <a:pt x="274566" y="17087"/>
                  <a:pt x="266713" y="19050"/>
                </a:cubicBezTo>
                <a:cubicBezTo>
                  <a:pt x="261843" y="20268"/>
                  <a:pt x="257253" y="22434"/>
                  <a:pt x="252426" y="23813"/>
                </a:cubicBezTo>
                <a:cubicBezTo>
                  <a:pt x="246132" y="25611"/>
                  <a:pt x="239766" y="27155"/>
                  <a:pt x="233376" y="28575"/>
                </a:cubicBezTo>
                <a:cubicBezTo>
                  <a:pt x="198897" y="36237"/>
                  <a:pt x="220804" y="29591"/>
                  <a:pt x="195276" y="38100"/>
                </a:cubicBezTo>
                <a:cubicBezTo>
                  <a:pt x="185751" y="44450"/>
                  <a:pt x="174796" y="49055"/>
                  <a:pt x="166701" y="57150"/>
                </a:cubicBezTo>
                <a:cubicBezTo>
                  <a:pt x="161938" y="61913"/>
                  <a:pt x="158301" y="68167"/>
                  <a:pt x="152413" y="71438"/>
                </a:cubicBezTo>
                <a:cubicBezTo>
                  <a:pt x="143636" y="76314"/>
                  <a:pt x="132192" y="75394"/>
                  <a:pt x="123838" y="80963"/>
                </a:cubicBezTo>
                <a:cubicBezTo>
                  <a:pt x="105374" y="93273"/>
                  <a:pt x="114981" y="88678"/>
                  <a:pt x="95263" y="95250"/>
                </a:cubicBezTo>
                <a:cubicBezTo>
                  <a:pt x="73038" y="128587"/>
                  <a:pt x="85738" y="117475"/>
                  <a:pt x="61926" y="133350"/>
                </a:cubicBezTo>
                <a:cubicBezTo>
                  <a:pt x="58751" y="142875"/>
                  <a:pt x="57970" y="153571"/>
                  <a:pt x="52401" y="161925"/>
                </a:cubicBezTo>
                <a:cubicBezTo>
                  <a:pt x="46051" y="171450"/>
                  <a:pt x="36971" y="179640"/>
                  <a:pt x="33351" y="190500"/>
                </a:cubicBezTo>
                <a:cubicBezTo>
                  <a:pt x="30176" y="200025"/>
                  <a:pt x="29395" y="210721"/>
                  <a:pt x="23826" y="219075"/>
                </a:cubicBezTo>
                <a:cubicBezTo>
                  <a:pt x="20651" y="223838"/>
                  <a:pt x="16626" y="228132"/>
                  <a:pt x="14301" y="233363"/>
                </a:cubicBezTo>
                <a:cubicBezTo>
                  <a:pt x="10223" y="242538"/>
                  <a:pt x="7951" y="252413"/>
                  <a:pt x="4776" y="261938"/>
                </a:cubicBezTo>
                <a:lnTo>
                  <a:pt x="13" y="276225"/>
                </a:lnTo>
                <a:cubicBezTo>
                  <a:pt x="11998" y="384076"/>
                  <a:pt x="-3169" y="238013"/>
                  <a:pt x="9538" y="447675"/>
                </a:cubicBezTo>
                <a:cubicBezTo>
                  <a:pt x="10175" y="458187"/>
                  <a:pt x="16982" y="488616"/>
                  <a:pt x="19063" y="500063"/>
                </a:cubicBezTo>
                <a:cubicBezTo>
                  <a:pt x="25342" y="534597"/>
                  <a:pt x="23408" y="527890"/>
                  <a:pt x="28588" y="566738"/>
                </a:cubicBezTo>
                <a:cubicBezTo>
                  <a:pt x="30072" y="577865"/>
                  <a:pt x="30827" y="589137"/>
                  <a:pt x="33351" y="600075"/>
                </a:cubicBezTo>
                <a:cubicBezTo>
                  <a:pt x="35609" y="609858"/>
                  <a:pt x="42876" y="628650"/>
                  <a:pt x="42876" y="628650"/>
                </a:cubicBezTo>
                <a:cubicBezTo>
                  <a:pt x="44463" y="682625"/>
                  <a:pt x="47638" y="736577"/>
                  <a:pt x="47638" y="790575"/>
                </a:cubicBezTo>
                <a:cubicBezTo>
                  <a:pt x="47638" y="1405084"/>
                  <a:pt x="108534" y="1217517"/>
                  <a:pt x="38113" y="1428750"/>
                </a:cubicBezTo>
                <a:cubicBezTo>
                  <a:pt x="39701" y="1455738"/>
                  <a:pt x="42876" y="1482679"/>
                  <a:pt x="42876" y="1509713"/>
                </a:cubicBezTo>
                <a:cubicBezTo>
                  <a:pt x="42876" y="1560610"/>
                  <a:pt x="41319" y="1630148"/>
                  <a:pt x="33351" y="1685925"/>
                </a:cubicBezTo>
                <a:cubicBezTo>
                  <a:pt x="32206" y="1693939"/>
                  <a:pt x="30176" y="1701800"/>
                  <a:pt x="28588" y="1709738"/>
                </a:cubicBezTo>
                <a:cubicBezTo>
                  <a:pt x="30176" y="1739900"/>
                  <a:pt x="30616" y="1770145"/>
                  <a:pt x="33351" y="1800225"/>
                </a:cubicBezTo>
                <a:cubicBezTo>
                  <a:pt x="33806" y="1805225"/>
                  <a:pt x="35868" y="1810023"/>
                  <a:pt x="38113" y="1814513"/>
                </a:cubicBezTo>
                <a:cubicBezTo>
                  <a:pt x="40673" y="1819632"/>
                  <a:pt x="44463" y="1824038"/>
                  <a:pt x="47638" y="1828800"/>
                </a:cubicBezTo>
                <a:cubicBezTo>
                  <a:pt x="60076" y="1903418"/>
                  <a:pt x="54859" y="1860600"/>
                  <a:pt x="47638" y="2005013"/>
                </a:cubicBezTo>
                <a:cubicBezTo>
                  <a:pt x="46920" y="2019370"/>
                  <a:pt x="44381" y="2033579"/>
                  <a:pt x="42876" y="2047875"/>
                </a:cubicBezTo>
                <a:cubicBezTo>
                  <a:pt x="41206" y="2063742"/>
                  <a:pt x="41053" y="2079819"/>
                  <a:pt x="38113" y="2095500"/>
                </a:cubicBezTo>
                <a:cubicBezTo>
                  <a:pt x="36263" y="2105368"/>
                  <a:pt x="31763" y="2114550"/>
                  <a:pt x="28588" y="2124075"/>
                </a:cubicBezTo>
                <a:cubicBezTo>
                  <a:pt x="27001" y="2128838"/>
                  <a:pt x="24811" y="2133440"/>
                  <a:pt x="23826" y="2138363"/>
                </a:cubicBezTo>
                <a:cubicBezTo>
                  <a:pt x="20651" y="2154238"/>
                  <a:pt x="19421" y="2170630"/>
                  <a:pt x="14301" y="2185988"/>
                </a:cubicBezTo>
                <a:cubicBezTo>
                  <a:pt x="7468" y="2206484"/>
                  <a:pt x="10755" y="2195405"/>
                  <a:pt x="4776" y="2219325"/>
                </a:cubicBezTo>
                <a:cubicBezTo>
                  <a:pt x="3188" y="2249488"/>
                  <a:pt x="13" y="2279609"/>
                  <a:pt x="13" y="2309813"/>
                </a:cubicBezTo>
                <a:cubicBezTo>
                  <a:pt x="13" y="2330511"/>
                  <a:pt x="-492" y="2351708"/>
                  <a:pt x="4776" y="2371725"/>
                </a:cubicBezTo>
                <a:cubicBezTo>
                  <a:pt x="10687" y="2394186"/>
                  <a:pt x="22458" y="2399388"/>
                  <a:pt x="38113" y="2409825"/>
                </a:cubicBezTo>
                <a:cubicBezTo>
                  <a:pt x="41288" y="2414588"/>
                  <a:pt x="45078" y="2418993"/>
                  <a:pt x="47638" y="2424113"/>
                </a:cubicBezTo>
                <a:cubicBezTo>
                  <a:pt x="49883" y="2428603"/>
                  <a:pt x="49265" y="2434480"/>
                  <a:pt x="52401" y="2438400"/>
                </a:cubicBezTo>
                <a:cubicBezTo>
                  <a:pt x="55977" y="2442869"/>
                  <a:pt x="61926" y="2444750"/>
                  <a:pt x="66688" y="2447925"/>
                </a:cubicBezTo>
                <a:cubicBezTo>
                  <a:pt x="70882" y="2460505"/>
                  <a:pt x="78220" y="2486695"/>
                  <a:pt x="90501" y="2490788"/>
                </a:cubicBezTo>
                <a:lnTo>
                  <a:pt x="104788" y="2495550"/>
                </a:lnTo>
                <a:cubicBezTo>
                  <a:pt x="109551" y="2500313"/>
                  <a:pt x="113188" y="2506567"/>
                  <a:pt x="119076" y="2509838"/>
                </a:cubicBezTo>
                <a:cubicBezTo>
                  <a:pt x="127853" y="2514714"/>
                  <a:pt x="138126" y="2516188"/>
                  <a:pt x="147651" y="2519363"/>
                </a:cubicBezTo>
                <a:cubicBezTo>
                  <a:pt x="179807" y="2530082"/>
                  <a:pt x="140235" y="2517715"/>
                  <a:pt x="190513" y="2528888"/>
                </a:cubicBezTo>
                <a:cubicBezTo>
                  <a:pt x="195414" y="2529977"/>
                  <a:pt x="199974" y="2532271"/>
                  <a:pt x="204801" y="2533650"/>
                </a:cubicBezTo>
                <a:cubicBezTo>
                  <a:pt x="246653" y="2545607"/>
                  <a:pt x="203889" y="2531759"/>
                  <a:pt x="238138" y="2543175"/>
                </a:cubicBezTo>
                <a:cubicBezTo>
                  <a:pt x="270890" y="2565010"/>
                  <a:pt x="255853" y="2558605"/>
                  <a:pt x="281001" y="2566988"/>
                </a:cubicBezTo>
                <a:lnTo>
                  <a:pt x="457213" y="2557463"/>
                </a:lnTo>
                <a:cubicBezTo>
                  <a:pt x="462206" y="2556937"/>
                  <a:pt x="467112" y="2555138"/>
                  <a:pt x="471501" y="2552700"/>
                </a:cubicBezTo>
                <a:cubicBezTo>
                  <a:pt x="481508" y="2547141"/>
                  <a:pt x="491981" y="2541745"/>
                  <a:pt x="500076" y="2533650"/>
                </a:cubicBezTo>
                <a:lnTo>
                  <a:pt x="528651" y="2505075"/>
                </a:lnTo>
                <a:cubicBezTo>
                  <a:pt x="533413" y="2500313"/>
                  <a:pt x="536549" y="2492918"/>
                  <a:pt x="542938" y="2490788"/>
                </a:cubicBezTo>
                <a:lnTo>
                  <a:pt x="557226" y="2486025"/>
                </a:lnTo>
                <a:cubicBezTo>
                  <a:pt x="561988" y="2479675"/>
                  <a:pt x="566203" y="2472875"/>
                  <a:pt x="571513" y="2466975"/>
                </a:cubicBezTo>
                <a:cubicBezTo>
                  <a:pt x="580524" y="2456962"/>
                  <a:pt x="592616" y="2449608"/>
                  <a:pt x="600088" y="2438400"/>
                </a:cubicBezTo>
                <a:cubicBezTo>
                  <a:pt x="622313" y="2405062"/>
                  <a:pt x="609613" y="2416175"/>
                  <a:pt x="633426" y="2400300"/>
                </a:cubicBezTo>
                <a:cubicBezTo>
                  <a:pt x="646124" y="2362203"/>
                  <a:pt x="627077" y="2406649"/>
                  <a:pt x="652476" y="2381250"/>
                </a:cubicBezTo>
                <a:cubicBezTo>
                  <a:pt x="660571" y="2373155"/>
                  <a:pt x="665176" y="2362200"/>
                  <a:pt x="671526" y="2352675"/>
                </a:cubicBezTo>
                <a:cubicBezTo>
                  <a:pt x="695172" y="2317207"/>
                  <a:pt x="664784" y="2360766"/>
                  <a:pt x="695338" y="2324100"/>
                </a:cubicBezTo>
                <a:cubicBezTo>
                  <a:pt x="699002" y="2319703"/>
                  <a:pt x="701034" y="2314067"/>
                  <a:pt x="704863" y="2309813"/>
                </a:cubicBezTo>
                <a:cubicBezTo>
                  <a:pt x="715376" y="2298132"/>
                  <a:pt x="729483" y="2289551"/>
                  <a:pt x="738201" y="2276475"/>
                </a:cubicBezTo>
                <a:cubicBezTo>
                  <a:pt x="755664" y="2250282"/>
                  <a:pt x="738201" y="2272507"/>
                  <a:pt x="762013" y="2252663"/>
                </a:cubicBezTo>
                <a:cubicBezTo>
                  <a:pt x="798682" y="2222105"/>
                  <a:pt x="755117" y="2252498"/>
                  <a:pt x="790588" y="2228850"/>
                </a:cubicBezTo>
                <a:cubicBezTo>
                  <a:pt x="817577" y="2188369"/>
                  <a:pt x="773123" y="2251078"/>
                  <a:pt x="828688" y="2195513"/>
                </a:cubicBezTo>
                <a:cubicBezTo>
                  <a:pt x="846526" y="2177675"/>
                  <a:pt x="836586" y="2183355"/>
                  <a:pt x="857263" y="2176463"/>
                </a:cubicBezTo>
                <a:cubicBezTo>
                  <a:pt x="896679" y="2137047"/>
                  <a:pt x="849079" y="2180387"/>
                  <a:pt x="885838" y="2157413"/>
                </a:cubicBezTo>
                <a:cubicBezTo>
                  <a:pt x="894458" y="2152026"/>
                  <a:pt x="902001" y="2145057"/>
                  <a:pt x="909651" y="2138363"/>
                </a:cubicBezTo>
                <a:cubicBezTo>
                  <a:pt x="914720" y="2133928"/>
                  <a:pt x="918457" y="2127990"/>
                  <a:pt x="923938" y="2124075"/>
                </a:cubicBezTo>
                <a:cubicBezTo>
                  <a:pt x="929715" y="2119948"/>
                  <a:pt x="936968" y="2118313"/>
                  <a:pt x="942988" y="2114550"/>
                </a:cubicBezTo>
                <a:cubicBezTo>
                  <a:pt x="949719" y="2110343"/>
                  <a:pt x="955535" y="2104815"/>
                  <a:pt x="962038" y="2100263"/>
                </a:cubicBezTo>
                <a:cubicBezTo>
                  <a:pt x="962071" y="2100240"/>
                  <a:pt x="997740" y="2076462"/>
                  <a:pt x="1004901" y="2071688"/>
                </a:cubicBezTo>
                <a:lnTo>
                  <a:pt x="1019188" y="2062163"/>
                </a:lnTo>
                <a:cubicBezTo>
                  <a:pt x="1022363" y="2057400"/>
                  <a:pt x="1025049" y="2052272"/>
                  <a:pt x="1028713" y="2047875"/>
                </a:cubicBezTo>
                <a:cubicBezTo>
                  <a:pt x="1033025" y="2042701"/>
                  <a:pt x="1039265" y="2039192"/>
                  <a:pt x="1043001" y="2033588"/>
                </a:cubicBezTo>
                <a:cubicBezTo>
                  <a:pt x="1045786" y="2029411"/>
                  <a:pt x="1045325" y="2023688"/>
                  <a:pt x="1047763" y="2019300"/>
                </a:cubicBezTo>
                <a:cubicBezTo>
                  <a:pt x="1053322" y="2009293"/>
                  <a:pt x="1060463" y="2000250"/>
                  <a:pt x="1066813" y="1990725"/>
                </a:cubicBezTo>
                <a:lnTo>
                  <a:pt x="1085863" y="1962150"/>
                </a:lnTo>
                <a:cubicBezTo>
                  <a:pt x="1093801" y="1949450"/>
                  <a:pt x="1101635" y="1936685"/>
                  <a:pt x="1109676" y="1924050"/>
                </a:cubicBezTo>
                <a:cubicBezTo>
                  <a:pt x="1112749" y="1919221"/>
                  <a:pt x="1119201" y="1909763"/>
                  <a:pt x="1119201" y="1909763"/>
                </a:cubicBezTo>
                <a:cubicBezTo>
                  <a:pt x="1131129" y="1873973"/>
                  <a:pt x="1115677" y="1915051"/>
                  <a:pt x="1157301" y="1852613"/>
                </a:cubicBezTo>
                <a:cubicBezTo>
                  <a:pt x="1180950" y="1817138"/>
                  <a:pt x="1150555" y="1860708"/>
                  <a:pt x="1181113" y="1824038"/>
                </a:cubicBezTo>
                <a:cubicBezTo>
                  <a:pt x="1184777" y="1819641"/>
                  <a:pt x="1186974" y="1814147"/>
                  <a:pt x="1190638" y="1809750"/>
                </a:cubicBezTo>
                <a:cubicBezTo>
                  <a:pt x="1202095" y="1796001"/>
                  <a:pt x="1205167" y="1795302"/>
                  <a:pt x="1219213" y="1785938"/>
                </a:cubicBezTo>
                <a:cubicBezTo>
                  <a:pt x="1236209" y="1760443"/>
                  <a:pt x="1224692" y="1775695"/>
                  <a:pt x="1257313" y="1743075"/>
                </a:cubicBezTo>
                <a:lnTo>
                  <a:pt x="1271601" y="1728788"/>
                </a:lnTo>
                <a:cubicBezTo>
                  <a:pt x="1276364" y="1724025"/>
                  <a:pt x="1279498" y="1716630"/>
                  <a:pt x="1285888" y="1714500"/>
                </a:cubicBezTo>
                <a:lnTo>
                  <a:pt x="1300176" y="1709738"/>
                </a:lnTo>
                <a:cubicBezTo>
                  <a:pt x="1304938" y="1704975"/>
                  <a:pt x="1309289" y="1699762"/>
                  <a:pt x="1314463" y="1695450"/>
                </a:cubicBezTo>
                <a:cubicBezTo>
                  <a:pt x="1318860" y="1691786"/>
                  <a:pt x="1324093" y="1689252"/>
                  <a:pt x="1328751" y="1685925"/>
                </a:cubicBezTo>
                <a:cubicBezTo>
                  <a:pt x="1335210" y="1681312"/>
                  <a:pt x="1341298" y="1676190"/>
                  <a:pt x="1347801" y="1671638"/>
                </a:cubicBezTo>
                <a:cubicBezTo>
                  <a:pt x="1357179" y="1665073"/>
                  <a:pt x="1376376" y="1652588"/>
                  <a:pt x="1376376" y="1652588"/>
                </a:cubicBezTo>
                <a:cubicBezTo>
                  <a:pt x="1387488" y="1635919"/>
                  <a:pt x="1390663" y="1627188"/>
                  <a:pt x="1414476" y="1619250"/>
                </a:cubicBezTo>
                <a:lnTo>
                  <a:pt x="1443051" y="1609725"/>
                </a:lnTo>
                <a:lnTo>
                  <a:pt x="1457338" y="1604963"/>
                </a:lnTo>
                <a:cubicBezTo>
                  <a:pt x="1473395" y="1580876"/>
                  <a:pt x="1458146" y="1597415"/>
                  <a:pt x="1481151" y="1585913"/>
                </a:cubicBezTo>
                <a:cubicBezTo>
                  <a:pt x="1486270" y="1583353"/>
                  <a:pt x="1490781" y="1579715"/>
                  <a:pt x="1495438" y="1576388"/>
                </a:cubicBezTo>
                <a:cubicBezTo>
                  <a:pt x="1536771" y="1546863"/>
                  <a:pt x="1495117" y="1575014"/>
                  <a:pt x="1528776" y="1552575"/>
                </a:cubicBezTo>
                <a:cubicBezTo>
                  <a:pt x="1531951" y="1547813"/>
                  <a:pt x="1534974" y="1542946"/>
                  <a:pt x="1538301" y="1538288"/>
                </a:cubicBezTo>
                <a:cubicBezTo>
                  <a:pt x="1542915" y="1531829"/>
                  <a:pt x="1548381" y="1525969"/>
                  <a:pt x="1552588" y="1519238"/>
                </a:cubicBezTo>
                <a:cubicBezTo>
                  <a:pt x="1556351" y="1513218"/>
                  <a:pt x="1558938" y="1506538"/>
                  <a:pt x="1562113" y="1500188"/>
                </a:cubicBezTo>
                <a:cubicBezTo>
                  <a:pt x="1555763" y="1492250"/>
                  <a:pt x="1546632" y="1485893"/>
                  <a:pt x="1543063" y="1476375"/>
                </a:cubicBezTo>
                <a:cubicBezTo>
                  <a:pt x="1541300" y="1471675"/>
                  <a:pt x="1545388" y="1466476"/>
                  <a:pt x="1547826" y="1462088"/>
                </a:cubicBezTo>
                <a:cubicBezTo>
                  <a:pt x="1553386" y="1452081"/>
                  <a:pt x="1560526" y="1443038"/>
                  <a:pt x="1566876" y="1433513"/>
                </a:cubicBezTo>
                <a:lnTo>
                  <a:pt x="1585926" y="1404938"/>
                </a:lnTo>
                <a:lnTo>
                  <a:pt x="1600213" y="1390650"/>
                </a:lnTo>
                <a:cubicBezTo>
                  <a:pt x="1601801" y="1385888"/>
                  <a:pt x="1602731" y="1380853"/>
                  <a:pt x="1604976" y="1376363"/>
                </a:cubicBezTo>
                <a:cubicBezTo>
                  <a:pt x="1607536" y="1371243"/>
                  <a:pt x="1612176" y="1367306"/>
                  <a:pt x="1614501" y="1362075"/>
                </a:cubicBezTo>
                <a:cubicBezTo>
                  <a:pt x="1618579" y="1352900"/>
                  <a:pt x="1624026" y="1333500"/>
                  <a:pt x="1624026" y="1333500"/>
                </a:cubicBezTo>
                <a:cubicBezTo>
                  <a:pt x="1625613" y="1322388"/>
                  <a:pt x="1626587" y="1311170"/>
                  <a:pt x="1628788" y="1300163"/>
                </a:cubicBezTo>
                <a:cubicBezTo>
                  <a:pt x="1629773" y="1295240"/>
                  <a:pt x="1633551" y="1290895"/>
                  <a:pt x="1633551" y="1285875"/>
                </a:cubicBezTo>
                <a:cubicBezTo>
                  <a:pt x="1633551" y="1257256"/>
                  <a:pt x="1631501" y="1228640"/>
                  <a:pt x="1628788" y="1200150"/>
                </a:cubicBezTo>
                <a:cubicBezTo>
                  <a:pt x="1628312" y="1195153"/>
                  <a:pt x="1625405" y="1190690"/>
                  <a:pt x="1624026" y="1185863"/>
                </a:cubicBezTo>
                <a:cubicBezTo>
                  <a:pt x="1622228" y="1179569"/>
                  <a:pt x="1620985" y="1173128"/>
                  <a:pt x="1619263" y="1166813"/>
                </a:cubicBezTo>
                <a:cubicBezTo>
                  <a:pt x="1616222" y="1155663"/>
                  <a:pt x="1613059" y="1144545"/>
                  <a:pt x="1609738" y="1133475"/>
                </a:cubicBezTo>
                <a:cubicBezTo>
                  <a:pt x="1607009" y="1124379"/>
                  <a:pt x="1601170" y="1106811"/>
                  <a:pt x="1595451" y="1100138"/>
                </a:cubicBezTo>
                <a:cubicBezTo>
                  <a:pt x="1590285" y="1094111"/>
                  <a:pt x="1582751" y="1090613"/>
                  <a:pt x="1576401" y="1085850"/>
                </a:cubicBezTo>
                <a:cubicBezTo>
                  <a:pt x="1571438" y="1070962"/>
                  <a:pt x="1566623" y="1052345"/>
                  <a:pt x="1552588" y="1042988"/>
                </a:cubicBezTo>
                <a:cubicBezTo>
                  <a:pt x="1547826" y="1039813"/>
                  <a:pt x="1542348" y="1037510"/>
                  <a:pt x="1538301" y="1033463"/>
                </a:cubicBezTo>
                <a:cubicBezTo>
                  <a:pt x="1517827" y="1012988"/>
                  <a:pt x="1526498" y="1010892"/>
                  <a:pt x="1504963" y="1000125"/>
                </a:cubicBezTo>
                <a:cubicBezTo>
                  <a:pt x="1500473" y="997880"/>
                  <a:pt x="1495290" y="997340"/>
                  <a:pt x="1490676" y="995363"/>
                </a:cubicBezTo>
                <a:cubicBezTo>
                  <a:pt x="1477966" y="989916"/>
                  <a:pt x="1458652" y="978776"/>
                  <a:pt x="1447813" y="971550"/>
                </a:cubicBezTo>
                <a:cubicBezTo>
                  <a:pt x="1441209" y="967147"/>
                  <a:pt x="1435266" y="961815"/>
                  <a:pt x="1428763" y="957263"/>
                </a:cubicBezTo>
                <a:cubicBezTo>
                  <a:pt x="1419385" y="950698"/>
                  <a:pt x="1409713" y="944563"/>
                  <a:pt x="1400188" y="938213"/>
                </a:cubicBezTo>
                <a:cubicBezTo>
                  <a:pt x="1395426" y="935038"/>
                  <a:pt x="1391020" y="931248"/>
                  <a:pt x="1385901" y="928688"/>
                </a:cubicBezTo>
                <a:cubicBezTo>
                  <a:pt x="1379551" y="925513"/>
                  <a:pt x="1372871" y="922926"/>
                  <a:pt x="1366851" y="919163"/>
                </a:cubicBezTo>
                <a:cubicBezTo>
                  <a:pt x="1363298" y="916942"/>
                  <a:pt x="1339928" y="898099"/>
                  <a:pt x="1333513" y="895350"/>
                </a:cubicBezTo>
                <a:cubicBezTo>
                  <a:pt x="1327497" y="892772"/>
                  <a:pt x="1320813" y="892175"/>
                  <a:pt x="1314463" y="890588"/>
                </a:cubicBezTo>
                <a:cubicBezTo>
                  <a:pt x="1309701" y="887413"/>
                  <a:pt x="1305146" y="883903"/>
                  <a:pt x="1300176" y="881063"/>
                </a:cubicBezTo>
                <a:cubicBezTo>
                  <a:pt x="1272274" y="865119"/>
                  <a:pt x="1290042" y="878588"/>
                  <a:pt x="1266838" y="862013"/>
                </a:cubicBezTo>
                <a:cubicBezTo>
                  <a:pt x="1261805" y="858418"/>
                  <a:pt x="1240983" y="841941"/>
                  <a:pt x="1233501" y="838200"/>
                </a:cubicBezTo>
                <a:cubicBezTo>
                  <a:pt x="1225854" y="834377"/>
                  <a:pt x="1217161" y="832827"/>
                  <a:pt x="1209688" y="828675"/>
                </a:cubicBezTo>
                <a:cubicBezTo>
                  <a:pt x="1157651" y="799766"/>
                  <a:pt x="1219669" y="828979"/>
                  <a:pt x="1176351" y="800100"/>
                </a:cubicBezTo>
                <a:cubicBezTo>
                  <a:pt x="1172174" y="797315"/>
                  <a:pt x="1166826" y="796925"/>
                  <a:pt x="1162063" y="795338"/>
                </a:cubicBezTo>
                <a:cubicBezTo>
                  <a:pt x="1143529" y="767535"/>
                  <a:pt x="1164242" y="791665"/>
                  <a:pt x="1133488" y="776288"/>
                </a:cubicBezTo>
                <a:cubicBezTo>
                  <a:pt x="1097373" y="758231"/>
                  <a:pt x="1114146" y="762551"/>
                  <a:pt x="1090626" y="742950"/>
                </a:cubicBezTo>
                <a:cubicBezTo>
                  <a:pt x="1086229" y="739286"/>
                  <a:pt x="1081101" y="736600"/>
                  <a:pt x="1076338" y="733425"/>
                </a:cubicBezTo>
                <a:cubicBezTo>
                  <a:pt x="1067243" y="706138"/>
                  <a:pt x="1078475" y="730799"/>
                  <a:pt x="1052526" y="704850"/>
                </a:cubicBezTo>
                <a:cubicBezTo>
                  <a:pt x="1012385" y="664709"/>
                  <a:pt x="1069222" y="715006"/>
                  <a:pt x="1038238" y="676275"/>
                </a:cubicBezTo>
                <a:cubicBezTo>
                  <a:pt x="1034662" y="671806"/>
                  <a:pt x="1028713" y="669925"/>
                  <a:pt x="1023951" y="666750"/>
                </a:cubicBezTo>
                <a:cubicBezTo>
                  <a:pt x="1020776" y="660400"/>
                  <a:pt x="1017223" y="654225"/>
                  <a:pt x="1014426" y="647700"/>
                </a:cubicBezTo>
                <a:cubicBezTo>
                  <a:pt x="1012448" y="643086"/>
                  <a:pt x="1011908" y="637903"/>
                  <a:pt x="1009663" y="633413"/>
                </a:cubicBezTo>
                <a:cubicBezTo>
                  <a:pt x="997062" y="608212"/>
                  <a:pt x="1003409" y="629420"/>
                  <a:pt x="985851" y="604838"/>
                </a:cubicBezTo>
                <a:cubicBezTo>
                  <a:pt x="981725" y="599061"/>
                  <a:pt x="979123" y="592313"/>
                  <a:pt x="976326" y="585788"/>
                </a:cubicBezTo>
                <a:cubicBezTo>
                  <a:pt x="974348" y="581174"/>
                  <a:pt x="974699" y="575420"/>
                  <a:pt x="971563" y="571500"/>
                </a:cubicBezTo>
                <a:cubicBezTo>
                  <a:pt x="967987" y="567031"/>
                  <a:pt x="962038" y="565150"/>
                  <a:pt x="957276" y="561975"/>
                </a:cubicBezTo>
                <a:cubicBezTo>
                  <a:pt x="954101" y="557213"/>
                  <a:pt x="951798" y="551735"/>
                  <a:pt x="947751" y="547688"/>
                </a:cubicBezTo>
                <a:cubicBezTo>
                  <a:pt x="943703" y="543641"/>
                  <a:pt x="937188" y="542509"/>
                  <a:pt x="933463" y="538163"/>
                </a:cubicBezTo>
                <a:cubicBezTo>
                  <a:pt x="914169" y="515653"/>
                  <a:pt x="926844" y="515745"/>
                  <a:pt x="904888" y="500063"/>
                </a:cubicBezTo>
                <a:cubicBezTo>
                  <a:pt x="878588" y="481278"/>
                  <a:pt x="886925" y="501152"/>
                  <a:pt x="857263" y="471488"/>
                </a:cubicBezTo>
                <a:cubicBezTo>
                  <a:pt x="832010" y="446233"/>
                  <a:pt x="855268" y="466480"/>
                  <a:pt x="823926" y="447675"/>
                </a:cubicBezTo>
                <a:cubicBezTo>
                  <a:pt x="814110" y="441785"/>
                  <a:pt x="795351" y="428625"/>
                  <a:pt x="795351" y="428625"/>
                </a:cubicBezTo>
                <a:cubicBezTo>
                  <a:pt x="792176" y="423863"/>
                  <a:pt x="789873" y="418385"/>
                  <a:pt x="785826" y="414338"/>
                </a:cubicBezTo>
                <a:cubicBezTo>
                  <a:pt x="781778" y="410291"/>
                  <a:pt x="776508" y="407653"/>
                  <a:pt x="771538" y="404813"/>
                </a:cubicBezTo>
                <a:cubicBezTo>
                  <a:pt x="752168" y="393744"/>
                  <a:pt x="754273" y="395734"/>
                  <a:pt x="733438" y="390525"/>
                </a:cubicBezTo>
                <a:cubicBezTo>
                  <a:pt x="730263" y="385763"/>
                  <a:pt x="727960" y="380285"/>
                  <a:pt x="723913" y="376238"/>
                </a:cubicBezTo>
                <a:cubicBezTo>
                  <a:pt x="714681" y="367006"/>
                  <a:pt x="706959" y="365824"/>
                  <a:pt x="695338" y="361950"/>
                </a:cubicBezTo>
                <a:cubicBezTo>
                  <a:pt x="680244" y="339310"/>
                  <a:pt x="687622" y="353091"/>
                  <a:pt x="676288" y="319088"/>
                </a:cubicBezTo>
                <a:cubicBezTo>
                  <a:pt x="676286" y="319083"/>
                  <a:pt x="666767" y="290518"/>
                  <a:pt x="666763" y="290513"/>
                </a:cubicBezTo>
                <a:lnTo>
                  <a:pt x="657238" y="276225"/>
                </a:lnTo>
                <a:lnTo>
                  <a:pt x="647713" y="247650"/>
                </a:lnTo>
                <a:cubicBezTo>
                  <a:pt x="646126" y="242888"/>
                  <a:pt x="645735" y="237540"/>
                  <a:pt x="642951" y="233363"/>
                </a:cubicBezTo>
                <a:cubicBezTo>
                  <a:pt x="639776" y="228600"/>
                  <a:pt x="635751" y="224306"/>
                  <a:pt x="633426" y="219075"/>
                </a:cubicBezTo>
                <a:cubicBezTo>
                  <a:pt x="629348" y="209900"/>
                  <a:pt x="627076" y="200025"/>
                  <a:pt x="623901" y="190500"/>
                </a:cubicBezTo>
                <a:lnTo>
                  <a:pt x="619138" y="176213"/>
                </a:lnTo>
                <a:lnTo>
                  <a:pt x="604851" y="133350"/>
                </a:lnTo>
                <a:cubicBezTo>
                  <a:pt x="603264" y="128588"/>
                  <a:pt x="603638" y="122613"/>
                  <a:pt x="600088" y="119063"/>
                </a:cubicBezTo>
                <a:cubicBezTo>
                  <a:pt x="590563" y="109538"/>
                  <a:pt x="583561" y="96512"/>
                  <a:pt x="571513" y="90488"/>
                </a:cubicBezTo>
                <a:cubicBezTo>
                  <a:pt x="565163" y="87313"/>
                  <a:pt x="558627" y="84485"/>
                  <a:pt x="552463" y="80963"/>
                </a:cubicBezTo>
                <a:cubicBezTo>
                  <a:pt x="547493" y="78123"/>
                  <a:pt x="543295" y="73998"/>
                  <a:pt x="538176" y="71438"/>
                </a:cubicBezTo>
                <a:cubicBezTo>
                  <a:pt x="533686" y="69193"/>
                  <a:pt x="528378" y="68920"/>
                  <a:pt x="523888" y="66675"/>
                </a:cubicBezTo>
                <a:cubicBezTo>
                  <a:pt x="486966" y="48214"/>
                  <a:pt x="531220" y="64355"/>
                  <a:pt x="495313" y="52388"/>
                </a:cubicBezTo>
                <a:cubicBezTo>
                  <a:pt x="468228" y="25301"/>
                  <a:pt x="494309" y="47124"/>
                  <a:pt x="466738" y="33338"/>
                </a:cubicBezTo>
                <a:cubicBezTo>
                  <a:pt x="458459" y="29198"/>
                  <a:pt x="451434" y="22696"/>
                  <a:pt x="442926" y="19050"/>
                </a:cubicBezTo>
                <a:cubicBezTo>
                  <a:pt x="429083" y="13117"/>
                  <a:pt x="414351" y="9526"/>
                  <a:pt x="400063" y="4763"/>
                </a:cubicBezTo>
                <a:lnTo>
                  <a:pt x="385776" y="0"/>
                </a:lnTo>
                <a:cubicBezTo>
                  <a:pt x="357201" y="1588"/>
                  <a:pt x="328541" y="2050"/>
                  <a:pt x="300051" y="4763"/>
                </a:cubicBezTo>
                <a:cubicBezTo>
                  <a:pt x="295053" y="5239"/>
                  <a:pt x="290068" y="6942"/>
                  <a:pt x="285763" y="9525"/>
                </a:cubicBezTo>
                <a:cubicBezTo>
                  <a:pt x="281913" y="11835"/>
                  <a:pt x="293701" y="12701"/>
                  <a:pt x="290526" y="142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3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56" name="Freeform 28">
            <a:extLst>
              <a:ext uri="{FF2B5EF4-FFF2-40B4-BE49-F238E27FC236}">
                <a16:creationId xmlns:a16="http://schemas.microsoft.com/office/drawing/2014/main" id="{09C6E4DA-0420-6014-72FB-593CB4578CF5}"/>
              </a:ext>
            </a:extLst>
          </p:cNvPr>
          <p:cNvSpPr/>
          <p:nvPr/>
        </p:nvSpPr>
        <p:spPr>
          <a:xfrm>
            <a:off x="7175067" y="494603"/>
            <a:ext cx="1802674" cy="1763485"/>
          </a:xfrm>
          <a:custGeom>
            <a:avLst/>
            <a:gdLst>
              <a:gd name="connsiteX0" fmla="*/ 130628 w 1802674"/>
              <a:gd name="connsiteY0" fmla="*/ 52251 h 1763485"/>
              <a:gd name="connsiteX1" fmla="*/ 287382 w 1802674"/>
              <a:gd name="connsiteY1" fmla="*/ 39188 h 1763485"/>
              <a:gd name="connsiteX2" fmla="*/ 339634 w 1802674"/>
              <a:gd name="connsiteY2" fmla="*/ 26125 h 1763485"/>
              <a:gd name="connsiteX3" fmla="*/ 404948 w 1802674"/>
              <a:gd name="connsiteY3" fmla="*/ 13063 h 1763485"/>
              <a:gd name="connsiteX4" fmla="*/ 535577 w 1802674"/>
              <a:gd name="connsiteY4" fmla="*/ 0 h 1763485"/>
              <a:gd name="connsiteX5" fmla="*/ 1554480 w 1802674"/>
              <a:gd name="connsiteY5" fmla="*/ 13063 h 1763485"/>
              <a:gd name="connsiteX6" fmla="*/ 1593668 w 1802674"/>
              <a:gd name="connsiteY6" fmla="*/ 39188 h 1763485"/>
              <a:gd name="connsiteX7" fmla="*/ 1645920 w 1802674"/>
              <a:gd name="connsiteY7" fmla="*/ 117565 h 1763485"/>
              <a:gd name="connsiteX8" fmla="*/ 1698171 w 1802674"/>
              <a:gd name="connsiteY8" fmla="*/ 274320 h 1763485"/>
              <a:gd name="connsiteX9" fmla="*/ 1711234 w 1802674"/>
              <a:gd name="connsiteY9" fmla="*/ 313508 h 1763485"/>
              <a:gd name="connsiteX10" fmla="*/ 1737360 w 1802674"/>
              <a:gd name="connsiteY10" fmla="*/ 352697 h 1763485"/>
              <a:gd name="connsiteX11" fmla="*/ 1750422 w 1802674"/>
              <a:gd name="connsiteY11" fmla="*/ 391885 h 1763485"/>
              <a:gd name="connsiteX12" fmla="*/ 1776548 w 1802674"/>
              <a:gd name="connsiteY12" fmla="*/ 587828 h 1763485"/>
              <a:gd name="connsiteX13" fmla="*/ 1789611 w 1802674"/>
              <a:gd name="connsiteY13" fmla="*/ 627017 h 1763485"/>
              <a:gd name="connsiteX14" fmla="*/ 1802674 w 1802674"/>
              <a:gd name="connsiteY14" fmla="*/ 679268 h 1763485"/>
              <a:gd name="connsiteX15" fmla="*/ 1789611 w 1802674"/>
              <a:gd name="connsiteY15" fmla="*/ 849085 h 1763485"/>
              <a:gd name="connsiteX16" fmla="*/ 1776548 w 1802674"/>
              <a:gd name="connsiteY16" fmla="*/ 901337 h 1763485"/>
              <a:gd name="connsiteX17" fmla="*/ 1763485 w 1802674"/>
              <a:gd name="connsiteY17" fmla="*/ 992777 h 1763485"/>
              <a:gd name="connsiteX18" fmla="*/ 1750422 w 1802674"/>
              <a:gd name="connsiteY18" fmla="*/ 1528354 h 1763485"/>
              <a:gd name="connsiteX19" fmla="*/ 1711234 w 1802674"/>
              <a:gd name="connsiteY19" fmla="*/ 1554480 h 1763485"/>
              <a:gd name="connsiteX20" fmla="*/ 1685108 w 1802674"/>
              <a:gd name="connsiteY20" fmla="*/ 1632857 h 1763485"/>
              <a:gd name="connsiteX21" fmla="*/ 1619794 w 1802674"/>
              <a:gd name="connsiteY21" fmla="*/ 1711234 h 1763485"/>
              <a:gd name="connsiteX22" fmla="*/ 1541417 w 1802674"/>
              <a:gd name="connsiteY22" fmla="*/ 1763485 h 1763485"/>
              <a:gd name="connsiteX23" fmla="*/ 1306285 w 1802674"/>
              <a:gd name="connsiteY23" fmla="*/ 1750423 h 1763485"/>
              <a:gd name="connsiteX24" fmla="*/ 1227908 w 1802674"/>
              <a:gd name="connsiteY24" fmla="*/ 1724297 h 1763485"/>
              <a:gd name="connsiteX25" fmla="*/ 1110342 w 1802674"/>
              <a:gd name="connsiteY25" fmla="*/ 1672045 h 1763485"/>
              <a:gd name="connsiteX26" fmla="*/ 1071154 w 1802674"/>
              <a:gd name="connsiteY26" fmla="*/ 1658983 h 1763485"/>
              <a:gd name="connsiteX27" fmla="*/ 1031965 w 1802674"/>
              <a:gd name="connsiteY27" fmla="*/ 1645920 h 1763485"/>
              <a:gd name="connsiteX28" fmla="*/ 966651 w 1802674"/>
              <a:gd name="connsiteY28" fmla="*/ 1580605 h 1763485"/>
              <a:gd name="connsiteX29" fmla="*/ 875211 w 1802674"/>
              <a:gd name="connsiteY29" fmla="*/ 1528354 h 1763485"/>
              <a:gd name="connsiteX30" fmla="*/ 796834 w 1802674"/>
              <a:gd name="connsiteY30" fmla="*/ 1476103 h 1763485"/>
              <a:gd name="connsiteX31" fmla="*/ 731520 w 1802674"/>
              <a:gd name="connsiteY31" fmla="*/ 1423851 h 1763485"/>
              <a:gd name="connsiteX32" fmla="*/ 653142 w 1802674"/>
              <a:gd name="connsiteY32" fmla="*/ 1371600 h 1763485"/>
              <a:gd name="connsiteX33" fmla="*/ 600891 w 1802674"/>
              <a:gd name="connsiteY33" fmla="*/ 1293223 h 1763485"/>
              <a:gd name="connsiteX34" fmla="*/ 522514 w 1802674"/>
              <a:gd name="connsiteY34" fmla="*/ 1240971 h 1763485"/>
              <a:gd name="connsiteX35" fmla="*/ 431074 w 1802674"/>
              <a:gd name="connsiteY35" fmla="*/ 1123405 h 1763485"/>
              <a:gd name="connsiteX36" fmla="*/ 378822 w 1802674"/>
              <a:gd name="connsiteY36" fmla="*/ 1058091 h 1763485"/>
              <a:gd name="connsiteX37" fmla="*/ 365760 w 1802674"/>
              <a:gd name="connsiteY37" fmla="*/ 1018903 h 1763485"/>
              <a:gd name="connsiteX38" fmla="*/ 300445 w 1802674"/>
              <a:gd name="connsiteY38" fmla="*/ 953588 h 1763485"/>
              <a:gd name="connsiteX39" fmla="*/ 274320 w 1802674"/>
              <a:gd name="connsiteY39" fmla="*/ 914400 h 1763485"/>
              <a:gd name="connsiteX40" fmla="*/ 235131 w 1802674"/>
              <a:gd name="connsiteY40" fmla="*/ 888274 h 1763485"/>
              <a:gd name="connsiteX41" fmla="*/ 209005 w 1802674"/>
              <a:gd name="connsiteY41" fmla="*/ 809897 h 1763485"/>
              <a:gd name="connsiteX42" fmla="*/ 130628 w 1802674"/>
              <a:gd name="connsiteY42" fmla="*/ 757645 h 1763485"/>
              <a:gd name="connsiteX43" fmla="*/ 104502 w 1802674"/>
              <a:gd name="connsiteY43" fmla="*/ 718457 h 1763485"/>
              <a:gd name="connsiteX44" fmla="*/ 78377 w 1802674"/>
              <a:gd name="connsiteY44" fmla="*/ 640080 h 1763485"/>
              <a:gd name="connsiteX45" fmla="*/ 65314 w 1802674"/>
              <a:gd name="connsiteY45" fmla="*/ 600891 h 1763485"/>
              <a:gd name="connsiteX46" fmla="*/ 26125 w 1802674"/>
              <a:gd name="connsiteY46" fmla="*/ 483325 h 1763485"/>
              <a:gd name="connsiteX47" fmla="*/ 13062 w 1802674"/>
              <a:gd name="connsiteY47" fmla="*/ 444137 h 1763485"/>
              <a:gd name="connsiteX48" fmla="*/ 0 w 1802674"/>
              <a:gd name="connsiteY48" fmla="*/ 378823 h 1763485"/>
              <a:gd name="connsiteX49" fmla="*/ 13062 w 1802674"/>
              <a:gd name="connsiteY49" fmla="*/ 287383 h 1763485"/>
              <a:gd name="connsiteX50" fmla="*/ 39188 w 1802674"/>
              <a:gd name="connsiteY50" fmla="*/ 248194 h 1763485"/>
              <a:gd name="connsiteX51" fmla="*/ 78377 w 1802674"/>
              <a:gd name="connsiteY51" fmla="*/ 169817 h 1763485"/>
              <a:gd name="connsiteX52" fmla="*/ 130628 w 1802674"/>
              <a:gd name="connsiteY52" fmla="*/ 104503 h 1763485"/>
              <a:gd name="connsiteX53" fmla="*/ 156754 w 1802674"/>
              <a:gd name="connsiteY53" fmla="*/ 65314 h 1763485"/>
              <a:gd name="connsiteX54" fmla="*/ 130628 w 1802674"/>
              <a:gd name="connsiteY54" fmla="*/ 52251 h 176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802674" h="1763485">
                <a:moveTo>
                  <a:pt x="130628" y="52251"/>
                </a:moveTo>
                <a:cubicBezTo>
                  <a:pt x="152399" y="47897"/>
                  <a:pt x="235354" y="45692"/>
                  <a:pt x="287382" y="39188"/>
                </a:cubicBezTo>
                <a:cubicBezTo>
                  <a:pt x="305197" y="36961"/>
                  <a:pt x="322108" y="30020"/>
                  <a:pt x="339634" y="26125"/>
                </a:cubicBezTo>
                <a:cubicBezTo>
                  <a:pt x="361308" y="21309"/>
                  <a:pt x="382940" y="15997"/>
                  <a:pt x="404948" y="13063"/>
                </a:cubicBezTo>
                <a:cubicBezTo>
                  <a:pt x="448324" y="7280"/>
                  <a:pt x="492034" y="4354"/>
                  <a:pt x="535577" y="0"/>
                </a:cubicBezTo>
                <a:cubicBezTo>
                  <a:pt x="875211" y="4354"/>
                  <a:pt x="1215050" y="492"/>
                  <a:pt x="1554480" y="13063"/>
                </a:cubicBezTo>
                <a:cubicBezTo>
                  <a:pt x="1570169" y="13644"/>
                  <a:pt x="1583330" y="27373"/>
                  <a:pt x="1593668" y="39188"/>
                </a:cubicBezTo>
                <a:cubicBezTo>
                  <a:pt x="1614345" y="62818"/>
                  <a:pt x="1645920" y="117565"/>
                  <a:pt x="1645920" y="117565"/>
                </a:cubicBezTo>
                <a:lnTo>
                  <a:pt x="1698171" y="274320"/>
                </a:lnTo>
                <a:cubicBezTo>
                  <a:pt x="1702525" y="287383"/>
                  <a:pt x="1703596" y="302051"/>
                  <a:pt x="1711234" y="313508"/>
                </a:cubicBezTo>
                <a:lnTo>
                  <a:pt x="1737360" y="352697"/>
                </a:lnTo>
                <a:cubicBezTo>
                  <a:pt x="1741714" y="365760"/>
                  <a:pt x="1747435" y="378444"/>
                  <a:pt x="1750422" y="391885"/>
                </a:cubicBezTo>
                <a:cubicBezTo>
                  <a:pt x="1771903" y="488552"/>
                  <a:pt x="1757678" y="474611"/>
                  <a:pt x="1776548" y="587828"/>
                </a:cubicBezTo>
                <a:cubicBezTo>
                  <a:pt x="1778812" y="601410"/>
                  <a:pt x="1785828" y="613777"/>
                  <a:pt x="1789611" y="627017"/>
                </a:cubicBezTo>
                <a:cubicBezTo>
                  <a:pt x="1794543" y="644279"/>
                  <a:pt x="1798320" y="661851"/>
                  <a:pt x="1802674" y="679268"/>
                </a:cubicBezTo>
                <a:cubicBezTo>
                  <a:pt x="1798320" y="735874"/>
                  <a:pt x="1796244" y="792701"/>
                  <a:pt x="1789611" y="849085"/>
                </a:cubicBezTo>
                <a:cubicBezTo>
                  <a:pt x="1787513" y="866915"/>
                  <a:pt x="1779760" y="883673"/>
                  <a:pt x="1776548" y="901337"/>
                </a:cubicBezTo>
                <a:cubicBezTo>
                  <a:pt x="1771040" y="931630"/>
                  <a:pt x="1767839" y="962297"/>
                  <a:pt x="1763485" y="992777"/>
                </a:cubicBezTo>
                <a:cubicBezTo>
                  <a:pt x="1759131" y="1171303"/>
                  <a:pt x="1766962" y="1350543"/>
                  <a:pt x="1750422" y="1528354"/>
                </a:cubicBezTo>
                <a:cubicBezTo>
                  <a:pt x="1748968" y="1543986"/>
                  <a:pt x="1719555" y="1541167"/>
                  <a:pt x="1711234" y="1554480"/>
                </a:cubicBezTo>
                <a:cubicBezTo>
                  <a:pt x="1696638" y="1577833"/>
                  <a:pt x="1700384" y="1609943"/>
                  <a:pt x="1685108" y="1632857"/>
                </a:cubicBezTo>
                <a:cubicBezTo>
                  <a:pt x="1661886" y="1667688"/>
                  <a:pt x="1654607" y="1684157"/>
                  <a:pt x="1619794" y="1711234"/>
                </a:cubicBezTo>
                <a:cubicBezTo>
                  <a:pt x="1595009" y="1730511"/>
                  <a:pt x="1541417" y="1763485"/>
                  <a:pt x="1541417" y="1763485"/>
                </a:cubicBezTo>
                <a:cubicBezTo>
                  <a:pt x="1463040" y="1759131"/>
                  <a:pt x="1384177" y="1760159"/>
                  <a:pt x="1306285" y="1750423"/>
                </a:cubicBezTo>
                <a:cubicBezTo>
                  <a:pt x="1278959" y="1747007"/>
                  <a:pt x="1227908" y="1724297"/>
                  <a:pt x="1227908" y="1724297"/>
                </a:cubicBezTo>
                <a:cubicBezTo>
                  <a:pt x="1165807" y="1682895"/>
                  <a:pt x="1203612" y="1703135"/>
                  <a:pt x="1110342" y="1672045"/>
                </a:cubicBezTo>
                <a:lnTo>
                  <a:pt x="1071154" y="1658983"/>
                </a:lnTo>
                <a:lnTo>
                  <a:pt x="1031965" y="1645920"/>
                </a:lnTo>
                <a:cubicBezTo>
                  <a:pt x="927457" y="1576246"/>
                  <a:pt x="1053744" y="1667697"/>
                  <a:pt x="966651" y="1580605"/>
                </a:cubicBezTo>
                <a:cubicBezTo>
                  <a:pt x="944061" y="1558015"/>
                  <a:pt x="900819" y="1543719"/>
                  <a:pt x="875211" y="1528354"/>
                </a:cubicBezTo>
                <a:cubicBezTo>
                  <a:pt x="848287" y="1512199"/>
                  <a:pt x="796834" y="1476103"/>
                  <a:pt x="796834" y="1476103"/>
                </a:cubicBezTo>
                <a:cubicBezTo>
                  <a:pt x="748562" y="1403695"/>
                  <a:pt x="798327" y="1460965"/>
                  <a:pt x="731520" y="1423851"/>
                </a:cubicBezTo>
                <a:cubicBezTo>
                  <a:pt x="704072" y="1408602"/>
                  <a:pt x="653142" y="1371600"/>
                  <a:pt x="653142" y="1371600"/>
                </a:cubicBezTo>
                <a:cubicBezTo>
                  <a:pt x="635725" y="1345474"/>
                  <a:pt x="627017" y="1310640"/>
                  <a:pt x="600891" y="1293223"/>
                </a:cubicBezTo>
                <a:lnTo>
                  <a:pt x="522514" y="1240971"/>
                </a:lnTo>
                <a:cubicBezTo>
                  <a:pt x="460015" y="1147223"/>
                  <a:pt x="492464" y="1184797"/>
                  <a:pt x="431074" y="1123405"/>
                </a:cubicBezTo>
                <a:cubicBezTo>
                  <a:pt x="398239" y="1024903"/>
                  <a:pt x="446351" y="1142502"/>
                  <a:pt x="378822" y="1058091"/>
                </a:cubicBezTo>
                <a:cubicBezTo>
                  <a:pt x="370220" y="1047339"/>
                  <a:pt x="371918" y="1031219"/>
                  <a:pt x="365760" y="1018903"/>
                </a:cubicBezTo>
                <a:cubicBezTo>
                  <a:pt x="343989" y="975360"/>
                  <a:pt x="339634" y="979714"/>
                  <a:pt x="300445" y="953588"/>
                </a:cubicBezTo>
                <a:cubicBezTo>
                  <a:pt x="291737" y="940525"/>
                  <a:pt x="285421" y="925501"/>
                  <a:pt x="274320" y="914400"/>
                </a:cubicBezTo>
                <a:cubicBezTo>
                  <a:pt x="263219" y="903299"/>
                  <a:pt x="243452" y="901587"/>
                  <a:pt x="235131" y="888274"/>
                </a:cubicBezTo>
                <a:cubicBezTo>
                  <a:pt x="220535" y="864921"/>
                  <a:pt x="231919" y="825173"/>
                  <a:pt x="209005" y="809897"/>
                </a:cubicBezTo>
                <a:lnTo>
                  <a:pt x="130628" y="757645"/>
                </a:lnTo>
                <a:cubicBezTo>
                  <a:pt x="121919" y="744582"/>
                  <a:pt x="110878" y="732803"/>
                  <a:pt x="104502" y="718457"/>
                </a:cubicBezTo>
                <a:cubicBezTo>
                  <a:pt x="93317" y="693292"/>
                  <a:pt x="87085" y="666206"/>
                  <a:pt x="78377" y="640080"/>
                </a:cubicBezTo>
                <a:lnTo>
                  <a:pt x="65314" y="600891"/>
                </a:lnTo>
                <a:lnTo>
                  <a:pt x="26125" y="483325"/>
                </a:lnTo>
                <a:cubicBezTo>
                  <a:pt x="21771" y="470262"/>
                  <a:pt x="15762" y="457639"/>
                  <a:pt x="13062" y="444137"/>
                </a:cubicBezTo>
                <a:lnTo>
                  <a:pt x="0" y="378823"/>
                </a:lnTo>
                <a:cubicBezTo>
                  <a:pt x="4354" y="348343"/>
                  <a:pt x="4215" y="316874"/>
                  <a:pt x="13062" y="287383"/>
                </a:cubicBezTo>
                <a:cubicBezTo>
                  <a:pt x="17573" y="272345"/>
                  <a:pt x="32167" y="262236"/>
                  <a:pt x="39188" y="248194"/>
                </a:cubicBezTo>
                <a:cubicBezTo>
                  <a:pt x="93268" y="140034"/>
                  <a:pt x="3507" y="282118"/>
                  <a:pt x="78377" y="169817"/>
                </a:cubicBezTo>
                <a:cubicBezTo>
                  <a:pt x="103808" y="93524"/>
                  <a:pt x="71542" y="163589"/>
                  <a:pt x="130628" y="104503"/>
                </a:cubicBezTo>
                <a:cubicBezTo>
                  <a:pt x="141729" y="93402"/>
                  <a:pt x="147334" y="77874"/>
                  <a:pt x="156754" y="65314"/>
                </a:cubicBezTo>
                <a:cubicBezTo>
                  <a:pt x="160449" y="60388"/>
                  <a:pt x="108857" y="56605"/>
                  <a:pt x="130628" y="52251"/>
                </a:cubicBezTo>
                <a:close/>
              </a:path>
            </a:pathLst>
          </a:custGeom>
          <a:solidFill>
            <a:srgbClr val="0070C0">
              <a:alpha val="43000"/>
            </a:srgbClr>
          </a:solidFill>
          <a:ln>
            <a:solidFill>
              <a:srgbClr val="0B449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036BF1FB-C647-71DC-37EF-A466A33CB9E3}"/>
              </a:ext>
            </a:extLst>
          </p:cNvPr>
          <p:cNvGrpSpPr/>
          <p:nvPr/>
        </p:nvGrpSpPr>
        <p:grpSpPr>
          <a:xfrm>
            <a:off x="7879170" y="3501008"/>
            <a:ext cx="968788" cy="955855"/>
            <a:chOff x="7879170" y="3797019"/>
            <a:chExt cx="968788" cy="95585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8FEC4E3-465A-2A75-313C-311AF7E67B64}"/>
                </a:ext>
              </a:extLst>
            </p:cNvPr>
            <p:cNvGrpSpPr/>
            <p:nvPr/>
          </p:nvGrpSpPr>
          <p:grpSpPr>
            <a:xfrm>
              <a:off x="7879170" y="3797019"/>
              <a:ext cx="968788" cy="927150"/>
              <a:chOff x="4496347" y="5192752"/>
              <a:chExt cx="1296144" cy="1240437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1D2BBCC-A1EE-B872-5349-D28573AEEEE6}"/>
                  </a:ext>
                </a:extLst>
              </p:cNvPr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rgbClr val="0070C0">
                  <a:alpha val="43000"/>
                </a:srgbClr>
              </a:solidFill>
              <a:ln>
                <a:solidFill>
                  <a:srgbClr val="0B44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66FCEE4-850E-CDB9-2DC7-A215466228C7}"/>
                  </a:ext>
                </a:extLst>
              </p:cNvPr>
              <p:cNvSpPr txBox="1"/>
              <p:nvPr/>
            </p:nvSpPr>
            <p:spPr>
              <a:xfrm>
                <a:off x="5080783" y="5242229"/>
                <a:ext cx="459387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</a:rPr>
                  <a:t>c</a:t>
                </a:r>
                <a:endParaRPr lang="nl-NL" sz="28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7547242-C647-63DF-64C9-90358F89F5F0}"/>
                  </a:ext>
                </a:extLst>
              </p:cNvPr>
              <p:cNvSpPr txBox="1"/>
              <p:nvPr/>
            </p:nvSpPr>
            <p:spPr>
              <a:xfrm>
                <a:off x="5081340" y="5723213"/>
                <a:ext cx="480834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</a:rPr>
                  <a:t>e</a:t>
                </a:r>
                <a:endParaRPr lang="nl-NL" sz="28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8094BE4-2AB8-2C84-9A5A-4F1CFE4FDAC9}"/>
                  </a:ext>
                </a:extLst>
              </p:cNvPr>
              <p:cNvSpPr txBox="1"/>
              <p:nvPr/>
            </p:nvSpPr>
            <p:spPr>
              <a:xfrm>
                <a:off x="4641291" y="5241515"/>
                <a:ext cx="510859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800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16FE886-8415-099F-0371-ECE266F6E79B}"/>
                </a:ext>
              </a:extLst>
            </p:cNvPr>
            <p:cNvCxnSpPr>
              <a:cxnSpLocks/>
              <a:stCxn id="53" idx="7"/>
              <a:endCxn id="58" idx="3"/>
            </p:cNvCxnSpPr>
            <p:nvPr/>
          </p:nvCxnSpPr>
          <p:spPr>
            <a:xfrm flipV="1">
              <a:off x="7887088" y="4588391"/>
              <a:ext cx="133958" cy="1644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Freeform 1139">
            <a:extLst>
              <a:ext uri="{FF2B5EF4-FFF2-40B4-BE49-F238E27FC236}">
                <a16:creationId xmlns:a16="http://schemas.microsoft.com/office/drawing/2014/main" id="{AD44A0CA-3B4A-F3E8-E291-D7108EF6DE2C}"/>
              </a:ext>
            </a:extLst>
          </p:cNvPr>
          <p:cNvSpPr/>
          <p:nvPr/>
        </p:nvSpPr>
        <p:spPr>
          <a:xfrm>
            <a:off x="7190500" y="1478551"/>
            <a:ext cx="1742439" cy="1659314"/>
          </a:xfrm>
          <a:custGeom>
            <a:avLst/>
            <a:gdLst>
              <a:gd name="connsiteX0" fmla="*/ 1711235 w 1742439"/>
              <a:gd name="connsiteY0" fmla="*/ 287383 h 1659314"/>
              <a:gd name="connsiteX1" fmla="*/ 1698172 w 1742439"/>
              <a:gd name="connsiteY1" fmla="*/ 222069 h 1659314"/>
              <a:gd name="connsiteX2" fmla="*/ 1658983 w 1742439"/>
              <a:gd name="connsiteY2" fmla="*/ 182880 h 1659314"/>
              <a:gd name="connsiteX3" fmla="*/ 1593669 w 1742439"/>
              <a:gd name="connsiteY3" fmla="*/ 130629 h 1659314"/>
              <a:gd name="connsiteX4" fmla="*/ 1541417 w 1742439"/>
              <a:gd name="connsiteY4" fmla="*/ 65314 h 1659314"/>
              <a:gd name="connsiteX5" fmla="*/ 1515292 w 1742439"/>
              <a:gd name="connsiteY5" fmla="*/ 26126 h 1659314"/>
              <a:gd name="connsiteX6" fmla="*/ 1436915 w 1742439"/>
              <a:gd name="connsiteY6" fmla="*/ 0 h 1659314"/>
              <a:gd name="connsiteX7" fmla="*/ 1254035 w 1742439"/>
              <a:gd name="connsiteY7" fmla="*/ 13063 h 1659314"/>
              <a:gd name="connsiteX8" fmla="*/ 1175657 w 1742439"/>
              <a:gd name="connsiteY8" fmla="*/ 39189 h 1659314"/>
              <a:gd name="connsiteX9" fmla="*/ 1149532 w 1742439"/>
              <a:gd name="connsiteY9" fmla="*/ 78377 h 1659314"/>
              <a:gd name="connsiteX10" fmla="*/ 1110343 w 1742439"/>
              <a:gd name="connsiteY10" fmla="*/ 91440 h 1659314"/>
              <a:gd name="connsiteX11" fmla="*/ 1031966 w 1742439"/>
              <a:gd name="connsiteY11" fmla="*/ 143691 h 1659314"/>
              <a:gd name="connsiteX12" fmla="*/ 992777 w 1742439"/>
              <a:gd name="connsiteY12" fmla="*/ 182880 h 1659314"/>
              <a:gd name="connsiteX13" fmla="*/ 966652 w 1742439"/>
              <a:gd name="connsiteY13" fmla="*/ 222069 h 1659314"/>
              <a:gd name="connsiteX14" fmla="*/ 927463 w 1742439"/>
              <a:gd name="connsiteY14" fmla="*/ 248194 h 1659314"/>
              <a:gd name="connsiteX15" fmla="*/ 901337 w 1742439"/>
              <a:gd name="connsiteY15" fmla="*/ 287383 h 1659314"/>
              <a:gd name="connsiteX16" fmla="*/ 862149 w 1742439"/>
              <a:gd name="connsiteY16" fmla="*/ 300446 h 1659314"/>
              <a:gd name="connsiteX17" fmla="*/ 822960 w 1742439"/>
              <a:gd name="connsiteY17" fmla="*/ 326571 h 1659314"/>
              <a:gd name="connsiteX18" fmla="*/ 796835 w 1742439"/>
              <a:gd name="connsiteY18" fmla="*/ 365760 h 1659314"/>
              <a:gd name="connsiteX19" fmla="*/ 718457 w 1742439"/>
              <a:gd name="connsiteY19" fmla="*/ 431074 h 1659314"/>
              <a:gd name="connsiteX20" fmla="*/ 666206 w 1742439"/>
              <a:gd name="connsiteY20" fmla="*/ 509451 h 1659314"/>
              <a:gd name="connsiteX21" fmla="*/ 653143 w 1742439"/>
              <a:gd name="connsiteY21" fmla="*/ 548640 h 1659314"/>
              <a:gd name="connsiteX22" fmla="*/ 613955 w 1742439"/>
              <a:gd name="connsiteY22" fmla="*/ 574766 h 1659314"/>
              <a:gd name="connsiteX23" fmla="*/ 574766 w 1742439"/>
              <a:gd name="connsiteY23" fmla="*/ 613954 h 1659314"/>
              <a:gd name="connsiteX24" fmla="*/ 535577 w 1742439"/>
              <a:gd name="connsiteY24" fmla="*/ 640080 h 1659314"/>
              <a:gd name="connsiteX25" fmla="*/ 457200 w 1742439"/>
              <a:gd name="connsiteY25" fmla="*/ 718457 h 1659314"/>
              <a:gd name="connsiteX26" fmla="*/ 418012 w 1742439"/>
              <a:gd name="connsiteY26" fmla="*/ 757646 h 1659314"/>
              <a:gd name="connsiteX27" fmla="*/ 378823 w 1742439"/>
              <a:gd name="connsiteY27" fmla="*/ 796834 h 1659314"/>
              <a:gd name="connsiteX28" fmla="*/ 326572 w 1742439"/>
              <a:gd name="connsiteY28" fmla="*/ 862149 h 1659314"/>
              <a:gd name="connsiteX29" fmla="*/ 300446 w 1742439"/>
              <a:gd name="connsiteY29" fmla="*/ 901337 h 1659314"/>
              <a:gd name="connsiteX30" fmla="*/ 222069 w 1742439"/>
              <a:gd name="connsiteY30" fmla="*/ 953589 h 1659314"/>
              <a:gd name="connsiteX31" fmla="*/ 195943 w 1742439"/>
              <a:gd name="connsiteY31" fmla="*/ 992777 h 1659314"/>
              <a:gd name="connsiteX32" fmla="*/ 156755 w 1742439"/>
              <a:gd name="connsiteY32" fmla="*/ 1018903 h 1659314"/>
              <a:gd name="connsiteX33" fmla="*/ 143692 w 1742439"/>
              <a:gd name="connsiteY33" fmla="*/ 1058091 h 1659314"/>
              <a:gd name="connsiteX34" fmla="*/ 91440 w 1742439"/>
              <a:gd name="connsiteY34" fmla="*/ 1136469 h 1659314"/>
              <a:gd name="connsiteX35" fmla="*/ 65315 w 1742439"/>
              <a:gd name="connsiteY35" fmla="*/ 1175657 h 1659314"/>
              <a:gd name="connsiteX36" fmla="*/ 26126 w 1742439"/>
              <a:gd name="connsiteY36" fmla="*/ 1254034 h 1659314"/>
              <a:gd name="connsiteX37" fmla="*/ 13063 w 1742439"/>
              <a:gd name="connsiteY37" fmla="*/ 1319349 h 1659314"/>
              <a:gd name="connsiteX38" fmla="*/ 0 w 1742439"/>
              <a:gd name="connsiteY38" fmla="*/ 1358537 h 1659314"/>
              <a:gd name="connsiteX39" fmla="*/ 13063 w 1742439"/>
              <a:gd name="connsiteY39" fmla="*/ 1502229 h 1659314"/>
              <a:gd name="connsiteX40" fmla="*/ 78377 w 1742439"/>
              <a:gd name="connsiteY40" fmla="*/ 1554480 h 1659314"/>
              <a:gd name="connsiteX41" fmla="*/ 156755 w 1742439"/>
              <a:gd name="connsiteY41" fmla="*/ 1606731 h 1659314"/>
              <a:gd name="connsiteX42" fmla="*/ 235132 w 1742439"/>
              <a:gd name="connsiteY42" fmla="*/ 1632857 h 1659314"/>
              <a:gd name="connsiteX43" fmla="*/ 274320 w 1742439"/>
              <a:gd name="connsiteY43" fmla="*/ 1645920 h 1659314"/>
              <a:gd name="connsiteX44" fmla="*/ 365760 w 1742439"/>
              <a:gd name="connsiteY44" fmla="*/ 1658983 h 1659314"/>
              <a:gd name="connsiteX45" fmla="*/ 653143 w 1742439"/>
              <a:gd name="connsiteY45" fmla="*/ 1645920 h 1659314"/>
              <a:gd name="connsiteX46" fmla="*/ 1463040 w 1742439"/>
              <a:gd name="connsiteY46" fmla="*/ 1645920 h 1659314"/>
              <a:gd name="connsiteX47" fmla="*/ 1541417 w 1742439"/>
              <a:gd name="connsiteY47" fmla="*/ 1619794 h 1659314"/>
              <a:gd name="connsiteX48" fmla="*/ 1580606 w 1742439"/>
              <a:gd name="connsiteY48" fmla="*/ 1606731 h 1659314"/>
              <a:gd name="connsiteX49" fmla="*/ 1619795 w 1742439"/>
              <a:gd name="connsiteY49" fmla="*/ 1580606 h 1659314"/>
              <a:gd name="connsiteX50" fmla="*/ 1645920 w 1742439"/>
              <a:gd name="connsiteY50" fmla="*/ 1541417 h 1659314"/>
              <a:gd name="connsiteX51" fmla="*/ 1685109 w 1742439"/>
              <a:gd name="connsiteY51" fmla="*/ 1502229 h 1659314"/>
              <a:gd name="connsiteX52" fmla="*/ 1698172 w 1742439"/>
              <a:gd name="connsiteY52" fmla="*/ 1463040 h 1659314"/>
              <a:gd name="connsiteX53" fmla="*/ 1724297 w 1742439"/>
              <a:gd name="connsiteY53" fmla="*/ 1423851 h 1659314"/>
              <a:gd name="connsiteX54" fmla="*/ 1724297 w 1742439"/>
              <a:gd name="connsiteY54" fmla="*/ 705394 h 1659314"/>
              <a:gd name="connsiteX55" fmla="*/ 1737360 w 1742439"/>
              <a:gd name="connsiteY55" fmla="*/ 548640 h 1659314"/>
              <a:gd name="connsiteX56" fmla="*/ 1724297 w 1742439"/>
              <a:gd name="connsiteY56" fmla="*/ 326571 h 1659314"/>
              <a:gd name="connsiteX57" fmla="*/ 1711235 w 1742439"/>
              <a:gd name="connsiteY57" fmla="*/ 287383 h 1659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742439" h="1659314">
                <a:moveTo>
                  <a:pt x="1711235" y="287383"/>
                </a:moveTo>
                <a:cubicBezTo>
                  <a:pt x="1706881" y="269966"/>
                  <a:pt x="1708101" y="241927"/>
                  <a:pt x="1698172" y="222069"/>
                </a:cubicBezTo>
                <a:cubicBezTo>
                  <a:pt x="1689910" y="205545"/>
                  <a:pt x="1670810" y="197072"/>
                  <a:pt x="1658983" y="182880"/>
                </a:cubicBezTo>
                <a:cubicBezTo>
                  <a:pt x="1613532" y="128339"/>
                  <a:pt x="1658001" y="152072"/>
                  <a:pt x="1593669" y="130629"/>
                </a:cubicBezTo>
                <a:cubicBezTo>
                  <a:pt x="1568238" y="54336"/>
                  <a:pt x="1600504" y="124401"/>
                  <a:pt x="1541417" y="65314"/>
                </a:cubicBezTo>
                <a:cubicBezTo>
                  <a:pt x="1530316" y="54213"/>
                  <a:pt x="1528605" y="34447"/>
                  <a:pt x="1515292" y="26126"/>
                </a:cubicBezTo>
                <a:cubicBezTo>
                  <a:pt x="1491939" y="11530"/>
                  <a:pt x="1436915" y="0"/>
                  <a:pt x="1436915" y="0"/>
                </a:cubicBezTo>
                <a:cubicBezTo>
                  <a:pt x="1375955" y="4354"/>
                  <a:pt x="1314474" y="3997"/>
                  <a:pt x="1254035" y="13063"/>
                </a:cubicBezTo>
                <a:cubicBezTo>
                  <a:pt x="1226800" y="17148"/>
                  <a:pt x="1175657" y="39189"/>
                  <a:pt x="1175657" y="39189"/>
                </a:cubicBezTo>
                <a:cubicBezTo>
                  <a:pt x="1166949" y="52252"/>
                  <a:pt x="1161791" y="68570"/>
                  <a:pt x="1149532" y="78377"/>
                </a:cubicBezTo>
                <a:cubicBezTo>
                  <a:pt x="1138780" y="86979"/>
                  <a:pt x="1122380" y="84753"/>
                  <a:pt x="1110343" y="91440"/>
                </a:cubicBezTo>
                <a:cubicBezTo>
                  <a:pt x="1082895" y="106689"/>
                  <a:pt x="1054169" y="121488"/>
                  <a:pt x="1031966" y="143691"/>
                </a:cubicBezTo>
                <a:cubicBezTo>
                  <a:pt x="1018903" y="156754"/>
                  <a:pt x="1004604" y="168688"/>
                  <a:pt x="992777" y="182880"/>
                </a:cubicBezTo>
                <a:cubicBezTo>
                  <a:pt x="982726" y="194941"/>
                  <a:pt x="977753" y="210968"/>
                  <a:pt x="966652" y="222069"/>
                </a:cubicBezTo>
                <a:cubicBezTo>
                  <a:pt x="955551" y="233170"/>
                  <a:pt x="940526" y="239486"/>
                  <a:pt x="927463" y="248194"/>
                </a:cubicBezTo>
                <a:cubicBezTo>
                  <a:pt x="918754" y="261257"/>
                  <a:pt x="913596" y="277575"/>
                  <a:pt x="901337" y="287383"/>
                </a:cubicBezTo>
                <a:cubicBezTo>
                  <a:pt x="890585" y="295985"/>
                  <a:pt x="874465" y="294288"/>
                  <a:pt x="862149" y="300446"/>
                </a:cubicBezTo>
                <a:cubicBezTo>
                  <a:pt x="848107" y="307467"/>
                  <a:pt x="836023" y="317863"/>
                  <a:pt x="822960" y="326571"/>
                </a:cubicBezTo>
                <a:cubicBezTo>
                  <a:pt x="814252" y="339634"/>
                  <a:pt x="807936" y="354659"/>
                  <a:pt x="796835" y="365760"/>
                </a:cubicBezTo>
                <a:cubicBezTo>
                  <a:pt x="721359" y="441237"/>
                  <a:pt x="793359" y="334772"/>
                  <a:pt x="718457" y="431074"/>
                </a:cubicBezTo>
                <a:cubicBezTo>
                  <a:pt x="699180" y="455859"/>
                  <a:pt x="666206" y="509451"/>
                  <a:pt x="666206" y="509451"/>
                </a:cubicBezTo>
                <a:cubicBezTo>
                  <a:pt x="661852" y="522514"/>
                  <a:pt x="661745" y="537888"/>
                  <a:pt x="653143" y="548640"/>
                </a:cubicBezTo>
                <a:cubicBezTo>
                  <a:pt x="643336" y="560899"/>
                  <a:pt x="626016" y="564715"/>
                  <a:pt x="613955" y="574766"/>
                </a:cubicBezTo>
                <a:cubicBezTo>
                  <a:pt x="599763" y="586593"/>
                  <a:pt x="588958" y="602128"/>
                  <a:pt x="574766" y="613954"/>
                </a:cubicBezTo>
                <a:cubicBezTo>
                  <a:pt x="562705" y="624005"/>
                  <a:pt x="547311" y="629650"/>
                  <a:pt x="535577" y="640080"/>
                </a:cubicBezTo>
                <a:cubicBezTo>
                  <a:pt x="507962" y="664626"/>
                  <a:pt x="483326" y="692331"/>
                  <a:pt x="457200" y="718457"/>
                </a:cubicBezTo>
                <a:lnTo>
                  <a:pt x="418012" y="757646"/>
                </a:lnTo>
                <a:lnTo>
                  <a:pt x="378823" y="796834"/>
                </a:lnTo>
                <a:cubicBezTo>
                  <a:pt x="353393" y="873125"/>
                  <a:pt x="385657" y="803064"/>
                  <a:pt x="326572" y="862149"/>
                </a:cubicBezTo>
                <a:cubicBezTo>
                  <a:pt x="315471" y="873250"/>
                  <a:pt x="312261" y="890999"/>
                  <a:pt x="300446" y="901337"/>
                </a:cubicBezTo>
                <a:cubicBezTo>
                  <a:pt x="276816" y="922014"/>
                  <a:pt x="222069" y="953589"/>
                  <a:pt x="222069" y="953589"/>
                </a:cubicBezTo>
                <a:cubicBezTo>
                  <a:pt x="213360" y="966652"/>
                  <a:pt x="207044" y="981676"/>
                  <a:pt x="195943" y="992777"/>
                </a:cubicBezTo>
                <a:cubicBezTo>
                  <a:pt x="184842" y="1003878"/>
                  <a:pt x="166562" y="1006644"/>
                  <a:pt x="156755" y="1018903"/>
                </a:cubicBezTo>
                <a:cubicBezTo>
                  <a:pt x="148153" y="1029655"/>
                  <a:pt x="150379" y="1046054"/>
                  <a:pt x="143692" y="1058091"/>
                </a:cubicBezTo>
                <a:cubicBezTo>
                  <a:pt x="128443" y="1085539"/>
                  <a:pt x="108857" y="1110343"/>
                  <a:pt x="91440" y="1136469"/>
                </a:cubicBezTo>
                <a:cubicBezTo>
                  <a:pt x="82732" y="1149532"/>
                  <a:pt x="70280" y="1160763"/>
                  <a:pt x="65315" y="1175657"/>
                </a:cubicBezTo>
                <a:cubicBezTo>
                  <a:pt x="47287" y="1229740"/>
                  <a:pt x="59890" y="1203389"/>
                  <a:pt x="26126" y="1254034"/>
                </a:cubicBezTo>
                <a:cubicBezTo>
                  <a:pt x="21772" y="1275806"/>
                  <a:pt x="18448" y="1297809"/>
                  <a:pt x="13063" y="1319349"/>
                </a:cubicBezTo>
                <a:cubicBezTo>
                  <a:pt x="9723" y="1332707"/>
                  <a:pt x="0" y="1344768"/>
                  <a:pt x="0" y="1358537"/>
                </a:cubicBezTo>
                <a:cubicBezTo>
                  <a:pt x="0" y="1406632"/>
                  <a:pt x="2986" y="1455202"/>
                  <a:pt x="13063" y="1502229"/>
                </a:cubicBezTo>
                <a:cubicBezTo>
                  <a:pt x="24152" y="1553979"/>
                  <a:pt x="44182" y="1535483"/>
                  <a:pt x="78377" y="1554480"/>
                </a:cubicBezTo>
                <a:cubicBezTo>
                  <a:pt x="105825" y="1569729"/>
                  <a:pt x="126967" y="1596802"/>
                  <a:pt x="156755" y="1606731"/>
                </a:cubicBezTo>
                <a:lnTo>
                  <a:pt x="235132" y="1632857"/>
                </a:lnTo>
                <a:cubicBezTo>
                  <a:pt x="248195" y="1637211"/>
                  <a:pt x="260689" y="1643973"/>
                  <a:pt x="274320" y="1645920"/>
                </a:cubicBezTo>
                <a:lnTo>
                  <a:pt x="365760" y="1658983"/>
                </a:lnTo>
                <a:cubicBezTo>
                  <a:pt x="461554" y="1654629"/>
                  <a:pt x="557250" y="1645920"/>
                  <a:pt x="653143" y="1645920"/>
                </a:cubicBezTo>
                <a:cubicBezTo>
                  <a:pt x="1565178" y="1645920"/>
                  <a:pt x="950707" y="1676058"/>
                  <a:pt x="1463040" y="1645920"/>
                </a:cubicBezTo>
                <a:lnTo>
                  <a:pt x="1541417" y="1619794"/>
                </a:lnTo>
                <a:cubicBezTo>
                  <a:pt x="1554480" y="1615440"/>
                  <a:pt x="1569149" y="1614369"/>
                  <a:pt x="1580606" y="1606731"/>
                </a:cubicBezTo>
                <a:lnTo>
                  <a:pt x="1619795" y="1580606"/>
                </a:lnTo>
                <a:cubicBezTo>
                  <a:pt x="1628503" y="1567543"/>
                  <a:pt x="1635869" y="1553478"/>
                  <a:pt x="1645920" y="1541417"/>
                </a:cubicBezTo>
                <a:cubicBezTo>
                  <a:pt x="1657747" y="1527225"/>
                  <a:pt x="1674862" y="1517600"/>
                  <a:pt x="1685109" y="1502229"/>
                </a:cubicBezTo>
                <a:cubicBezTo>
                  <a:pt x="1692747" y="1490772"/>
                  <a:pt x="1692014" y="1475356"/>
                  <a:pt x="1698172" y="1463040"/>
                </a:cubicBezTo>
                <a:cubicBezTo>
                  <a:pt x="1705193" y="1448998"/>
                  <a:pt x="1715589" y="1436914"/>
                  <a:pt x="1724297" y="1423851"/>
                </a:cubicBezTo>
                <a:cubicBezTo>
                  <a:pt x="1765118" y="1097285"/>
                  <a:pt x="1724297" y="1464922"/>
                  <a:pt x="1724297" y="705394"/>
                </a:cubicBezTo>
                <a:cubicBezTo>
                  <a:pt x="1724297" y="652962"/>
                  <a:pt x="1733006" y="600891"/>
                  <a:pt x="1737360" y="548640"/>
                </a:cubicBezTo>
                <a:cubicBezTo>
                  <a:pt x="1733006" y="474617"/>
                  <a:pt x="1731675" y="400354"/>
                  <a:pt x="1724297" y="326571"/>
                </a:cubicBezTo>
                <a:cubicBezTo>
                  <a:pt x="1719965" y="283252"/>
                  <a:pt x="1715589" y="304800"/>
                  <a:pt x="1711235" y="287383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7D5CAD7-2E86-A37E-FF0D-B3BDC52E3EED}"/>
              </a:ext>
            </a:extLst>
          </p:cNvPr>
          <p:cNvGrpSpPr/>
          <p:nvPr/>
        </p:nvGrpSpPr>
        <p:grpSpPr>
          <a:xfrm>
            <a:off x="7879170" y="5041113"/>
            <a:ext cx="968788" cy="955855"/>
            <a:chOff x="7879170" y="5337124"/>
            <a:chExt cx="968788" cy="955855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B71D807A-25C7-5C67-6F73-F05E5FC216AC}"/>
                </a:ext>
              </a:extLst>
            </p:cNvPr>
            <p:cNvGrpSpPr/>
            <p:nvPr/>
          </p:nvGrpSpPr>
          <p:grpSpPr>
            <a:xfrm>
              <a:off x="7879170" y="5337124"/>
              <a:ext cx="968788" cy="955855"/>
              <a:chOff x="4496347" y="5154347"/>
              <a:chExt cx="1296144" cy="1278842"/>
            </a:xfrm>
          </p:grpSpPr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8ACF3D06-7D52-D2E2-C68F-7034A29B1413}"/>
                  </a:ext>
                </a:extLst>
              </p:cNvPr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chemeClr val="tx2">
                  <a:alpha val="43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FFFFFF"/>
                  </a:solidFill>
                </a:endParaRPr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CDD84116-FD62-BFC0-BA65-D82A8E10A724}"/>
                  </a:ext>
                </a:extLst>
              </p:cNvPr>
              <p:cNvSpPr txBox="1"/>
              <p:nvPr/>
            </p:nvSpPr>
            <p:spPr>
              <a:xfrm>
                <a:off x="4629427" y="5411685"/>
                <a:ext cx="794445" cy="700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</a:rPr>
                  <a:t>g</a:t>
                </a:r>
                <a:endParaRPr lang="nl-NL" sz="28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7BFF568A-80AF-A310-9865-59124C3593AB}"/>
                  </a:ext>
                </a:extLst>
              </p:cNvPr>
              <p:cNvSpPr txBox="1"/>
              <p:nvPr/>
            </p:nvSpPr>
            <p:spPr>
              <a:xfrm>
                <a:off x="5119178" y="5621257"/>
                <a:ext cx="513003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8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000687BD-92CE-59C5-A60D-81470EA065D6}"/>
                  </a:ext>
                </a:extLst>
              </p:cNvPr>
              <p:cNvSpPr txBox="1"/>
              <p:nvPr/>
            </p:nvSpPr>
            <p:spPr>
              <a:xfrm>
                <a:off x="5042734" y="5154347"/>
                <a:ext cx="480834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</a:rPr>
                  <a:t>e</a:t>
                </a:r>
                <a:endParaRPr lang="nl-NL" sz="28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36C0227-2012-00D7-EDF6-22324165018A}"/>
                </a:ext>
              </a:extLst>
            </p:cNvPr>
            <p:cNvCxnSpPr>
              <a:endCxn id="198" idx="1"/>
            </p:cNvCxnSpPr>
            <p:nvPr/>
          </p:nvCxnSpPr>
          <p:spPr>
            <a:xfrm>
              <a:off x="7887087" y="5408467"/>
              <a:ext cx="133959" cy="931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547347C-FD75-896F-4C9B-C9AAC72192D5}"/>
              </a:ext>
            </a:extLst>
          </p:cNvPr>
          <p:cNvGrpSpPr/>
          <p:nvPr/>
        </p:nvGrpSpPr>
        <p:grpSpPr>
          <a:xfrm>
            <a:off x="6836932" y="4285117"/>
            <a:ext cx="1192032" cy="963118"/>
            <a:chOff x="6836932" y="4581128"/>
            <a:chExt cx="1192032" cy="963118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6E88579F-7A77-81B3-72BB-4B2DBB554CB4}"/>
                </a:ext>
              </a:extLst>
            </p:cNvPr>
            <p:cNvGrpSpPr/>
            <p:nvPr/>
          </p:nvGrpSpPr>
          <p:grpSpPr>
            <a:xfrm>
              <a:off x="6836932" y="4617096"/>
              <a:ext cx="1192032" cy="927150"/>
              <a:chOff x="6836932" y="4617096"/>
              <a:chExt cx="1192032" cy="927150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7060176" y="4617096"/>
                <a:ext cx="968788" cy="92715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43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54" name="Straight Connector 53"/>
              <p:cNvCxnSpPr>
                <a:cxnSpLocks/>
                <a:endCxn id="53" idx="2"/>
              </p:cNvCxnSpPr>
              <p:nvPr/>
            </p:nvCxnSpPr>
            <p:spPr>
              <a:xfrm flipV="1">
                <a:off x="6836932" y="5080670"/>
                <a:ext cx="223243" cy="451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2" name="TextBox 251"/>
            <p:cNvSpPr txBox="1"/>
            <p:nvPr/>
          </p:nvSpPr>
          <p:spPr>
            <a:xfrm>
              <a:off x="7183699" y="5018096"/>
              <a:ext cx="3626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7192058" y="4581128"/>
              <a:ext cx="3818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7534466" y="4777988"/>
              <a:ext cx="359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911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1" grpId="0" animBg="1"/>
      <p:bldP spid="49" grpId="0" animBg="1"/>
      <p:bldP spid="51" grpId="0" animBg="1"/>
      <p:bldP spid="56" grpId="0" animBg="1"/>
      <p:bldP spid="19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3132589" y="1274615"/>
            <a:ext cx="2694335" cy="1799393"/>
            <a:chOff x="4971364" y="3711295"/>
            <a:chExt cx="3876594" cy="2588959"/>
          </a:xfrm>
        </p:grpSpPr>
        <p:sp>
          <p:nvSpPr>
            <p:cNvPr id="4" name="Oval 3"/>
            <p:cNvSpPr/>
            <p:nvPr/>
          </p:nvSpPr>
          <p:spPr>
            <a:xfrm>
              <a:off x="7060176" y="4617096"/>
              <a:ext cx="968788" cy="927150"/>
            </a:xfrm>
            <a:prstGeom prst="ellipse">
              <a:avLst/>
            </a:prstGeom>
            <a:solidFill>
              <a:schemeClr val="tx1">
                <a:lumMod val="95000"/>
                <a:lumOff val="5000"/>
                <a:alpha val="43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5863169" y="4493635"/>
              <a:ext cx="973764" cy="1055127"/>
              <a:chOff x="4489690" y="5021532"/>
              <a:chExt cx="1302801" cy="1411657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chemeClr val="accent2">
                  <a:alpha val="43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489690" y="5284914"/>
                <a:ext cx="685649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d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923654" y="5488302"/>
                <a:ext cx="651705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b="1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934836" y="5021532"/>
                <a:ext cx="685649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b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971364" y="3760699"/>
              <a:ext cx="968788" cy="1078361"/>
              <a:chOff x="4496347" y="5044817"/>
              <a:chExt cx="1296144" cy="1442740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rgbClr val="00B050">
                  <a:alpha val="43000"/>
                </a:srgb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641291" y="5598868"/>
                <a:ext cx="685650" cy="8886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d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007308" y="5051533"/>
                <a:ext cx="685650" cy="8886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b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641291" y="5044817"/>
                <a:ext cx="651705" cy="8886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a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879170" y="3711295"/>
              <a:ext cx="968788" cy="1024282"/>
              <a:chOff x="4496347" y="5078057"/>
              <a:chExt cx="1296144" cy="1370389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chemeClr val="bg1">
                  <a:alpha val="43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986195" y="5078769"/>
                <a:ext cx="617764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c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986754" y="5559755"/>
                <a:ext cx="617764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e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546704" y="5078057"/>
                <a:ext cx="685650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b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20" name="Straight Connector 19"/>
            <p:cNvCxnSpPr>
              <a:stCxn id="11" idx="5"/>
              <a:endCxn id="6" idx="1"/>
            </p:cNvCxnSpPr>
            <p:nvPr/>
          </p:nvCxnSpPr>
          <p:spPr>
            <a:xfrm>
              <a:off x="5798276" y="4662636"/>
              <a:ext cx="211744" cy="947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endCxn id="6" idx="3"/>
            </p:cNvCxnSpPr>
            <p:nvPr/>
          </p:nvCxnSpPr>
          <p:spPr>
            <a:xfrm flipV="1">
              <a:off x="5870284" y="5412981"/>
              <a:ext cx="139736" cy="67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6" idx="6"/>
              <a:endCxn id="4" idx="2"/>
            </p:cNvCxnSpPr>
            <p:nvPr/>
          </p:nvCxnSpPr>
          <p:spPr>
            <a:xfrm flipV="1">
              <a:off x="6836932" y="5080670"/>
              <a:ext cx="223243" cy="4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4" idx="7"/>
              <a:endCxn id="16" idx="3"/>
            </p:cNvCxnSpPr>
            <p:nvPr/>
          </p:nvCxnSpPr>
          <p:spPr>
            <a:xfrm flipV="1">
              <a:off x="7887087" y="4588391"/>
              <a:ext cx="133959" cy="1644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7879170" y="5247060"/>
              <a:ext cx="968788" cy="1053194"/>
              <a:chOff x="7879170" y="5247060"/>
              <a:chExt cx="968788" cy="1053194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7879170" y="5247060"/>
                <a:ext cx="968788" cy="1053194"/>
                <a:chOff x="4496347" y="5033850"/>
                <a:chExt cx="1296144" cy="1409072"/>
              </a:xfrm>
            </p:grpSpPr>
            <p:sp>
              <p:nvSpPr>
                <p:cNvPr id="27" name="Oval 26"/>
                <p:cNvSpPr/>
                <p:nvPr/>
              </p:nvSpPr>
              <p:spPr>
                <a:xfrm>
                  <a:off x="4496347" y="5192752"/>
                  <a:ext cx="1296144" cy="1240437"/>
                </a:xfrm>
                <a:prstGeom prst="ellipse">
                  <a:avLst/>
                </a:prstGeom>
                <a:solidFill>
                  <a:schemeClr val="tx2">
                    <a:alpha val="43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b="1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4641291" y="5554231"/>
                  <a:ext cx="794446" cy="8886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0000"/>
                      </a:solidFill>
                    </a:rPr>
                    <a:t>g</a:t>
                  </a:r>
                  <a:endParaRPr lang="nl-NL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5026650" y="5554231"/>
                  <a:ext cx="685650" cy="8886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0000"/>
                      </a:solidFill>
                    </a:rPr>
                    <a:t>h</a:t>
                  </a:r>
                  <a:endParaRPr lang="nl-NL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5006103" y="5033850"/>
                  <a:ext cx="617764" cy="8886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0000"/>
                      </a:solidFill>
                    </a:rPr>
                    <a:t>e</a:t>
                  </a:r>
                  <a:endParaRPr lang="nl-NL" b="1" dirty="0">
                    <a:solidFill>
                      <a:srgbClr val="000000"/>
                    </a:solidFill>
                  </a:endParaRPr>
                </a:p>
              </p:txBody>
            </p:sp>
          </p:grpSp>
          <p:cxnSp>
            <p:nvCxnSpPr>
              <p:cNvPr id="26" name="Straight Connector 25"/>
              <p:cNvCxnSpPr>
                <a:stCxn id="4" idx="5"/>
                <a:endCxn id="27" idx="1"/>
              </p:cNvCxnSpPr>
              <p:nvPr/>
            </p:nvCxnSpPr>
            <p:spPr>
              <a:xfrm>
                <a:off x="7887087" y="5408467"/>
                <a:ext cx="133959" cy="9314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>
              <a:off x="4971364" y="5196425"/>
              <a:ext cx="968788" cy="1053201"/>
              <a:chOff x="4496347" y="5040580"/>
              <a:chExt cx="1296144" cy="1409081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rgbClr val="7030A0">
                  <a:alpha val="43000"/>
                </a:srgb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2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641291" y="5560970"/>
                <a:ext cx="552962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f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987966" y="5522284"/>
                <a:ext cx="651705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g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602607" y="5040580"/>
                <a:ext cx="685650" cy="888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</a:rPr>
                  <a:t>d</a:t>
                </a:r>
                <a:endParaRPr lang="nl-NL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7183699" y="4842519"/>
              <a:ext cx="487110" cy="664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2057" y="4493630"/>
              <a:ext cx="512481" cy="664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534465" y="4690492"/>
              <a:ext cx="461741" cy="664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e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D7D80183-EF37-A13C-565A-00DD71CF485E}"/>
              </a:ext>
            </a:extLst>
          </p:cNvPr>
          <p:cNvSpPr/>
          <p:nvPr/>
        </p:nvSpPr>
        <p:spPr bwMode="auto">
          <a:xfrm>
            <a:off x="3419872" y="5157192"/>
            <a:ext cx="2502024" cy="8415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Nice tree decompositions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07504" y="1700808"/>
            <a:ext cx="8776076" cy="4913128"/>
            <a:chOff x="107504" y="1844824"/>
            <a:chExt cx="8776076" cy="4913128"/>
          </a:xfrm>
        </p:grpSpPr>
        <p:sp>
          <p:nvSpPr>
            <p:cNvPr id="189" name="Oval 188"/>
            <p:cNvSpPr/>
            <p:nvPr/>
          </p:nvSpPr>
          <p:spPr>
            <a:xfrm>
              <a:off x="2271202" y="4656814"/>
              <a:ext cx="673334" cy="644394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47" name="Oval 146"/>
            <p:cNvSpPr/>
            <p:nvPr/>
          </p:nvSpPr>
          <p:spPr>
            <a:xfrm>
              <a:off x="107504" y="6317637"/>
              <a:ext cx="442760" cy="423731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56" name="Oval 155"/>
            <p:cNvSpPr/>
            <p:nvPr/>
          </p:nvSpPr>
          <p:spPr>
            <a:xfrm>
              <a:off x="8412762" y="6104450"/>
              <a:ext cx="470818" cy="450583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165" name="Oval 164"/>
            <p:cNvSpPr/>
            <p:nvPr/>
          </p:nvSpPr>
          <p:spPr>
            <a:xfrm>
              <a:off x="8409999" y="1924338"/>
              <a:ext cx="373071" cy="357037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8441818" y="6046218"/>
              <a:ext cx="4127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74" name="Oval 73"/>
            <p:cNvSpPr/>
            <p:nvPr/>
          </p:nvSpPr>
          <p:spPr>
            <a:xfrm>
              <a:off x="2278386" y="3865009"/>
              <a:ext cx="673334" cy="644394"/>
            </a:xfrm>
            <a:prstGeom prst="ellipse">
              <a:avLst/>
            </a:prstGeom>
            <a:noFill/>
            <a:ln w="66675"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274928" y="3912885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d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510416" y="401947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506177" y="377606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70" name="Oval 69"/>
            <p:cNvSpPr/>
            <p:nvPr/>
          </p:nvSpPr>
          <p:spPr>
            <a:xfrm>
              <a:off x="1146358" y="2680129"/>
              <a:ext cx="673333" cy="644395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221655" y="2891104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d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421845" y="263691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221655" y="264086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a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7201844" y="2725340"/>
              <a:ext cx="673333" cy="644394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456315" y="2666127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c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456605" y="291599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e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28004" y="2665756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cxnSp>
          <p:nvCxnSpPr>
            <p:cNvPr id="47" name="Straight Connector 46"/>
            <p:cNvCxnSpPr>
              <a:stCxn id="70" idx="5"/>
              <a:endCxn id="84" idx="1"/>
            </p:cNvCxnSpPr>
            <p:nvPr/>
          </p:nvCxnSpPr>
          <p:spPr>
            <a:xfrm>
              <a:off x="1721084" y="3230155"/>
              <a:ext cx="161571" cy="1629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99" idx="7"/>
              <a:endCxn id="189" idx="2"/>
            </p:cNvCxnSpPr>
            <p:nvPr/>
          </p:nvCxnSpPr>
          <p:spPr>
            <a:xfrm flipV="1">
              <a:off x="2054767" y="4979011"/>
              <a:ext cx="216435" cy="17543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7082013" y="5076715"/>
              <a:ext cx="673333" cy="644394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157310" y="5189940"/>
              <a:ext cx="4127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357500" y="5224303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h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276434" y="4957043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e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991092" y="5555279"/>
              <a:ext cx="673333" cy="644395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66389" y="5746560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f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266579" y="571409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46293" y="546617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d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801162" y="3315139"/>
              <a:ext cx="556471" cy="532555"/>
            </a:xfrm>
            <a:prstGeom prst="ellipse">
              <a:avLst/>
            </a:prstGeom>
            <a:ln w="66675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863391" y="3409836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d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028836" y="327942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863391" y="328269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b="1" dirty="0">
                <a:solidFill>
                  <a:srgbClr val="000000"/>
                </a:solidFill>
              </a:endParaRPr>
            </a:p>
          </p:txBody>
        </p:sp>
        <p:cxnSp>
          <p:nvCxnSpPr>
            <p:cNvPr id="97" name="Straight Connector 96"/>
            <p:cNvCxnSpPr>
              <a:stCxn id="84" idx="5"/>
              <a:endCxn id="75" idx="0"/>
            </p:cNvCxnSpPr>
            <p:nvPr/>
          </p:nvCxnSpPr>
          <p:spPr>
            <a:xfrm>
              <a:off x="2276140" y="3769703"/>
              <a:ext cx="176882" cy="14318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Oval 98"/>
            <p:cNvSpPr/>
            <p:nvPr/>
          </p:nvSpPr>
          <p:spPr>
            <a:xfrm>
              <a:off x="1547995" y="5071237"/>
              <a:ext cx="593720" cy="568205"/>
            </a:xfrm>
            <a:prstGeom prst="ellipse">
              <a:avLst/>
            </a:prstGeom>
            <a:ln w="66675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614389" y="5239902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730638" y="5191449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559761" y="501925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d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cxnSp>
          <p:nvCxnSpPr>
            <p:cNvPr id="105" name="Straight Connector 104"/>
            <p:cNvCxnSpPr>
              <a:stCxn id="56" idx="7"/>
              <a:endCxn id="99" idx="3"/>
            </p:cNvCxnSpPr>
            <p:nvPr/>
          </p:nvCxnSpPr>
          <p:spPr>
            <a:xfrm flipV="1">
              <a:off x="1565818" y="5556230"/>
              <a:ext cx="69125" cy="934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>
              <a:off x="6697296" y="3256149"/>
              <a:ext cx="587167" cy="561930"/>
            </a:xfrm>
            <a:prstGeom prst="ellipse">
              <a:avLst/>
            </a:prstGeom>
            <a:ln w="66675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6919203" y="3204513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875754" y="3389628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e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720108" y="320419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6516216" y="4730290"/>
              <a:ext cx="534489" cy="511516"/>
            </a:xfrm>
            <a:prstGeom prst="ellipse">
              <a:avLst/>
            </a:prstGeom>
            <a:ln w="66675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 dirty="0">
                <a:solidFill>
                  <a:srgbClr val="FFFFFF"/>
                </a:solidFill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547217" y="4756960"/>
              <a:ext cx="3276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734897" y="4879351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698800" y="4649273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e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17" name="Oval 116"/>
            <p:cNvSpPr/>
            <p:nvPr/>
          </p:nvSpPr>
          <p:spPr>
            <a:xfrm>
              <a:off x="3181100" y="3857080"/>
              <a:ext cx="673334" cy="644393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177642" y="3904955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d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3403082" y="4001499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408892" y="376813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27" name="Oval 126"/>
            <p:cNvSpPr/>
            <p:nvPr/>
          </p:nvSpPr>
          <p:spPr>
            <a:xfrm>
              <a:off x="4876849" y="3863533"/>
              <a:ext cx="673333" cy="644393"/>
            </a:xfrm>
            <a:prstGeom prst="ellipse">
              <a:avLst/>
            </a:prstGeom>
            <a:noFill/>
            <a:ln w="66675"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4972748" y="4016044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4968510" y="377772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5188256" y="391454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e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32" name="Oval 131"/>
            <p:cNvSpPr/>
            <p:nvPr/>
          </p:nvSpPr>
          <p:spPr>
            <a:xfrm>
              <a:off x="4067579" y="3857079"/>
              <a:ext cx="673334" cy="644394"/>
            </a:xfrm>
            <a:prstGeom prst="ellipse">
              <a:avLst/>
            </a:prstGeom>
            <a:ln w="66675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064121" y="390495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4225936" y="4005064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4231746" y="376813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42" name="Oval 141"/>
            <p:cNvSpPr/>
            <p:nvPr/>
          </p:nvSpPr>
          <p:spPr>
            <a:xfrm>
              <a:off x="580043" y="6018084"/>
              <a:ext cx="442759" cy="423731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573692" y="5996734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f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5330" y="600142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76267" y="6296287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f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57017" y="6160352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60" name="Oval 159"/>
            <p:cNvSpPr/>
            <p:nvPr/>
          </p:nvSpPr>
          <p:spPr>
            <a:xfrm>
              <a:off x="7808975" y="2327252"/>
              <a:ext cx="517093" cy="494869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984308" y="2343601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8004621" y="2473666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7808974" y="234331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cxnSp>
          <p:nvCxnSpPr>
            <p:cNvPr id="172" name="Straight Connector 171"/>
            <p:cNvCxnSpPr>
              <a:stCxn id="74" idx="6"/>
              <a:endCxn id="117" idx="2"/>
            </p:cNvCxnSpPr>
            <p:nvPr/>
          </p:nvCxnSpPr>
          <p:spPr>
            <a:xfrm flipV="1">
              <a:off x="2951720" y="4179277"/>
              <a:ext cx="229380" cy="79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>
              <a:stCxn id="117" idx="6"/>
              <a:endCxn id="133" idx="1"/>
            </p:cNvCxnSpPr>
            <p:nvPr/>
          </p:nvCxnSpPr>
          <p:spPr>
            <a:xfrm flipV="1">
              <a:off x="3854434" y="4135788"/>
              <a:ext cx="209687" cy="434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>
              <a:stCxn id="132" idx="6"/>
              <a:endCxn id="127" idx="2"/>
            </p:cNvCxnSpPr>
            <p:nvPr/>
          </p:nvCxnSpPr>
          <p:spPr>
            <a:xfrm>
              <a:off x="4740913" y="4179276"/>
              <a:ext cx="135936" cy="645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>
              <a:stCxn id="167" idx="6"/>
              <a:endCxn id="107" idx="3"/>
            </p:cNvCxnSpPr>
            <p:nvPr/>
          </p:nvCxnSpPr>
          <p:spPr>
            <a:xfrm flipV="1">
              <a:off x="6469469" y="3735786"/>
              <a:ext cx="313816" cy="17323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>
              <a:stCxn id="107" idx="7"/>
              <a:endCxn id="66" idx="3"/>
            </p:cNvCxnSpPr>
            <p:nvPr/>
          </p:nvCxnSpPr>
          <p:spPr>
            <a:xfrm flipV="1">
              <a:off x="7198474" y="3275365"/>
              <a:ext cx="101977" cy="630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>
              <a:stCxn id="66" idx="7"/>
              <a:endCxn id="160" idx="3"/>
            </p:cNvCxnSpPr>
            <p:nvPr/>
          </p:nvCxnSpPr>
          <p:spPr>
            <a:xfrm flipV="1">
              <a:off x="7776570" y="2749649"/>
              <a:ext cx="108132" cy="7006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>
              <a:stCxn id="160" idx="7"/>
              <a:endCxn id="165" idx="3"/>
            </p:cNvCxnSpPr>
            <p:nvPr/>
          </p:nvCxnSpPr>
          <p:spPr>
            <a:xfrm flipV="1">
              <a:off x="8250341" y="2229088"/>
              <a:ext cx="214293" cy="1706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>
              <a:stCxn id="147" idx="7"/>
              <a:endCxn id="142" idx="3"/>
            </p:cNvCxnSpPr>
            <p:nvPr/>
          </p:nvCxnSpPr>
          <p:spPr>
            <a:xfrm>
              <a:off x="485423" y="6379691"/>
              <a:ext cx="159461" cy="7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>
              <a:endCxn id="56" idx="3"/>
            </p:cNvCxnSpPr>
            <p:nvPr/>
          </p:nvCxnSpPr>
          <p:spPr>
            <a:xfrm>
              <a:off x="991092" y="6098414"/>
              <a:ext cx="98607" cy="689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>
              <a:stCxn id="62" idx="1"/>
              <a:endCxn id="112" idx="5"/>
            </p:cNvCxnSpPr>
            <p:nvPr/>
          </p:nvCxnSpPr>
          <p:spPr>
            <a:xfrm flipH="1" flipV="1">
              <a:off x="6972431" y="5166896"/>
              <a:ext cx="208189" cy="41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>
              <a:endCxn id="62" idx="6"/>
            </p:cNvCxnSpPr>
            <p:nvPr/>
          </p:nvCxnSpPr>
          <p:spPr>
            <a:xfrm flipH="1" flipV="1">
              <a:off x="7755346" y="5398912"/>
              <a:ext cx="129356" cy="34764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>
              <a:stCxn id="156" idx="1"/>
              <a:endCxn id="152" idx="5"/>
            </p:cNvCxnSpPr>
            <p:nvPr/>
          </p:nvCxnSpPr>
          <p:spPr>
            <a:xfrm flipH="1" flipV="1">
              <a:off x="8247466" y="6027310"/>
              <a:ext cx="234246" cy="1431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65"/>
            <p:cNvSpPr txBox="1"/>
            <p:nvPr/>
          </p:nvSpPr>
          <p:spPr>
            <a:xfrm>
              <a:off x="8403643" y="184482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c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67" name="Oval 166"/>
            <p:cNvSpPr/>
            <p:nvPr/>
          </p:nvSpPr>
          <p:spPr>
            <a:xfrm>
              <a:off x="5796136" y="3586820"/>
              <a:ext cx="673333" cy="644393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5881987" y="371703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5887797" y="350100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6084168" y="362586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75" name="Oval 174"/>
            <p:cNvSpPr/>
            <p:nvPr/>
          </p:nvSpPr>
          <p:spPr>
            <a:xfrm>
              <a:off x="5796136" y="4306823"/>
              <a:ext cx="673333" cy="644393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2000" b="1">
                <a:solidFill>
                  <a:srgbClr val="FFFFFF"/>
                </a:solidFill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5881987" y="443711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125779" y="435783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e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7838331" y="5582890"/>
              <a:ext cx="531953" cy="510406"/>
              <a:chOff x="7662651" y="5887380"/>
              <a:chExt cx="531953" cy="510406"/>
            </a:xfrm>
          </p:grpSpPr>
          <p:sp>
            <p:nvSpPr>
              <p:cNvPr id="152" name="Oval 151"/>
              <p:cNvSpPr/>
              <p:nvPr/>
            </p:nvSpPr>
            <p:spPr>
              <a:xfrm>
                <a:off x="7669918" y="5947203"/>
                <a:ext cx="470818" cy="450583"/>
              </a:xfrm>
              <a:prstGeom prst="ellips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7662651" y="5914368"/>
                <a:ext cx="412706" cy="461665"/>
              </a:xfrm>
              <a:prstGeom prst="rect">
                <a:avLst/>
              </a:prstGeom>
              <a:noFill/>
              <a:ln w="63500"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  <a:latin typeface="Times" panose="02020603050405020304" pitchFamily="18" charset="0"/>
                  </a:rPr>
                  <a:t>g</a:t>
                </a:r>
                <a:endParaRPr lang="nl-NL" b="1" dirty="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7838416" y="5887380"/>
                <a:ext cx="356188" cy="461665"/>
              </a:xfrm>
              <a:prstGeom prst="rect">
                <a:avLst/>
              </a:prstGeom>
              <a:noFill/>
              <a:ln w="63500"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nl-NL" b="1" dirty="0">
                    <a:solidFill>
                      <a:srgbClr val="000000"/>
                    </a:solidFill>
                    <a:latin typeface="Times" panose="02020603050405020304" pitchFamily="18" charset="0"/>
                  </a:rPr>
                  <a:t>h</a:t>
                </a:r>
              </a:p>
            </p:txBody>
          </p:sp>
        </p:grpSp>
        <p:cxnSp>
          <p:nvCxnSpPr>
            <p:cNvPr id="88" name="Straight Connector 87"/>
            <p:cNvCxnSpPr>
              <a:stCxn id="112" idx="2"/>
            </p:cNvCxnSpPr>
            <p:nvPr/>
          </p:nvCxnSpPr>
          <p:spPr>
            <a:xfrm flipH="1" flipV="1">
              <a:off x="6397850" y="4769390"/>
              <a:ext cx="118366" cy="2166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75" idx="1"/>
              <a:endCxn id="127" idx="6"/>
            </p:cNvCxnSpPr>
            <p:nvPr/>
          </p:nvCxnSpPr>
          <p:spPr>
            <a:xfrm flipH="1" flipV="1">
              <a:off x="5550182" y="4185730"/>
              <a:ext cx="344561" cy="2154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67" idx="2"/>
              <a:endCxn id="127" idx="6"/>
            </p:cNvCxnSpPr>
            <p:nvPr/>
          </p:nvCxnSpPr>
          <p:spPr>
            <a:xfrm flipH="1">
              <a:off x="5550182" y="3909017"/>
              <a:ext cx="245954" cy="27671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TextBox 190"/>
            <p:cNvSpPr txBox="1"/>
            <p:nvPr/>
          </p:nvSpPr>
          <p:spPr>
            <a:xfrm>
              <a:off x="2267744" y="470469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d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2493184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g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2502536" y="4587565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b="1" dirty="0">
                  <a:solidFill>
                    <a:srgbClr val="000000"/>
                  </a:solidFill>
                </a:rPr>
                <a:t>b</a:t>
              </a:r>
            </a:p>
          </p:txBody>
        </p:sp>
        <p:cxnSp>
          <p:nvCxnSpPr>
            <p:cNvPr id="96" name="Straight Connector 95"/>
            <p:cNvCxnSpPr>
              <a:stCxn id="189" idx="0"/>
            </p:cNvCxnSpPr>
            <p:nvPr/>
          </p:nvCxnSpPr>
          <p:spPr>
            <a:xfrm flipV="1">
              <a:off x="2607869" y="4501473"/>
              <a:ext cx="7184" cy="15534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7" name="TextBox 196"/>
            <p:cNvSpPr txBox="1"/>
            <p:nvPr/>
          </p:nvSpPr>
          <p:spPr>
            <a:xfrm>
              <a:off x="5878192" y="422108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</a:rPr>
                <a:t>b</a:t>
              </a:r>
              <a:endParaRPr lang="nl-NL" b="1" dirty="0">
                <a:solidFill>
                  <a:srgbClr val="000000"/>
                </a:solidFill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619672" y="2034143"/>
              <a:ext cx="6353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root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79FDEE-944D-4C65-9FDD-DDE07D21CF7D}" type="slidenum">
              <a:rPr lang="nl-NL" smtClean="0">
                <a:solidFill>
                  <a:srgbClr val="000000">
                    <a:tint val="75000"/>
                  </a:srgbClr>
                </a:solidFill>
              </a:rPr>
              <a:pPr/>
              <a:t>47</a:t>
            </a:fld>
            <a:endParaRPr lang="nl-NL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C8CBB2B-C247-1B05-CE81-9309817EE477}"/>
              </a:ext>
            </a:extLst>
          </p:cNvPr>
          <p:cNvGrpSpPr/>
          <p:nvPr/>
        </p:nvGrpSpPr>
        <p:grpSpPr>
          <a:xfrm>
            <a:off x="3419872" y="5157192"/>
            <a:ext cx="2934422" cy="841575"/>
            <a:chOff x="3294112" y="5362638"/>
            <a:chExt cx="2934422" cy="841575"/>
          </a:xfrm>
        </p:grpSpPr>
        <p:sp>
          <p:nvSpPr>
            <p:cNvPr id="3" name="TextBox 2"/>
            <p:cNvSpPr txBox="1"/>
            <p:nvPr/>
          </p:nvSpPr>
          <p:spPr>
            <a:xfrm>
              <a:off x="4355976" y="5362638"/>
              <a:ext cx="1872558" cy="830997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Introduce</a:t>
              </a:r>
            </a:p>
            <a:p>
              <a:r>
                <a:rPr lang="en-US" b="1" dirty="0">
                  <a:solidFill>
                    <a:srgbClr val="FF0000"/>
                  </a:solidFill>
                </a:rPr>
                <a:t>Forget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EFE296-EC62-1CC0-586C-4299FA381961}"/>
                </a:ext>
              </a:extLst>
            </p:cNvPr>
            <p:cNvSpPr txBox="1"/>
            <p:nvPr/>
          </p:nvSpPr>
          <p:spPr>
            <a:xfrm>
              <a:off x="3294112" y="5373216"/>
              <a:ext cx="10618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Leaf</a:t>
              </a:r>
            </a:p>
            <a:p>
              <a:r>
                <a:rPr lang="en-US" b="1" dirty="0">
                  <a:solidFill>
                    <a:schemeClr val="accent2"/>
                  </a:solidFill>
                </a:rPr>
                <a:t>Join</a:t>
              </a:r>
            </a:p>
          </p:txBody>
        </p:sp>
      </p:grpSp>
      <p:sp>
        <p:nvSpPr>
          <p:cNvPr id="45" name="Arrow: Down 44">
            <a:extLst>
              <a:ext uri="{FF2B5EF4-FFF2-40B4-BE49-F238E27FC236}">
                <a16:creationId xmlns:a16="http://schemas.microsoft.com/office/drawing/2014/main" id="{201E7996-9ED2-5383-E602-821920F1688D}"/>
              </a:ext>
            </a:extLst>
          </p:cNvPr>
          <p:cNvSpPr/>
          <p:nvPr/>
        </p:nvSpPr>
        <p:spPr bwMode="auto">
          <a:xfrm>
            <a:off x="1259632" y="1916832"/>
            <a:ext cx="461850" cy="502605"/>
          </a:xfrm>
          <a:prstGeom prst="downArrow">
            <a:avLst>
              <a:gd name="adj1" fmla="val 53571"/>
              <a:gd name="adj2" fmla="val 36944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671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5543C-33D8-8911-3B1E-C038F98EE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4434-9605-1F48-8D9F-985AF731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4449700" cy="1143000"/>
          </a:xfrm>
        </p:spPr>
        <p:txBody>
          <a:bodyPr/>
          <a:lstStyle/>
          <a:p>
            <a:r>
              <a:rPr lang="en-US" dirty="0"/>
              <a:t>Bags are separators in the graphs</a:t>
            </a:r>
            <a:endParaRPr lang="LID4096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09E5B5-81E9-0841-2716-E1669505FB57}"/>
              </a:ext>
            </a:extLst>
          </p:cNvPr>
          <p:cNvSpPr/>
          <p:nvPr/>
        </p:nvSpPr>
        <p:spPr>
          <a:xfrm>
            <a:off x="4971364" y="3575253"/>
            <a:ext cx="968788" cy="927150"/>
          </a:xfrm>
          <a:prstGeom prst="ellipse">
            <a:avLst/>
          </a:prstGeom>
          <a:solidFill>
            <a:srgbClr val="00B050">
              <a:alpha val="43000"/>
            </a:srgb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32BBEC-8DF6-5386-14DE-701C865EFDB0}"/>
              </a:ext>
            </a:extLst>
          </p:cNvPr>
          <p:cNvSpPr txBox="1"/>
          <p:nvPr/>
        </p:nvSpPr>
        <p:spPr>
          <a:xfrm>
            <a:off x="5268418" y="397468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F64813-C729-C842-1CD4-80421E549399}"/>
              </a:ext>
            </a:extLst>
          </p:cNvPr>
          <p:cNvSpPr txBox="1"/>
          <p:nvPr/>
        </p:nvSpPr>
        <p:spPr>
          <a:xfrm>
            <a:off x="5473779" y="3626802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74167D-AC7C-3983-D349-234F15EF905F}"/>
              </a:ext>
            </a:extLst>
          </p:cNvPr>
          <p:cNvSpPr txBox="1"/>
          <p:nvPr/>
        </p:nvSpPr>
        <p:spPr>
          <a:xfrm>
            <a:off x="5123603" y="362680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3">
                <a:extLst>
                  <a:ext uri="{FF2B5EF4-FFF2-40B4-BE49-F238E27FC236}">
                    <a16:creationId xmlns:a16="http://schemas.microsoft.com/office/drawing/2014/main" id="{F9757FE4-E6E8-6669-A29F-38B06862DF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</p:spPr>
            <p:txBody>
              <a:bodyPr/>
              <a:lstStyle/>
              <a:p>
                <a:r>
                  <a:rPr lang="en-US" dirty="0"/>
                  <a:t>Bags function as separators in the graph</a:t>
                </a:r>
              </a:p>
              <a:p>
                <a:pPr lvl="1"/>
                <a:r>
                  <a:rPr lang="en-US" dirty="0"/>
                  <a:t>Example:</a:t>
                </a:r>
                <a:br>
                  <a:rPr lang="en-US" dirty="0"/>
                </a:br>
                <a:r>
                  <a:rPr lang="en-US" dirty="0"/>
                  <a:t>The bag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separates the vertex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Removing:</a:t>
                </a:r>
              </a:p>
              <a:p>
                <a:pPr lvl="1"/>
                <a:r>
                  <a:rPr lang="en-US" dirty="0"/>
                  <a:t>A bag from the tree decomposition</a:t>
                </a:r>
              </a:p>
              <a:p>
                <a:pPr lvl="1"/>
                <a:r>
                  <a:rPr lang="en-US" dirty="0"/>
                  <a:t>The vertices in the bag from the graph</a:t>
                </a:r>
              </a:p>
              <a:p>
                <a:pPr lvl="1"/>
                <a:r>
                  <a:rPr lang="en-US" dirty="0"/>
                  <a:t>These vertices from all other bags</a:t>
                </a:r>
              </a:p>
              <a:p>
                <a:r>
                  <a:rPr lang="en-US" dirty="0"/>
                  <a:t>Results in subgraphs with tree decompositions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40" name="Content Placeholder 3">
                <a:extLst>
                  <a:ext uri="{FF2B5EF4-FFF2-40B4-BE49-F238E27FC236}">
                    <a16:creationId xmlns:a16="http://schemas.microsoft.com/office/drawing/2014/main" id="{F9757FE4-E6E8-6669-A29F-38B06862DF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  <a:blipFill>
                <a:blip r:embed="rId2"/>
                <a:stretch>
                  <a:fillRect l="-344" t="-769" r="-2582" b="-86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270F468D-9F48-8694-4AC2-8E451911D44E}"/>
              </a:ext>
            </a:extLst>
          </p:cNvPr>
          <p:cNvGrpSpPr/>
          <p:nvPr/>
        </p:nvGrpSpPr>
        <p:grpSpPr>
          <a:xfrm>
            <a:off x="5798276" y="4285116"/>
            <a:ext cx="1038656" cy="967631"/>
            <a:chOff x="5798276" y="4581127"/>
            <a:chExt cx="1038656" cy="9676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0C3D3EC-EC89-B30B-DC6B-6509CFC93219}"/>
                </a:ext>
              </a:extLst>
            </p:cNvPr>
            <p:cNvGrpSpPr/>
            <p:nvPr/>
          </p:nvGrpSpPr>
          <p:grpSpPr>
            <a:xfrm>
              <a:off x="5868144" y="4581127"/>
              <a:ext cx="968788" cy="967631"/>
              <a:chOff x="4496347" y="5138592"/>
              <a:chExt cx="1296144" cy="1294597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CE4FD75-79DB-F198-C0A8-013B7B816A89}"/>
                  </a:ext>
                </a:extLst>
              </p:cNvPr>
              <p:cNvSpPr/>
              <p:nvPr/>
            </p:nvSpPr>
            <p:spPr>
              <a:xfrm>
                <a:off x="4496347" y="5192752"/>
                <a:ext cx="1296144" cy="1240437"/>
              </a:xfrm>
              <a:prstGeom prst="ellipse">
                <a:avLst/>
              </a:prstGeom>
              <a:solidFill>
                <a:schemeClr val="accent2">
                  <a:alpha val="43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C6F6DB9-72F7-AD84-774E-23066599403D}"/>
                  </a:ext>
                </a:extLst>
              </p:cNvPr>
              <p:cNvSpPr txBox="1"/>
              <p:nvPr/>
            </p:nvSpPr>
            <p:spPr>
              <a:xfrm>
                <a:off x="4592687" y="5401973"/>
                <a:ext cx="513003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</a:rPr>
                  <a:t>d</a:t>
                </a:r>
                <a:endParaRPr lang="nl-NL" sz="28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DD173DC-5885-129A-DFDA-8D97525A6903}"/>
                  </a:ext>
                </a:extLst>
              </p:cNvPr>
              <p:cNvSpPr txBox="1"/>
              <p:nvPr/>
            </p:nvSpPr>
            <p:spPr>
              <a:xfrm>
                <a:off x="5026650" y="5723213"/>
                <a:ext cx="485123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8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5C98E71-FDAA-E59F-D8E7-562B63678AEA}"/>
                  </a:ext>
                </a:extLst>
              </p:cNvPr>
              <p:cNvSpPr txBox="1"/>
              <p:nvPr/>
            </p:nvSpPr>
            <p:spPr>
              <a:xfrm>
                <a:off x="5037834" y="5138592"/>
                <a:ext cx="510859" cy="700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2800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D00E314-09DD-03A5-7964-586120882297}"/>
                </a:ext>
              </a:extLst>
            </p:cNvPr>
            <p:cNvCxnSpPr>
              <a:endCxn id="45" idx="1"/>
            </p:cNvCxnSpPr>
            <p:nvPr/>
          </p:nvCxnSpPr>
          <p:spPr>
            <a:xfrm>
              <a:off x="5798276" y="4662636"/>
              <a:ext cx="211744" cy="947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A14EDF7-FF7C-C77B-5273-28C57A870952}"/>
              </a:ext>
            </a:extLst>
          </p:cNvPr>
          <p:cNvCxnSpPr/>
          <p:nvPr/>
        </p:nvCxnSpPr>
        <p:spPr>
          <a:xfrm flipV="1">
            <a:off x="5870284" y="5116970"/>
            <a:ext cx="139736" cy="6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>
            <a:extLst>
              <a:ext uri="{FF2B5EF4-FFF2-40B4-BE49-F238E27FC236}">
                <a16:creationId xmlns:a16="http://schemas.microsoft.com/office/drawing/2014/main" id="{9723AC80-2FDB-8B33-3819-876FCE9D45B7}"/>
              </a:ext>
            </a:extLst>
          </p:cNvPr>
          <p:cNvSpPr/>
          <p:nvPr/>
        </p:nvSpPr>
        <p:spPr>
          <a:xfrm>
            <a:off x="4971364" y="5014149"/>
            <a:ext cx="968788" cy="927150"/>
          </a:xfrm>
          <a:prstGeom prst="ellipse">
            <a:avLst/>
          </a:prstGeom>
          <a:solidFill>
            <a:schemeClr val="accent1">
              <a:alpha val="43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AE3CEF9-8435-650B-0015-6BCED56BD8FB}"/>
              </a:ext>
            </a:extLst>
          </p:cNvPr>
          <p:cNvSpPr txBox="1"/>
          <p:nvPr/>
        </p:nvSpPr>
        <p:spPr>
          <a:xfrm>
            <a:off x="5069224" y="5259349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D81A650-CA2F-4AFE-0404-1EEDD9F07B8C}"/>
              </a:ext>
            </a:extLst>
          </p:cNvPr>
          <p:cNvSpPr txBox="1"/>
          <p:nvPr/>
        </p:nvSpPr>
        <p:spPr>
          <a:xfrm>
            <a:off x="5424407" y="5287907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2636F19-3C5F-6380-FAE3-50B696A3ED26}"/>
              </a:ext>
            </a:extLst>
          </p:cNvPr>
          <p:cNvSpPr txBox="1"/>
          <p:nvPr/>
        </p:nvSpPr>
        <p:spPr>
          <a:xfrm>
            <a:off x="5281259" y="4974941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d</a:t>
            </a:r>
            <a:endParaRPr lang="nl-NL" sz="2800" dirty="0">
              <a:solidFill>
                <a:srgbClr val="00000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8FA424E-F3D1-1325-7E24-17FE5528035F}"/>
              </a:ext>
            </a:extLst>
          </p:cNvPr>
          <p:cNvSpPr/>
          <p:nvPr/>
        </p:nvSpPr>
        <p:spPr>
          <a:xfrm>
            <a:off x="7879170" y="3501008"/>
            <a:ext cx="968788" cy="927150"/>
          </a:xfrm>
          <a:prstGeom prst="ellipse">
            <a:avLst/>
          </a:prstGeom>
          <a:solidFill>
            <a:srgbClr val="0070C0">
              <a:alpha val="43000"/>
            </a:srgbClr>
          </a:solidFill>
          <a:ln>
            <a:solidFill>
              <a:srgbClr val="0B4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4CADF2-06F9-9266-E3A4-805CADEEA053}"/>
              </a:ext>
            </a:extLst>
          </p:cNvPr>
          <p:cNvSpPr txBox="1"/>
          <p:nvPr/>
        </p:nvSpPr>
        <p:spPr>
          <a:xfrm>
            <a:off x="8316000" y="3537989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c</a:t>
            </a:r>
            <a:endParaRPr lang="nl-NL" sz="2800" dirty="0">
              <a:solidFill>
                <a:srgbClr val="0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CC68C6-11E2-2D82-DC6D-8A480E28E99A}"/>
              </a:ext>
            </a:extLst>
          </p:cNvPr>
          <p:cNvSpPr txBox="1"/>
          <p:nvPr/>
        </p:nvSpPr>
        <p:spPr>
          <a:xfrm>
            <a:off x="8316416" y="3897495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e</a:t>
            </a:r>
            <a:endParaRPr lang="nl-NL" sz="2800" dirty="0">
              <a:solidFill>
                <a:srgbClr val="00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B737E2-799D-FD84-62EE-21367391598D}"/>
              </a:ext>
            </a:extLst>
          </p:cNvPr>
          <p:cNvSpPr txBox="1"/>
          <p:nvPr/>
        </p:nvSpPr>
        <p:spPr>
          <a:xfrm>
            <a:off x="7987507" y="3537455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A73EB408-7B4E-00C1-8A72-C0D13FA99A4B}"/>
              </a:ext>
            </a:extLst>
          </p:cNvPr>
          <p:cNvSpPr/>
          <p:nvPr/>
        </p:nvSpPr>
        <p:spPr>
          <a:xfrm>
            <a:off x="7879170" y="5069818"/>
            <a:ext cx="968788" cy="927150"/>
          </a:xfrm>
          <a:prstGeom prst="ellipse">
            <a:avLst/>
          </a:prstGeom>
          <a:solidFill>
            <a:schemeClr val="tx2">
              <a:alpha val="43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121841D-BAB3-6D92-1C02-83FDD5A9C6E6}"/>
              </a:ext>
            </a:extLst>
          </p:cNvPr>
          <p:cNvSpPr txBox="1"/>
          <p:nvPr/>
        </p:nvSpPr>
        <p:spPr>
          <a:xfrm>
            <a:off x="7978639" y="5233457"/>
            <a:ext cx="593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g</a:t>
            </a:r>
            <a:endParaRPr lang="nl-NL" sz="2800" dirty="0">
              <a:solidFill>
                <a:srgbClr val="000000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CAC25166-31C9-21B0-128D-7695EBE69763}"/>
              </a:ext>
            </a:extLst>
          </p:cNvPr>
          <p:cNvSpPr txBox="1"/>
          <p:nvPr/>
        </p:nvSpPr>
        <p:spPr>
          <a:xfrm>
            <a:off x="8344698" y="539009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81AF19D3-D3D3-5298-9011-903BF1BB1383}"/>
              </a:ext>
            </a:extLst>
          </p:cNvPr>
          <p:cNvSpPr txBox="1"/>
          <p:nvPr/>
        </p:nvSpPr>
        <p:spPr>
          <a:xfrm>
            <a:off x="8287561" y="5041113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e</a:t>
            </a:r>
            <a:endParaRPr lang="nl-NL" sz="2800" dirty="0">
              <a:solidFill>
                <a:srgbClr val="000000"/>
              </a:solidFill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ACDA2B4D-409D-995B-6241-D8332DFC25B4}"/>
              </a:ext>
            </a:extLst>
          </p:cNvPr>
          <p:cNvCxnSpPr>
            <a:endCxn id="198" idx="1"/>
          </p:cNvCxnSpPr>
          <p:nvPr/>
        </p:nvCxnSpPr>
        <p:spPr>
          <a:xfrm>
            <a:off x="7887087" y="5112456"/>
            <a:ext cx="133959" cy="93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53963036-B96B-708C-C811-4B476F1CB4E1}"/>
              </a:ext>
            </a:extLst>
          </p:cNvPr>
          <p:cNvSpPr/>
          <p:nvPr/>
        </p:nvSpPr>
        <p:spPr>
          <a:xfrm>
            <a:off x="7060176" y="4321085"/>
            <a:ext cx="968788" cy="927150"/>
          </a:xfrm>
          <a:prstGeom prst="ellipse">
            <a:avLst/>
          </a:prstGeom>
          <a:solidFill>
            <a:schemeClr val="accent1">
              <a:lumMod val="60000"/>
              <a:lumOff val="40000"/>
              <a:alpha val="43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FFFFFF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02DD0A0-049D-FD84-BD3D-00E32CB6F67F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6836932" y="4784659"/>
            <a:ext cx="223243" cy="4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00C914FB-6764-4A4F-F6BA-6FBCBE52746B}"/>
              </a:ext>
            </a:extLst>
          </p:cNvPr>
          <p:cNvSpPr txBox="1"/>
          <p:nvPr/>
        </p:nvSpPr>
        <p:spPr>
          <a:xfrm>
            <a:off x="7183699" y="4722085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55E72FE5-3393-0B4F-916A-AB5A82FA3F79}"/>
              </a:ext>
            </a:extLst>
          </p:cNvPr>
          <p:cNvSpPr txBox="1"/>
          <p:nvPr/>
        </p:nvSpPr>
        <p:spPr>
          <a:xfrm>
            <a:off x="7192058" y="4285117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929F1C1-A31E-A596-C089-782FA522DAD8}"/>
              </a:ext>
            </a:extLst>
          </p:cNvPr>
          <p:cNvSpPr txBox="1"/>
          <p:nvPr/>
        </p:nvSpPr>
        <p:spPr>
          <a:xfrm>
            <a:off x="7534466" y="4481977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C4A31C37-EDC5-BB64-EBC9-4CB6122FCC2E}"/>
              </a:ext>
            </a:extLst>
          </p:cNvPr>
          <p:cNvSpPr/>
          <p:nvPr/>
        </p:nvSpPr>
        <p:spPr bwMode="auto">
          <a:xfrm>
            <a:off x="6165263" y="3637045"/>
            <a:ext cx="461850" cy="502605"/>
          </a:xfrm>
          <a:prstGeom prst="downArrow">
            <a:avLst>
              <a:gd name="adj1" fmla="val 53571"/>
              <a:gd name="adj2" fmla="val 36944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A0DA70D-0264-F392-3423-5D88AD553E95}"/>
              </a:ext>
            </a:extLst>
          </p:cNvPr>
          <p:cNvSpPr/>
          <p:nvPr/>
        </p:nvSpPr>
        <p:spPr>
          <a:xfrm>
            <a:off x="6273401" y="582960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9280FB80-E24E-69F2-DCED-777737AA785A}"/>
              </a:ext>
            </a:extLst>
          </p:cNvPr>
          <p:cNvSpPr/>
          <p:nvPr/>
        </p:nvSpPr>
        <p:spPr>
          <a:xfrm>
            <a:off x="7257608" y="582960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76D387BF-6279-4525-F916-355EDC889D75}"/>
              </a:ext>
            </a:extLst>
          </p:cNvPr>
          <p:cNvSpPr/>
          <p:nvPr/>
        </p:nvSpPr>
        <p:spPr>
          <a:xfrm>
            <a:off x="8241816" y="582960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F523CE99-E0E5-EACD-1B88-C54EAC599983}"/>
              </a:ext>
            </a:extLst>
          </p:cNvPr>
          <p:cNvSpPr/>
          <p:nvPr/>
        </p:nvSpPr>
        <p:spPr>
          <a:xfrm>
            <a:off x="6273401" y="1525248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7F2392A3-2C52-D4C5-BBC2-D8DFE67D312F}"/>
              </a:ext>
            </a:extLst>
          </p:cNvPr>
          <p:cNvSpPr/>
          <p:nvPr/>
        </p:nvSpPr>
        <p:spPr>
          <a:xfrm>
            <a:off x="8241816" y="1525248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6A4C592F-4BBD-A00D-098E-AB406417F757}"/>
              </a:ext>
            </a:extLst>
          </p:cNvPr>
          <p:cNvSpPr/>
          <p:nvPr/>
        </p:nvSpPr>
        <p:spPr>
          <a:xfrm>
            <a:off x="6273401" y="2467537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B4CD4034-87F1-4741-3E8C-7F321029AADA}"/>
              </a:ext>
            </a:extLst>
          </p:cNvPr>
          <p:cNvSpPr/>
          <p:nvPr/>
        </p:nvSpPr>
        <p:spPr>
          <a:xfrm>
            <a:off x="7257608" y="2467537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A865ABC9-866B-FA35-ECB6-CD893B3DC11F}"/>
              </a:ext>
            </a:extLst>
          </p:cNvPr>
          <p:cNvSpPr/>
          <p:nvPr/>
        </p:nvSpPr>
        <p:spPr>
          <a:xfrm>
            <a:off x="8241816" y="2467537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135731C4-10DF-FF4A-FE34-9271D1A87E92}"/>
              </a:ext>
            </a:extLst>
          </p:cNvPr>
          <p:cNvCxnSpPr>
            <a:stCxn id="63" idx="4"/>
            <a:endCxn id="203" idx="0"/>
          </p:cNvCxnSpPr>
          <p:nvPr/>
        </p:nvCxnSpPr>
        <p:spPr>
          <a:xfrm>
            <a:off x="6562874" y="1171890"/>
            <a:ext cx="0" cy="35335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8F1845C-16B2-8003-84FE-63EED1AE06FF}"/>
              </a:ext>
            </a:extLst>
          </p:cNvPr>
          <p:cNvCxnSpPr>
            <a:stCxn id="203" idx="4"/>
            <a:endCxn id="207" idx="0"/>
          </p:cNvCxnSpPr>
          <p:nvPr/>
        </p:nvCxnSpPr>
        <p:spPr>
          <a:xfrm>
            <a:off x="6562874" y="2114179"/>
            <a:ext cx="0" cy="35335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C0E6A283-3DA1-83C2-AE69-DBA47764DF4E}"/>
              </a:ext>
            </a:extLst>
          </p:cNvPr>
          <p:cNvCxnSpPr>
            <a:stCxn id="63" idx="6"/>
            <a:endCxn id="192" idx="2"/>
          </p:cNvCxnSpPr>
          <p:nvPr/>
        </p:nvCxnSpPr>
        <p:spPr>
          <a:xfrm>
            <a:off x="6852346" y="877425"/>
            <a:ext cx="4052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E893AD31-0E95-8552-7D3F-6455E8A64F83}"/>
              </a:ext>
            </a:extLst>
          </p:cNvPr>
          <p:cNvCxnSpPr>
            <a:stCxn id="203" idx="7"/>
            <a:endCxn id="192" idx="3"/>
          </p:cNvCxnSpPr>
          <p:nvPr/>
        </p:nvCxnSpPr>
        <p:spPr>
          <a:xfrm flipV="1">
            <a:off x="6767562" y="1085644"/>
            <a:ext cx="574831" cy="52585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B29A71CB-2934-4977-07DE-400F160A164C}"/>
              </a:ext>
            </a:extLst>
          </p:cNvPr>
          <p:cNvCxnSpPr>
            <a:stCxn id="192" idx="6"/>
            <a:endCxn id="202" idx="2"/>
          </p:cNvCxnSpPr>
          <p:nvPr/>
        </p:nvCxnSpPr>
        <p:spPr>
          <a:xfrm>
            <a:off x="7836554" y="877425"/>
            <a:ext cx="4052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FB6CC7DC-584C-DEB9-2E92-0E56EEB291EE}"/>
              </a:ext>
            </a:extLst>
          </p:cNvPr>
          <p:cNvCxnSpPr>
            <a:stCxn id="192" idx="5"/>
            <a:endCxn id="205" idx="1"/>
          </p:cNvCxnSpPr>
          <p:nvPr/>
        </p:nvCxnSpPr>
        <p:spPr>
          <a:xfrm>
            <a:off x="7751769" y="1085644"/>
            <a:ext cx="574831" cy="52585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D33FCB1-2981-7238-2EBD-A417C77115E2}"/>
              </a:ext>
            </a:extLst>
          </p:cNvPr>
          <p:cNvCxnSpPr>
            <a:stCxn id="202" idx="4"/>
            <a:endCxn id="205" idx="0"/>
          </p:cNvCxnSpPr>
          <p:nvPr/>
        </p:nvCxnSpPr>
        <p:spPr>
          <a:xfrm>
            <a:off x="8531288" y="1171890"/>
            <a:ext cx="0" cy="35335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08709C88-7C3F-6202-202C-9FF4525A60B1}"/>
              </a:ext>
            </a:extLst>
          </p:cNvPr>
          <p:cNvCxnSpPr>
            <a:stCxn id="205" idx="4"/>
            <a:endCxn id="209" idx="0"/>
          </p:cNvCxnSpPr>
          <p:nvPr/>
        </p:nvCxnSpPr>
        <p:spPr>
          <a:xfrm>
            <a:off x="8531288" y="2114179"/>
            <a:ext cx="0" cy="35335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6CDEF7A-692E-4A7C-C49D-5328092389DF}"/>
              </a:ext>
            </a:extLst>
          </p:cNvPr>
          <p:cNvCxnSpPr>
            <a:stCxn id="209" idx="2"/>
            <a:endCxn id="208" idx="6"/>
          </p:cNvCxnSpPr>
          <p:nvPr/>
        </p:nvCxnSpPr>
        <p:spPr>
          <a:xfrm flipH="1">
            <a:off x="7836554" y="2762002"/>
            <a:ext cx="4052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04ACBFDE-774E-8E2E-F38F-611BEBB6EA17}"/>
              </a:ext>
            </a:extLst>
          </p:cNvPr>
          <p:cNvCxnSpPr>
            <a:stCxn id="208" idx="7"/>
            <a:endCxn id="205" idx="3"/>
          </p:cNvCxnSpPr>
          <p:nvPr/>
        </p:nvCxnSpPr>
        <p:spPr>
          <a:xfrm flipV="1">
            <a:off x="7751769" y="2027932"/>
            <a:ext cx="574831" cy="52585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9113B9BE-72EA-F1F0-55DE-D8B6295EB0CA}"/>
              </a:ext>
            </a:extLst>
          </p:cNvPr>
          <p:cNvCxnSpPr>
            <a:stCxn id="203" idx="5"/>
            <a:endCxn id="208" idx="1"/>
          </p:cNvCxnSpPr>
          <p:nvPr/>
        </p:nvCxnSpPr>
        <p:spPr>
          <a:xfrm>
            <a:off x="6767562" y="2027932"/>
            <a:ext cx="574831" cy="52585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AEC4706-E06C-C218-1057-FE0D631FE957}"/>
              </a:ext>
            </a:extLst>
          </p:cNvPr>
          <p:cNvCxnSpPr>
            <a:stCxn id="207" idx="6"/>
            <a:endCxn id="208" idx="2"/>
          </p:cNvCxnSpPr>
          <p:nvPr/>
        </p:nvCxnSpPr>
        <p:spPr>
          <a:xfrm>
            <a:off x="6852346" y="2762002"/>
            <a:ext cx="4052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1A766566-6F9E-54FB-C1ED-3B15AE8B5068}"/>
              </a:ext>
            </a:extLst>
          </p:cNvPr>
          <p:cNvSpPr txBox="1"/>
          <p:nvPr/>
        </p:nvSpPr>
        <p:spPr>
          <a:xfrm>
            <a:off x="6358330" y="570903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97364D0-4613-F052-7DFB-3B6D2B2E4B10}"/>
              </a:ext>
            </a:extLst>
          </p:cNvPr>
          <p:cNvSpPr txBox="1"/>
          <p:nvPr/>
        </p:nvSpPr>
        <p:spPr>
          <a:xfrm>
            <a:off x="7327898" y="56379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336D8E1-FA07-5FDB-6E96-A88FE6A86275}"/>
              </a:ext>
            </a:extLst>
          </p:cNvPr>
          <p:cNvSpPr txBox="1"/>
          <p:nvPr/>
        </p:nvSpPr>
        <p:spPr>
          <a:xfrm>
            <a:off x="8336010" y="582960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612EA7C-8F2F-900A-5177-A20BF245FD81}"/>
              </a:ext>
            </a:extLst>
          </p:cNvPr>
          <p:cNvSpPr txBox="1"/>
          <p:nvPr/>
        </p:nvSpPr>
        <p:spPr>
          <a:xfrm>
            <a:off x="6368832" y="151906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E0FADDD-BDB3-ADBB-B485-855BD653BF43}"/>
              </a:ext>
            </a:extLst>
          </p:cNvPr>
          <p:cNvSpPr txBox="1"/>
          <p:nvPr/>
        </p:nvSpPr>
        <p:spPr>
          <a:xfrm>
            <a:off x="6368832" y="2455168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9EA2347E-86A8-18AE-D6AC-D272A151F88B}"/>
              </a:ext>
            </a:extLst>
          </p:cNvPr>
          <p:cNvSpPr txBox="1"/>
          <p:nvPr/>
        </p:nvSpPr>
        <p:spPr>
          <a:xfrm>
            <a:off x="7327898" y="245516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E41A4E7-0A0B-D419-BCA5-A1F0AD780098}"/>
              </a:ext>
            </a:extLst>
          </p:cNvPr>
          <p:cNvSpPr txBox="1"/>
          <p:nvPr/>
        </p:nvSpPr>
        <p:spPr>
          <a:xfrm>
            <a:off x="8336010" y="243600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5DAB547-603D-77B3-D97C-58772B7B1BE0}"/>
              </a:ext>
            </a:extLst>
          </p:cNvPr>
          <p:cNvSpPr txBox="1"/>
          <p:nvPr/>
        </p:nvSpPr>
        <p:spPr>
          <a:xfrm>
            <a:off x="8336010" y="1519064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AB0F7148-9354-751C-81FD-53947DB242F2}"/>
              </a:ext>
            </a:extLst>
          </p:cNvPr>
          <p:cNvSpPr/>
          <p:nvPr/>
        </p:nvSpPr>
        <p:spPr>
          <a:xfrm>
            <a:off x="6273401" y="582960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485BA1A5-CADD-9AA5-22DA-32BA9B5BC863}"/>
              </a:ext>
            </a:extLst>
          </p:cNvPr>
          <p:cNvSpPr/>
          <p:nvPr/>
        </p:nvSpPr>
        <p:spPr>
          <a:xfrm>
            <a:off x="7257608" y="582960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E9D81097-15DB-A9D9-496B-6F564BF627B9}"/>
              </a:ext>
            </a:extLst>
          </p:cNvPr>
          <p:cNvSpPr/>
          <p:nvPr/>
        </p:nvSpPr>
        <p:spPr>
          <a:xfrm>
            <a:off x="6273401" y="1525248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F6C7273B-222D-B28D-8029-5958CCFAC0B9}"/>
              </a:ext>
            </a:extLst>
          </p:cNvPr>
          <p:cNvSpPr/>
          <p:nvPr/>
        </p:nvSpPr>
        <p:spPr>
          <a:xfrm>
            <a:off x="6273401" y="2467537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F4D8043-1F96-77B6-BD1B-52CAE5203779}"/>
              </a:ext>
            </a:extLst>
          </p:cNvPr>
          <p:cNvSpPr/>
          <p:nvPr/>
        </p:nvSpPr>
        <p:spPr>
          <a:xfrm>
            <a:off x="7257608" y="2467537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72972E33-F4CA-5E8B-06A7-D07C131F1926}"/>
              </a:ext>
            </a:extLst>
          </p:cNvPr>
          <p:cNvCxnSpPr>
            <a:stCxn id="238" idx="4"/>
            <a:endCxn id="246" idx="0"/>
          </p:cNvCxnSpPr>
          <p:nvPr/>
        </p:nvCxnSpPr>
        <p:spPr>
          <a:xfrm>
            <a:off x="6562874" y="1171890"/>
            <a:ext cx="0" cy="35335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0891DDA1-E793-5E9B-67BB-6CD7F8B39BF0}"/>
              </a:ext>
            </a:extLst>
          </p:cNvPr>
          <p:cNvCxnSpPr>
            <a:stCxn id="246" idx="4"/>
            <a:endCxn id="248" idx="0"/>
          </p:cNvCxnSpPr>
          <p:nvPr/>
        </p:nvCxnSpPr>
        <p:spPr>
          <a:xfrm>
            <a:off x="6562874" y="2114179"/>
            <a:ext cx="0" cy="35335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65B9F02-4038-F697-DBEF-31E065162AD2}"/>
              </a:ext>
            </a:extLst>
          </p:cNvPr>
          <p:cNvCxnSpPr>
            <a:stCxn id="238" idx="6"/>
            <a:endCxn id="239" idx="2"/>
          </p:cNvCxnSpPr>
          <p:nvPr/>
        </p:nvCxnSpPr>
        <p:spPr>
          <a:xfrm>
            <a:off x="6852346" y="877425"/>
            <a:ext cx="4052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8AEC6DD4-8D14-311D-0C6D-6BEFCC2D8075}"/>
              </a:ext>
            </a:extLst>
          </p:cNvPr>
          <p:cNvCxnSpPr>
            <a:stCxn id="246" idx="7"/>
            <a:endCxn id="239" idx="3"/>
          </p:cNvCxnSpPr>
          <p:nvPr/>
        </p:nvCxnSpPr>
        <p:spPr>
          <a:xfrm flipV="1">
            <a:off x="6767562" y="1085644"/>
            <a:ext cx="574831" cy="52585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3D138C97-01BF-73B3-31FB-9F7E2A9FAA7C}"/>
              </a:ext>
            </a:extLst>
          </p:cNvPr>
          <p:cNvCxnSpPr>
            <a:stCxn id="239" idx="6"/>
            <a:endCxn id="240" idx="2"/>
          </p:cNvCxnSpPr>
          <p:nvPr/>
        </p:nvCxnSpPr>
        <p:spPr>
          <a:xfrm>
            <a:off x="7836554" y="877425"/>
            <a:ext cx="4052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B226EBC-07A6-14EC-42A7-E071BFE428FF}"/>
              </a:ext>
            </a:extLst>
          </p:cNvPr>
          <p:cNvCxnSpPr>
            <a:stCxn id="239" idx="5"/>
            <a:endCxn id="247" idx="1"/>
          </p:cNvCxnSpPr>
          <p:nvPr/>
        </p:nvCxnSpPr>
        <p:spPr>
          <a:xfrm>
            <a:off x="7751769" y="1085644"/>
            <a:ext cx="574831" cy="52585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19446208-1001-EEDF-0F1C-8EBE08161315}"/>
              </a:ext>
            </a:extLst>
          </p:cNvPr>
          <p:cNvCxnSpPr>
            <a:stCxn id="250" idx="2"/>
            <a:endCxn id="249" idx="6"/>
          </p:cNvCxnSpPr>
          <p:nvPr/>
        </p:nvCxnSpPr>
        <p:spPr>
          <a:xfrm flipH="1">
            <a:off x="7836554" y="2762002"/>
            <a:ext cx="4052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956EB81E-E1B2-6A2E-9B1F-25CA4BB0A586}"/>
              </a:ext>
            </a:extLst>
          </p:cNvPr>
          <p:cNvCxnSpPr>
            <a:stCxn id="249" idx="7"/>
            <a:endCxn id="247" idx="3"/>
          </p:cNvCxnSpPr>
          <p:nvPr/>
        </p:nvCxnSpPr>
        <p:spPr>
          <a:xfrm flipV="1">
            <a:off x="7751769" y="2027932"/>
            <a:ext cx="574831" cy="52585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CC17659F-C088-4600-7976-4332C7427CE0}"/>
              </a:ext>
            </a:extLst>
          </p:cNvPr>
          <p:cNvCxnSpPr>
            <a:stCxn id="246" idx="5"/>
            <a:endCxn id="249" idx="1"/>
          </p:cNvCxnSpPr>
          <p:nvPr/>
        </p:nvCxnSpPr>
        <p:spPr>
          <a:xfrm>
            <a:off x="6767562" y="2027932"/>
            <a:ext cx="574831" cy="52585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DEFAF1A1-ED3E-A323-B154-89D598F945D5}"/>
              </a:ext>
            </a:extLst>
          </p:cNvPr>
          <p:cNvCxnSpPr>
            <a:stCxn id="248" idx="6"/>
            <a:endCxn id="249" idx="2"/>
          </p:cNvCxnSpPr>
          <p:nvPr/>
        </p:nvCxnSpPr>
        <p:spPr>
          <a:xfrm>
            <a:off x="6852346" y="2762002"/>
            <a:ext cx="4052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A99BFF85-FA2E-1087-1182-FC5062219CBE}"/>
              </a:ext>
            </a:extLst>
          </p:cNvPr>
          <p:cNvSpPr txBox="1"/>
          <p:nvPr/>
        </p:nvSpPr>
        <p:spPr>
          <a:xfrm>
            <a:off x="6358330" y="570903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118B823B-AB00-7BB2-F1A2-440B9BCA0D21}"/>
              </a:ext>
            </a:extLst>
          </p:cNvPr>
          <p:cNvSpPr txBox="1"/>
          <p:nvPr/>
        </p:nvSpPr>
        <p:spPr>
          <a:xfrm>
            <a:off x="7327898" y="56379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24F22378-D78A-E427-363A-03B7A044DAAC}"/>
              </a:ext>
            </a:extLst>
          </p:cNvPr>
          <p:cNvSpPr txBox="1"/>
          <p:nvPr/>
        </p:nvSpPr>
        <p:spPr>
          <a:xfrm>
            <a:off x="6368832" y="1519064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819527E-0F7D-A444-8141-567C1FF3D73C}"/>
              </a:ext>
            </a:extLst>
          </p:cNvPr>
          <p:cNvSpPr txBox="1"/>
          <p:nvPr/>
        </p:nvSpPr>
        <p:spPr>
          <a:xfrm>
            <a:off x="6368832" y="2455168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48D00497-308C-C3D4-DD9C-AD9D8620B504}"/>
              </a:ext>
            </a:extLst>
          </p:cNvPr>
          <p:cNvSpPr txBox="1"/>
          <p:nvPr/>
        </p:nvSpPr>
        <p:spPr>
          <a:xfrm>
            <a:off x="7327898" y="2455168"/>
            <a:ext cx="36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g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7F42AC14-A811-5D9C-6535-A0EAF105FCBF}"/>
              </a:ext>
            </a:extLst>
          </p:cNvPr>
          <p:cNvGrpSpPr/>
          <p:nvPr/>
        </p:nvGrpSpPr>
        <p:grpSpPr>
          <a:xfrm>
            <a:off x="8241816" y="582960"/>
            <a:ext cx="578945" cy="2473507"/>
            <a:chOff x="8241816" y="582960"/>
            <a:chExt cx="578945" cy="2473507"/>
          </a:xfrm>
        </p:grpSpPr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73C559E6-9FA3-5F68-49DA-7771A0D91236}"/>
                </a:ext>
              </a:extLst>
            </p:cNvPr>
            <p:cNvSpPr/>
            <p:nvPr/>
          </p:nvSpPr>
          <p:spPr>
            <a:xfrm>
              <a:off x="8241816" y="582960"/>
              <a:ext cx="578945" cy="5889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085212C4-4682-16AD-6A66-9F04CC348B3B}"/>
                </a:ext>
              </a:extLst>
            </p:cNvPr>
            <p:cNvSpPr/>
            <p:nvPr/>
          </p:nvSpPr>
          <p:spPr>
            <a:xfrm>
              <a:off x="8241816" y="1525248"/>
              <a:ext cx="578945" cy="5889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336EC880-DAAE-7ABB-A198-9D02F9A8D096}"/>
                </a:ext>
              </a:extLst>
            </p:cNvPr>
            <p:cNvSpPr/>
            <p:nvPr/>
          </p:nvSpPr>
          <p:spPr>
            <a:xfrm>
              <a:off x="8241816" y="2467537"/>
              <a:ext cx="578945" cy="5889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38E6AE1-7D47-744D-04EA-24CB9A4B010A}"/>
                </a:ext>
              </a:extLst>
            </p:cNvPr>
            <p:cNvCxnSpPr>
              <a:stCxn id="240" idx="4"/>
              <a:endCxn id="247" idx="0"/>
            </p:cNvCxnSpPr>
            <p:nvPr/>
          </p:nvCxnSpPr>
          <p:spPr>
            <a:xfrm>
              <a:off x="8531288" y="1171890"/>
              <a:ext cx="0" cy="35335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53640292-4431-04BE-7788-3775E262A519}"/>
                </a:ext>
              </a:extLst>
            </p:cNvPr>
            <p:cNvCxnSpPr>
              <a:stCxn id="247" idx="4"/>
              <a:endCxn id="250" idx="0"/>
            </p:cNvCxnSpPr>
            <p:nvPr/>
          </p:nvCxnSpPr>
          <p:spPr>
            <a:xfrm>
              <a:off x="8531288" y="2114179"/>
              <a:ext cx="0" cy="35335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1010F874-3017-A66A-A350-541554340AE4}"/>
                </a:ext>
              </a:extLst>
            </p:cNvPr>
            <p:cNvSpPr txBox="1"/>
            <p:nvPr/>
          </p:nvSpPr>
          <p:spPr>
            <a:xfrm>
              <a:off x="8336010" y="582960"/>
              <a:ext cx="3433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6300334B-999B-C1BD-F383-F94D75083C62}"/>
                </a:ext>
              </a:extLst>
            </p:cNvPr>
            <p:cNvSpPr txBox="1"/>
            <p:nvPr/>
          </p:nvSpPr>
          <p:spPr>
            <a:xfrm>
              <a:off x="8336010" y="2436004"/>
              <a:ext cx="3834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203EFDC0-3FD3-B372-2ABF-1BAA43C93F3A}"/>
                </a:ext>
              </a:extLst>
            </p:cNvPr>
            <p:cNvSpPr txBox="1"/>
            <p:nvPr/>
          </p:nvSpPr>
          <p:spPr>
            <a:xfrm>
              <a:off x="8336010" y="1519064"/>
              <a:ext cx="359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e</a:t>
              </a:r>
            </a:p>
          </p:txBody>
        </p:sp>
      </p:grp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27C9671F-5410-C2DC-2528-7B47DE081982}"/>
              </a:ext>
            </a:extLst>
          </p:cNvPr>
          <p:cNvCxnSpPr>
            <a:cxnSpLocks/>
          </p:cNvCxnSpPr>
          <p:nvPr/>
        </p:nvCxnSpPr>
        <p:spPr>
          <a:xfrm flipV="1">
            <a:off x="7887088" y="4292380"/>
            <a:ext cx="133958" cy="16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Freeform 15">
            <a:extLst>
              <a:ext uri="{FF2B5EF4-FFF2-40B4-BE49-F238E27FC236}">
                <a16:creationId xmlns:a16="http://schemas.microsoft.com/office/drawing/2014/main" id="{BFC56869-42D1-0A49-F312-A4FF6417733F}"/>
              </a:ext>
            </a:extLst>
          </p:cNvPr>
          <p:cNvSpPr/>
          <p:nvPr/>
        </p:nvSpPr>
        <p:spPr>
          <a:xfrm>
            <a:off x="6084168" y="548680"/>
            <a:ext cx="1867989" cy="1647221"/>
          </a:xfrm>
          <a:custGeom>
            <a:avLst/>
            <a:gdLst>
              <a:gd name="connsiteX0" fmla="*/ 600891 w 1867989"/>
              <a:gd name="connsiteY0" fmla="*/ 1645920 h 1647221"/>
              <a:gd name="connsiteX1" fmla="*/ 666206 w 1867989"/>
              <a:gd name="connsiteY1" fmla="*/ 1606731 h 1647221"/>
              <a:gd name="connsiteX2" fmla="*/ 744583 w 1867989"/>
              <a:gd name="connsiteY2" fmla="*/ 1554480 h 1647221"/>
              <a:gd name="connsiteX3" fmla="*/ 849086 w 1867989"/>
              <a:gd name="connsiteY3" fmla="*/ 1463040 h 1647221"/>
              <a:gd name="connsiteX4" fmla="*/ 927463 w 1867989"/>
              <a:gd name="connsiteY4" fmla="*/ 1410789 h 1647221"/>
              <a:gd name="connsiteX5" fmla="*/ 992777 w 1867989"/>
              <a:gd name="connsiteY5" fmla="*/ 1358537 h 1647221"/>
              <a:gd name="connsiteX6" fmla="*/ 1031966 w 1867989"/>
              <a:gd name="connsiteY6" fmla="*/ 1319349 h 1647221"/>
              <a:gd name="connsiteX7" fmla="*/ 1071154 w 1867989"/>
              <a:gd name="connsiteY7" fmla="*/ 1293223 h 1647221"/>
              <a:gd name="connsiteX8" fmla="*/ 1136469 w 1867989"/>
              <a:gd name="connsiteY8" fmla="*/ 1214846 h 1647221"/>
              <a:gd name="connsiteX9" fmla="*/ 1175657 w 1867989"/>
              <a:gd name="connsiteY9" fmla="*/ 1188720 h 1647221"/>
              <a:gd name="connsiteX10" fmla="*/ 1240971 w 1867989"/>
              <a:gd name="connsiteY10" fmla="*/ 1123406 h 1647221"/>
              <a:gd name="connsiteX11" fmla="*/ 1267097 w 1867989"/>
              <a:gd name="connsiteY11" fmla="*/ 1084217 h 1647221"/>
              <a:gd name="connsiteX12" fmla="*/ 1306286 w 1867989"/>
              <a:gd name="connsiteY12" fmla="*/ 1071154 h 1647221"/>
              <a:gd name="connsiteX13" fmla="*/ 1345474 w 1867989"/>
              <a:gd name="connsiteY13" fmla="*/ 1045029 h 1647221"/>
              <a:gd name="connsiteX14" fmla="*/ 1397726 w 1867989"/>
              <a:gd name="connsiteY14" fmla="*/ 927463 h 1647221"/>
              <a:gd name="connsiteX15" fmla="*/ 1410789 w 1867989"/>
              <a:gd name="connsiteY15" fmla="*/ 888274 h 1647221"/>
              <a:gd name="connsiteX16" fmla="*/ 1449977 w 1867989"/>
              <a:gd name="connsiteY16" fmla="*/ 862149 h 1647221"/>
              <a:gd name="connsiteX17" fmla="*/ 1528354 w 1867989"/>
              <a:gd name="connsiteY17" fmla="*/ 809897 h 1647221"/>
              <a:gd name="connsiteX18" fmla="*/ 1593669 w 1867989"/>
              <a:gd name="connsiteY18" fmla="*/ 757646 h 1647221"/>
              <a:gd name="connsiteX19" fmla="*/ 1632857 w 1867989"/>
              <a:gd name="connsiteY19" fmla="*/ 718457 h 1647221"/>
              <a:gd name="connsiteX20" fmla="*/ 1658983 w 1867989"/>
              <a:gd name="connsiteY20" fmla="*/ 679269 h 1647221"/>
              <a:gd name="connsiteX21" fmla="*/ 1698171 w 1867989"/>
              <a:gd name="connsiteY21" fmla="*/ 666206 h 1647221"/>
              <a:gd name="connsiteX22" fmla="*/ 1789611 w 1867989"/>
              <a:gd name="connsiteY22" fmla="*/ 548640 h 1647221"/>
              <a:gd name="connsiteX23" fmla="*/ 1828800 w 1867989"/>
              <a:gd name="connsiteY23" fmla="*/ 470263 h 1647221"/>
              <a:gd name="connsiteX24" fmla="*/ 1867989 w 1867989"/>
              <a:gd name="connsiteY24" fmla="*/ 326571 h 1647221"/>
              <a:gd name="connsiteX25" fmla="*/ 1854926 w 1867989"/>
              <a:gd name="connsiteY25" fmla="*/ 235131 h 1647221"/>
              <a:gd name="connsiteX26" fmla="*/ 1841863 w 1867989"/>
              <a:gd name="connsiteY26" fmla="*/ 195943 h 1647221"/>
              <a:gd name="connsiteX27" fmla="*/ 1802674 w 1867989"/>
              <a:gd name="connsiteY27" fmla="*/ 169817 h 1647221"/>
              <a:gd name="connsiteX28" fmla="*/ 1711234 w 1867989"/>
              <a:gd name="connsiteY28" fmla="*/ 78377 h 1647221"/>
              <a:gd name="connsiteX29" fmla="*/ 1593669 w 1867989"/>
              <a:gd name="connsiteY29" fmla="*/ 13063 h 1647221"/>
              <a:gd name="connsiteX30" fmla="*/ 1502229 w 1867989"/>
              <a:gd name="connsiteY30" fmla="*/ 0 h 1647221"/>
              <a:gd name="connsiteX31" fmla="*/ 1110343 w 1867989"/>
              <a:gd name="connsiteY31" fmla="*/ 13063 h 1647221"/>
              <a:gd name="connsiteX32" fmla="*/ 1031966 w 1867989"/>
              <a:gd name="connsiteY32" fmla="*/ 26126 h 1647221"/>
              <a:gd name="connsiteX33" fmla="*/ 548640 w 1867989"/>
              <a:gd name="connsiteY33" fmla="*/ 0 h 1647221"/>
              <a:gd name="connsiteX34" fmla="*/ 326571 w 1867989"/>
              <a:gd name="connsiteY34" fmla="*/ 13063 h 1647221"/>
              <a:gd name="connsiteX35" fmla="*/ 248194 w 1867989"/>
              <a:gd name="connsiteY35" fmla="*/ 39189 h 1647221"/>
              <a:gd name="connsiteX36" fmla="*/ 222069 w 1867989"/>
              <a:gd name="connsiteY36" fmla="*/ 78377 h 1647221"/>
              <a:gd name="connsiteX37" fmla="*/ 182880 w 1867989"/>
              <a:gd name="connsiteY37" fmla="*/ 104503 h 1647221"/>
              <a:gd name="connsiteX38" fmla="*/ 91440 w 1867989"/>
              <a:gd name="connsiteY38" fmla="*/ 222069 h 1647221"/>
              <a:gd name="connsiteX39" fmla="*/ 65314 w 1867989"/>
              <a:gd name="connsiteY39" fmla="*/ 300446 h 1647221"/>
              <a:gd name="connsiteX40" fmla="*/ 52251 w 1867989"/>
              <a:gd name="connsiteY40" fmla="*/ 339634 h 1647221"/>
              <a:gd name="connsiteX41" fmla="*/ 13063 w 1867989"/>
              <a:gd name="connsiteY41" fmla="*/ 640080 h 1647221"/>
              <a:gd name="connsiteX42" fmla="*/ 0 w 1867989"/>
              <a:gd name="connsiteY42" fmla="*/ 796834 h 1647221"/>
              <a:gd name="connsiteX43" fmla="*/ 13063 w 1867989"/>
              <a:gd name="connsiteY43" fmla="*/ 1175657 h 1647221"/>
              <a:gd name="connsiteX44" fmla="*/ 26126 w 1867989"/>
              <a:gd name="connsiteY44" fmla="*/ 1280160 h 1647221"/>
              <a:gd name="connsiteX45" fmla="*/ 39189 w 1867989"/>
              <a:gd name="connsiteY45" fmla="*/ 1397726 h 1647221"/>
              <a:gd name="connsiteX46" fmla="*/ 91440 w 1867989"/>
              <a:gd name="connsiteY46" fmla="*/ 1515291 h 1647221"/>
              <a:gd name="connsiteX47" fmla="*/ 169817 w 1867989"/>
              <a:gd name="connsiteY47" fmla="*/ 1567543 h 1647221"/>
              <a:gd name="connsiteX48" fmla="*/ 404949 w 1867989"/>
              <a:gd name="connsiteY48" fmla="*/ 1593669 h 1647221"/>
              <a:gd name="connsiteX49" fmla="*/ 444137 w 1867989"/>
              <a:gd name="connsiteY49" fmla="*/ 1606731 h 1647221"/>
              <a:gd name="connsiteX50" fmla="*/ 483326 w 1867989"/>
              <a:gd name="connsiteY50" fmla="*/ 1632857 h 1647221"/>
              <a:gd name="connsiteX51" fmla="*/ 600891 w 1867989"/>
              <a:gd name="connsiteY51" fmla="*/ 1645920 h 1647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867989" h="1647221">
                <a:moveTo>
                  <a:pt x="600891" y="1645920"/>
                </a:moveTo>
                <a:cubicBezTo>
                  <a:pt x="631371" y="1641566"/>
                  <a:pt x="644785" y="1620362"/>
                  <a:pt x="666206" y="1606731"/>
                </a:cubicBezTo>
                <a:cubicBezTo>
                  <a:pt x="692696" y="1589874"/>
                  <a:pt x="744583" y="1554480"/>
                  <a:pt x="744583" y="1554480"/>
                </a:cubicBezTo>
                <a:cubicBezTo>
                  <a:pt x="818611" y="1443438"/>
                  <a:pt x="696677" y="1615452"/>
                  <a:pt x="849086" y="1463040"/>
                </a:cubicBezTo>
                <a:cubicBezTo>
                  <a:pt x="898010" y="1414114"/>
                  <a:pt x="870748" y="1429692"/>
                  <a:pt x="927463" y="1410789"/>
                </a:cubicBezTo>
                <a:cubicBezTo>
                  <a:pt x="985892" y="1323146"/>
                  <a:pt x="917063" y="1409013"/>
                  <a:pt x="992777" y="1358537"/>
                </a:cubicBezTo>
                <a:cubicBezTo>
                  <a:pt x="1008148" y="1348290"/>
                  <a:pt x="1017774" y="1331176"/>
                  <a:pt x="1031966" y="1319349"/>
                </a:cubicBezTo>
                <a:cubicBezTo>
                  <a:pt x="1044027" y="1309298"/>
                  <a:pt x="1059093" y="1303274"/>
                  <a:pt x="1071154" y="1293223"/>
                </a:cubicBezTo>
                <a:cubicBezTo>
                  <a:pt x="1199557" y="1186219"/>
                  <a:pt x="1033714" y="1317601"/>
                  <a:pt x="1136469" y="1214846"/>
                </a:cubicBezTo>
                <a:cubicBezTo>
                  <a:pt x="1147570" y="1203745"/>
                  <a:pt x="1162594" y="1197429"/>
                  <a:pt x="1175657" y="1188720"/>
                </a:cubicBezTo>
                <a:cubicBezTo>
                  <a:pt x="1245327" y="1084214"/>
                  <a:pt x="1153885" y="1210492"/>
                  <a:pt x="1240971" y="1123406"/>
                </a:cubicBezTo>
                <a:cubicBezTo>
                  <a:pt x="1252072" y="1112305"/>
                  <a:pt x="1254838" y="1094025"/>
                  <a:pt x="1267097" y="1084217"/>
                </a:cubicBezTo>
                <a:cubicBezTo>
                  <a:pt x="1277849" y="1075615"/>
                  <a:pt x="1293970" y="1077312"/>
                  <a:pt x="1306286" y="1071154"/>
                </a:cubicBezTo>
                <a:cubicBezTo>
                  <a:pt x="1320328" y="1064133"/>
                  <a:pt x="1332411" y="1053737"/>
                  <a:pt x="1345474" y="1045029"/>
                </a:cubicBezTo>
                <a:cubicBezTo>
                  <a:pt x="1376565" y="951757"/>
                  <a:pt x="1356324" y="989565"/>
                  <a:pt x="1397726" y="927463"/>
                </a:cubicBezTo>
                <a:cubicBezTo>
                  <a:pt x="1402080" y="914400"/>
                  <a:pt x="1402187" y="899026"/>
                  <a:pt x="1410789" y="888274"/>
                </a:cubicBezTo>
                <a:cubicBezTo>
                  <a:pt x="1420596" y="876015"/>
                  <a:pt x="1437916" y="872199"/>
                  <a:pt x="1449977" y="862149"/>
                </a:cubicBezTo>
                <a:cubicBezTo>
                  <a:pt x="1515211" y="807787"/>
                  <a:pt x="1459484" y="832854"/>
                  <a:pt x="1528354" y="809897"/>
                </a:cubicBezTo>
                <a:cubicBezTo>
                  <a:pt x="1586785" y="722252"/>
                  <a:pt x="1517951" y="808125"/>
                  <a:pt x="1593669" y="757646"/>
                </a:cubicBezTo>
                <a:cubicBezTo>
                  <a:pt x="1609040" y="747399"/>
                  <a:pt x="1621030" y="732649"/>
                  <a:pt x="1632857" y="718457"/>
                </a:cubicBezTo>
                <a:cubicBezTo>
                  <a:pt x="1642908" y="706396"/>
                  <a:pt x="1646724" y="689076"/>
                  <a:pt x="1658983" y="679269"/>
                </a:cubicBezTo>
                <a:cubicBezTo>
                  <a:pt x="1669735" y="670667"/>
                  <a:pt x="1685108" y="670560"/>
                  <a:pt x="1698171" y="666206"/>
                </a:cubicBezTo>
                <a:cubicBezTo>
                  <a:pt x="1760670" y="572458"/>
                  <a:pt x="1728221" y="610032"/>
                  <a:pt x="1789611" y="548640"/>
                </a:cubicBezTo>
                <a:cubicBezTo>
                  <a:pt x="1837251" y="405721"/>
                  <a:pt x="1761273" y="622195"/>
                  <a:pt x="1828800" y="470263"/>
                </a:cubicBezTo>
                <a:cubicBezTo>
                  <a:pt x="1852907" y="416023"/>
                  <a:pt x="1856814" y="382448"/>
                  <a:pt x="1867989" y="326571"/>
                </a:cubicBezTo>
                <a:cubicBezTo>
                  <a:pt x="1863635" y="296091"/>
                  <a:pt x="1860964" y="265323"/>
                  <a:pt x="1854926" y="235131"/>
                </a:cubicBezTo>
                <a:cubicBezTo>
                  <a:pt x="1852226" y="221629"/>
                  <a:pt x="1850465" y="206695"/>
                  <a:pt x="1841863" y="195943"/>
                </a:cubicBezTo>
                <a:cubicBezTo>
                  <a:pt x="1832055" y="183684"/>
                  <a:pt x="1815737" y="178526"/>
                  <a:pt x="1802674" y="169817"/>
                </a:cubicBezTo>
                <a:cubicBezTo>
                  <a:pt x="1742785" y="79983"/>
                  <a:pt x="1780211" y="101369"/>
                  <a:pt x="1711234" y="78377"/>
                </a:cubicBezTo>
                <a:cubicBezTo>
                  <a:pt x="1666343" y="48450"/>
                  <a:pt x="1642936" y="22917"/>
                  <a:pt x="1593669" y="13063"/>
                </a:cubicBezTo>
                <a:cubicBezTo>
                  <a:pt x="1563477" y="7025"/>
                  <a:pt x="1532709" y="4354"/>
                  <a:pt x="1502229" y="0"/>
                </a:cubicBezTo>
                <a:cubicBezTo>
                  <a:pt x="1371600" y="4354"/>
                  <a:pt x="1240843" y="5813"/>
                  <a:pt x="1110343" y="13063"/>
                </a:cubicBezTo>
                <a:cubicBezTo>
                  <a:pt x="1083898" y="14532"/>
                  <a:pt x="1058452" y="26126"/>
                  <a:pt x="1031966" y="26126"/>
                </a:cubicBezTo>
                <a:cubicBezTo>
                  <a:pt x="981669" y="26126"/>
                  <a:pt x="615370" y="3925"/>
                  <a:pt x="548640" y="0"/>
                </a:cubicBezTo>
                <a:cubicBezTo>
                  <a:pt x="474617" y="4354"/>
                  <a:pt x="400099" y="3472"/>
                  <a:pt x="326571" y="13063"/>
                </a:cubicBezTo>
                <a:cubicBezTo>
                  <a:pt x="299263" y="16625"/>
                  <a:pt x="248194" y="39189"/>
                  <a:pt x="248194" y="39189"/>
                </a:cubicBezTo>
                <a:cubicBezTo>
                  <a:pt x="239486" y="52252"/>
                  <a:pt x="233170" y="67276"/>
                  <a:pt x="222069" y="78377"/>
                </a:cubicBezTo>
                <a:cubicBezTo>
                  <a:pt x="210968" y="89478"/>
                  <a:pt x="194941" y="94452"/>
                  <a:pt x="182880" y="104503"/>
                </a:cubicBezTo>
                <a:cubicBezTo>
                  <a:pt x="151666" y="130514"/>
                  <a:pt x="102645" y="188453"/>
                  <a:pt x="91440" y="222069"/>
                </a:cubicBezTo>
                <a:lnTo>
                  <a:pt x="65314" y="300446"/>
                </a:lnTo>
                <a:lnTo>
                  <a:pt x="52251" y="339634"/>
                </a:lnTo>
                <a:cubicBezTo>
                  <a:pt x="39767" y="427029"/>
                  <a:pt x="19050" y="568243"/>
                  <a:pt x="13063" y="640080"/>
                </a:cubicBezTo>
                <a:lnTo>
                  <a:pt x="0" y="796834"/>
                </a:lnTo>
                <a:cubicBezTo>
                  <a:pt x="4354" y="923108"/>
                  <a:pt x="6243" y="1049492"/>
                  <a:pt x="13063" y="1175657"/>
                </a:cubicBezTo>
                <a:cubicBezTo>
                  <a:pt x="14958" y="1210711"/>
                  <a:pt x="22024" y="1245295"/>
                  <a:pt x="26126" y="1280160"/>
                </a:cubicBezTo>
                <a:cubicBezTo>
                  <a:pt x="30733" y="1319320"/>
                  <a:pt x="31456" y="1359062"/>
                  <a:pt x="39189" y="1397726"/>
                </a:cubicBezTo>
                <a:cubicBezTo>
                  <a:pt x="44202" y="1422793"/>
                  <a:pt x="64904" y="1492072"/>
                  <a:pt x="91440" y="1515291"/>
                </a:cubicBezTo>
                <a:cubicBezTo>
                  <a:pt x="115070" y="1535968"/>
                  <a:pt x="139355" y="1559928"/>
                  <a:pt x="169817" y="1567543"/>
                </a:cubicBezTo>
                <a:cubicBezTo>
                  <a:pt x="281360" y="1595429"/>
                  <a:pt x="204161" y="1579327"/>
                  <a:pt x="404949" y="1593669"/>
                </a:cubicBezTo>
                <a:cubicBezTo>
                  <a:pt x="418012" y="1598023"/>
                  <a:pt x="431821" y="1600573"/>
                  <a:pt x="444137" y="1606731"/>
                </a:cubicBezTo>
                <a:cubicBezTo>
                  <a:pt x="458179" y="1613752"/>
                  <a:pt x="467931" y="1629778"/>
                  <a:pt x="483326" y="1632857"/>
                </a:cubicBezTo>
                <a:cubicBezTo>
                  <a:pt x="534740" y="1643140"/>
                  <a:pt x="570411" y="1650274"/>
                  <a:pt x="600891" y="1645920"/>
                </a:cubicBezTo>
                <a:close/>
              </a:path>
            </a:pathLst>
          </a:custGeom>
          <a:solidFill>
            <a:srgbClr val="00B050">
              <a:alpha val="4300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92" name="Freeform 1146">
            <a:extLst>
              <a:ext uri="{FF2B5EF4-FFF2-40B4-BE49-F238E27FC236}">
                <a16:creationId xmlns:a16="http://schemas.microsoft.com/office/drawing/2014/main" id="{FD2F2783-E5FA-BB27-B280-0C936F578958}"/>
              </a:ext>
            </a:extLst>
          </p:cNvPr>
          <p:cNvSpPr/>
          <p:nvPr/>
        </p:nvSpPr>
        <p:spPr>
          <a:xfrm>
            <a:off x="6214536" y="559594"/>
            <a:ext cx="1667826" cy="2538412"/>
          </a:xfrm>
          <a:custGeom>
            <a:avLst/>
            <a:gdLst>
              <a:gd name="connsiteX0" fmla="*/ 1615438 w 1667826"/>
              <a:gd name="connsiteY0" fmla="*/ 195262 h 2538412"/>
              <a:gd name="connsiteX1" fmla="*/ 1601151 w 1667826"/>
              <a:gd name="connsiteY1" fmla="*/ 133350 h 2538412"/>
              <a:gd name="connsiteX2" fmla="*/ 1596388 w 1667826"/>
              <a:gd name="connsiteY2" fmla="*/ 119062 h 2538412"/>
              <a:gd name="connsiteX3" fmla="*/ 1582101 w 1667826"/>
              <a:gd name="connsiteY3" fmla="*/ 109537 h 2538412"/>
              <a:gd name="connsiteX4" fmla="*/ 1577338 w 1667826"/>
              <a:gd name="connsiteY4" fmla="*/ 95250 h 2538412"/>
              <a:gd name="connsiteX5" fmla="*/ 1548763 w 1667826"/>
              <a:gd name="connsiteY5" fmla="*/ 76200 h 2538412"/>
              <a:gd name="connsiteX6" fmla="*/ 1534476 w 1667826"/>
              <a:gd name="connsiteY6" fmla="*/ 66675 h 2538412"/>
              <a:gd name="connsiteX7" fmla="*/ 1491613 w 1667826"/>
              <a:gd name="connsiteY7" fmla="*/ 38100 h 2538412"/>
              <a:gd name="connsiteX8" fmla="*/ 1477326 w 1667826"/>
              <a:gd name="connsiteY8" fmla="*/ 28575 h 2538412"/>
              <a:gd name="connsiteX9" fmla="*/ 1434463 w 1667826"/>
              <a:gd name="connsiteY9" fmla="*/ 14287 h 2538412"/>
              <a:gd name="connsiteX10" fmla="*/ 1420176 w 1667826"/>
              <a:gd name="connsiteY10" fmla="*/ 9525 h 2538412"/>
              <a:gd name="connsiteX11" fmla="*/ 1367788 w 1667826"/>
              <a:gd name="connsiteY11" fmla="*/ 0 h 2538412"/>
              <a:gd name="connsiteX12" fmla="*/ 1324926 w 1667826"/>
              <a:gd name="connsiteY12" fmla="*/ 4762 h 2538412"/>
              <a:gd name="connsiteX13" fmla="*/ 1305876 w 1667826"/>
              <a:gd name="connsiteY13" fmla="*/ 9525 h 2538412"/>
              <a:gd name="connsiteX14" fmla="*/ 1210626 w 1667826"/>
              <a:gd name="connsiteY14" fmla="*/ 14287 h 2538412"/>
              <a:gd name="connsiteX15" fmla="*/ 1196338 w 1667826"/>
              <a:gd name="connsiteY15" fmla="*/ 19050 h 2538412"/>
              <a:gd name="connsiteX16" fmla="*/ 1177288 w 1667826"/>
              <a:gd name="connsiteY16" fmla="*/ 23812 h 2538412"/>
              <a:gd name="connsiteX17" fmla="*/ 1148713 w 1667826"/>
              <a:gd name="connsiteY17" fmla="*/ 33337 h 2538412"/>
              <a:gd name="connsiteX18" fmla="*/ 1120138 w 1667826"/>
              <a:gd name="connsiteY18" fmla="*/ 52387 h 2538412"/>
              <a:gd name="connsiteX19" fmla="*/ 1096326 w 1667826"/>
              <a:gd name="connsiteY19" fmla="*/ 76200 h 2538412"/>
              <a:gd name="connsiteX20" fmla="*/ 1077276 w 1667826"/>
              <a:gd name="connsiteY20" fmla="*/ 104775 h 2538412"/>
              <a:gd name="connsiteX21" fmla="*/ 1067751 w 1667826"/>
              <a:gd name="connsiteY21" fmla="*/ 119062 h 2538412"/>
              <a:gd name="connsiteX22" fmla="*/ 1039176 w 1667826"/>
              <a:gd name="connsiteY22" fmla="*/ 147637 h 2538412"/>
              <a:gd name="connsiteX23" fmla="*/ 1005838 w 1667826"/>
              <a:gd name="connsiteY23" fmla="*/ 190500 h 2538412"/>
              <a:gd name="connsiteX24" fmla="*/ 986788 w 1667826"/>
              <a:gd name="connsiteY24" fmla="*/ 233362 h 2538412"/>
              <a:gd name="connsiteX25" fmla="*/ 977263 w 1667826"/>
              <a:gd name="connsiteY25" fmla="*/ 261937 h 2538412"/>
              <a:gd name="connsiteX26" fmla="*/ 972501 w 1667826"/>
              <a:gd name="connsiteY26" fmla="*/ 276225 h 2538412"/>
              <a:gd name="connsiteX27" fmla="*/ 953451 w 1667826"/>
              <a:gd name="connsiteY27" fmla="*/ 304800 h 2538412"/>
              <a:gd name="connsiteX28" fmla="*/ 943926 w 1667826"/>
              <a:gd name="connsiteY28" fmla="*/ 319087 h 2538412"/>
              <a:gd name="connsiteX29" fmla="*/ 929638 w 1667826"/>
              <a:gd name="connsiteY29" fmla="*/ 328612 h 2538412"/>
              <a:gd name="connsiteX30" fmla="*/ 910588 w 1667826"/>
              <a:gd name="connsiteY30" fmla="*/ 357187 h 2538412"/>
              <a:gd name="connsiteX31" fmla="*/ 905826 w 1667826"/>
              <a:gd name="connsiteY31" fmla="*/ 371475 h 2538412"/>
              <a:gd name="connsiteX32" fmla="*/ 896301 w 1667826"/>
              <a:gd name="connsiteY32" fmla="*/ 385762 h 2538412"/>
              <a:gd name="connsiteX33" fmla="*/ 891538 w 1667826"/>
              <a:gd name="connsiteY33" fmla="*/ 400050 h 2538412"/>
              <a:gd name="connsiteX34" fmla="*/ 858201 w 1667826"/>
              <a:gd name="connsiteY34" fmla="*/ 442912 h 2538412"/>
              <a:gd name="connsiteX35" fmla="*/ 848676 w 1667826"/>
              <a:gd name="connsiteY35" fmla="*/ 457200 h 2538412"/>
              <a:gd name="connsiteX36" fmla="*/ 834388 w 1667826"/>
              <a:gd name="connsiteY36" fmla="*/ 471487 h 2538412"/>
              <a:gd name="connsiteX37" fmla="*/ 815338 w 1667826"/>
              <a:gd name="connsiteY37" fmla="*/ 504825 h 2538412"/>
              <a:gd name="connsiteX38" fmla="*/ 801051 w 1667826"/>
              <a:gd name="connsiteY38" fmla="*/ 528637 h 2538412"/>
              <a:gd name="connsiteX39" fmla="*/ 786763 w 1667826"/>
              <a:gd name="connsiteY39" fmla="*/ 538162 h 2538412"/>
              <a:gd name="connsiteX40" fmla="*/ 758188 w 1667826"/>
              <a:gd name="connsiteY40" fmla="*/ 581025 h 2538412"/>
              <a:gd name="connsiteX41" fmla="*/ 748663 w 1667826"/>
              <a:gd name="connsiteY41" fmla="*/ 595312 h 2538412"/>
              <a:gd name="connsiteX42" fmla="*/ 739138 w 1667826"/>
              <a:gd name="connsiteY42" fmla="*/ 623887 h 2538412"/>
              <a:gd name="connsiteX43" fmla="*/ 734376 w 1667826"/>
              <a:gd name="connsiteY43" fmla="*/ 638175 h 2538412"/>
              <a:gd name="connsiteX44" fmla="*/ 715326 w 1667826"/>
              <a:gd name="connsiteY44" fmla="*/ 666750 h 2538412"/>
              <a:gd name="connsiteX45" fmla="*/ 701038 w 1667826"/>
              <a:gd name="connsiteY45" fmla="*/ 681037 h 2538412"/>
              <a:gd name="connsiteX46" fmla="*/ 667701 w 1667826"/>
              <a:gd name="connsiteY46" fmla="*/ 714375 h 2538412"/>
              <a:gd name="connsiteX47" fmla="*/ 653413 w 1667826"/>
              <a:gd name="connsiteY47" fmla="*/ 728662 h 2538412"/>
              <a:gd name="connsiteX48" fmla="*/ 624838 w 1667826"/>
              <a:gd name="connsiteY48" fmla="*/ 747712 h 2538412"/>
              <a:gd name="connsiteX49" fmla="*/ 610551 w 1667826"/>
              <a:gd name="connsiteY49" fmla="*/ 762000 h 2538412"/>
              <a:gd name="connsiteX50" fmla="*/ 581976 w 1667826"/>
              <a:gd name="connsiteY50" fmla="*/ 781050 h 2538412"/>
              <a:gd name="connsiteX51" fmla="*/ 567688 w 1667826"/>
              <a:gd name="connsiteY51" fmla="*/ 790575 h 2538412"/>
              <a:gd name="connsiteX52" fmla="*/ 539113 w 1667826"/>
              <a:gd name="connsiteY52" fmla="*/ 809625 h 2538412"/>
              <a:gd name="connsiteX53" fmla="*/ 524826 w 1667826"/>
              <a:gd name="connsiteY53" fmla="*/ 819150 h 2538412"/>
              <a:gd name="connsiteX54" fmla="*/ 505776 w 1667826"/>
              <a:gd name="connsiteY54" fmla="*/ 823912 h 2538412"/>
              <a:gd name="connsiteX55" fmla="*/ 491488 w 1667826"/>
              <a:gd name="connsiteY55" fmla="*/ 828675 h 2538412"/>
              <a:gd name="connsiteX56" fmla="*/ 453388 w 1667826"/>
              <a:gd name="connsiteY56" fmla="*/ 838200 h 2538412"/>
              <a:gd name="connsiteX57" fmla="*/ 439101 w 1667826"/>
              <a:gd name="connsiteY57" fmla="*/ 847725 h 2538412"/>
              <a:gd name="connsiteX58" fmla="*/ 420051 w 1667826"/>
              <a:gd name="connsiteY58" fmla="*/ 852487 h 2538412"/>
              <a:gd name="connsiteX59" fmla="*/ 391476 w 1667826"/>
              <a:gd name="connsiteY59" fmla="*/ 862012 h 2538412"/>
              <a:gd name="connsiteX60" fmla="*/ 377188 w 1667826"/>
              <a:gd name="connsiteY60" fmla="*/ 866775 h 2538412"/>
              <a:gd name="connsiteX61" fmla="*/ 329563 w 1667826"/>
              <a:gd name="connsiteY61" fmla="*/ 890587 h 2538412"/>
              <a:gd name="connsiteX62" fmla="*/ 286701 w 1667826"/>
              <a:gd name="connsiteY62" fmla="*/ 909637 h 2538412"/>
              <a:gd name="connsiteX63" fmla="*/ 272413 w 1667826"/>
              <a:gd name="connsiteY63" fmla="*/ 914400 h 2538412"/>
              <a:gd name="connsiteX64" fmla="*/ 243838 w 1667826"/>
              <a:gd name="connsiteY64" fmla="*/ 933450 h 2538412"/>
              <a:gd name="connsiteX65" fmla="*/ 220026 w 1667826"/>
              <a:gd name="connsiteY65" fmla="*/ 952500 h 2538412"/>
              <a:gd name="connsiteX66" fmla="*/ 191451 w 1667826"/>
              <a:gd name="connsiteY66" fmla="*/ 971550 h 2538412"/>
              <a:gd name="connsiteX67" fmla="*/ 177163 w 1667826"/>
              <a:gd name="connsiteY67" fmla="*/ 981075 h 2538412"/>
              <a:gd name="connsiteX68" fmla="*/ 148588 w 1667826"/>
              <a:gd name="connsiteY68" fmla="*/ 990600 h 2538412"/>
              <a:gd name="connsiteX69" fmla="*/ 134301 w 1667826"/>
              <a:gd name="connsiteY69" fmla="*/ 1004887 h 2538412"/>
              <a:gd name="connsiteX70" fmla="*/ 120013 w 1667826"/>
              <a:gd name="connsiteY70" fmla="*/ 1009650 h 2538412"/>
              <a:gd name="connsiteX71" fmla="*/ 110488 w 1667826"/>
              <a:gd name="connsiteY71" fmla="*/ 1023937 h 2538412"/>
              <a:gd name="connsiteX72" fmla="*/ 96201 w 1667826"/>
              <a:gd name="connsiteY72" fmla="*/ 1033462 h 2538412"/>
              <a:gd name="connsiteX73" fmla="*/ 77151 w 1667826"/>
              <a:gd name="connsiteY73" fmla="*/ 1062037 h 2538412"/>
              <a:gd name="connsiteX74" fmla="*/ 67626 w 1667826"/>
              <a:gd name="connsiteY74" fmla="*/ 1076325 h 2538412"/>
              <a:gd name="connsiteX75" fmla="*/ 53338 w 1667826"/>
              <a:gd name="connsiteY75" fmla="*/ 1085850 h 2538412"/>
              <a:gd name="connsiteX76" fmla="*/ 34288 w 1667826"/>
              <a:gd name="connsiteY76" fmla="*/ 1128712 h 2538412"/>
              <a:gd name="connsiteX77" fmla="*/ 15238 w 1667826"/>
              <a:gd name="connsiteY77" fmla="*/ 1185862 h 2538412"/>
              <a:gd name="connsiteX78" fmla="*/ 10476 w 1667826"/>
              <a:gd name="connsiteY78" fmla="*/ 1200150 h 2538412"/>
              <a:gd name="connsiteX79" fmla="*/ 5713 w 1667826"/>
              <a:gd name="connsiteY79" fmla="*/ 1214437 h 2538412"/>
              <a:gd name="connsiteX80" fmla="*/ 5713 w 1667826"/>
              <a:gd name="connsiteY80" fmla="*/ 1314450 h 2538412"/>
              <a:gd name="connsiteX81" fmla="*/ 20001 w 1667826"/>
              <a:gd name="connsiteY81" fmla="*/ 1347787 h 2538412"/>
              <a:gd name="connsiteX82" fmla="*/ 34288 w 1667826"/>
              <a:gd name="connsiteY82" fmla="*/ 1352550 h 2538412"/>
              <a:gd name="connsiteX83" fmla="*/ 43813 w 1667826"/>
              <a:gd name="connsiteY83" fmla="*/ 1381125 h 2538412"/>
              <a:gd name="connsiteX84" fmla="*/ 58101 w 1667826"/>
              <a:gd name="connsiteY84" fmla="*/ 1409700 h 2538412"/>
              <a:gd name="connsiteX85" fmla="*/ 72388 w 1667826"/>
              <a:gd name="connsiteY85" fmla="*/ 1490662 h 2538412"/>
              <a:gd name="connsiteX86" fmla="*/ 86676 w 1667826"/>
              <a:gd name="connsiteY86" fmla="*/ 1495425 h 2538412"/>
              <a:gd name="connsiteX87" fmla="*/ 120013 w 1667826"/>
              <a:gd name="connsiteY87" fmla="*/ 1538287 h 2538412"/>
              <a:gd name="connsiteX88" fmla="*/ 129538 w 1667826"/>
              <a:gd name="connsiteY88" fmla="*/ 1552575 h 2538412"/>
              <a:gd name="connsiteX89" fmla="*/ 158113 w 1667826"/>
              <a:gd name="connsiteY89" fmla="*/ 1566862 h 2538412"/>
              <a:gd name="connsiteX90" fmla="*/ 167638 w 1667826"/>
              <a:gd name="connsiteY90" fmla="*/ 1581150 h 2538412"/>
              <a:gd name="connsiteX91" fmla="*/ 181926 w 1667826"/>
              <a:gd name="connsiteY91" fmla="*/ 1585912 h 2538412"/>
              <a:gd name="connsiteX92" fmla="*/ 210501 w 1667826"/>
              <a:gd name="connsiteY92" fmla="*/ 1600200 h 2538412"/>
              <a:gd name="connsiteX93" fmla="*/ 220026 w 1667826"/>
              <a:gd name="connsiteY93" fmla="*/ 1614487 h 2538412"/>
              <a:gd name="connsiteX94" fmla="*/ 234313 w 1667826"/>
              <a:gd name="connsiteY94" fmla="*/ 1619250 h 2538412"/>
              <a:gd name="connsiteX95" fmla="*/ 262888 w 1667826"/>
              <a:gd name="connsiteY95" fmla="*/ 1633537 h 2538412"/>
              <a:gd name="connsiteX96" fmla="*/ 291463 w 1667826"/>
              <a:gd name="connsiteY96" fmla="*/ 1657350 h 2538412"/>
              <a:gd name="connsiteX97" fmla="*/ 334326 w 1667826"/>
              <a:gd name="connsiteY97" fmla="*/ 1685925 h 2538412"/>
              <a:gd name="connsiteX98" fmla="*/ 348613 w 1667826"/>
              <a:gd name="connsiteY98" fmla="*/ 1695450 h 2538412"/>
              <a:gd name="connsiteX99" fmla="*/ 362901 w 1667826"/>
              <a:gd name="connsiteY99" fmla="*/ 1709737 h 2538412"/>
              <a:gd name="connsiteX100" fmla="*/ 377188 w 1667826"/>
              <a:gd name="connsiteY100" fmla="*/ 1714500 h 2538412"/>
              <a:gd name="connsiteX101" fmla="*/ 396238 w 1667826"/>
              <a:gd name="connsiteY101" fmla="*/ 1724025 h 2538412"/>
              <a:gd name="connsiteX102" fmla="*/ 410526 w 1667826"/>
              <a:gd name="connsiteY102" fmla="*/ 1738312 h 2538412"/>
              <a:gd name="connsiteX103" fmla="*/ 429576 w 1667826"/>
              <a:gd name="connsiteY103" fmla="*/ 1781175 h 2538412"/>
              <a:gd name="connsiteX104" fmla="*/ 439101 w 1667826"/>
              <a:gd name="connsiteY104" fmla="*/ 1800225 h 2538412"/>
              <a:gd name="connsiteX105" fmla="*/ 453388 w 1667826"/>
              <a:gd name="connsiteY105" fmla="*/ 1809750 h 2538412"/>
              <a:gd name="connsiteX106" fmla="*/ 491488 w 1667826"/>
              <a:gd name="connsiteY106" fmla="*/ 1833562 h 2538412"/>
              <a:gd name="connsiteX107" fmla="*/ 510538 w 1667826"/>
              <a:gd name="connsiteY107" fmla="*/ 1862137 h 2538412"/>
              <a:gd name="connsiteX108" fmla="*/ 515301 w 1667826"/>
              <a:gd name="connsiteY108" fmla="*/ 1876425 h 2538412"/>
              <a:gd name="connsiteX109" fmla="*/ 534351 w 1667826"/>
              <a:gd name="connsiteY109" fmla="*/ 1895475 h 2538412"/>
              <a:gd name="connsiteX110" fmla="*/ 562926 w 1667826"/>
              <a:gd name="connsiteY110" fmla="*/ 1928812 h 2538412"/>
              <a:gd name="connsiteX111" fmla="*/ 567688 w 1667826"/>
              <a:gd name="connsiteY111" fmla="*/ 1943100 h 2538412"/>
              <a:gd name="connsiteX112" fmla="*/ 591501 w 1667826"/>
              <a:gd name="connsiteY112" fmla="*/ 1971675 h 2538412"/>
              <a:gd name="connsiteX113" fmla="*/ 605788 w 1667826"/>
              <a:gd name="connsiteY113" fmla="*/ 2000250 h 2538412"/>
              <a:gd name="connsiteX114" fmla="*/ 624838 w 1667826"/>
              <a:gd name="connsiteY114" fmla="*/ 2005012 h 2538412"/>
              <a:gd name="connsiteX115" fmla="*/ 639126 w 1667826"/>
              <a:gd name="connsiteY115" fmla="*/ 2014537 h 2538412"/>
              <a:gd name="connsiteX116" fmla="*/ 667701 w 1667826"/>
              <a:gd name="connsiteY116" fmla="*/ 2024062 h 2538412"/>
              <a:gd name="connsiteX117" fmla="*/ 705801 w 1667826"/>
              <a:gd name="connsiteY117" fmla="*/ 2057400 h 2538412"/>
              <a:gd name="connsiteX118" fmla="*/ 720088 w 1667826"/>
              <a:gd name="connsiteY118" fmla="*/ 2066925 h 2538412"/>
              <a:gd name="connsiteX119" fmla="*/ 734376 w 1667826"/>
              <a:gd name="connsiteY119" fmla="*/ 2076450 h 2538412"/>
              <a:gd name="connsiteX120" fmla="*/ 743901 w 1667826"/>
              <a:gd name="connsiteY120" fmla="*/ 2090737 h 2538412"/>
              <a:gd name="connsiteX121" fmla="*/ 786763 w 1667826"/>
              <a:gd name="connsiteY121" fmla="*/ 2105025 h 2538412"/>
              <a:gd name="connsiteX122" fmla="*/ 801051 w 1667826"/>
              <a:gd name="connsiteY122" fmla="*/ 2114550 h 2538412"/>
              <a:gd name="connsiteX123" fmla="*/ 824863 w 1667826"/>
              <a:gd name="connsiteY123" fmla="*/ 2138362 h 2538412"/>
              <a:gd name="connsiteX124" fmla="*/ 853438 w 1667826"/>
              <a:gd name="connsiteY124" fmla="*/ 2143125 h 2538412"/>
              <a:gd name="connsiteX125" fmla="*/ 896301 w 1667826"/>
              <a:gd name="connsiteY125" fmla="*/ 2176462 h 2538412"/>
              <a:gd name="connsiteX126" fmla="*/ 915351 w 1667826"/>
              <a:gd name="connsiteY126" fmla="*/ 2205037 h 2538412"/>
              <a:gd name="connsiteX127" fmla="*/ 924876 w 1667826"/>
              <a:gd name="connsiteY127" fmla="*/ 2219325 h 2538412"/>
              <a:gd name="connsiteX128" fmla="*/ 929638 w 1667826"/>
              <a:gd name="connsiteY128" fmla="*/ 2233612 h 2538412"/>
              <a:gd name="connsiteX129" fmla="*/ 948688 w 1667826"/>
              <a:gd name="connsiteY129" fmla="*/ 2262187 h 2538412"/>
              <a:gd name="connsiteX130" fmla="*/ 972501 w 1667826"/>
              <a:gd name="connsiteY130" fmla="*/ 2300287 h 2538412"/>
              <a:gd name="connsiteX131" fmla="*/ 991551 w 1667826"/>
              <a:gd name="connsiteY131" fmla="*/ 2333625 h 2538412"/>
              <a:gd name="connsiteX132" fmla="*/ 1020126 w 1667826"/>
              <a:gd name="connsiteY132" fmla="*/ 2376487 h 2538412"/>
              <a:gd name="connsiteX133" fmla="*/ 1029651 w 1667826"/>
              <a:gd name="connsiteY133" fmla="*/ 2390775 h 2538412"/>
              <a:gd name="connsiteX134" fmla="*/ 1058226 w 1667826"/>
              <a:gd name="connsiteY134" fmla="*/ 2409825 h 2538412"/>
              <a:gd name="connsiteX135" fmla="*/ 1077276 w 1667826"/>
              <a:gd name="connsiteY135" fmla="*/ 2438400 h 2538412"/>
              <a:gd name="connsiteX136" fmla="*/ 1086801 w 1667826"/>
              <a:gd name="connsiteY136" fmla="*/ 2486025 h 2538412"/>
              <a:gd name="connsiteX137" fmla="*/ 1096326 w 1667826"/>
              <a:gd name="connsiteY137" fmla="*/ 2500312 h 2538412"/>
              <a:gd name="connsiteX138" fmla="*/ 1110613 w 1667826"/>
              <a:gd name="connsiteY138" fmla="*/ 2505075 h 2538412"/>
              <a:gd name="connsiteX139" fmla="*/ 1148713 w 1667826"/>
              <a:gd name="connsiteY139" fmla="*/ 2509837 h 2538412"/>
              <a:gd name="connsiteX140" fmla="*/ 1210626 w 1667826"/>
              <a:gd name="connsiteY140" fmla="*/ 2524125 h 2538412"/>
              <a:gd name="connsiteX141" fmla="*/ 1263013 w 1667826"/>
              <a:gd name="connsiteY141" fmla="*/ 2533650 h 2538412"/>
              <a:gd name="connsiteX142" fmla="*/ 1296351 w 1667826"/>
              <a:gd name="connsiteY142" fmla="*/ 2538412 h 2538412"/>
              <a:gd name="connsiteX143" fmla="*/ 1439226 w 1667826"/>
              <a:gd name="connsiteY143" fmla="*/ 2533650 h 2538412"/>
              <a:gd name="connsiteX144" fmla="*/ 1482088 w 1667826"/>
              <a:gd name="connsiteY144" fmla="*/ 2509837 h 2538412"/>
              <a:gd name="connsiteX145" fmla="*/ 1496376 w 1667826"/>
              <a:gd name="connsiteY145" fmla="*/ 2500312 h 2538412"/>
              <a:gd name="connsiteX146" fmla="*/ 1505901 w 1667826"/>
              <a:gd name="connsiteY146" fmla="*/ 2486025 h 2538412"/>
              <a:gd name="connsiteX147" fmla="*/ 1534476 w 1667826"/>
              <a:gd name="connsiteY147" fmla="*/ 2466975 h 2538412"/>
              <a:gd name="connsiteX148" fmla="*/ 1544001 w 1667826"/>
              <a:gd name="connsiteY148" fmla="*/ 2452687 h 2538412"/>
              <a:gd name="connsiteX149" fmla="*/ 1558288 w 1667826"/>
              <a:gd name="connsiteY149" fmla="*/ 2443162 h 2538412"/>
              <a:gd name="connsiteX150" fmla="*/ 1577338 w 1667826"/>
              <a:gd name="connsiteY150" fmla="*/ 2414587 h 2538412"/>
              <a:gd name="connsiteX151" fmla="*/ 1582101 w 1667826"/>
              <a:gd name="connsiteY151" fmla="*/ 2400300 h 2538412"/>
              <a:gd name="connsiteX152" fmla="*/ 1596388 w 1667826"/>
              <a:gd name="connsiteY152" fmla="*/ 2386012 h 2538412"/>
              <a:gd name="connsiteX153" fmla="*/ 1615438 w 1667826"/>
              <a:gd name="connsiteY153" fmla="*/ 2357437 h 2538412"/>
              <a:gd name="connsiteX154" fmla="*/ 1620201 w 1667826"/>
              <a:gd name="connsiteY154" fmla="*/ 2343150 h 2538412"/>
              <a:gd name="connsiteX155" fmla="*/ 1629726 w 1667826"/>
              <a:gd name="connsiteY155" fmla="*/ 2328862 h 2538412"/>
              <a:gd name="connsiteX156" fmla="*/ 1644013 w 1667826"/>
              <a:gd name="connsiteY156" fmla="*/ 2266950 h 2538412"/>
              <a:gd name="connsiteX157" fmla="*/ 1648776 w 1667826"/>
              <a:gd name="connsiteY157" fmla="*/ 2252662 h 2538412"/>
              <a:gd name="connsiteX158" fmla="*/ 1653538 w 1667826"/>
              <a:gd name="connsiteY158" fmla="*/ 2233612 h 2538412"/>
              <a:gd name="connsiteX159" fmla="*/ 1658301 w 1667826"/>
              <a:gd name="connsiteY159" fmla="*/ 2190750 h 2538412"/>
              <a:gd name="connsiteX160" fmla="*/ 1663063 w 1667826"/>
              <a:gd name="connsiteY160" fmla="*/ 2176462 h 2538412"/>
              <a:gd name="connsiteX161" fmla="*/ 1667826 w 1667826"/>
              <a:gd name="connsiteY161" fmla="*/ 2133600 h 2538412"/>
              <a:gd name="connsiteX162" fmla="*/ 1658301 w 1667826"/>
              <a:gd name="connsiteY162" fmla="*/ 1957387 h 2538412"/>
              <a:gd name="connsiteX163" fmla="*/ 1644013 w 1667826"/>
              <a:gd name="connsiteY163" fmla="*/ 1952625 h 2538412"/>
              <a:gd name="connsiteX164" fmla="*/ 1639251 w 1667826"/>
              <a:gd name="connsiteY164" fmla="*/ 1933575 h 2538412"/>
              <a:gd name="connsiteX165" fmla="*/ 1629726 w 1667826"/>
              <a:gd name="connsiteY165" fmla="*/ 1890712 h 2538412"/>
              <a:gd name="connsiteX166" fmla="*/ 1634488 w 1667826"/>
              <a:gd name="connsiteY166" fmla="*/ 1438275 h 2538412"/>
              <a:gd name="connsiteX167" fmla="*/ 1639251 w 1667826"/>
              <a:gd name="connsiteY167" fmla="*/ 514350 h 2538412"/>
              <a:gd name="connsiteX168" fmla="*/ 1644013 w 1667826"/>
              <a:gd name="connsiteY168" fmla="*/ 500062 h 2538412"/>
              <a:gd name="connsiteX169" fmla="*/ 1644013 w 1667826"/>
              <a:gd name="connsiteY169" fmla="*/ 280987 h 2538412"/>
              <a:gd name="connsiteX170" fmla="*/ 1634488 w 1667826"/>
              <a:gd name="connsiteY170" fmla="*/ 266700 h 2538412"/>
              <a:gd name="connsiteX171" fmla="*/ 1624963 w 1667826"/>
              <a:gd name="connsiteY171" fmla="*/ 238125 h 2538412"/>
              <a:gd name="connsiteX172" fmla="*/ 1615438 w 1667826"/>
              <a:gd name="connsiteY172" fmla="*/ 223837 h 2538412"/>
              <a:gd name="connsiteX173" fmla="*/ 1615438 w 1667826"/>
              <a:gd name="connsiteY173" fmla="*/ 195262 h 253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</a:cxnLst>
            <a:rect l="l" t="t" r="r" b="b"/>
            <a:pathLst>
              <a:path w="1667826" h="2538412">
                <a:moveTo>
                  <a:pt x="1615438" y="195262"/>
                </a:moveTo>
                <a:cubicBezTo>
                  <a:pt x="1613057" y="180181"/>
                  <a:pt x="1620674" y="172395"/>
                  <a:pt x="1601151" y="133350"/>
                </a:cubicBezTo>
                <a:cubicBezTo>
                  <a:pt x="1598906" y="128860"/>
                  <a:pt x="1599524" y="122982"/>
                  <a:pt x="1596388" y="119062"/>
                </a:cubicBezTo>
                <a:cubicBezTo>
                  <a:pt x="1592812" y="114593"/>
                  <a:pt x="1586863" y="112712"/>
                  <a:pt x="1582101" y="109537"/>
                </a:cubicBezTo>
                <a:cubicBezTo>
                  <a:pt x="1580513" y="104775"/>
                  <a:pt x="1580888" y="98800"/>
                  <a:pt x="1577338" y="95250"/>
                </a:cubicBezTo>
                <a:cubicBezTo>
                  <a:pt x="1569243" y="87155"/>
                  <a:pt x="1558288" y="82550"/>
                  <a:pt x="1548763" y="76200"/>
                </a:cubicBezTo>
                <a:lnTo>
                  <a:pt x="1534476" y="66675"/>
                </a:lnTo>
                <a:lnTo>
                  <a:pt x="1491613" y="38100"/>
                </a:lnTo>
                <a:cubicBezTo>
                  <a:pt x="1486851" y="34925"/>
                  <a:pt x="1482756" y="30385"/>
                  <a:pt x="1477326" y="28575"/>
                </a:cubicBezTo>
                <a:lnTo>
                  <a:pt x="1434463" y="14287"/>
                </a:lnTo>
                <a:cubicBezTo>
                  <a:pt x="1429701" y="12700"/>
                  <a:pt x="1425145" y="10235"/>
                  <a:pt x="1420176" y="9525"/>
                </a:cubicBezTo>
                <a:cubicBezTo>
                  <a:pt x="1380358" y="3836"/>
                  <a:pt x="1397728" y="7484"/>
                  <a:pt x="1367788" y="0"/>
                </a:cubicBezTo>
                <a:cubicBezTo>
                  <a:pt x="1353501" y="1587"/>
                  <a:pt x="1339134" y="2576"/>
                  <a:pt x="1324926" y="4762"/>
                </a:cubicBezTo>
                <a:cubicBezTo>
                  <a:pt x="1318457" y="5757"/>
                  <a:pt x="1312399" y="8981"/>
                  <a:pt x="1305876" y="9525"/>
                </a:cubicBezTo>
                <a:cubicBezTo>
                  <a:pt x="1274196" y="12165"/>
                  <a:pt x="1242376" y="12700"/>
                  <a:pt x="1210626" y="14287"/>
                </a:cubicBezTo>
                <a:cubicBezTo>
                  <a:pt x="1205863" y="15875"/>
                  <a:pt x="1201165" y="17671"/>
                  <a:pt x="1196338" y="19050"/>
                </a:cubicBezTo>
                <a:cubicBezTo>
                  <a:pt x="1190044" y="20848"/>
                  <a:pt x="1183557" y="21931"/>
                  <a:pt x="1177288" y="23812"/>
                </a:cubicBezTo>
                <a:cubicBezTo>
                  <a:pt x="1167671" y="26697"/>
                  <a:pt x="1148713" y="33337"/>
                  <a:pt x="1148713" y="33337"/>
                </a:cubicBezTo>
                <a:cubicBezTo>
                  <a:pt x="1139188" y="39687"/>
                  <a:pt x="1126488" y="42862"/>
                  <a:pt x="1120138" y="52387"/>
                </a:cubicBezTo>
                <a:cubicBezTo>
                  <a:pt x="1107438" y="71437"/>
                  <a:pt x="1115376" y="63500"/>
                  <a:pt x="1096326" y="76200"/>
                </a:cubicBezTo>
                <a:lnTo>
                  <a:pt x="1077276" y="104775"/>
                </a:lnTo>
                <a:cubicBezTo>
                  <a:pt x="1074101" y="109537"/>
                  <a:pt x="1071798" y="115015"/>
                  <a:pt x="1067751" y="119062"/>
                </a:cubicBezTo>
                <a:cubicBezTo>
                  <a:pt x="1058226" y="128587"/>
                  <a:pt x="1046648" y="136429"/>
                  <a:pt x="1039176" y="147637"/>
                </a:cubicBezTo>
                <a:cubicBezTo>
                  <a:pt x="1016390" y="181816"/>
                  <a:pt x="1028221" y="168117"/>
                  <a:pt x="1005838" y="190500"/>
                </a:cubicBezTo>
                <a:cubicBezTo>
                  <a:pt x="994503" y="224505"/>
                  <a:pt x="1001882" y="210721"/>
                  <a:pt x="986788" y="233362"/>
                </a:cubicBezTo>
                <a:lnTo>
                  <a:pt x="977263" y="261937"/>
                </a:lnTo>
                <a:cubicBezTo>
                  <a:pt x="975676" y="266700"/>
                  <a:pt x="975286" y="272048"/>
                  <a:pt x="972501" y="276225"/>
                </a:cubicBezTo>
                <a:lnTo>
                  <a:pt x="953451" y="304800"/>
                </a:lnTo>
                <a:cubicBezTo>
                  <a:pt x="950276" y="309562"/>
                  <a:pt x="948688" y="315912"/>
                  <a:pt x="943926" y="319087"/>
                </a:cubicBezTo>
                <a:lnTo>
                  <a:pt x="929638" y="328612"/>
                </a:lnTo>
                <a:cubicBezTo>
                  <a:pt x="918315" y="362586"/>
                  <a:pt x="934371" y="321512"/>
                  <a:pt x="910588" y="357187"/>
                </a:cubicBezTo>
                <a:cubicBezTo>
                  <a:pt x="907803" y="361364"/>
                  <a:pt x="908071" y="366985"/>
                  <a:pt x="905826" y="371475"/>
                </a:cubicBezTo>
                <a:cubicBezTo>
                  <a:pt x="903266" y="376594"/>
                  <a:pt x="898861" y="380643"/>
                  <a:pt x="896301" y="385762"/>
                </a:cubicBezTo>
                <a:cubicBezTo>
                  <a:pt x="894056" y="390252"/>
                  <a:pt x="893976" y="395661"/>
                  <a:pt x="891538" y="400050"/>
                </a:cubicBezTo>
                <a:cubicBezTo>
                  <a:pt x="867462" y="443387"/>
                  <a:pt x="881342" y="415142"/>
                  <a:pt x="858201" y="442912"/>
                </a:cubicBezTo>
                <a:cubicBezTo>
                  <a:pt x="854537" y="447309"/>
                  <a:pt x="852340" y="452803"/>
                  <a:pt x="848676" y="457200"/>
                </a:cubicBezTo>
                <a:cubicBezTo>
                  <a:pt x="844364" y="462374"/>
                  <a:pt x="838700" y="466313"/>
                  <a:pt x="834388" y="471487"/>
                </a:cubicBezTo>
                <a:cubicBezTo>
                  <a:pt x="824410" y="483460"/>
                  <a:pt x="823100" y="490854"/>
                  <a:pt x="815338" y="504825"/>
                </a:cubicBezTo>
                <a:cubicBezTo>
                  <a:pt x="810843" y="512917"/>
                  <a:pt x="807075" y="521609"/>
                  <a:pt x="801051" y="528637"/>
                </a:cubicBezTo>
                <a:cubicBezTo>
                  <a:pt x="797326" y="532983"/>
                  <a:pt x="791526" y="534987"/>
                  <a:pt x="786763" y="538162"/>
                </a:cubicBezTo>
                <a:lnTo>
                  <a:pt x="758188" y="581025"/>
                </a:lnTo>
                <a:lnTo>
                  <a:pt x="748663" y="595312"/>
                </a:lnTo>
                <a:lnTo>
                  <a:pt x="739138" y="623887"/>
                </a:lnTo>
                <a:cubicBezTo>
                  <a:pt x="737551" y="628650"/>
                  <a:pt x="737161" y="633998"/>
                  <a:pt x="734376" y="638175"/>
                </a:cubicBezTo>
                <a:cubicBezTo>
                  <a:pt x="728026" y="647700"/>
                  <a:pt x="723421" y="658656"/>
                  <a:pt x="715326" y="666750"/>
                </a:cubicBezTo>
                <a:cubicBezTo>
                  <a:pt x="710563" y="671512"/>
                  <a:pt x="705173" y="675721"/>
                  <a:pt x="701038" y="681037"/>
                </a:cubicBezTo>
                <a:cubicBezTo>
                  <a:pt x="674289" y="715427"/>
                  <a:pt x="695003" y="705273"/>
                  <a:pt x="667701" y="714375"/>
                </a:cubicBezTo>
                <a:cubicBezTo>
                  <a:pt x="662938" y="719137"/>
                  <a:pt x="658729" y="724527"/>
                  <a:pt x="653413" y="728662"/>
                </a:cubicBezTo>
                <a:cubicBezTo>
                  <a:pt x="644377" y="735690"/>
                  <a:pt x="632932" y="739617"/>
                  <a:pt x="624838" y="747712"/>
                </a:cubicBezTo>
                <a:cubicBezTo>
                  <a:pt x="620076" y="752475"/>
                  <a:pt x="615867" y="757865"/>
                  <a:pt x="610551" y="762000"/>
                </a:cubicBezTo>
                <a:cubicBezTo>
                  <a:pt x="601515" y="769028"/>
                  <a:pt x="591501" y="774700"/>
                  <a:pt x="581976" y="781050"/>
                </a:cubicBezTo>
                <a:cubicBezTo>
                  <a:pt x="577213" y="784225"/>
                  <a:pt x="571735" y="786528"/>
                  <a:pt x="567688" y="790575"/>
                </a:cubicBezTo>
                <a:cubicBezTo>
                  <a:pt x="540605" y="817658"/>
                  <a:pt x="566683" y="795840"/>
                  <a:pt x="539113" y="809625"/>
                </a:cubicBezTo>
                <a:cubicBezTo>
                  <a:pt x="533994" y="812185"/>
                  <a:pt x="530087" y="816895"/>
                  <a:pt x="524826" y="819150"/>
                </a:cubicBezTo>
                <a:cubicBezTo>
                  <a:pt x="518810" y="821728"/>
                  <a:pt x="512070" y="822114"/>
                  <a:pt x="505776" y="823912"/>
                </a:cubicBezTo>
                <a:cubicBezTo>
                  <a:pt x="500949" y="825291"/>
                  <a:pt x="496331" y="827354"/>
                  <a:pt x="491488" y="828675"/>
                </a:cubicBezTo>
                <a:cubicBezTo>
                  <a:pt x="478858" y="832120"/>
                  <a:pt x="453388" y="838200"/>
                  <a:pt x="453388" y="838200"/>
                </a:cubicBezTo>
                <a:cubicBezTo>
                  <a:pt x="448626" y="841375"/>
                  <a:pt x="444362" y="845470"/>
                  <a:pt x="439101" y="847725"/>
                </a:cubicBezTo>
                <a:cubicBezTo>
                  <a:pt x="433085" y="850303"/>
                  <a:pt x="426320" y="850606"/>
                  <a:pt x="420051" y="852487"/>
                </a:cubicBezTo>
                <a:cubicBezTo>
                  <a:pt x="410434" y="855372"/>
                  <a:pt x="401001" y="858837"/>
                  <a:pt x="391476" y="862012"/>
                </a:cubicBezTo>
                <a:cubicBezTo>
                  <a:pt x="386713" y="863600"/>
                  <a:pt x="381365" y="863990"/>
                  <a:pt x="377188" y="866775"/>
                </a:cubicBezTo>
                <a:cubicBezTo>
                  <a:pt x="343167" y="889456"/>
                  <a:pt x="359719" y="883049"/>
                  <a:pt x="329563" y="890587"/>
                </a:cubicBezTo>
                <a:cubicBezTo>
                  <a:pt x="306922" y="905682"/>
                  <a:pt x="320707" y="898301"/>
                  <a:pt x="286701" y="909637"/>
                </a:cubicBezTo>
                <a:cubicBezTo>
                  <a:pt x="281938" y="911225"/>
                  <a:pt x="276590" y="911615"/>
                  <a:pt x="272413" y="914400"/>
                </a:cubicBezTo>
                <a:lnTo>
                  <a:pt x="243838" y="933450"/>
                </a:lnTo>
                <a:cubicBezTo>
                  <a:pt x="226239" y="959847"/>
                  <a:pt x="244382" y="938969"/>
                  <a:pt x="220026" y="952500"/>
                </a:cubicBezTo>
                <a:cubicBezTo>
                  <a:pt x="210019" y="958060"/>
                  <a:pt x="200976" y="965200"/>
                  <a:pt x="191451" y="971550"/>
                </a:cubicBezTo>
                <a:cubicBezTo>
                  <a:pt x="186688" y="974725"/>
                  <a:pt x="182593" y="979265"/>
                  <a:pt x="177163" y="981075"/>
                </a:cubicBezTo>
                <a:lnTo>
                  <a:pt x="148588" y="990600"/>
                </a:lnTo>
                <a:cubicBezTo>
                  <a:pt x="143826" y="995362"/>
                  <a:pt x="139905" y="1001151"/>
                  <a:pt x="134301" y="1004887"/>
                </a:cubicBezTo>
                <a:cubicBezTo>
                  <a:pt x="130124" y="1007672"/>
                  <a:pt x="123933" y="1006514"/>
                  <a:pt x="120013" y="1009650"/>
                </a:cubicBezTo>
                <a:cubicBezTo>
                  <a:pt x="115544" y="1013226"/>
                  <a:pt x="114535" y="1019890"/>
                  <a:pt x="110488" y="1023937"/>
                </a:cubicBezTo>
                <a:cubicBezTo>
                  <a:pt x="106441" y="1027984"/>
                  <a:pt x="100963" y="1030287"/>
                  <a:pt x="96201" y="1033462"/>
                </a:cubicBezTo>
                <a:lnTo>
                  <a:pt x="77151" y="1062037"/>
                </a:lnTo>
                <a:cubicBezTo>
                  <a:pt x="73976" y="1066800"/>
                  <a:pt x="72389" y="1073150"/>
                  <a:pt x="67626" y="1076325"/>
                </a:cubicBezTo>
                <a:lnTo>
                  <a:pt x="53338" y="1085850"/>
                </a:lnTo>
                <a:cubicBezTo>
                  <a:pt x="42003" y="1119855"/>
                  <a:pt x="49382" y="1106071"/>
                  <a:pt x="34288" y="1128712"/>
                </a:cubicBezTo>
                <a:lnTo>
                  <a:pt x="15238" y="1185862"/>
                </a:lnTo>
                <a:lnTo>
                  <a:pt x="10476" y="1200150"/>
                </a:lnTo>
                <a:lnTo>
                  <a:pt x="5713" y="1214437"/>
                </a:lnTo>
                <a:cubicBezTo>
                  <a:pt x="-2196" y="1261896"/>
                  <a:pt x="-1609" y="1244887"/>
                  <a:pt x="5713" y="1314450"/>
                </a:cubicBezTo>
                <a:cubicBezTo>
                  <a:pt x="6765" y="1324443"/>
                  <a:pt x="11304" y="1340830"/>
                  <a:pt x="20001" y="1347787"/>
                </a:cubicBezTo>
                <a:cubicBezTo>
                  <a:pt x="23921" y="1350923"/>
                  <a:pt x="29526" y="1350962"/>
                  <a:pt x="34288" y="1352550"/>
                </a:cubicBezTo>
                <a:cubicBezTo>
                  <a:pt x="37463" y="1362075"/>
                  <a:pt x="38244" y="1372771"/>
                  <a:pt x="43813" y="1381125"/>
                </a:cubicBezTo>
                <a:cubicBezTo>
                  <a:pt x="56123" y="1399589"/>
                  <a:pt x="51528" y="1389982"/>
                  <a:pt x="58101" y="1409700"/>
                </a:cubicBezTo>
                <a:cubicBezTo>
                  <a:pt x="58754" y="1418837"/>
                  <a:pt x="51663" y="1474083"/>
                  <a:pt x="72388" y="1490662"/>
                </a:cubicBezTo>
                <a:cubicBezTo>
                  <a:pt x="76308" y="1493798"/>
                  <a:pt x="81913" y="1493837"/>
                  <a:pt x="86676" y="1495425"/>
                </a:cubicBezTo>
                <a:cubicBezTo>
                  <a:pt x="134829" y="1567655"/>
                  <a:pt x="82707" y="1493519"/>
                  <a:pt x="120013" y="1538287"/>
                </a:cubicBezTo>
                <a:cubicBezTo>
                  <a:pt x="123677" y="1542684"/>
                  <a:pt x="125491" y="1548528"/>
                  <a:pt x="129538" y="1552575"/>
                </a:cubicBezTo>
                <a:cubicBezTo>
                  <a:pt x="138770" y="1561807"/>
                  <a:pt x="146493" y="1562989"/>
                  <a:pt x="158113" y="1566862"/>
                </a:cubicBezTo>
                <a:cubicBezTo>
                  <a:pt x="161288" y="1571625"/>
                  <a:pt x="163168" y="1577574"/>
                  <a:pt x="167638" y="1581150"/>
                </a:cubicBezTo>
                <a:cubicBezTo>
                  <a:pt x="171558" y="1584286"/>
                  <a:pt x="177436" y="1583667"/>
                  <a:pt x="181926" y="1585912"/>
                </a:cubicBezTo>
                <a:cubicBezTo>
                  <a:pt x="218863" y="1604380"/>
                  <a:pt x="174580" y="1588225"/>
                  <a:pt x="210501" y="1600200"/>
                </a:cubicBezTo>
                <a:cubicBezTo>
                  <a:pt x="213676" y="1604962"/>
                  <a:pt x="215557" y="1610911"/>
                  <a:pt x="220026" y="1614487"/>
                </a:cubicBezTo>
                <a:cubicBezTo>
                  <a:pt x="223946" y="1617623"/>
                  <a:pt x="229823" y="1617005"/>
                  <a:pt x="234313" y="1619250"/>
                </a:cubicBezTo>
                <a:cubicBezTo>
                  <a:pt x="271234" y="1637711"/>
                  <a:pt x="226985" y="1621570"/>
                  <a:pt x="262888" y="1633537"/>
                </a:cubicBezTo>
                <a:cubicBezTo>
                  <a:pt x="313938" y="1667569"/>
                  <a:pt x="236467" y="1614574"/>
                  <a:pt x="291463" y="1657350"/>
                </a:cubicBezTo>
                <a:cubicBezTo>
                  <a:pt x="291473" y="1657358"/>
                  <a:pt x="327177" y="1681159"/>
                  <a:pt x="334326" y="1685925"/>
                </a:cubicBezTo>
                <a:cubicBezTo>
                  <a:pt x="339088" y="1689100"/>
                  <a:pt x="344566" y="1691403"/>
                  <a:pt x="348613" y="1695450"/>
                </a:cubicBezTo>
                <a:cubicBezTo>
                  <a:pt x="353376" y="1700212"/>
                  <a:pt x="357297" y="1706001"/>
                  <a:pt x="362901" y="1709737"/>
                </a:cubicBezTo>
                <a:cubicBezTo>
                  <a:pt x="367078" y="1712522"/>
                  <a:pt x="372574" y="1712522"/>
                  <a:pt x="377188" y="1714500"/>
                </a:cubicBezTo>
                <a:cubicBezTo>
                  <a:pt x="383713" y="1717297"/>
                  <a:pt x="390461" y="1719899"/>
                  <a:pt x="396238" y="1724025"/>
                </a:cubicBezTo>
                <a:cubicBezTo>
                  <a:pt x="401719" y="1727940"/>
                  <a:pt x="405763" y="1733550"/>
                  <a:pt x="410526" y="1738312"/>
                </a:cubicBezTo>
                <a:cubicBezTo>
                  <a:pt x="418289" y="1769369"/>
                  <a:pt x="410851" y="1747469"/>
                  <a:pt x="429576" y="1781175"/>
                </a:cubicBezTo>
                <a:cubicBezTo>
                  <a:pt x="433024" y="1787381"/>
                  <a:pt x="434556" y="1794771"/>
                  <a:pt x="439101" y="1800225"/>
                </a:cubicBezTo>
                <a:cubicBezTo>
                  <a:pt x="442765" y="1804622"/>
                  <a:pt x="448809" y="1806316"/>
                  <a:pt x="453388" y="1809750"/>
                </a:cubicBezTo>
                <a:cubicBezTo>
                  <a:pt x="484448" y="1833045"/>
                  <a:pt x="465915" y="1825038"/>
                  <a:pt x="491488" y="1833562"/>
                </a:cubicBezTo>
                <a:cubicBezTo>
                  <a:pt x="497838" y="1843087"/>
                  <a:pt x="506918" y="1851277"/>
                  <a:pt x="510538" y="1862137"/>
                </a:cubicBezTo>
                <a:cubicBezTo>
                  <a:pt x="512126" y="1866900"/>
                  <a:pt x="512383" y="1872340"/>
                  <a:pt x="515301" y="1876425"/>
                </a:cubicBezTo>
                <a:cubicBezTo>
                  <a:pt x="520521" y="1883733"/>
                  <a:pt x="528438" y="1888717"/>
                  <a:pt x="534351" y="1895475"/>
                </a:cubicBezTo>
                <a:cubicBezTo>
                  <a:pt x="577105" y="1944338"/>
                  <a:pt x="522299" y="1888187"/>
                  <a:pt x="562926" y="1928812"/>
                </a:cubicBezTo>
                <a:cubicBezTo>
                  <a:pt x="564513" y="1933575"/>
                  <a:pt x="565443" y="1938610"/>
                  <a:pt x="567688" y="1943100"/>
                </a:cubicBezTo>
                <a:cubicBezTo>
                  <a:pt x="574317" y="1956359"/>
                  <a:pt x="580970" y="1961144"/>
                  <a:pt x="591501" y="1971675"/>
                </a:cubicBezTo>
                <a:cubicBezTo>
                  <a:pt x="594218" y="1979825"/>
                  <a:pt x="597875" y="1994974"/>
                  <a:pt x="605788" y="2000250"/>
                </a:cubicBezTo>
                <a:cubicBezTo>
                  <a:pt x="611234" y="2003881"/>
                  <a:pt x="618488" y="2003425"/>
                  <a:pt x="624838" y="2005012"/>
                </a:cubicBezTo>
                <a:cubicBezTo>
                  <a:pt x="629601" y="2008187"/>
                  <a:pt x="633895" y="2012212"/>
                  <a:pt x="639126" y="2014537"/>
                </a:cubicBezTo>
                <a:cubicBezTo>
                  <a:pt x="648301" y="2018615"/>
                  <a:pt x="667701" y="2024062"/>
                  <a:pt x="667701" y="2024062"/>
                </a:cubicBezTo>
                <a:cubicBezTo>
                  <a:pt x="683576" y="2047875"/>
                  <a:pt x="672463" y="2035174"/>
                  <a:pt x="705801" y="2057400"/>
                </a:cubicBezTo>
                <a:lnTo>
                  <a:pt x="720088" y="2066925"/>
                </a:lnTo>
                <a:lnTo>
                  <a:pt x="734376" y="2076450"/>
                </a:lnTo>
                <a:cubicBezTo>
                  <a:pt x="737551" y="2081212"/>
                  <a:pt x="739504" y="2087073"/>
                  <a:pt x="743901" y="2090737"/>
                </a:cubicBezTo>
                <a:cubicBezTo>
                  <a:pt x="756354" y="2101114"/>
                  <a:pt x="771766" y="2102025"/>
                  <a:pt x="786763" y="2105025"/>
                </a:cubicBezTo>
                <a:cubicBezTo>
                  <a:pt x="791526" y="2108200"/>
                  <a:pt x="796743" y="2110781"/>
                  <a:pt x="801051" y="2114550"/>
                </a:cubicBezTo>
                <a:cubicBezTo>
                  <a:pt x="809499" y="2121942"/>
                  <a:pt x="815009" y="2132987"/>
                  <a:pt x="824863" y="2138362"/>
                </a:cubicBezTo>
                <a:cubicBezTo>
                  <a:pt x="833340" y="2142986"/>
                  <a:pt x="843913" y="2141537"/>
                  <a:pt x="853438" y="2143125"/>
                </a:cubicBezTo>
                <a:cubicBezTo>
                  <a:pt x="870055" y="2154203"/>
                  <a:pt x="884250" y="2160969"/>
                  <a:pt x="896301" y="2176462"/>
                </a:cubicBezTo>
                <a:cubicBezTo>
                  <a:pt x="903329" y="2185498"/>
                  <a:pt x="909001" y="2195512"/>
                  <a:pt x="915351" y="2205037"/>
                </a:cubicBezTo>
                <a:lnTo>
                  <a:pt x="924876" y="2219325"/>
                </a:lnTo>
                <a:cubicBezTo>
                  <a:pt x="926463" y="2224087"/>
                  <a:pt x="927200" y="2229224"/>
                  <a:pt x="929638" y="2233612"/>
                </a:cubicBezTo>
                <a:cubicBezTo>
                  <a:pt x="935197" y="2243619"/>
                  <a:pt x="945068" y="2251327"/>
                  <a:pt x="948688" y="2262187"/>
                </a:cubicBezTo>
                <a:cubicBezTo>
                  <a:pt x="960023" y="2296192"/>
                  <a:pt x="949859" y="2285193"/>
                  <a:pt x="972501" y="2300287"/>
                </a:cubicBezTo>
                <a:cubicBezTo>
                  <a:pt x="1005457" y="2349722"/>
                  <a:pt x="955289" y="2273188"/>
                  <a:pt x="991551" y="2333625"/>
                </a:cubicBezTo>
                <a:cubicBezTo>
                  <a:pt x="991561" y="2333642"/>
                  <a:pt x="1015358" y="2369335"/>
                  <a:pt x="1020126" y="2376487"/>
                </a:cubicBezTo>
                <a:cubicBezTo>
                  <a:pt x="1023301" y="2381250"/>
                  <a:pt x="1024888" y="2387600"/>
                  <a:pt x="1029651" y="2390775"/>
                </a:cubicBezTo>
                <a:lnTo>
                  <a:pt x="1058226" y="2409825"/>
                </a:lnTo>
                <a:cubicBezTo>
                  <a:pt x="1064576" y="2419350"/>
                  <a:pt x="1075394" y="2427108"/>
                  <a:pt x="1077276" y="2438400"/>
                </a:cubicBezTo>
                <a:cubicBezTo>
                  <a:pt x="1078351" y="2444852"/>
                  <a:pt x="1082924" y="2476980"/>
                  <a:pt x="1086801" y="2486025"/>
                </a:cubicBezTo>
                <a:cubicBezTo>
                  <a:pt x="1089056" y="2491286"/>
                  <a:pt x="1091857" y="2496736"/>
                  <a:pt x="1096326" y="2500312"/>
                </a:cubicBezTo>
                <a:cubicBezTo>
                  <a:pt x="1100246" y="2503448"/>
                  <a:pt x="1105674" y="2504177"/>
                  <a:pt x="1110613" y="2505075"/>
                </a:cubicBezTo>
                <a:cubicBezTo>
                  <a:pt x="1123205" y="2507365"/>
                  <a:pt x="1136013" y="2508250"/>
                  <a:pt x="1148713" y="2509837"/>
                </a:cubicBezTo>
                <a:cubicBezTo>
                  <a:pt x="1187937" y="2522912"/>
                  <a:pt x="1167349" y="2517942"/>
                  <a:pt x="1210626" y="2524125"/>
                </a:cubicBezTo>
                <a:cubicBezTo>
                  <a:pt x="1237758" y="2533168"/>
                  <a:pt x="1218140" y="2527667"/>
                  <a:pt x="1263013" y="2533650"/>
                </a:cubicBezTo>
                <a:lnTo>
                  <a:pt x="1296351" y="2538412"/>
                </a:lnTo>
                <a:cubicBezTo>
                  <a:pt x="1343976" y="2536825"/>
                  <a:pt x="1391662" y="2536533"/>
                  <a:pt x="1439226" y="2533650"/>
                </a:cubicBezTo>
                <a:cubicBezTo>
                  <a:pt x="1453055" y="2532812"/>
                  <a:pt x="1475146" y="2514465"/>
                  <a:pt x="1482088" y="2509837"/>
                </a:cubicBezTo>
                <a:lnTo>
                  <a:pt x="1496376" y="2500312"/>
                </a:lnTo>
                <a:cubicBezTo>
                  <a:pt x="1499551" y="2495550"/>
                  <a:pt x="1501593" y="2489794"/>
                  <a:pt x="1505901" y="2486025"/>
                </a:cubicBezTo>
                <a:cubicBezTo>
                  <a:pt x="1514516" y="2478487"/>
                  <a:pt x="1534476" y="2466975"/>
                  <a:pt x="1534476" y="2466975"/>
                </a:cubicBezTo>
                <a:cubicBezTo>
                  <a:pt x="1537651" y="2462212"/>
                  <a:pt x="1539954" y="2456735"/>
                  <a:pt x="1544001" y="2452687"/>
                </a:cubicBezTo>
                <a:cubicBezTo>
                  <a:pt x="1548048" y="2448640"/>
                  <a:pt x="1554519" y="2447470"/>
                  <a:pt x="1558288" y="2443162"/>
                </a:cubicBezTo>
                <a:cubicBezTo>
                  <a:pt x="1565826" y="2434547"/>
                  <a:pt x="1570988" y="2424112"/>
                  <a:pt x="1577338" y="2414587"/>
                </a:cubicBezTo>
                <a:cubicBezTo>
                  <a:pt x="1580123" y="2410410"/>
                  <a:pt x="1579316" y="2404477"/>
                  <a:pt x="1582101" y="2400300"/>
                </a:cubicBezTo>
                <a:cubicBezTo>
                  <a:pt x="1585837" y="2394696"/>
                  <a:pt x="1591626" y="2390775"/>
                  <a:pt x="1596388" y="2386012"/>
                </a:cubicBezTo>
                <a:cubicBezTo>
                  <a:pt x="1607713" y="2352041"/>
                  <a:pt x="1591655" y="2393111"/>
                  <a:pt x="1615438" y="2357437"/>
                </a:cubicBezTo>
                <a:cubicBezTo>
                  <a:pt x="1618223" y="2353260"/>
                  <a:pt x="1617956" y="2347640"/>
                  <a:pt x="1620201" y="2343150"/>
                </a:cubicBezTo>
                <a:cubicBezTo>
                  <a:pt x="1622761" y="2338030"/>
                  <a:pt x="1626551" y="2333625"/>
                  <a:pt x="1629726" y="2328862"/>
                </a:cubicBezTo>
                <a:cubicBezTo>
                  <a:pt x="1648332" y="2273045"/>
                  <a:pt x="1631647" y="2328778"/>
                  <a:pt x="1644013" y="2266950"/>
                </a:cubicBezTo>
                <a:cubicBezTo>
                  <a:pt x="1644998" y="2262027"/>
                  <a:pt x="1647397" y="2257489"/>
                  <a:pt x="1648776" y="2252662"/>
                </a:cubicBezTo>
                <a:cubicBezTo>
                  <a:pt x="1650574" y="2246368"/>
                  <a:pt x="1651951" y="2239962"/>
                  <a:pt x="1653538" y="2233612"/>
                </a:cubicBezTo>
                <a:cubicBezTo>
                  <a:pt x="1655126" y="2219325"/>
                  <a:pt x="1655938" y="2204930"/>
                  <a:pt x="1658301" y="2190750"/>
                </a:cubicBezTo>
                <a:cubicBezTo>
                  <a:pt x="1659126" y="2185798"/>
                  <a:pt x="1662238" y="2181414"/>
                  <a:pt x="1663063" y="2176462"/>
                </a:cubicBezTo>
                <a:cubicBezTo>
                  <a:pt x="1665426" y="2162282"/>
                  <a:pt x="1666238" y="2147887"/>
                  <a:pt x="1667826" y="2133600"/>
                </a:cubicBezTo>
                <a:cubicBezTo>
                  <a:pt x="1664651" y="2074862"/>
                  <a:pt x="1665975" y="2015708"/>
                  <a:pt x="1658301" y="1957387"/>
                </a:cubicBezTo>
                <a:cubicBezTo>
                  <a:pt x="1657646" y="1952410"/>
                  <a:pt x="1647149" y="1956545"/>
                  <a:pt x="1644013" y="1952625"/>
                </a:cubicBezTo>
                <a:cubicBezTo>
                  <a:pt x="1639924" y="1947514"/>
                  <a:pt x="1640535" y="1939993"/>
                  <a:pt x="1639251" y="1933575"/>
                </a:cubicBezTo>
                <a:cubicBezTo>
                  <a:pt x="1630870" y="1891668"/>
                  <a:pt x="1638993" y="1918518"/>
                  <a:pt x="1629726" y="1890712"/>
                </a:cubicBezTo>
                <a:cubicBezTo>
                  <a:pt x="1631313" y="1739900"/>
                  <a:pt x="1633444" y="1589092"/>
                  <a:pt x="1634488" y="1438275"/>
                </a:cubicBezTo>
                <a:cubicBezTo>
                  <a:pt x="1636619" y="1130303"/>
                  <a:pt x="1636124" y="822313"/>
                  <a:pt x="1639251" y="514350"/>
                </a:cubicBezTo>
                <a:cubicBezTo>
                  <a:pt x="1639302" y="509330"/>
                  <a:pt x="1642426" y="504825"/>
                  <a:pt x="1644013" y="500062"/>
                </a:cubicBezTo>
                <a:cubicBezTo>
                  <a:pt x="1656446" y="413042"/>
                  <a:pt x="1655076" y="435865"/>
                  <a:pt x="1644013" y="280987"/>
                </a:cubicBezTo>
                <a:cubicBezTo>
                  <a:pt x="1643605" y="275278"/>
                  <a:pt x="1637663" y="271462"/>
                  <a:pt x="1634488" y="266700"/>
                </a:cubicBezTo>
                <a:cubicBezTo>
                  <a:pt x="1631313" y="257175"/>
                  <a:pt x="1630532" y="246479"/>
                  <a:pt x="1624963" y="238125"/>
                </a:cubicBezTo>
                <a:cubicBezTo>
                  <a:pt x="1621788" y="233362"/>
                  <a:pt x="1616379" y="229483"/>
                  <a:pt x="1615438" y="223837"/>
                </a:cubicBezTo>
                <a:cubicBezTo>
                  <a:pt x="1613089" y="209744"/>
                  <a:pt x="1617819" y="210343"/>
                  <a:pt x="1615438" y="195262"/>
                </a:cubicBezTo>
                <a:close/>
              </a:path>
            </a:pathLst>
          </a:custGeom>
          <a:solidFill>
            <a:schemeClr val="accent2">
              <a:alpha val="43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293" name="Freeform 29">
            <a:extLst>
              <a:ext uri="{FF2B5EF4-FFF2-40B4-BE49-F238E27FC236}">
                <a16:creationId xmlns:a16="http://schemas.microsoft.com/office/drawing/2014/main" id="{1A43FAB1-E48B-22F9-DF16-9ED4AA587E03}"/>
              </a:ext>
            </a:extLst>
          </p:cNvPr>
          <p:cNvSpPr/>
          <p:nvPr/>
        </p:nvSpPr>
        <p:spPr>
          <a:xfrm>
            <a:off x="6179137" y="1460347"/>
            <a:ext cx="1711494" cy="1645985"/>
          </a:xfrm>
          <a:custGeom>
            <a:avLst/>
            <a:gdLst>
              <a:gd name="connsiteX0" fmla="*/ 39188 w 1711494"/>
              <a:gd name="connsiteY0" fmla="*/ 65314 h 1645985"/>
              <a:gd name="connsiteX1" fmla="*/ 52251 w 1711494"/>
              <a:gd name="connsiteY1" fmla="*/ 313509 h 1645985"/>
              <a:gd name="connsiteX2" fmla="*/ 26126 w 1711494"/>
              <a:gd name="connsiteY2" fmla="*/ 666206 h 1645985"/>
              <a:gd name="connsiteX3" fmla="*/ 0 w 1711494"/>
              <a:gd name="connsiteY3" fmla="*/ 1084217 h 1645985"/>
              <a:gd name="connsiteX4" fmla="*/ 13063 w 1711494"/>
              <a:gd name="connsiteY4" fmla="*/ 1162594 h 1645985"/>
              <a:gd name="connsiteX5" fmla="*/ 52251 w 1711494"/>
              <a:gd name="connsiteY5" fmla="*/ 1463040 h 1645985"/>
              <a:gd name="connsiteX6" fmla="*/ 78377 w 1711494"/>
              <a:gd name="connsiteY6" fmla="*/ 1502229 h 1645985"/>
              <a:gd name="connsiteX7" fmla="*/ 117566 w 1711494"/>
              <a:gd name="connsiteY7" fmla="*/ 1528354 h 1645985"/>
              <a:gd name="connsiteX8" fmla="*/ 143691 w 1711494"/>
              <a:gd name="connsiteY8" fmla="*/ 1567543 h 1645985"/>
              <a:gd name="connsiteX9" fmla="*/ 261257 w 1711494"/>
              <a:gd name="connsiteY9" fmla="*/ 1619794 h 1645985"/>
              <a:gd name="connsiteX10" fmla="*/ 404948 w 1711494"/>
              <a:gd name="connsiteY10" fmla="*/ 1645920 h 1645985"/>
              <a:gd name="connsiteX11" fmla="*/ 953588 w 1711494"/>
              <a:gd name="connsiteY11" fmla="*/ 1632857 h 1645985"/>
              <a:gd name="connsiteX12" fmla="*/ 1593668 w 1711494"/>
              <a:gd name="connsiteY12" fmla="*/ 1632857 h 1645985"/>
              <a:gd name="connsiteX13" fmla="*/ 1645920 w 1711494"/>
              <a:gd name="connsiteY13" fmla="*/ 1554480 h 1645985"/>
              <a:gd name="connsiteX14" fmla="*/ 1658983 w 1711494"/>
              <a:gd name="connsiteY14" fmla="*/ 1515291 h 1645985"/>
              <a:gd name="connsiteX15" fmla="*/ 1698171 w 1711494"/>
              <a:gd name="connsiteY15" fmla="*/ 1436914 h 1645985"/>
              <a:gd name="connsiteX16" fmla="*/ 1711234 w 1711494"/>
              <a:gd name="connsiteY16" fmla="*/ 1319349 h 1645985"/>
              <a:gd name="connsiteX17" fmla="*/ 1672046 w 1711494"/>
              <a:gd name="connsiteY17" fmla="*/ 1149531 h 1645985"/>
              <a:gd name="connsiteX18" fmla="*/ 1632857 w 1711494"/>
              <a:gd name="connsiteY18" fmla="*/ 1123406 h 1645985"/>
              <a:gd name="connsiteX19" fmla="*/ 1619794 w 1711494"/>
              <a:gd name="connsiteY19" fmla="*/ 1084217 h 1645985"/>
              <a:gd name="connsiteX20" fmla="*/ 1580606 w 1711494"/>
              <a:gd name="connsiteY20" fmla="*/ 1045029 h 1645985"/>
              <a:gd name="connsiteX21" fmla="*/ 1489166 w 1711494"/>
              <a:gd name="connsiteY21" fmla="*/ 979714 h 1645985"/>
              <a:gd name="connsiteX22" fmla="*/ 1423851 w 1711494"/>
              <a:gd name="connsiteY22" fmla="*/ 901337 h 1645985"/>
              <a:gd name="connsiteX23" fmla="*/ 1384663 w 1711494"/>
              <a:gd name="connsiteY23" fmla="*/ 875211 h 1645985"/>
              <a:gd name="connsiteX24" fmla="*/ 1306286 w 1711494"/>
              <a:gd name="connsiteY24" fmla="*/ 849086 h 1645985"/>
              <a:gd name="connsiteX25" fmla="*/ 1254034 w 1711494"/>
              <a:gd name="connsiteY25" fmla="*/ 809897 h 1645985"/>
              <a:gd name="connsiteX26" fmla="*/ 1214846 w 1711494"/>
              <a:gd name="connsiteY26" fmla="*/ 783771 h 1645985"/>
              <a:gd name="connsiteX27" fmla="*/ 1175657 w 1711494"/>
              <a:gd name="connsiteY27" fmla="*/ 744583 h 1645985"/>
              <a:gd name="connsiteX28" fmla="*/ 1097280 w 1711494"/>
              <a:gd name="connsiteY28" fmla="*/ 692331 h 1645985"/>
              <a:gd name="connsiteX29" fmla="*/ 1018903 w 1711494"/>
              <a:gd name="connsiteY29" fmla="*/ 613954 h 1645985"/>
              <a:gd name="connsiteX30" fmla="*/ 966651 w 1711494"/>
              <a:gd name="connsiteY30" fmla="*/ 496389 h 1645985"/>
              <a:gd name="connsiteX31" fmla="*/ 927463 w 1711494"/>
              <a:gd name="connsiteY31" fmla="*/ 470263 h 1645985"/>
              <a:gd name="connsiteX32" fmla="*/ 914400 w 1711494"/>
              <a:gd name="connsiteY32" fmla="*/ 418011 h 1645985"/>
              <a:gd name="connsiteX33" fmla="*/ 822960 w 1711494"/>
              <a:gd name="connsiteY33" fmla="*/ 287383 h 1645985"/>
              <a:gd name="connsiteX34" fmla="*/ 770708 w 1711494"/>
              <a:gd name="connsiteY34" fmla="*/ 195943 h 1645985"/>
              <a:gd name="connsiteX35" fmla="*/ 705394 w 1711494"/>
              <a:gd name="connsiteY35" fmla="*/ 143691 h 1645985"/>
              <a:gd name="connsiteX36" fmla="*/ 679268 w 1711494"/>
              <a:gd name="connsiteY36" fmla="*/ 104503 h 1645985"/>
              <a:gd name="connsiteX37" fmla="*/ 600891 w 1711494"/>
              <a:gd name="connsiteY37" fmla="*/ 78377 h 1645985"/>
              <a:gd name="connsiteX38" fmla="*/ 561703 w 1711494"/>
              <a:gd name="connsiteY38" fmla="*/ 52251 h 1645985"/>
              <a:gd name="connsiteX39" fmla="*/ 444137 w 1711494"/>
              <a:gd name="connsiteY39" fmla="*/ 0 h 1645985"/>
              <a:gd name="connsiteX40" fmla="*/ 222068 w 1711494"/>
              <a:gd name="connsiteY40" fmla="*/ 13063 h 1645985"/>
              <a:gd name="connsiteX41" fmla="*/ 65314 w 1711494"/>
              <a:gd name="connsiteY41" fmla="*/ 91440 h 1645985"/>
              <a:gd name="connsiteX42" fmla="*/ 39188 w 1711494"/>
              <a:gd name="connsiteY42" fmla="*/ 65314 h 164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711494" h="1645985">
                <a:moveTo>
                  <a:pt x="39188" y="65314"/>
                </a:moveTo>
                <a:cubicBezTo>
                  <a:pt x="43542" y="148046"/>
                  <a:pt x="54051" y="230682"/>
                  <a:pt x="52251" y="313509"/>
                </a:cubicBezTo>
                <a:cubicBezTo>
                  <a:pt x="49689" y="431369"/>
                  <a:pt x="31733" y="548452"/>
                  <a:pt x="26126" y="666206"/>
                </a:cubicBezTo>
                <a:cubicBezTo>
                  <a:pt x="10775" y="988566"/>
                  <a:pt x="21351" y="849358"/>
                  <a:pt x="0" y="1084217"/>
                </a:cubicBezTo>
                <a:cubicBezTo>
                  <a:pt x="4354" y="1110343"/>
                  <a:pt x="10769" y="1136208"/>
                  <a:pt x="13063" y="1162594"/>
                </a:cubicBezTo>
                <a:cubicBezTo>
                  <a:pt x="15794" y="1194000"/>
                  <a:pt x="7116" y="1395337"/>
                  <a:pt x="52251" y="1463040"/>
                </a:cubicBezTo>
                <a:cubicBezTo>
                  <a:pt x="60960" y="1476103"/>
                  <a:pt x="67275" y="1491128"/>
                  <a:pt x="78377" y="1502229"/>
                </a:cubicBezTo>
                <a:cubicBezTo>
                  <a:pt x="89478" y="1513330"/>
                  <a:pt x="104503" y="1519646"/>
                  <a:pt x="117566" y="1528354"/>
                </a:cubicBezTo>
                <a:cubicBezTo>
                  <a:pt x="126274" y="1541417"/>
                  <a:pt x="132590" y="1556442"/>
                  <a:pt x="143691" y="1567543"/>
                </a:cubicBezTo>
                <a:cubicBezTo>
                  <a:pt x="174742" y="1598595"/>
                  <a:pt x="222453" y="1606860"/>
                  <a:pt x="261257" y="1619794"/>
                </a:cubicBezTo>
                <a:cubicBezTo>
                  <a:pt x="333752" y="1643958"/>
                  <a:pt x="286778" y="1631148"/>
                  <a:pt x="404948" y="1645920"/>
                </a:cubicBezTo>
                <a:cubicBezTo>
                  <a:pt x="587828" y="1641566"/>
                  <a:pt x="770656" y="1632857"/>
                  <a:pt x="953588" y="1632857"/>
                </a:cubicBezTo>
                <a:cubicBezTo>
                  <a:pt x="1687965" y="1632857"/>
                  <a:pt x="1150587" y="1662396"/>
                  <a:pt x="1593668" y="1632857"/>
                </a:cubicBezTo>
                <a:cubicBezTo>
                  <a:pt x="1611085" y="1606731"/>
                  <a:pt x="1635991" y="1584268"/>
                  <a:pt x="1645920" y="1554480"/>
                </a:cubicBezTo>
                <a:cubicBezTo>
                  <a:pt x="1650274" y="1541417"/>
                  <a:pt x="1652825" y="1527607"/>
                  <a:pt x="1658983" y="1515291"/>
                </a:cubicBezTo>
                <a:cubicBezTo>
                  <a:pt x="1709628" y="1414000"/>
                  <a:pt x="1665336" y="1535418"/>
                  <a:pt x="1698171" y="1436914"/>
                </a:cubicBezTo>
                <a:cubicBezTo>
                  <a:pt x="1702525" y="1397726"/>
                  <a:pt x="1711234" y="1358779"/>
                  <a:pt x="1711234" y="1319349"/>
                </a:cubicBezTo>
                <a:cubicBezTo>
                  <a:pt x="1711234" y="1257970"/>
                  <a:pt x="1717197" y="1194682"/>
                  <a:pt x="1672046" y="1149531"/>
                </a:cubicBezTo>
                <a:cubicBezTo>
                  <a:pt x="1660945" y="1138430"/>
                  <a:pt x="1645920" y="1132114"/>
                  <a:pt x="1632857" y="1123406"/>
                </a:cubicBezTo>
                <a:cubicBezTo>
                  <a:pt x="1628503" y="1110343"/>
                  <a:pt x="1627432" y="1095674"/>
                  <a:pt x="1619794" y="1084217"/>
                </a:cubicBezTo>
                <a:cubicBezTo>
                  <a:pt x="1609547" y="1068846"/>
                  <a:pt x="1594798" y="1056855"/>
                  <a:pt x="1580606" y="1045029"/>
                </a:cubicBezTo>
                <a:cubicBezTo>
                  <a:pt x="1536099" y="1007940"/>
                  <a:pt x="1536231" y="1026779"/>
                  <a:pt x="1489166" y="979714"/>
                </a:cubicBezTo>
                <a:cubicBezTo>
                  <a:pt x="1386411" y="876959"/>
                  <a:pt x="1552254" y="1008341"/>
                  <a:pt x="1423851" y="901337"/>
                </a:cubicBezTo>
                <a:cubicBezTo>
                  <a:pt x="1411790" y="891286"/>
                  <a:pt x="1399009" y="881587"/>
                  <a:pt x="1384663" y="875211"/>
                </a:cubicBezTo>
                <a:cubicBezTo>
                  <a:pt x="1359498" y="864026"/>
                  <a:pt x="1306286" y="849086"/>
                  <a:pt x="1306286" y="849086"/>
                </a:cubicBezTo>
                <a:cubicBezTo>
                  <a:pt x="1288869" y="836023"/>
                  <a:pt x="1271750" y="822552"/>
                  <a:pt x="1254034" y="809897"/>
                </a:cubicBezTo>
                <a:cubicBezTo>
                  <a:pt x="1241259" y="800772"/>
                  <a:pt x="1226907" y="793822"/>
                  <a:pt x="1214846" y="783771"/>
                </a:cubicBezTo>
                <a:cubicBezTo>
                  <a:pt x="1200654" y="771944"/>
                  <a:pt x="1190239" y="755925"/>
                  <a:pt x="1175657" y="744583"/>
                </a:cubicBezTo>
                <a:cubicBezTo>
                  <a:pt x="1150872" y="725306"/>
                  <a:pt x="1119483" y="714534"/>
                  <a:pt x="1097280" y="692331"/>
                </a:cubicBezTo>
                <a:lnTo>
                  <a:pt x="1018903" y="613954"/>
                </a:lnTo>
                <a:cubicBezTo>
                  <a:pt x="1005967" y="575148"/>
                  <a:pt x="997703" y="527441"/>
                  <a:pt x="966651" y="496389"/>
                </a:cubicBezTo>
                <a:cubicBezTo>
                  <a:pt x="955550" y="485288"/>
                  <a:pt x="940526" y="478972"/>
                  <a:pt x="927463" y="470263"/>
                </a:cubicBezTo>
                <a:cubicBezTo>
                  <a:pt x="923109" y="452846"/>
                  <a:pt x="922429" y="434069"/>
                  <a:pt x="914400" y="418011"/>
                </a:cubicBezTo>
                <a:cubicBezTo>
                  <a:pt x="898320" y="385851"/>
                  <a:pt x="847534" y="320148"/>
                  <a:pt x="822960" y="287383"/>
                </a:cubicBezTo>
                <a:cubicBezTo>
                  <a:pt x="801814" y="202800"/>
                  <a:pt x="826299" y="262652"/>
                  <a:pt x="770708" y="195943"/>
                </a:cubicBezTo>
                <a:cubicBezTo>
                  <a:pt x="725256" y="141400"/>
                  <a:pt x="769729" y="165136"/>
                  <a:pt x="705394" y="143691"/>
                </a:cubicBezTo>
                <a:cubicBezTo>
                  <a:pt x="696685" y="130628"/>
                  <a:pt x="692581" y="112824"/>
                  <a:pt x="679268" y="104503"/>
                </a:cubicBezTo>
                <a:cubicBezTo>
                  <a:pt x="655915" y="89907"/>
                  <a:pt x="600891" y="78377"/>
                  <a:pt x="600891" y="78377"/>
                </a:cubicBezTo>
                <a:cubicBezTo>
                  <a:pt x="587828" y="69668"/>
                  <a:pt x="576049" y="58627"/>
                  <a:pt x="561703" y="52251"/>
                </a:cubicBezTo>
                <a:cubicBezTo>
                  <a:pt x="421793" y="-9931"/>
                  <a:pt x="532828" y="59127"/>
                  <a:pt x="444137" y="0"/>
                </a:cubicBezTo>
                <a:cubicBezTo>
                  <a:pt x="370114" y="4354"/>
                  <a:pt x="295596" y="3472"/>
                  <a:pt x="222068" y="13063"/>
                </a:cubicBezTo>
                <a:cubicBezTo>
                  <a:pt x="133225" y="24651"/>
                  <a:pt x="144574" y="51810"/>
                  <a:pt x="65314" y="91440"/>
                </a:cubicBezTo>
                <a:lnTo>
                  <a:pt x="39188" y="65314"/>
                </a:lnTo>
                <a:close/>
              </a:path>
            </a:pathLst>
          </a:custGeom>
          <a:solidFill>
            <a:schemeClr val="accent1">
              <a:alpha val="43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94" name="Freeform 1148">
            <a:extLst>
              <a:ext uri="{FF2B5EF4-FFF2-40B4-BE49-F238E27FC236}">
                <a16:creationId xmlns:a16="http://schemas.microsoft.com/office/drawing/2014/main" id="{DD2F4552-7068-A42A-0AAF-502DF70387F0}"/>
              </a:ext>
            </a:extLst>
          </p:cNvPr>
          <p:cNvSpPr/>
          <p:nvPr/>
        </p:nvSpPr>
        <p:spPr>
          <a:xfrm>
            <a:off x="7214407" y="543018"/>
            <a:ext cx="1633551" cy="2566988"/>
          </a:xfrm>
          <a:custGeom>
            <a:avLst/>
            <a:gdLst>
              <a:gd name="connsiteX0" fmla="*/ 290526 w 1633551"/>
              <a:gd name="connsiteY0" fmla="*/ 14288 h 2566988"/>
              <a:gd name="connsiteX1" fmla="*/ 266713 w 1633551"/>
              <a:gd name="connsiteY1" fmla="*/ 19050 h 2566988"/>
              <a:gd name="connsiteX2" fmla="*/ 252426 w 1633551"/>
              <a:gd name="connsiteY2" fmla="*/ 23813 h 2566988"/>
              <a:gd name="connsiteX3" fmla="*/ 233376 w 1633551"/>
              <a:gd name="connsiteY3" fmla="*/ 28575 h 2566988"/>
              <a:gd name="connsiteX4" fmla="*/ 195276 w 1633551"/>
              <a:gd name="connsiteY4" fmla="*/ 38100 h 2566988"/>
              <a:gd name="connsiteX5" fmla="*/ 166701 w 1633551"/>
              <a:gd name="connsiteY5" fmla="*/ 57150 h 2566988"/>
              <a:gd name="connsiteX6" fmla="*/ 152413 w 1633551"/>
              <a:gd name="connsiteY6" fmla="*/ 71438 h 2566988"/>
              <a:gd name="connsiteX7" fmla="*/ 123838 w 1633551"/>
              <a:gd name="connsiteY7" fmla="*/ 80963 h 2566988"/>
              <a:gd name="connsiteX8" fmla="*/ 95263 w 1633551"/>
              <a:gd name="connsiteY8" fmla="*/ 95250 h 2566988"/>
              <a:gd name="connsiteX9" fmla="*/ 61926 w 1633551"/>
              <a:gd name="connsiteY9" fmla="*/ 133350 h 2566988"/>
              <a:gd name="connsiteX10" fmla="*/ 52401 w 1633551"/>
              <a:gd name="connsiteY10" fmla="*/ 161925 h 2566988"/>
              <a:gd name="connsiteX11" fmla="*/ 33351 w 1633551"/>
              <a:gd name="connsiteY11" fmla="*/ 190500 h 2566988"/>
              <a:gd name="connsiteX12" fmla="*/ 23826 w 1633551"/>
              <a:gd name="connsiteY12" fmla="*/ 219075 h 2566988"/>
              <a:gd name="connsiteX13" fmla="*/ 14301 w 1633551"/>
              <a:gd name="connsiteY13" fmla="*/ 233363 h 2566988"/>
              <a:gd name="connsiteX14" fmla="*/ 4776 w 1633551"/>
              <a:gd name="connsiteY14" fmla="*/ 261938 h 2566988"/>
              <a:gd name="connsiteX15" fmla="*/ 13 w 1633551"/>
              <a:gd name="connsiteY15" fmla="*/ 276225 h 2566988"/>
              <a:gd name="connsiteX16" fmla="*/ 9538 w 1633551"/>
              <a:gd name="connsiteY16" fmla="*/ 447675 h 2566988"/>
              <a:gd name="connsiteX17" fmla="*/ 19063 w 1633551"/>
              <a:gd name="connsiteY17" fmla="*/ 500063 h 2566988"/>
              <a:gd name="connsiteX18" fmla="*/ 28588 w 1633551"/>
              <a:gd name="connsiteY18" fmla="*/ 566738 h 2566988"/>
              <a:gd name="connsiteX19" fmla="*/ 33351 w 1633551"/>
              <a:gd name="connsiteY19" fmla="*/ 600075 h 2566988"/>
              <a:gd name="connsiteX20" fmla="*/ 42876 w 1633551"/>
              <a:gd name="connsiteY20" fmla="*/ 628650 h 2566988"/>
              <a:gd name="connsiteX21" fmla="*/ 47638 w 1633551"/>
              <a:gd name="connsiteY21" fmla="*/ 790575 h 2566988"/>
              <a:gd name="connsiteX22" fmla="*/ 38113 w 1633551"/>
              <a:gd name="connsiteY22" fmla="*/ 1428750 h 2566988"/>
              <a:gd name="connsiteX23" fmla="*/ 42876 w 1633551"/>
              <a:gd name="connsiteY23" fmla="*/ 1509713 h 2566988"/>
              <a:gd name="connsiteX24" fmla="*/ 33351 w 1633551"/>
              <a:gd name="connsiteY24" fmla="*/ 1685925 h 2566988"/>
              <a:gd name="connsiteX25" fmla="*/ 28588 w 1633551"/>
              <a:gd name="connsiteY25" fmla="*/ 1709738 h 2566988"/>
              <a:gd name="connsiteX26" fmla="*/ 33351 w 1633551"/>
              <a:gd name="connsiteY26" fmla="*/ 1800225 h 2566988"/>
              <a:gd name="connsiteX27" fmla="*/ 38113 w 1633551"/>
              <a:gd name="connsiteY27" fmla="*/ 1814513 h 2566988"/>
              <a:gd name="connsiteX28" fmla="*/ 47638 w 1633551"/>
              <a:gd name="connsiteY28" fmla="*/ 1828800 h 2566988"/>
              <a:gd name="connsiteX29" fmla="*/ 47638 w 1633551"/>
              <a:gd name="connsiteY29" fmla="*/ 2005013 h 2566988"/>
              <a:gd name="connsiteX30" fmla="*/ 42876 w 1633551"/>
              <a:gd name="connsiteY30" fmla="*/ 2047875 h 2566988"/>
              <a:gd name="connsiteX31" fmla="*/ 38113 w 1633551"/>
              <a:gd name="connsiteY31" fmla="*/ 2095500 h 2566988"/>
              <a:gd name="connsiteX32" fmla="*/ 28588 w 1633551"/>
              <a:gd name="connsiteY32" fmla="*/ 2124075 h 2566988"/>
              <a:gd name="connsiteX33" fmla="*/ 23826 w 1633551"/>
              <a:gd name="connsiteY33" fmla="*/ 2138363 h 2566988"/>
              <a:gd name="connsiteX34" fmla="*/ 14301 w 1633551"/>
              <a:gd name="connsiteY34" fmla="*/ 2185988 h 2566988"/>
              <a:gd name="connsiteX35" fmla="*/ 4776 w 1633551"/>
              <a:gd name="connsiteY35" fmla="*/ 2219325 h 2566988"/>
              <a:gd name="connsiteX36" fmla="*/ 13 w 1633551"/>
              <a:gd name="connsiteY36" fmla="*/ 2309813 h 2566988"/>
              <a:gd name="connsiteX37" fmla="*/ 4776 w 1633551"/>
              <a:gd name="connsiteY37" fmla="*/ 2371725 h 2566988"/>
              <a:gd name="connsiteX38" fmla="*/ 38113 w 1633551"/>
              <a:gd name="connsiteY38" fmla="*/ 2409825 h 2566988"/>
              <a:gd name="connsiteX39" fmla="*/ 47638 w 1633551"/>
              <a:gd name="connsiteY39" fmla="*/ 2424113 h 2566988"/>
              <a:gd name="connsiteX40" fmla="*/ 52401 w 1633551"/>
              <a:gd name="connsiteY40" fmla="*/ 2438400 h 2566988"/>
              <a:gd name="connsiteX41" fmla="*/ 66688 w 1633551"/>
              <a:gd name="connsiteY41" fmla="*/ 2447925 h 2566988"/>
              <a:gd name="connsiteX42" fmla="*/ 90501 w 1633551"/>
              <a:gd name="connsiteY42" fmla="*/ 2490788 h 2566988"/>
              <a:gd name="connsiteX43" fmla="*/ 104788 w 1633551"/>
              <a:gd name="connsiteY43" fmla="*/ 2495550 h 2566988"/>
              <a:gd name="connsiteX44" fmla="*/ 119076 w 1633551"/>
              <a:gd name="connsiteY44" fmla="*/ 2509838 h 2566988"/>
              <a:gd name="connsiteX45" fmla="*/ 147651 w 1633551"/>
              <a:gd name="connsiteY45" fmla="*/ 2519363 h 2566988"/>
              <a:gd name="connsiteX46" fmla="*/ 190513 w 1633551"/>
              <a:gd name="connsiteY46" fmla="*/ 2528888 h 2566988"/>
              <a:gd name="connsiteX47" fmla="*/ 204801 w 1633551"/>
              <a:gd name="connsiteY47" fmla="*/ 2533650 h 2566988"/>
              <a:gd name="connsiteX48" fmla="*/ 238138 w 1633551"/>
              <a:gd name="connsiteY48" fmla="*/ 2543175 h 2566988"/>
              <a:gd name="connsiteX49" fmla="*/ 281001 w 1633551"/>
              <a:gd name="connsiteY49" fmla="*/ 2566988 h 2566988"/>
              <a:gd name="connsiteX50" fmla="*/ 457213 w 1633551"/>
              <a:gd name="connsiteY50" fmla="*/ 2557463 h 2566988"/>
              <a:gd name="connsiteX51" fmla="*/ 471501 w 1633551"/>
              <a:gd name="connsiteY51" fmla="*/ 2552700 h 2566988"/>
              <a:gd name="connsiteX52" fmla="*/ 500076 w 1633551"/>
              <a:gd name="connsiteY52" fmla="*/ 2533650 h 2566988"/>
              <a:gd name="connsiteX53" fmla="*/ 528651 w 1633551"/>
              <a:gd name="connsiteY53" fmla="*/ 2505075 h 2566988"/>
              <a:gd name="connsiteX54" fmla="*/ 542938 w 1633551"/>
              <a:gd name="connsiteY54" fmla="*/ 2490788 h 2566988"/>
              <a:gd name="connsiteX55" fmla="*/ 557226 w 1633551"/>
              <a:gd name="connsiteY55" fmla="*/ 2486025 h 2566988"/>
              <a:gd name="connsiteX56" fmla="*/ 571513 w 1633551"/>
              <a:gd name="connsiteY56" fmla="*/ 2466975 h 2566988"/>
              <a:gd name="connsiteX57" fmla="*/ 600088 w 1633551"/>
              <a:gd name="connsiteY57" fmla="*/ 2438400 h 2566988"/>
              <a:gd name="connsiteX58" fmla="*/ 633426 w 1633551"/>
              <a:gd name="connsiteY58" fmla="*/ 2400300 h 2566988"/>
              <a:gd name="connsiteX59" fmla="*/ 652476 w 1633551"/>
              <a:gd name="connsiteY59" fmla="*/ 2381250 h 2566988"/>
              <a:gd name="connsiteX60" fmla="*/ 671526 w 1633551"/>
              <a:gd name="connsiteY60" fmla="*/ 2352675 h 2566988"/>
              <a:gd name="connsiteX61" fmla="*/ 695338 w 1633551"/>
              <a:gd name="connsiteY61" fmla="*/ 2324100 h 2566988"/>
              <a:gd name="connsiteX62" fmla="*/ 704863 w 1633551"/>
              <a:gd name="connsiteY62" fmla="*/ 2309813 h 2566988"/>
              <a:gd name="connsiteX63" fmla="*/ 738201 w 1633551"/>
              <a:gd name="connsiteY63" fmla="*/ 2276475 h 2566988"/>
              <a:gd name="connsiteX64" fmla="*/ 762013 w 1633551"/>
              <a:gd name="connsiteY64" fmla="*/ 2252663 h 2566988"/>
              <a:gd name="connsiteX65" fmla="*/ 790588 w 1633551"/>
              <a:gd name="connsiteY65" fmla="*/ 2228850 h 2566988"/>
              <a:gd name="connsiteX66" fmla="*/ 828688 w 1633551"/>
              <a:gd name="connsiteY66" fmla="*/ 2195513 h 2566988"/>
              <a:gd name="connsiteX67" fmla="*/ 857263 w 1633551"/>
              <a:gd name="connsiteY67" fmla="*/ 2176463 h 2566988"/>
              <a:gd name="connsiteX68" fmla="*/ 885838 w 1633551"/>
              <a:gd name="connsiteY68" fmla="*/ 2157413 h 2566988"/>
              <a:gd name="connsiteX69" fmla="*/ 909651 w 1633551"/>
              <a:gd name="connsiteY69" fmla="*/ 2138363 h 2566988"/>
              <a:gd name="connsiteX70" fmla="*/ 923938 w 1633551"/>
              <a:gd name="connsiteY70" fmla="*/ 2124075 h 2566988"/>
              <a:gd name="connsiteX71" fmla="*/ 942988 w 1633551"/>
              <a:gd name="connsiteY71" fmla="*/ 2114550 h 2566988"/>
              <a:gd name="connsiteX72" fmla="*/ 962038 w 1633551"/>
              <a:gd name="connsiteY72" fmla="*/ 2100263 h 2566988"/>
              <a:gd name="connsiteX73" fmla="*/ 1004901 w 1633551"/>
              <a:gd name="connsiteY73" fmla="*/ 2071688 h 2566988"/>
              <a:gd name="connsiteX74" fmla="*/ 1019188 w 1633551"/>
              <a:gd name="connsiteY74" fmla="*/ 2062163 h 2566988"/>
              <a:gd name="connsiteX75" fmla="*/ 1028713 w 1633551"/>
              <a:gd name="connsiteY75" fmla="*/ 2047875 h 2566988"/>
              <a:gd name="connsiteX76" fmla="*/ 1043001 w 1633551"/>
              <a:gd name="connsiteY76" fmla="*/ 2033588 h 2566988"/>
              <a:gd name="connsiteX77" fmla="*/ 1047763 w 1633551"/>
              <a:gd name="connsiteY77" fmla="*/ 2019300 h 2566988"/>
              <a:gd name="connsiteX78" fmla="*/ 1066813 w 1633551"/>
              <a:gd name="connsiteY78" fmla="*/ 1990725 h 2566988"/>
              <a:gd name="connsiteX79" fmla="*/ 1085863 w 1633551"/>
              <a:gd name="connsiteY79" fmla="*/ 1962150 h 2566988"/>
              <a:gd name="connsiteX80" fmla="*/ 1109676 w 1633551"/>
              <a:gd name="connsiteY80" fmla="*/ 1924050 h 2566988"/>
              <a:gd name="connsiteX81" fmla="*/ 1119201 w 1633551"/>
              <a:gd name="connsiteY81" fmla="*/ 1909763 h 2566988"/>
              <a:gd name="connsiteX82" fmla="*/ 1157301 w 1633551"/>
              <a:gd name="connsiteY82" fmla="*/ 1852613 h 2566988"/>
              <a:gd name="connsiteX83" fmla="*/ 1181113 w 1633551"/>
              <a:gd name="connsiteY83" fmla="*/ 1824038 h 2566988"/>
              <a:gd name="connsiteX84" fmla="*/ 1190638 w 1633551"/>
              <a:gd name="connsiteY84" fmla="*/ 1809750 h 2566988"/>
              <a:gd name="connsiteX85" fmla="*/ 1219213 w 1633551"/>
              <a:gd name="connsiteY85" fmla="*/ 1785938 h 2566988"/>
              <a:gd name="connsiteX86" fmla="*/ 1257313 w 1633551"/>
              <a:gd name="connsiteY86" fmla="*/ 1743075 h 2566988"/>
              <a:gd name="connsiteX87" fmla="*/ 1271601 w 1633551"/>
              <a:gd name="connsiteY87" fmla="*/ 1728788 h 2566988"/>
              <a:gd name="connsiteX88" fmla="*/ 1285888 w 1633551"/>
              <a:gd name="connsiteY88" fmla="*/ 1714500 h 2566988"/>
              <a:gd name="connsiteX89" fmla="*/ 1300176 w 1633551"/>
              <a:gd name="connsiteY89" fmla="*/ 1709738 h 2566988"/>
              <a:gd name="connsiteX90" fmla="*/ 1314463 w 1633551"/>
              <a:gd name="connsiteY90" fmla="*/ 1695450 h 2566988"/>
              <a:gd name="connsiteX91" fmla="*/ 1328751 w 1633551"/>
              <a:gd name="connsiteY91" fmla="*/ 1685925 h 2566988"/>
              <a:gd name="connsiteX92" fmla="*/ 1347801 w 1633551"/>
              <a:gd name="connsiteY92" fmla="*/ 1671638 h 2566988"/>
              <a:gd name="connsiteX93" fmla="*/ 1376376 w 1633551"/>
              <a:gd name="connsiteY93" fmla="*/ 1652588 h 2566988"/>
              <a:gd name="connsiteX94" fmla="*/ 1414476 w 1633551"/>
              <a:gd name="connsiteY94" fmla="*/ 1619250 h 2566988"/>
              <a:gd name="connsiteX95" fmla="*/ 1443051 w 1633551"/>
              <a:gd name="connsiteY95" fmla="*/ 1609725 h 2566988"/>
              <a:gd name="connsiteX96" fmla="*/ 1457338 w 1633551"/>
              <a:gd name="connsiteY96" fmla="*/ 1604963 h 2566988"/>
              <a:gd name="connsiteX97" fmla="*/ 1481151 w 1633551"/>
              <a:gd name="connsiteY97" fmla="*/ 1585913 h 2566988"/>
              <a:gd name="connsiteX98" fmla="*/ 1495438 w 1633551"/>
              <a:gd name="connsiteY98" fmla="*/ 1576388 h 2566988"/>
              <a:gd name="connsiteX99" fmla="*/ 1528776 w 1633551"/>
              <a:gd name="connsiteY99" fmla="*/ 1552575 h 2566988"/>
              <a:gd name="connsiteX100" fmla="*/ 1538301 w 1633551"/>
              <a:gd name="connsiteY100" fmla="*/ 1538288 h 2566988"/>
              <a:gd name="connsiteX101" fmla="*/ 1552588 w 1633551"/>
              <a:gd name="connsiteY101" fmla="*/ 1519238 h 2566988"/>
              <a:gd name="connsiteX102" fmla="*/ 1562113 w 1633551"/>
              <a:gd name="connsiteY102" fmla="*/ 1500188 h 2566988"/>
              <a:gd name="connsiteX103" fmla="*/ 1543063 w 1633551"/>
              <a:gd name="connsiteY103" fmla="*/ 1476375 h 2566988"/>
              <a:gd name="connsiteX104" fmla="*/ 1547826 w 1633551"/>
              <a:gd name="connsiteY104" fmla="*/ 1462088 h 2566988"/>
              <a:gd name="connsiteX105" fmla="*/ 1566876 w 1633551"/>
              <a:gd name="connsiteY105" fmla="*/ 1433513 h 2566988"/>
              <a:gd name="connsiteX106" fmla="*/ 1585926 w 1633551"/>
              <a:gd name="connsiteY106" fmla="*/ 1404938 h 2566988"/>
              <a:gd name="connsiteX107" fmla="*/ 1600213 w 1633551"/>
              <a:gd name="connsiteY107" fmla="*/ 1390650 h 2566988"/>
              <a:gd name="connsiteX108" fmla="*/ 1604976 w 1633551"/>
              <a:gd name="connsiteY108" fmla="*/ 1376363 h 2566988"/>
              <a:gd name="connsiteX109" fmla="*/ 1614501 w 1633551"/>
              <a:gd name="connsiteY109" fmla="*/ 1362075 h 2566988"/>
              <a:gd name="connsiteX110" fmla="*/ 1624026 w 1633551"/>
              <a:gd name="connsiteY110" fmla="*/ 1333500 h 2566988"/>
              <a:gd name="connsiteX111" fmla="*/ 1628788 w 1633551"/>
              <a:gd name="connsiteY111" fmla="*/ 1300163 h 2566988"/>
              <a:gd name="connsiteX112" fmla="*/ 1633551 w 1633551"/>
              <a:gd name="connsiteY112" fmla="*/ 1285875 h 2566988"/>
              <a:gd name="connsiteX113" fmla="*/ 1628788 w 1633551"/>
              <a:gd name="connsiteY113" fmla="*/ 1200150 h 2566988"/>
              <a:gd name="connsiteX114" fmla="*/ 1624026 w 1633551"/>
              <a:gd name="connsiteY114" fmla="*/ 1185863 h 2566988"/>
              <a:gd name="connsiteX115" fmla="*/ 1619263 w 1633551"/>
              <a:gd name="connsiteY115" fmla="*/ 1166813 h 2566988"/>
              <a:gd name="connsiteX116" fmla="*/ 1609738 w 1633551"/>
              <a:gd name="connsiteY116" fmla="*/ 1133475 h 2566988"/>
              <a:gd name="connsiteX117" fmla="*/ 1595451 w 1633551"/>
              <a:gd name="connsiteY117" fmla="*/ 1100138 h 2566988"/>
              <a:gd name="connsiteX118" fmla="*/ 1576401 w 1633551"/>
              <a:gd name="connsiteY118" fmla="*/ 1085850 h 2566988"/>
              <a:gd name="connsiteX119" fmla="*/ 1552588 w 1633551"/>
              <a:gd name="connsiteY119" fmla="*/ 1042988 h 2566988"/>
              <a:gd name="connsiteX120" fmla="*/ 1538301 w 1633551"/>
              <a:gd name="connsiteY120" fmla="*/ 1033463 h 2566988"/>
              <a:gd name="connsiteX121" fmla="*/ 1504963 w 1633551"/>
              <a:gd name="connsiteY121" fmla="*/ 1000125 h 2566988"/>
              <a:gd name="connsiteX122" fmla="*/ 1490676 w 1633551"/>
              <a:gd name="connsiteY122" fmla="*/ 995363 h 2566988"/>
              <a:gd name="connsiteX123" fmla="*/ 1447813 w 1633551"/>
              <a:gd name="connsiteY123" fmla="*/ 971550 h 2566988"/>
              <a:gd name="connsiteX124" fmla="*/ 1428763 w 1633551"/>
              <a:gd name="connsiteY124" fmla="*/ 957263 h 2566988"/>
              <a:gd name="connsiteX125" fmla="*/ 1400188 w 1633551"/>
              <a:gd name="connsiteY125" fmla="*/ 938213 h 2566988"/>
              <a:gd name="connsiteX126" fmla="*/ 1385901 w 1633551"/>
              <a:gd name="connsiteY126" fmla="*/ 928688 h 2566988"/>
              <a:gd name="connsiteX127" fmla="*/ 1366851 w 1633551"/>
              <a:gd name="connsiteY127" fmla="*/ 919163 h 2566988"/>
              <a:gd name="connsiteX128" fmla="*/ 1333513 w 1633551"/>
              <a:gd name="connsiteY128" fmla="*/ 895350 h 2566988"/>
              <a:gd name="connsiteX129" fmla="*/ 1314463 w 1633551"/>
              <a:gd name="connsiteY129" fmla="*/ 890588 h 2566988"/>
              <a:gd name="connsiteX130" fmla="*/ 1300176 w 1633551"/>
              <a:gd name="connsiteY130" fmla="*/ 881063 h 2566988"/>
              <a:gd name="connsiteX131" fmla="*/ 1266838 w 1633551"/>
              <a:gd name="connsiteY131" fmla="*/ 862013 h 2566988"/>
              <a:gd name="connsiteX132" fmla="*/ 1233501 w 1633551"/>
              <a:gd name="connsiteY132" fmla="*/ 838200 h 2566988"/>
              <a:gd name="connsiteX133" fmla="*/ 1209688 w 1633551"/>
              <a:gd name="connsiteY133" fmla="*/ 828675 h 2566988"/>
              <a:gd name="connsiteX134" fmla="*/ 1176351 w 1633551"/>
              <a:gd name="connsiteY134" fmla="*/ 800100 h 2566988"/>
              <a:gd name="connsiteX135" fmla="*/ 1162063 w 1633551"/>
              <a:gd name="connsiteY135" fmla="*/ 795338 h 2566988"/>
              <a:gd name="connsiteX136" fmla="*/ 1133488 w 1633551"/>
              <a:gd name="connsiteY136" fmla="*/ 776288 h 2566988"/>
              <a:gd name="connsiteX137" fmla="*/ 1090626 w 1633551"/>
              <a:gd name="connsiteY137" fmla="*/ 742950 h 2566988"/>
              <a:gd name="connsiteX138" fmla="*/ 1076338 w 1633551"/>
              <a:gd name="connsiteY138" fmla="*/ 733425 h 2566988"/>
              <a:gd name="connsiteX139" fmla="*/ 1052526 w 1633551"/>
              <a:gd name="connsiteY139" fmla="*/ 704850 h 2566988"/>
              <a:gd name="connsiteX140" fmla="*/ 1038238 w 1633551"/>
              <a:gd name="connsiteY140" fmla="*/ 676275 h 2566988"/>
              <a:gd name="connsiteX141" fmla="*/ 1023951 w 1633551"/>
              <a:gd name="connsiteY141" fmla="*/ 666750 h 2566988"/>
              <a:gd name="connsiteX142" fmla="*/ 1014426 w 1633551"/>
              <a:gd name="connsiteY142" fmla="*/ 647700 h 2566988"/>
              <a:gd name="connsiteX143" fmla="*/ 1009663 w 1633551"/>
              <a:gd name="connsiteY143" fmla="*/ 633413 h 2566988"/>
              <a:gd name="connsiteX144" fmla="*/ 985851 w 1633551"/>
              <a:gd name="connsiteY144" fmla="*/ 604838 h 2566988"/>
              <a:gd name="connsiteX145" fmla="*/ 976326 w 1633551"/>
              <a:gd name="connsiteY145" fmla="*/ 585788 h 2566988"/>
              <a:gd name="connsiteX146" fmla="*/ 971563 w 1633551"/>
              <a:gd name="connsiteY146" fmla="*/ 571500 h 2566988"/>
              <a:gd name="connsiteX147" fmla="*/ 957276 w 1633551"/>
              <a:gd name="connsiteY147" fmla="*/ 561975 h 2566988"/>
              <a:gd name="connsiteX148" fmla="*/ 947751 w 1633551"/>
              <a:gd name="connsiteY148" fmla="*/ 547688 h 2566988"/>
              <a:gd name="connsiteX149" fmla="*/ 933463 w 1633551"/>
              <a:gd name="connsiteY149" fmla="*/ 538163 h 2566988"/>
              <a:gd name="connsiteX150" fmla="*/ 904888 w 1633551"/>
              <a:gd name="connsiteY150" fmla="*/ 500063 h 2566988"/>
              <a:gd name="connsiteX151" fmla="*/ 857263 w 1633551"/>
              <a:gd name="connsiteY151" fmla="*/ 471488 h 2566988"/>
              <a:gd name="connsiteX152" fmla="*/ 823926 w 1633551"/>
              <a:gd name="connsiteY152" fmla="*/ 447675 h 2566988"/>
              <a:gd name="connsiteX153" fmla="*/ 795351 w 1633551"/>
              <a:gd name="connsiteY153" fmla="*/ 428625 h 2566988"/>
              <a:gd name="connsiteX154" fmla="*/ 785826 w 1633551"/>
              <a:gd name="connsiteY154" fmla="*/ 414338 h 2566988"/>
              <a:gd name="connsiteX155" fmla="*/ 771538 w 1633551"/>
              <a:gd name="connsiteY155" fmla="*/ 404813 h 2566988"/>
              <a:gd name="connsiteX156" fmla="*/ 733438 w 1633551"/>
              <a:gd name="connsiteY156" fmla="*/ 390525 h 2566988"/>
              <a:gd name="connsiteX157" fmla="*/ 723913 w 1633551"/>
              <a:gd name="connsiteY157" fmla="*/ 376238 h 2566988"/>
              <a:gd name="connsiteX158" fmla="*/ 695338 w 1633551"/>
              <a:gd name="connsiteY158" fmla="*/ 361950 h 2566988"/>
              <a:gd name="connsiteX159" fmla="*/ 676288 w 1633551"/>
              <a:gd name="connsiteY159" fmla="*/ 319088 h 2566988"/>
              <a:gd name="connsiteX160" fmla="*/ 666763 w 1633551"/>
              <a:gd name="connsiteY160" fmla="*/ 290513 h 2566988"/>
              <a:gd name="connsiteX161" fmla="*/ 657238 w 1633551"/>
              <a:gd name="connsiteY161" fmla="*/ 276225 h 2566988"/>
              <a:gd name="connsiteX162" fmla="*/ 647713 w 1633551"/>
              <a:gd name="connsiteY162" fmla="*/ 247650 h 2566988"/>
              <a:gd name="connsiteX163" fmla="*/ 642951 w 1633551"/>
              <a:gd name="connsiteY163" fmla="*/ 233363 h 2566988"/>
              <a:gd name="connsiteX164" fmla="*/ 633426 w 1633551"/>
              <a:gd name="connsiteY164" fmla="*/ 219075 h 2566988"/>
              <a:gd name="connsiteX165" fmla="*/ 623901 w 1633551"/>
              <a:gd name="connsiteY165" fmla="*/ 190500 h 2566988"/>
              <a:gd name="connsiteX166" fmla="*/ 619138 w 1633551"/>
              <a:gd name="connsiteY166" fmla="*/ 176213 h 2566988"/>
              <a:gd name="connsiteX167" fmla="*/ 604851 w 1633551"/>
              <a:gd name="connsiteY167" fmla="*/ 133350 h 2566988"/>
              <a:gd name="connsiteX168" fmla="*/ 600088 w 1633551"/>
              <a:gd name="connsiteY168" fmla="*/ 119063 h 2566988"/>
              <a:gd name="connsiteX169" fmla="*/ 571513 w 1633551"/>
              <a:gd name="connsiteY169" fmla="*/ 90488 h 2566988"/>
              <a:gd name="connsiteX170" fmla="*/ 552463 w 1633551"/>
              <a:gd name="connsiteY170" fmla="*/ 80963 h 2566988"/>
              <a:gd name="connsiteX171" fmla="*/ 538176 w 1633551"/>
              <a:gd name="connsiteY171" fmla="*/ 71438 h 2566988"/>
              <a:gd name="connsiteX172" fmla="*/ 523888 w 1633551"/>
              <a:gd name="connsiteY172" fmla="*/ 66675 h 2566988"/>
              <a:gd name="connsiteX173" fmla="*/ 495313 w 1633551"/>
              <a:gd name="connsiteY173" fmla="*/ 52388 h 2566988"/>
              <a:gd name="connsiteX174" fmla="*/ 466738 w 1633551"/>
              <a:gd name="connsiteY174" fmla="*/ 33338 h 2566988"/>
              <a:gd name="connsiteX175" fmla="*/ 442926 w 1633551"/>
              <a:gd name="connsiteY175" fmla="*/ 19050 h 2566988"/>
              <a:gd name="connsiteX176" fmla="*/ 400063 w 1633551"/>
              <a:gd name="connsiteY176" fmla="*/ 4763 h 2566988"/>
              <a:gd name="connsiteX177" fmla="*/ 385776 w 1633551"/>
              <a:gd name="connsiteY177" fmla="*/ 0 h 2566988"/>
              <a:gd name="connsiteX178" fmla="*/ 300051 w 1633551"/>
              <a:gd name="connsiteY178" fmla="*/ 4763 h 2566988"/>
              <a:gd name="connsiteX179" fmla="*/ 285763 w 1633551"/>
              <a:gd name="connsiteY179" fmla="*/ 9525 h 2566988"/>
              <a:gd name="connsiteX180" fmla="*/ 290526 w 1633551"/>
              <a:gd name="connsiteY180" fmla="*/ 14288 h 256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</a:cxnLst>
            <a:rect l="l" t="t" r="r" b="b"/>
            <a:pathLst>
              <a:path w="1633551" h="2566988">
                <a:moveTo>
                  <a:pt x="290526" y="14288"/>
                </a:moveTo>
                <a:cubicBezTo>
                  <a:pt x="287351" y="15875"/>
                  <a:pt x="274566" y="17087"/>
                  <a:pt x="266713" y="19050"/>
                </a:cubicBezTo>
                <a:cubicBezTo>
                  <a:pt x="261843" y="20268"/>
                  <a:pt x="257253" y="22434"/>
                  <a:pt x="252426" y="23813"/>
                </a:cubicBezTo>
                <a:cubicBezTo>
                  <a:pt x="246132" y="25611"/>
                  <a:pt x="239766" y="27155"/>
                  <a:pt x="233376" y="28575"/>
                </a:cubicBezTo>
                <a:cubicBezTo>
                  <a:pt x="198897" y="36237"/>
                  <a:pt x="220804" y="29591"/>
                  <a:pt x="195276" y="38100"/>
                </a:cubicBezTo>
                <a:cubicBezTo>
                  <a:pt x="185751" y="44450"/>
                  <a:pt x="174796" y="49055"/>
                  <a:pt x="166701" y="57150"/>
                </a:cubicBezTo>
                <a:cubicBezTo>
                  <a:pt x="161938" y="61913"/>
                  <a:pt x="158301" y="68167"/>
                  <a:pt x="152413" y="71438"/>
                </a:cubicBezTo>
                <a:cubicBezTo>
                  <a:pt x="143636" y="76314"/>
                  <a:pt x="132192" y="75394"/>
                  <a:pt x="123838" y="80963"/>
                </a:cubicBezTo>
                <a:cubicBezTo>
                  <a:pt x="105374" y="93273"/>
                  <a:pt x="114981" y="88678"/>
                  <a:pt x="95263" y="95250"/>
                </a:cubicBezTo>
                <a:cubicBezTo>
                  <a:pt x="73038" y="128587"/>
                  <a:pt x="85738" y="117475"/>
                  <a:pt x="61926" y="133350"/>
                </a:cubicBezTo>
                <a:cubicBezTo>
                  <a:pt x="58751" y="142875"/>
                  <a:pt x="57970" y="153571"/>
                  <a:pt x="52401" y="161925"/>
                </a:cubicBezTo>
                <a:cubicBezTo>
                  <a:pt x="46051" y="171450"/>
                  <a:pt x="36971" y="179640"/>
                  <a:pt x="33351" y="190500"/>
                </a:cubicBezTo>
                <a:cubicBezTo>
                  <a:pt x="30176" y="200025"/>
                  <a:pt x="29395" y="210721"/>
                  <a:pt x="23826" y="219075"/>
                </a:cubicBezTo>
                <a:cubicBezTo>
                  <a:pt x="20651" y="223838"/>
                  <a:pt x="16626" y="228132"/>
                  <a:pt x="14301" y="233363"/>
                </a:cubicBezTo>
                <a:cubicBezTo>
                  <a:pt x="10223" y="242538"/>
                  <a:pt x="7951" y="252413"/>
                  <a:pt x="4776" y="261938"/>
                </a:cubicBezTo>
                <a:lnTo>
                  <a:pt x="13" y="276225"/>
                </a:lnTo>
                <a:cubicBezTo>
                  <a:pt x="11998" y="384076"/>
                  <a:pt x="-3169" y="238013"/>
                  <a:pt x="9538" y="447675"/>
                </a:cubicBezTo>
                <a:cubicBezTo>
                  <a:pt x="10175" y="458187"/>
                  <a:pt x="16982" y="488616"/>
                  <a:pt x="19063" y="500063"/>
                </a:cubicBezTo>
                <a:cubicBezTo>
                  <a:pt x="25342" y="534597"/>
                  <a:pt x="23408" y="527890"/>
                  <a:pt x="28588" y="566738"/>
                </a:cubicBezTo>
                <a:cubicBezTo>
                  <a:pt x="30072" y="577865"/>
                  <a:pt x="30827" y="589137"/>
                  <a:pt x="33351" y="600075"/>
                </a:cubicBezTo>
                <a:cubicBezTo>
                  <a:pt x="35609" y="609858"/>
                  <a:pt x="42876" y="628650"/>
                  <a:pt x="42876" y="628650"/>
                </a:cubicBezTo>
                <a:cubicBezTo>
                  <a:pt x="44463" y="682625"/>
                  <a:pt x="47638" y="736577"/>
                  <a:pt x="47638" y="790575"/>
                </a:cubicBezTo>
                <a:cubicBezTo>
                  <a:pt x="47638" y="1405084"/>
                  <a:pt x="108534" y="1217517"/>
                  <a:pt x="38113" y="1428750"/>
                </a:cubicBezTo>
                <a:cubicBezTo>
                  <a:pt x="39701" y="1455738"/>
                  <a:pt x="42876" y="1482679"/>
                  <a:pt x="42876" y="1509713"/>
                </a:cubicBezTo>
                <a:cubicBezTo>
                  <a:pt x="42876" y="1560610"/>
                  <a:pt x="41319" y="1630148"/>
                  <a:pt x="33351" y="1685925"/>
                </a:cubicBezTo>
                <a:cubicBezTo>
                  <a:pt x="32206" y="1693939"/>
                  <a:pt x="30176" y="1701800"/>
                  <a:pt x="28588" y="1709738"/>
                </a:cubicBezTo>
                <a:cubicBezTo>
                  <a:pt x="30176" y="1739900"/>
                  <a:pt x="30616" y="1770145"/>
                  <a:pt x="33351" y="1800225"/>
                </a:cubicBezTo>
                <a:cubicBezTo>
                  <a:pt x="33806" y="1805225"/>
                  <a:pt x="35868" y="1810023"/>
                  <a:pt x="38113" y="1814513"/>
                </a:cubicBezTo>
                <a:cubicBezTo>
                  <a:pt x="40673" y="1819632"/>
                  <a:pt x="44463" y="1824038"/>
                  <a:pt x="47638" y="1828800"/>
                </a:cubicBezTo>
                <a:cubicBezTo>
                  <a:pt x="60076" y="1903418"/>
                  <a:pt x="54859" y="1860600"/>
                  <a:pt x="47638" y="2005013"/>
                </a:cubicBezTo>
                <a:cubicBezTo>
                  <a:pt x="46920" y="2019370"/>
                  <a:pt x="44381" y="2033579"/>
                  <a:pt x="42876" y="2047875"/>
                </a:cubicBezTo>
                <a:cubicBezTo>
                  <a:pt x="41206" y="2063742"/>
                  <a:pt x="41053" y="2079819"/>
                  <a:pt x="38113" y="2095500"/>
                </a:cubicBezTo>
                <a:cubicBezTo>
                  <a:pt x="36263" y="2105368"/>
                  <a:pt x="31763" y="2114550"/>
                  <a:pt x="28588" y="2124075"/>
                </a:cubicBezTo>
                <a:cubicBezTo>
                  <a:pt x="27001" y="2128838"/>
                  <a:pt x="24811" y="2133440"/>
                  <a:pt x="23826" y="2138363"/>
                </a:cubicBezTo>
                <a:cubicBezTo>
                  <a:pt x="20651" y="2154238"/>
                  <a:pt x="19421" y="2170630"/>
                  <a:pt x="14301" y="2185988"/>
                </a:cubicBezTo>
                <a:cubicBezTo>
                  <a:pt x="7468" y="2206484"/>
                  <a:pt x="10755" y="2195405"/>
                  <a:pt x="4776" y="2219325"/>
                </a:cubicBezTo>
                <a:cubicBezTo>
                  <a:pt x="3188" y="2249488"/>
                  <a:pt x="13" y="2279609"/>
                  <a:pt x="13" y="2309813"/>
                </a:cubicBezTo>
                <a:cubicBezTo>
                  <a:pt x="13" y="2330511"/>
                  <a:pt x="-492" y="2351708"/>
                  <a:pt x="4776" y="2371725"/>
                </a:cubicBezTo>
                <a:cubicBezTo>
                  <a:pt x="10687" y="2394186"/>
                  <a:pt x="22458" y="2399388"/>
                  <a:pt x="38113" y="2409825"/>
                </a:cubicBezTo>
                <a:cubicBezTo>
                  <a:pt x="41288" y="2414588"/>
                  <a:pt x="45078" y="2418993"/>
                  <a:pt x="47638" y="2424113"/>
                </a:cubicBezTo>
                <a:cubicBezTo>
                  <a:pt x="49883" y="2428603"/>
                  <a:pt x="49265" y="2434480"/>
                  <a:pt x="52401" y="2438400"/>
                </a:cubicBezTo>
                <a:cubicBezTo>
                  <a:pt x="55977" y="2442869"/>
                  <a:pt x="61926" y="2444750"/>
                  <a:pt x="66688" y="2447925"/>
                </a:cubicBezTo>
                <a:cubicBezTo>
                  <a:pt x="70882" y="2460505"/>
                  <a:pt x="78220" y="2486695"/>
                  <a:pt x="90501" y="2490788"/>
                </a:cubicBezTo>
                <a:lnTo>
                  <a:pt x="104788" y="2495550"/>
                </a:lnTo>
                <a:cubicBezTo>
                  <a:pt x="109551" y="2500313"/>
                  <a:pt x="113188" y="2506567"/>
                  <a:pt x="119076" y="2509838"/>
                </a:cubicBezTo>
                <a:cubicBezTo>
                  <a:pt x="127853" y="2514714"/>
                  <a:pt x="138126" y="2516188"/>
                  <a:pt x="147651" y="2519363"/>
                </a:cubicBezTo>
                <a:cubicBezTo>
                  <a:pt x="179807" y="2530082"/>
                  <a:pt x="140235" y="2517715"/>
                  <a:pt x="190513" y="2528888"/>
                </a:cubicBezTo>
                <a:cubicBezTo>
                  <a:pt x="195414" y="2529977"/>
                  <a:pt x="199974" y="2532271"/>
                  <a:pt x="204801" y="2533650"/>
                </a:cubicBezTo>
                <a:cubicBezTo>
                  <a:pt x="246653" y="2545607"/>
                  <a:pt x="203889" y="2531759"/>
                  <a:pt x="238138" y="2543175"/>
                </a:cubicBezTo>
                <a:cubicBezTo>
                  <a:pt x="270890" y="2565010"/>
                  <a:pt x="255853" y="2558605"/>
                  <a:pt x="281001" y="2566988"/>
                </a:cubicBezTo>
                <a:lnTo>
                  <a:pt x="457213" y="2557463"/>
                </a:lnTo>
                <a:cubicBezTo>
                  <a:pt x="462206" y="2556937"/>
                  <a:pt x="467112" y="2555138"/>
                  <a:pt x="471501" y="2552700"/>
                </a:cubicBezTo>
                <a:cubicBezTo>
                  <a:pt x="481508" y="2547141"/>
                  <a:pt x="491981" y="2541745"/>
                  <a:pt x="500076" y="2533650"/>
                </a:cubicBezTo>
                <a:lnTo>
                  <a:pt x="528651" y="2505075"/>
                </a:lnTo>
                <a:cubicBezTo>
                  <a:pt x="533413" y="2500313"/>
                  <a:pt x="536549" y="2492918"/>
                  <a:pt x="542938" y="2490788"/>
                </a:cubicBezTo>
                <a:lnTo>
                  <a:pt x="557226" y="2486025"/>
                </a:lnTo>
                <a:cubicBezTo>
                  <a:pt x="561988" y="2479675"/>
                  <a:pt x="566203" y="2472875"/>
                  <a:pt x="571513" y="2466975"/>
                </a:cubicBezTo>
                <a:cubicBezTo>
                  <a:pt x="580524" y="2456962"/>
                  <a:pt x="592616" y="2449608"/>
                  <a:pt x="600088" y="2438400"/>
                </a:cubicBezTo>
                <a:cubicBezTo>
                  <a:pt x="622313" y="2405062"/>
                  <a:pt x="609613" y="2416175"/>
                  <a:pt x="633426" y="2400300"/>
                </a:cubicBezTo>
                <a:cubicBezTo>
                  <a:pt x="646124" y="2362203"/>
                  <a:pt x="627077" y="2406649"/>
                  <a:pt x="652476" y="2381250"/>
                </a:cubicBezTo>
                <a:cubicBezTo>
                  <a:pt x="660571" y="2373155"/>
                  <a:pt x="665176" y="2362200"/>
                  <a:pt x="671526" y="2352675"/>
                </a:cubicBezTo>
                <a:cubicBezTo>
                  <a:pt x="695172" y="2317207"/>
                  <a:pt x="664784" y="2360766"/>
                  <a:pt x="695338" y="2324100"/>
                </a:cubicBezTo>
                <a:cubicBezTo>
                  <a:pt x="699002" y="2319703"/>
                  <a:pt x="701034" y="2314067"/>
                  <a:pt x="704863" y="2309813"/>
                </a:cubicBezTo>
                <a:cubicBezTo>
                  <a:pt x="715376" y="2298132"/>
                  <a:pt x="729483" y="2289551"/>
                  <a:pt x="738201" y="2276475"/>
                </a:cubicBezTo>
                <a:cubicBezTo>
                  <a:pt x="755664" y="2250282"/>
                  <a:pt x="738201" y="2272507"/>
                  <a:pt x="762013" y="2252663"/>
                </a:cubicBezTo>
                <a:cubicBezTo>
                  <a:pt x="798682" y="2222105"/>
                  <a:pt x="755117" y="2252498"/>
                  <a:pt x="790588" y="2228850"/>
                </a:cubicBezTo>
                <a:cubicBezTo>
                  <a:pt x="817577" y="2188369"/>
                  <a:pt x="773123" y="2251078"/>
                  <a:pt x="828688" y="2195513"/>
                </a:cubicBezTo>
                <a:cubicBezTo>
                  <a:pt x="846526" y="2177675"/>
                  <a:pt x="836586" y="2183355"/>
                  <a:pt x="857263" y="2176463"/>
                </a:cubicBezTo>
                <a:cubicBezTo>
                  <a:pt x="896679" y="2137047"/>
                  <a:pt x="849079" y="2180387"/>
                  <a:pt x="885838" y="2157413"/>
                </a:cubicBezTo>
                <a:cubicBezTo>
                  <a:pt x="894458" y="2152026"/>
                  <a:pt x="902001" y="2145057"/>
                  <a:pt x="909651" y="2138363"/>
                </a:cubicBezTo>
                <a:cubicBezTo>
                  <a:pt x="914720" y="2133928"/>
                  <a:pt x="918457" y="2127990"/>
                  <a:pt x="923938" y="2124075"/>
                </a:cubicBezTo>
                <a:cubicBezTo>
                  <a:pt x="929715" y="2119948"/>
                  <a:pt x="936968" y="2118313"/>
                  <a:pt x="942988" y="2114550"/>
                </a:cubicBezTo>
                <a:cubicBezTo>
                  <a:pt x="949719" y="2110343"/>
                  <a:pt x="955535" y="2104815"/>
                  <a:pt x="962038" y="2100263"/>
                </a:cubicBezTo>
                <a:cubicBezTo>
                  <a:pt x="962071" y="2100240"/>
                  <a:pt x="997740" y="2076462"/>
                  <a:pt x="1004901" y="2071688"/>
                </a:cubicBezTo>
                <a:lnTo>
                  <a:pt x="1019188" y="2062163"/>
                </a:lnTo>
                <a:cubicBezTo>
                  <a:pt x="1022363" y="2057400"/>
                  <a:pt x="1025049" y="2052272"/>
                  <a:pt x="1028713" y="2047875"/>
                </a:cubicBezTo>
                <a:cubicBezTo>
                  <a:pt x="1033025" y="2042701"/>
                  <a:pt x="1039265" y="2039192"/>
                  <a:pt x="1043001" y="2033588"/>
                </a:cubicBezTo>
                <a:cubicBezTo>
                  <a:pt x="1045786" y="2029411"/>
                  <a:pt x="1045325" y="2023688"/>
                  <a:pt x="1047763" y="2019300"/>
                </a:cubicBezTo>
                <a:cubicBezTo>
                  <a:pt x="1053322" y="2009293"/>
                  <a:pt x="1060463" y="2000250"/>
                  <a:pt x="1066813" y="1990725"/>
                </a:cubicBezTo>
                <a:lnTo>
                  <a:pt x="1085863" y="1962150"/>
                </a:lnTo>
                <a:cubicBezTo>
                  <a:pt x="1093801" y="1949450"/>
                  <a:pt x="1101635" y="1936685"/>
                  <a:pt x="1109676" y="1924050"/>
                </a:cubicBezTo>
                <a:cubicBezTo>
                  <a:pt x="1112749" y="1919221"/>
                  <a:pt x="1119201" y="1909763"/>
                  <a:pt x="1119201" y="1909763"/>
                </a:cubicBezTo>
                <a:cubicBezTo>
                  <a:pt x="1131129" y="1873973"/>
                  <a:pt x="1115677" y="1915051"/>
                  <a:pt x="1157301" y="1852613"/>
                </a:cubicBezTo>
                <a:cubicBezTo>
                  <a:pt x="1180950" y="1817138"/>
                  <a:pt x="1150555" y="1860708"/>
                  <a:pt x="1181113" y="1824038"/>
                </a:cubicBezTo>
                <a:cubicBezTo>
                  <a:pt x="1184777" y="1819641"/>
                  <a:pt x="1186974" y="1814147"/>
                  <a:pt x="1190638" y="1809750"/>
                </a:cubicBezTo>
                <a:cubicBezTo>
                  <a:pt x="1202095" y="1796001"/>
                  <a:pt x="1205167" y="1795302"/>
                  <a:pt x="1219213" y="1785938"/>
                </a:cubicBezTo>
                <a:cubicBezTo>
                  <a:pt x="1236209" y="1760443"/>
                  <a:pt x="1224692" y="1775695"/>
                  <a:pt x="1257313" y="1743075"/>
                </a:cubicBezTo>
                <a:lnTo>
                  <a:pt x="1271601" y="1728788"/>
                </a:lnTo>
                <a:cubicBezTo>
                  <a:pt x="1276364" y="1724025"/>
                  <a:pt x="1279498" y="1716630"/>
                  <a:pt x="1285888" y="1714500"/>
                </a:cubicBezTo>
                <a:lnTo>
                  <a:pt x="1300176" y="1709738"/>
                </a:lnTo>
                <a:cubicBezTo>
                  <a:pt x="1304938" y="1704975"/>
                  <a:pt x="1309289" y="1699762"/>
                  <a:pt x="1314463" y="1695450"/>
                </a:cubicBezTo>
                <a:cubicBezTo>
                  <a:pt x="1318860" y="1691786"/>
                  <a:pt x="1324093" y="1689252"/>
                  <a:pt x="1328751" y="1685925"/>
                </a:cubicBezTo>
                <a:cubicBezTo>
                  <a:pt x="1335210" y="1681312"/>
                  <a:pt x="1341298" y="1676190"/>
                  <a:pt x="1347801" y="1671638"/>
                </a:cubicBezTo>
                <a:cubicBezTo>
                  <a:pt x="1357179" y="1665073"/>
                  <a:pt x="1376376" y="1652588"/>
                  <a:pt x="1376376" y="1652588"/>
                </a:cubicBezTo>
                <a:cubicBezTo>
                  <a:pt x="1387488" y="1635919"/>
                  <a:pt x="1390663" y="1627188"/>
                  <a:pt x="1414476" y="1619250"/>
                </a:cubicBezTo>
                <a:lnTo>
                  <a:pt x="1443051" y="1609725"/>
                </a:lnTo>
                <a:lnTo>
                  <a:pt x="1457338" y="1604963"/>
                </a:lnTo>
                <a:cubicBezTo>
                  <a:pt x="1473395" y="1580876"/>
                  <a:pt x="1458146" y="1597415"/>
                  <a:pt x="1481151" y="1585913"/>
                </a:cubicBezTo>
                <a:cubicBezTo>
                  <a:pt x="1486270" y="1583353"/>
                  <a:pt x="1490781" y="1579715"/>
                  <a:pt x="1495438" y="1576388"/>
                </a:cubicBezTo>
                <a:cubicBezTo>
                  <a:pt x="1536771" y="1546863"/>
                  <a:pt x="1495117" y="1575014"/>
                  <a:pt x="1528776" y="1552575"/>
                </a:cubicBezTo>
                <a:cubicBezTo>
                  <a:pt x="1531951" y="1547813"/>
                  <a:pt x="1534974" y="1542946"/>
                  <a:pt x="1538301" y="1538288"/>
                </a:cubicBezTo>
                <a:cubicBezTo>
                  <a:pt x="1542915" y="1531829"/>
                  <a:pt x="1548381" y="1525969"/>
                  <a:pt x="1552588" y="1519238"/>
                </a:cubicBezTo>
                <a:cubicBezTo>
                  <a:pt x="1556351" y="1513218"/>
                  <a:pt x="1558938" y="1506538"/>
                  <a:pt x="1562113" y="1500188"/>
                </a:cubicBezTo>
                <a:cubicBezTo>
                  <a:pt x="1555763" y="1492250"/>
                  <a:pt x="1546632" y="1485893"/>
                  <a:pt x="1543063" y="1476375"/>
                </a:cubicBezTo>
                <a:cubicBezTo>
                  <a:pt x="1541300" y="1471675"/>
                  <a:pt x="1545388" y="1466476"/>
                  <a:pt x="1547826" y="1462088"/>
                </a:cubicBezTo>
                <a:cubicBezTo>
                  <a:pt x="1553386" y="1452081"/>
                  <a:pt x="1560526" y="1443038"/>
                  <a:pt x="1566876" y="1433513"/>
                </a:cubicBezTo>
                <a:lnTo>
                  <a:pt x="1585926" y="1404938"/>
                </a:lnTo>
                <a:lnTo>
                  <a:pt x="1600213" y="1390650"/>
                </a:lnTo>
                <a:cubicBezTo>
                  <a:pt x="1601801" y="1385888"/>
                  <a:pt x="1602731" y="1380853"/>
                  <a:pt x="1604976" y="1376363"/>
                </a:cubicBezTo>
                <a:cubicBezTo>
                  <a:pt x="1607536" y="1371243"/>
                  <a:pt x="1612176" y="1367306"/>
                  <a:pt x="1614501" y="1362075"/>
                </a:cubicBezTo>
                <a:cubicBezTo>
                  <a:pt x="1618579" y="1352900"/>
                  <a:pt x="1624026" y="1333500"/>
                  <a:pt x="1624026" y="1333500"/>
                </a:cubicBezTo>
                <a:cubicBezTo>
                  <a:pt x="1625613" y="1322388"/>
                  <a:pt x="1626587" y="1311170"/>
                  <a:pt x="1628788" y="1300163"/>
                </a:cubicBezTo>
                <a:cubicBezTo>
                  <a:pt x="1629773" y="1295240"/>
                  <a:pt x="1633551" y="1290895"/>
                  <a:pt x="1633551" y="1285875"/>
                </a:cubicBezTo>
                <a:cubicBezTo>
                  <a:pt x="1633551" y="1257256"/>
                  <a:pt x="1631501" y="1228640"/>
                  <a:pt x="1628788" y="1200150"/>
                </a:cubicBezTo>
                <a:cubicBezTo>
                  <a:pt x="1628312" y="1195153"/>
                  <a:pt x="1625405" y="1190690"/>
                  <a:pt x="1624026" y="1185863"/>
                </a:cubicBezTo>
                <a:cubicBezTo>
                  <a:pt x="1622228" y="1179569"/>
                  <a:pt x="1620985" y="1173128"/>
                  <a:pt x="1619263" y="1166813"/>
                </a:cubicBezTo>
                <a:cubicBezTo>
                  <a:pt x="1616222" y="1155663"/>
                  <a:pt x="1613059" y="1144545"/>
                  <a:pt x="1609738" y="1133475"/>
                </a:cubicBezTo>
                <a:cubicBezTo>
                  <a:pt x="1607009" y="1124379"/>
                  <a:pt x="1601170" y="1106811"/>
                  <a:pt x="1595451" y="1100138"/>
                </a:cubicBezTo>
                <a:cubicBezTo>
                  <a:pt x="1590285" y="1094111"/>
                  <a:pt x="1582751" y="1090613"/>
                  <a:pt x="1576401" y="1085850"/>
                </a:cubicBezTo>
                <a:cubicBezTo>
                  <a:pt x="1571438" y="1070962"/>
                  <a:pt x="1566623" y="1052345"/>
                  <a:pt x="1552588" y="1042988"/>
                </a:cubicBezTo>
                <a:cubicBezTo>
                  <a:pt x="1547826" y="1039813"/>
                  <a:pt x="1542348" y="1037510"/>
                  <a:pt x="1538301" y="1033463"/>
                </a:cubicBezTo>
                <a:cubicBezTo>
                  <a:pt x="1517827" y="1012988"/>
                  <a:pt x="1526498" y="1010892"/>
                  <a:pt x="1504963" y="1000125"/>
                </a:cubicBezTo>
                <a:cubicBezTo>
                  <a:pt x="1500473" y="997880"/>
                  <a:pt x="1495290" y="997340"/>
                  <a:pt x="1490676" y="995363"/>
                </a:cubicBezTo>
                <a:cubicBezTo>
                  <a:pt x="1477966" y="989916"/>
                  <a:pt x="1458652" y="978776"/>
                  <a:pt x="1447813" y="971550"/>
                </a:cubicBezTo>
                <a:cubicBezTo>
                  <a:pt x="1441209" y="967147"/>
                  <a:pt x="1435266" y="961815"/>
                  <a:pt x="1428763" y="957263"/>
                </a:cubicBezTo>
                <a:cubicBezTo>
                  <a:pt x="1419385" y="950698"/>
                  <a:pt x="1409713" y="944563"/>
                  <a:pt x="1400188" y="938213"/>
                </a:cubicBezTo>
                <a:cubicBezTo>
                  <a:pt x="1395426" y="935038"/>
                  <a:pt x="1391020" y="931248"/>
                  <a:pt x="1385901" y="928688"/>
                </a:cubicBezTo>
                <a:cubicBezTo>
                  <a:pt x="1379551" y="925513"/>
                  <a:pt x="1372871" y="922926"/>
                  <a:pt x="1366851" y="919163"/>
                </a:cubicBezTo>
                <a:cubicBezTo>
                  <a:pt x="1363298" y="916942"/>
                  <a:pt x="1339928" y="898099"/>
                  <a:pt x="1333513" y="895350"/>
                </a:cubicBezTo>
                <a:cubicBezTo>
                  <a:pt x="1327497" y="892772"/>
                  <a:pt x="1320813" y="892175"/>
                  <a:pt x="1314463" y="890588"/>
                </a:cubicBezTo>
                <a:cubicBezTo>
                  <a:pt x="1309701" y="887413"/>
                  <a:pt x="1305146" y="883903"/>
                  <a:pt x="1300176" y="881063"/>
                </a:cubicBezTo>
                <a:cubicBezTo>
                  <a:pt x="1272274" y="865119"/>
                  <a:pt x="1290042" y="878588"/>
                  <a:pt x="1266838" y="862013"/>
                </a:cubicBezTo>
                <a:cubicBezTo>
                  <a:pt x="1261805" y="858418"/>
                  <a:pt x="1240983" y="841941"/>
                  <a:pt x="1233501" y="838200"/>
                </a:cubicBezTo>
                <a:cubicBezTo>
                  <a:pt x="1225854" y="834377"/>
                  <a:pt x="1217161" y="832827"/>
                  <a:pt x="1209688" y="828675"/>
                </a:cubicBezTo>
                <a:cubicBezTo>
                  <a:pt x="1157651" y="799766"/>
                  <a:pt x="1219669" y="828979"/>
                  <a:pt x="1176351" y="800100"/>
                </a:cubicBezTo>
                <a:cubicBezTo>
                  <a:pt x="1172174" y="797315"/>
                  <a:pt x="1166826" y="796925"/>
                  <a:pt x="1162063" y="795338"/>
                </a:cubicBezTo>
                <a:cubicBezTo>
                  <a:pt x="1143529" y="767535"/>
                  <a:pt x="1164242" y="791665"/>
                  <a:pt x="1133488" y="776288"/>
                </a:cubicBezTo>
                <a:cubicBezTo>
                  <a:pt x="1097373" y="758231"/>
                  <a:pt x="1114146" y="762551"/>
                  <a:pt x="1090626" y="742950"/>
                </a:cubicBezTo>
                <a:cubicBezTo>
                  <a:pt x="1086229" y="739286"/>
                  <a:pt x="1081101" y="736600"/>
                  <a:pt x="1076338" y="733425"/>
                </a:cubicBezTo>
                <a:cubicBezTo>
                  <a:pt x="1067243" y="706138"/>
                  <a:pt x="1078475" y="730799"/>
                  <a:pt x="1052526" y="704850"/>
                </a:cubicBezTo>
                <a:cubicBezTo>
                  <a:pt x="1012385" y="664709"/>
                  <a:pt x="1069222" y="715006"/>
                  <a:pt x="1038238" y="676275"/>
                </a:cubicBezTo>
                <a:cubicBezTo>
                  <a:pt x="1034662" y="671806"/>
                  <a:pt x="1028713" y="669925"/>
                  <a:pt x="1023951" y="666750"/>
                </a:cubicBezTo>
                <a:cubicBezTo>
                  <a:pt x="1020776" y="660400"/>
                  <a:pt x="1017223" y="654225"/>
                  <a:pt x="1014426" y="647700"/>
                </a:cubicBezTo>
                <a:cubicBezTo>
                  <a:pt x="1012448" y="643086"/>
                  <a:pt x="1011908" y="637903"/>
                  <a:pt x="1009663" y="633413"/>
                </a:cubicBezTo>
                <a:cubicBezTo>
                  <a:pt x="997062" y="608212"/>
                  <a:pt x="1003409" y="629420"/>
                  <a:pt x="985851" y="604838"/>
                </a:cubicBezTo>
                <a:cubicBezTo>
                  <a:pt x="981725" y="599061"/>
                  <a:pt x="979123" y="592313"/>
                  <a:pt x="976326" y="585788"/>
                </a:cubicBezTo>
                <a:cubicBezTo>
                  <a:pt x="974348" y="581174"/>
                  <a:pt x="974699" y="575420"/>
                  <a:pt x="971563" y="571500"/>
                </a:cubicBezTo>
                <a:cubicBezTo>
                  <a:pt x="967987" y="567031"/>
                  <a:pt x="962038" y="565150"/>
                  <a:pt x="957276" y="561975"/>
                </a:cubicBezTo>
                <a:cubicBezTo>
                  <a:pt x="954101" y="557213"/>
                  <a:pt x="951798" y="551735"/>
                  <a:pt x="947751" y="547688"/>
                </a:cubicBezTo>
                <a:cubicBezTo>
                  <a:pt x="943703" y="543641"/>
                  <a:pt x="937188" y="542509"/>
                  <a:pt x="933463" y="538163"/>
                </a:cubicBezTo>
                <a:cubicBezTo>
                  <a:pt x="914169" y="515653"/>
                  <a:pt x="926844" y="515745"/>
                  <a:pt x="904888" y="500063"/>
                </a:cubicBezTo>
                <a:cubicBezTo>
                  <a:pt x="878588" y="481278"/>
                  <a:pt x="886925" y="501152"/>
                  <a:pt x="857263" y="471488"/>
                </a:cubicBezTo>
                <a:cubicBezTo>
                  <a:pt x="832010" y="446233"/>
                  <a:pt x="855268" y="466480"/>
                  <a:pt x="823926" y="447675"/>
                </a:cubicBezTo>
                <a:cubicBezTo>
                  <a:pt x="814110" y="441785"/>
                  <a:pt x="795351" y="428625"/>
                  <a:pt x="795351" y="428625"/>
                </a:cubicBezTo>
                <a:cubicBezTo>
                  <a:pt x="792176" y="423863"/>
                  <a:pt x="789873" y="418385"/>
                  <a:pt x="785826" y="414338"/>
                </a:cubicBezTo>
                <a:cubicBezTo>
                  <a:pt x="781778" y="410291"/>
                  <a:pt x="776508" y="407653"/>
                  <a:pt x="771538" y="404813"/>
                </a:cubicBezTo>
                <a:cubicBezTo>
                  <a:pt x="752168" y="393744"/>
                  <a:pt x="754273" y="395734"/>
                  <a:pt x="733438" y="390525"/>
                </a:cubicBezTo>
                <a:cubicBezTo>
                  <a:pt x="730263" y="385763"/>
                  <a:pt x="727960" y="380285"/>
                  <a:pt x="723913" y="376238"/>
                </a:cubicBezTo>
                <a:cubicBezTo>
                  <a:pt x="714681" y="367006"/>
                  <a:pt x="706959" y="365824"/>
                  <a:pt x="695338" y="361950"/>
                </a:cubicBezTo>
                <a:cubicBezTo>
                  <a:pt x="680244" y="339310"/>
                  <a:pt x="687622" y="353091"/>
                  <a:pt x="676288" y="319088"/>
                </a:cubicBezTo>
                <a:cubicBezTo>
                  <a:pt x="676286" y="319083"/>
                  <a:pt x="666767" y="290518"/>
                  <a:pt x="666763" y="290513"/>
                </a:cubicBezTo>
                <a:lnTo>
                  <a:pt x="657238" y="276225"/>
                </a:lnTo>
                <a:lnTo>
                  <a:pt x="647713" y="247650"/>
                </a:lnTo>
                <a:cubicBezTo>
                  <a:pt x="646126" y="242888"/>
                  <a:pt x="645735" y="237540"/>
                  <a:pt x="642951" y="233363"/>
                </a:cubicBezTo>
                <a:cubicBezTo>
                  <a:pt x="639776" y="228600"/>
                  <a:pt x="635751" y="224306"/>
                  <a:pt x="633426" y="219075"/>
                </a:cubicBezTo>
                <a:cubicBezTo>
                  <a:pt x="629348" y="209900"/>
                  <a:pt x="627076" y="200025"/>
                  <a:pt x="623901" y="190500"/>
                </a:cubicBezTo>
                <a:lnTo>
                  <a:pt x="619138" y="176213"/>
                </a:lnTo>
                <a:lnTo>
                  <a:pt x="604851" y="133350"/>
                </a:lnTo>
                <a:cubicBezTo>
                  <a:pt x="603264" y="128588"/>
                  <a:pt x="603638" y="122613"/>
                  <a:pt x="600088" y="119063"/>
                </a:cubicBezTo>
                <a:cubicBezTo>
                  <a:pt x="590563" y="109538"/>
                  <a:pt x="583561" y="96512"/>
                  <a:pt x="571513" y="90488"/>
                </a:cubicBezTo>
                <a:cubicBezTo>
                  <a:pt x="565163" y="87313"/>
                  <a:pt x="558627" y="84485"/>
                  <a:pt x="552463" y="80963"/>
                </a:cubicBezTo>
                <a:cubicBezTo>
                  <a:pt x="547493" y="78123"/>
                  <a:pt x="543295" y="73998"/>
                  <a:pt x="538176" y="71438"/>
                </a:cubicBezTo>
                <a:cubicBezTo>
                  <a:pt x="533686" y="69193"/>
                  <a:pt x="528378" y="68920"/>
                  <a:pt x="523888" y="66675"/>
                </a:cubicBezTo>
                <a:cubicBezTo>
                  <a:pt x="486966" y="48214"/>
                  <a:pt x="531220" y="64355"/>
                  <a:pt x="495313" y="52388"/>
                </a:cubicBezTo>
                <a:cubicBezTo>
                  <a:pt x="468228" y="25301"/>
                  <a:pt x="494309" y="47124"/>
                  <a:pt x="466738" y="33338"/>
                </a:cubicBezTo>
                <a:cubicBezTo>
                  <a:pt x="458459" y="29198"/>
                  <a:pt x="451434" y="22696"/>
                  <a:pt x="442926" y="19050"/>
                </a:cubicBezTo>
                <a:cubicBezTo>
                  <a:pt x="429083" y="13117"/>
                  <a:pt x="414351" y="9526"/>
                  <a:pt x="400063" y="4763"/>
                </a:cubicBezTo>
                <a:lnTo>
                  <a:pt x="385776" y="0"/>
                </a:lnTo>
                <a:cubicBezTo>
                  <a:pt x="357201" y="1588"/>
                  <a:pt x="328541" y="2050"/>
                  <a:pt x="300051" y="4763"/>
                </a:cubicBezTo>
                <a:cubicBezTo>
                  <a:pt x="295053" y="5239"/>
                  <a:pt x="290068" y="6942"/>
                  <a:pt x="285763" y="9525"/>
                </a:cubicBezTo>
                <a:cubicBezTo>
                  <a:pt x="281913" y="11835"/>
                  <a:pt x="293701" y="12701"/>
                  <a:pt x="290526" y="142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3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295" name="Freeform 28">
            <a:extLst>
              <a:ext uri="{FF2B5EF4-FFF2-40B4-BE49-F238E27FC236}">
                <a16:creationId xmlns:a16="http://schemas.microsoft.com/office/drawing/2014/main" id="{88FD4EE6-D98B-5A3F-5B0F-191D1257E4CF}"/>
              </a:ext>
            </a:extLst>
          </p:cNvPr>
          <p:cNvSpPr/>
          <p:nvPr/>
        </p:nvSpPr>
        <p:spPr>
          <a:xfrm>
            <a:off x="7175067" y="494603"/>
            <a:ext cx="1802674" cy="1763485"/>
          </a:xfrm>
          <a:custGeom>
            <a:avLst/>
            <a:gdLst>
              <a:gd name="connsiteX0" fmla="*/ 130628 w 1802674"/>
              <a:gd name="connsiteY0" fmla="*/ 52251 h 1763485"/>
              <a:gd name="connsiteX1" fmla="*/ 287382 w 1802674"/>
              <a:gd name="connsiteY1" fmla="*/ 39188 h 1763485"/>
              <a:gd name="connsiteX2" fmla="*/ 339634 w 1802674"/>
              <a:gd name="connsiteY2" fmla="*/ 26125 h 1763485"/>
              <a:gd name="connsiteX3" fmla="*/ 404948 w 1802674"/>
              <a:gd name="connsiteY3" fmla="*/ 13063 h 1763485"/>
              <a:gd name="connsiteX4" fmla="*/ 535577 w 1802674"/>
              <a:gd name="connsiteY4" fmla="*/ 0 h 1763485"/>
              <a:gd name="connsiteX5" fmla="*/ 1554480 w 1802674"/>
              <a:gd name="connsiteY5" fmla="*/ 13063 h 1763485"/>
              <a:gd name="connsiteX6" fmla="*/ 1593668 w 1802674"/>
              <a:gd name="connsiteY6" fmla="*/ 39188 h 1763485"/>
              <a:gd name="connsiteX7" fmla="*/ 1645920 w 1802674"/>
              <a:gd name="connsiteY7" fmla="*/ 117565 h 1763485"/>
              <a:gd name="connsiteX8" fmla="*/ 1698171 w 1802674"/>
              <a:gd name="connsiteY8" fmla="*/ 274320 h 1763485"/>
              <a:gd name="connsiteX9" fmla="*/ 1711234 w 1802674"/>
              <a:gd name="connsiteY9" fmla="*/ 313508 h 1763485"/>
              <a:gd name="connsiteX10" fmla="*/ 1737360 w 1802674"/>
              <a:gd name="connsiteY10" fmla="*/ 352697 h 1763485"/>
              <a:gd name="connsiteX11" fmla="*/ 1750422 w 1802674"/>
              <a:gd name="connsiteY11" fmla="*/ 391885 h 1763485"/>
              <a:gd name="connsiteX12" fmla="*/ 1776548 w 1802674"/>
              <a:gd name="connsiteY12" fmla="*/ 587828 h 1763485"/>
              <a:gd name="connsiteX13" fmla="*/ 1789611 w 1802674"/>
              <a:gd name="connsiteY13" fmla="*/ 627017 h 1763485"/>
              <a:gd name="connsiteX14" fmla="*/ 1802674 w 1802674"/>
              <a:gd name="connsiteY14" fmla="*/ 679268 h 1763485"/>
              <a:gd name="connsiteX15" fmla="*/ 1789611 w 1802674"/>
              <a:gd name="connsiteY15" fmla="*/ 849085 h 1763485"/>
              <a:gd name="connsiteX16" fmla="*/ 1776548 w 1802674"/>
              <a:gd name="connsiteY16" fmla="*/ 901337 h 1763485"/>
              <a:gd name="connsiteX17" fmla="*/ 1763485 w 1802674"/>
              <a:gd name="connsiteY17" fmla="*/ 992777 h 1763485"/>
              <a:gd name="connsiteX18" fmla="*/ 1750422 w 1802674"/>
              <a:gd name="connsiteY18" fmla="*/ 1528354 h 1763485"/>
              <a:gd name="connsiteX19" fmla="*/ 1711234 w 1802674"/>
              <a:gd name="connsiteY19" fmla="*/ 1554480 h 1763485"/>
              <a:gd name="connsiteX20" fmla="*/ 1685108 w 1802674"/>
              <a:gd name="connsiteY20" fmla="*/ 1632857 h 1763485"/>
              <a:gd name="connsiteX21" fmla="*/ 1619794 w 1802674"/>
              <a:gd name="connsiteY21" fmla="*/ 1711234 h 1763485"/>
              <a:gd name="connsiteX22" fmla="*/ 1541417 w 1802674"/>
              <a:gd name="connsiteY22" fmla="*/ 1763485 h 1763485"/>
              <a:gd name="connsiteX23" fmla="*/ 1306285 w 1802674"/>
              <a:gd name="connsiteY23" fmla="*/ 1750423 h 1763485"/>
              <a:gd name="connsiteX24" fmla="*/ 1227908 w 1802674"/>
              <a:gd name="connsiteY24" fmla="*/ 1724297 h 1763485"/>
              <a:gd name="connsiteX25" fmla="*/ 1110342 w 1802674"/>
              <a:gd name="connsiteY25" fmla="*/ 1672045 h 1763485"/>
              <a:gd name="connsiteX26" fmla="*/ 1071154 w 1802674"/>
              <a:gd name="connsiteY26" fmla="*/ 1658983 h 1763485"/>
              <a:gd name="connsiteX27" fmla="*/ 1031965 w 1802674"/>
              <a:gd name="connsiteY27" fmla="*/ 1645920 h 1763485"/>
              <a:gd name="connsiteX28" fmla="*/ 966651 w 1802674"/>
              <a:gd name="connsiteY28" fmla="*/ 1580605 h 1763485"/>
              <a:gd name="connsiteX29" fmla="*/ 875211 w 1802674"/>
              <a:gd name="connsiteY29" fmla="*/ 1528354 h 1763485"/>
              <a:gd name="connsiteX30" fmla="*/ 796834 w 1802674"/>
              <a:gd name="connsiteY30" fmla="*/ 1476103 h 1763485"/>
              <a:gd name="connsiteX31" fmla="*/ 731520 w 1802674"/>
              <a:gd name="connsiteY31" fmla="*/ 1423851 h 1763485"/>
              <a:gd name="connsiteX32" fmla="*/ 653142 w 1802674"/>
              <a:gd name="connsiteY32" fmla="*/ 1371600 h 1763485"/>
              <a:gd name="connsiteX33" fmla="*/ 600891 w 1802674"/>
              <a:gd name="connsiteY33" fmla="*/ 1293223 h 1763485"/>
              <a:gd name="connsiteX34" fmla="*/ 522514 w 1802674"/>
              <a:gd name="connsiteY34" fmla="*/ 1240971 h 1763485"/>
              <a:gd name="connsiteX35" fmla="*/ 431074 w 1802674"/>
              <a:gd name="connsiteY35" fmla="*/ 1123405 h 1763485"/>
              <a:gd name="connsiteX36" fmla="*/ 378822 w 1802674"/>
              <a:gd name="connsiteY36" fmla="*/ 1058091 h 1763485"/>
              <a:gd name="connsiteX37" fmla="*/ 365760 w 1802674"/>
              <a:gd name="connsiteY37" fmla="*/ 1018903 h 1763485"/>
              <a:gd name="connsiteX38" fmla="*/ 300445 w 1802674"/>
              <a:gd name="connsiteY38" fmla="*/ 953588 h 1763485"/>
              <a:gd name="connsiteX39" fmla="*/ 274320 w 1802674"/>
              <a:gd name="connsiteY39" fmla="*/ 914400 h 1763485"/>
              <a:gd name="connsiteX40" fmla="*/ 235131 w 1802674"/>
              <a:gd name="connsiteY40" fmla="*/ 888274 h 1763485"/>
              <a:gd name="connsiteX41" fmla="*/ 209005 w 1802674"/>
              <a:gd name="connsiteY41" fmla="*/ 809897 h 1763485"/>
              <a:gd name="connsiteX42" fmla="*/ 130628 w 1802674"/>
              <a:gd name="connsiteY42" fmla="*/ 757645 h 1763485"/>
              <a:gd name="connsiteX43" fmla="*/ 104502 w 1802674"/>
              <a:gd name="connsiteY43" fmla="*/ 718457 h 1763485"/>
              <a:gd name="connsiteX44" fmla="*/ 78377 w 1802674"/>
              <a:gd name="connsiteY44" fmla="*/ 640080 h 1763485"/>
              <a:gd name="connsiteX45" fmla="*/ 65314 w 1802674"/>
              <a:gd name="connsiteY45" fmla="*/ 600891 h 1763485"/>
              <a:gd name="connsiteX46" fmla="*/ 26125 w 1802674"/>
              <a:gd name="connsiteY46" fmla="*/ 483325 h 1763485"/>
              <a:gd name="connsiteX47" fmla="*/ 13062 w 1802674"/>
              <a:gd name="connsiteY47" fmla="*/ 444137 h 1763485"/>
              <a:gd name="connsiteX48" fmla="*/ 0 w 1802674"/>
              <a:gd name="connsiteY48" fmla="*/ 378823 h 1763485"/>
              <a:gd name="connsiteX49" fmla="*/ 13062 w 1802674"/>
              <a:gd name="connsiteY49" fmla="*/ 287383 h 1763485"/>
              <a:gd name="connsiteX50" fmla="*/ 39188 w 1802674"/>
              <a:gd name="connsiteY50" fmla="*/ 248194 h 1763485"/>
              <a:gd name="connsiteX51" fmla="*/ 78377 w 1802674"/>
              <a:gd name="connsiteY51" fmla="*/ 169817 h 1763485"/>
              <a:gd name="connsiteX52" fmla="*/ 130628 w 1802674"/>
              <a:gd name="connsiteY52" fmla="*/ 104503 h 1763485"/>
              <a:gd name="connsiteX53" fmla="*/ 156754 w 1802674"/>
              <a:gd name="connsiteY53" fmla="*/ 65314 h 1763485"/>
              <a:gd name="connsiteX54" fmla="*/ 130628 w 1802674"/>
              <a:gd name="connsiteY54" fmla="*/ 52251 h 176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802674" h="1763485">
                <a:moveTo>
                  <a:pt x="130628" y="52251"/>
                </a:moveTo>
                <a:cubicBezTo>
                  <a:pt x="152399" y="47897"/>
                  <a:pt x="235354" y="45692"/>
                  <a:pt x="287382" y="39188"/>
                </a:cubicBezTo>
                <a:cubicBezTo>
                  <a:pt x="305197" y="36961"/>
                  <a:pt x="322108" y="30020"/>
                  <a:pt x="339634" y="26125"/>
                </a:cubicBezTo>
                <a:cubicBezTo>
                  <a:pt x="361308" y="21309"/>
                  <a:pt x="382940" y="15997"/>
                  <a:pt x="404948" y="13063"/>
                </a:cubicBezTo>
                <a:cubicBezTo>
                  <a:pt x="448324" y="7280"/>
                  <a:pt x="492034" y="4354"/>
                  <a:pt x="535577" y="0"/>
                </a:cubicBezTo>
                <a:cubicBezTo>
                  <a:pt x="875211" y="4354"/>
                  <a:pt x="1215050" y="492"/>
                  <a:pt x="1554480" y="13063"/>
                </a:cubicBezTo>
                <a:cubicBezTo>
                  <a:pt x="1570169" y="13644"/>
                  <a:pt x="1583330" y="27373"/>
                  <a:pt x="1593668" y="39188"/>
                </a:cubicBezTo>
                <a:cubicBezTo>
                  <a:pt x="1614345" y="62818"/>
                  <a:pt x="1645920" y="117565"/>
                  <a:pt x="1645920" y="117565"/>
                </a:cubicBezTo>
                <a:lnTo>
                  <a:pt x="1698171" y="274320"/>
                </a:lnTo>
                <a:cubicBezTo>
                  <a:pt x="1702525" y="287383"/>
                  <a:pt x="1703596" y="302051"/>
                  <a:pt x="1711234" y="313508"/>
                </a:cubicBezTo>
                <a:lnTo>
                  <a:pt x="1737360" y="352697"/>
                </a:lnTo>
                <a:cubicBezTo>
                  <a:pt x="1741714" y="365760"/>
                  <a:pt x="1747435" y="378444"/>
                  <a:pt x="1750422" y="391885"/>
                </a:cubicBezTo>
                <a:cubicBezTo>
                  <a:pt x="1771903" y="488552"/>
                  <a:pt x="1757678" y="474611"/>
                  <a:pt x="1776548" y="587828"/>
                </a:cubicBezTo>
                <a:cubicBezTo>
                  <a:pt x="1778812" y="601410"/>
                  <a:pt x="1785828" y="613777"/>
                  <a:pt x="1789611" y="627017"/>
                </a:cubicBezTo>
                <a:cubicBezTo>
                  <a:pt x="1794543" y="644279"/>
                  <a:pt x="1798320" y="661851"/>
                  <a:pt x="1802674" y="679268"/>
                </a:cubicBezTo>
                <a:cubicBezTo>
                  <a:pt x="1798320" y="735874"/>
                  <a:pt x="1796244" y="792701"/>
                  <a:pt x="1789611" y="849085"/>
                </a:cubicBezTo>
                <a:cubicBezTo>
                  <a:pt x="1787513" y="866915"/>
                  <a:pt x="1779760" y="883673"/>
                  <a:pt x="1776548" y="901337"/>
                </a:cubicBezTo>
                <a:cubicBezTo>
                  <a:pt x="1771040" y="931630"/>
                  <a:pt x="1767839" y="962297"/>
                  <a:pt x="1763485" y="992777"/>
                </a:cubicBezTo>
                <a:cubicBezTo>
                  <a:pt x="1759131" y="1171303"/>
                  <a:pt x="1766962" y="1350543"/>
                  <a:pt x="1750422" y="1528354"/>
                </a:cubicBezTo>
                <a:cubicBezTo>
                  <a:pt x="1748968" y="1543986"/>
                  <a:pt x="1719555" y="1541167"/>
                  <a:pt x="1711234" y="1554480"/>
                </a:cubicBezTo>
                <a:cubicBezTo>
                  <a:pt x="1696638" y="1577833"/>
                  <a:pt x="1700384" y="1609943"/>
                  <a:pt x="1685108" y="1632857"/>
                </a:cubicBezTo>
                <a:cubicBezTo>
                  <a:pt x="1661886" y="1667688"/>
                  <a:pt x="1654607" y="1684157"/>
                  <a:pt x="1619794" y="1711234"/>
                </a:cubicBezTo>
                <a:cubicBezTo>
                  <a:pt x="1595009" y="1730511"/>
                  <a:pt x="1541417" y="1763485"/>
                  <a:pt x="1541417" y="1763485"/>
                </a:cubicBezTo>
                <a:cubicBezTo>
                  <a:pt x="1463040" y="1759131"/>
                  <a:pt x="1384177" y="1760159"/>
                  <a:pt x="1306285" y="1750423"/>
                </a:cubicBezTo>
                <a:cubicBezTo>
                  <a:pt x="1278959" y="1747007"/>
                  <a:pt x="1227908" y="1724297"/>
                  <a:pt x="1227908" y="1724297"/>
                </a:cubicBezTo>
                <a:cubicBezTo>
                  <a:pt x="1165807" y="1682895"/>
                  <a:pt x="1203612" y="1703135"/>
                  <a:pt x="1110342" y="1672045"/>
                </a:cubicBezTo>
                <a:lnTo>
                  <a:pt x="1071154" y="1658983"/>
                </a:lnTo>
                <a:lnTo>
                  <a:pt x="1031965" y="1645920"/>
                </a:lnTo>
                <a:cubicBezTo>
                  <a:pt x="927457" y="1576246"/>
                  <a:pt x="1053744" y="1667697"/>
                  <a:pt x="966651" y="1580605"/>
                </a:cubicBezTo>
                <a:cubicBezTo>
                  <a:pt x="944061" y="1558015"/>
                  <a:pt x="900819" y="1543719"/>
                  <a:pt x="875211" y="1528354"/>
                </a:cubicBezTo>
                <a:cubicBezTo>
                  <a:pt x="848287" y="1512199"/>
                  <a:pt x="796834" y="1476103"/>
                  <a:pt x="796834" y="1476103"/>
                </a:cubicBezTo>
                <a:cubicBezTo>
                  <a:pt x="748562" y="1403695"/>
                  <a:pt x="798327" y="1460965"/>
                  <a:pt x="731520" y="1423851"/>
                </a:cubicBezTo>
                <a:cubicBezTo>
                  <a:pt x="704072" y="1408602"/>
                  <a:pt x="653142" y="1371600"/>
                  <a:pt x="653142" y="1371600"/>
                </a:cubicBezTo>
                <a:cubicBezTo>
                  <a:pt x="635725" y="1345474"/>
                  <a:pt x="627017" y="1310640"/>
                  <a:pt x="600891" y="1293223"/>
                </a:cubicBezTo>
                <a:lnTo>
                  <a:pt x="522514" y="1240971"/>
                </a:lnTo>
                <a:cubicBezTo>
                  <a:pt x="460015" y="1147223"/>
                  <a:pt x="492464" y="1184797"/>
                  <a:pt x="431074" y="1123405"/>
                </a:cubicBezTo>
                <a:cubicBezTo>
                  <a:pt x="398239" y="1024903"/>
                  <a:pt x="446351" y="1142502"/>
                  <a:pt x="378822" y="1058091"/>
                </a:cubicBezTo>
                <a:cubicBezTo>
                  <a:pt x="370220" y="1047339"/>
                  <a:pt x="371918" y="1031219"/>
                  <a:pt x="365760" y="1018903"/>
                </a:cubicBezTo>
                <a:cubicBezTo>
                  <a:pt x="343989" y="975360"/>
                  <a:pt x="339634" y="979714"/>
                  <a:pt x="300445" y="953588"/>
                </a:cubicBezTo>
                <a:cubicBezTo>
                  <a:pt x="291737" y="940525"/>
                  <a:pt x="285421" y="925501"/>
                  <a:pt x="274320" y="914400"/>
                </a:cubicBezTo>
                <a:cubicBezTo>
                  <a:pt x="263219" y="903299"/>
                  <a:pt x="243452" y="901587"/>
                  <a:pt x="235131" y="888274"/>
                </a:cubicBezTo>
                <a:cubicBezTo>
                  <a:pt x="220535" y="864921"/>
                  <a:pt x="231919" y="825173"/>
                  <a:pt x="209005" y="809897"/>
                </a:cubicBezTo>
                <a:lnTo>
                  <a:pt x="130628" y="757645"/>
                </a:lnTo>
                <a:cubicBezTo>
                  <a:pt x="121919" y="744582"/>
                  <a:pt x="110878" y="732803"/>
                  <a:pt x="104502" y="718457"/>
                </a:cubicBezTo>
                <a:cubicBezTo>
                  <a:pt x="93317" y="693292"/>
                  <a:pt x="87085" y="666206"/>
                  <a:pt x="78377" y="640080"/>
                </a:cubicBezTo>
                <a:lnTo>
                  <a:pt x="65314" y="600891"/>
                </a:lnTo>
                <a:lnTo>
                  <a:pt x="26125" y="483325"/>
                </a:lnTo>
                <a:cubicBezTo>
                  <a:pt x="21771" y="470262"/>
                  <a:pt x="15762" y="457639"/>
                  <a:pt x="13062" y="444137"/>
                </a:cubicBezTo>
                <a:lnTo>
                  <a:pt x="0" y="378823"/>
                </a:lnTo>
                <a:cubicBezTo>
                  <a:pt x="4354" y="348343"/>
                  <a:pt x="4215" y="316874"/>
                  <a:pt x="13062" y="287383"/>
                </a:cubicBezTo>
                <a:cubicBezTo>
                  <a:pt x="17573" y="272345"/>
                  <a:pt x="32167" y="262236"/>
                  <a:pt x="39188" y="248194"/>
                </a:cubicBezTo>
                <a:cubicBezTo>
                  <a:pt x="93268" y="140034"/>
                  <a:pt x="3507" y="282118"/>
                  <a:pt x="78377" y="169817"/>
                </a:cubicBezTo>
                <a:cubicBezTo>
                  <a:pt x="103808" y="93524"/>
                  <a:pt x="71542" y="163589"/>
                  <a:pt x="130628" y="104503"/>
                </a:cubicBezTo>
                <a:cubicBezTo>
                  <a:pt x="141729" y="93402"/>
                  <a:pt x="147334" y="77874"/>
                  <a:pt x="156754" y="65314"/>
                </a:cubicBezTo>
                <a:cubicBezTo>
                  <a:pt x="160449" y="60388"/>
                  <a:pt x="108857" y="56605"/>
                  <a:pt x="130628" y="52251"/>
                </a:cubicBezTo>
                <a:close/>
              </a:path>
            </a:pathLst>
          </a:custGeom>
          <a:solidFill>
            <a:srgbClr val="0070C0">
              <a:alpha val="43000"/>
            </a:srgbClr>
          </a:solidFill>
          <a:ln>
            <a:solidFill>
              <a:srgbClr val="0B449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96" name="Freeform 1139">
            <a:extLst>
              <a:ext uri="{FF2B5EF4-FFF2-40B4-BE49-F238E27FC236}">
                <a16:creationId xmlns:a16="http://schemas.microsoft.com/office/drawing/2014/main" id="{098297B3-5D47-FE82-BFD7-790892FDE373}"/>
              </a:ext>
            </a:extLst>
          </p:cNvPr>
          <p:cNvSpPr/>
          <p:nvPr/>
        </p:nvSpPr>
        <p:spPr>
          <a:xfrm>
            <a:off x="7190500" y="1478551"/>
            <a:ext cx="1742439" cy="1659314"/>
          </a:xfrm>
          <a:custGeom>
            <a:avLst/>
            <a:gdLst>
              <a:gd name="connsiteX0" fmla="*/ 1711235 w 1742439"/>
              <a:gd name="connsiteY0" fmla="*/ 287383 h 1659314"/>
              <a:gd name="connsiteX1" fmla="*/ 1698172 w 1742439"/>
              <a:gd name="connsiteY1" fmla="*/ 222069 h 1659314"/>
              <a:gd name="connsiteX2" fmla="*/ 1658983 w 1742439"/>
              <a:gd name="connsiteY2" fmla="*/ 182880 h 1659314"/>
              <a:gd name="connsiteX3" fmla="*/ 1593669 w 1742439"/>
              <a:gd name="connsiteY3" fmla="*/ 130629 h 1659314"/>
              <a:gd name="connsiteX4" fmla="*/ 1541417 w 1742439"/>
              <a:gd name="connsiteY4" fmla="*/ 65314 h 1659314"/>
              <a:gd name="connsiteX5" fmla="*/ 1515292 w 1742439"/>
              <a:gd name="connsiteY5" fmla="*/ 26126 h 1659314"/>
              <a:gd name="connsiteX6" fmla="*/ 1436915 w 1742439"/>
              <a:gd name="connsiteY6" fmla="*/ 0 h 1659314"/>
              <a:gd name="connsiteX7" fmla="*/ 1254035 w 1742439"/>
              <a:gd name="connsiteY7" fmla="*/ 13063 h 1659314"/>
              <a:gd name="connsiteX8" fmla="*/ 1175657 w 1742439"/>
              <a:gd name="connsiteY8" fmla="*/ 39189 h 1659314"/>
              <a:gd name="connsiteX9" fmla="*/ 1149532 w 1742439"/>
              <a:gd name="connsiteY9" fmla="*/ 78377 h 1659314"/>
              <a:gd name="connsiteX10" fmla="*/ 1110343 w 1742439"/>
              <a:gd name="connsiteY10" fmla="*/ 91440 h 1659314"/>
              <a:gd name="connsiteX11" fmla="*/ 1031966 w 1742439"/>
              <a:gd name="connsiteY11" fmla="*/ 143691 h 1659314"/>
              <a:gd name="connsiteX12" fmla="*/ 992777 w 1742439"/>
              <a:gd name="connsiteY12" fmla="*/ 182880 h 1659314"/>
              <a:gd name="connsiteX13" fmla="*/ 966652 w 1742439"/>
              <a:gd name="connsiteY13" fmla="*/ 222069 h 1659314"/>
              <a:gd name="connsiteX14" fmla="*/ 927463 w 1742439"/>
              <a:gd name="connsiteY14" fmla="*/ 248194 h 1659314"/>
              <a:gd name="connsiteX15" fmla="*/ 901337 w 1742439"/>
              <a:gd name="connsiteY15" fmla="*/ 287383 h 1659314"/>
              <a:gd name="connsiteX16" fmla="*/ 862149 w 1742439"/>
              <a:gd name="connsiteY16" fmla="*/ 300446 h 1659314"/>
              <a:gd name="connsiteX17" fmla="*/ 822960 w 1742439"/>
              <a:gd name="connsiteY17" fmla="*/ 326571 h 1659314"/>
              <a:gd name="connsiteX18" fmla="*/ 796835 w 1742439"/>
              <a:gd name="connsiteY18" fmla="*/ 365760 h 1659314"/>
              <a:gd name="connsiteX19" fmla="*/ 718457 w 1742439"/>
              <a:gd name="connsiteY19" fmla="*/ 431074 h 1659314"/>
              <a:gd name="connsiteX20" fmla="*/ 666206 w 1742439"/>
              <a:gd name="connsiteY20" fmla="*/ 509451 h 1659314"/>
              <a:gd name="connsiteX21" fmla="*/ 653143 w 1742439"/>
              <a:gd name="connsiteY21" fmla="*/ 548640 h 1659314"/>
              <a:gd name="connsiteX22" fmla="*/ 613955 w 1742439"/>
              <a:gd name="connsiteY22" fmla="*/ 574766 h 1659314"/>
              <a:gd name="connsiteX23" fmla="*/ 574766 w 1742439"/>
              <a:gd name="connsiteY23" fmla="*/ 613954 h 1659314"/>
              <a:gd name="connsiteX24" fmla="*/ 535577 w 1742439"/>
              <a:gd name="connsiteY24" fmla="*/ 640080 h 1659314"/>
              <a:gd name="connsiteX25" fmla="*/ 457200 w 1742439"/>
              <a:gd name="connsiteY25" fmla="*/ 718457 h 1659314"/>
              <a:gd name="connsiteX26" fmla="*/ 418012 w 1742439"/>
              <a:gd name="connsiteY26" fmla="*/ 757646 h 1659314"/>
              <a:gd name="connsiteX27" fmla="*/ 378823 w 1742439"/>
              <a:gd name="connsiteY27" fmla="*/ 796834 h 1659314"/>
              <a:gd name="connsiteX28" fmla="*/ 326572 w 1742439"/>
              <a:gd name="connsiteY28" fmla="*/ 862149 h 1659314"/>
              <a:gd name="connsiteX29" fmla="*/ 300446 w 1742439"/>
              <a:gd name="connsiteY29" fmla="*/ 901337 h 1659314"/>
              <a:gd name="connsiteX30" fmla="*/ 222069 w 1742439"/>
              <a:gd name="connsiteY30" fmla="*/ 953589 h 1659314"/>
              <a:gd name="connsiteX31" fmla="*/ 195943 w 1742439"/>
              <a:gd name="connsiteY31" fmla="*/ 992777 h 1659314"/>
              <a:gd name="connsiteX32" fmla="*/ 156755 w 1742439"/>
              <a:gd name="connsiteY32" fmla="*/ 1018903 h 1659314"/>
              <a:gd name="connsiteX33" fmla="*/ 143692 w 1742439"/>
              <a:gd name="connsiteY33" fmla="*/ 1058091 h 1659314"/>
              <a:gd name="connsiteX34" fmla="*/ 91440 w 1742439"/>
              <a:gd name="connsiteY34" fmla="*/ 1136469 h 1659314"/>
              <a:gd name="connsiteX35" fmla="*/ 65315 w 1742439"/>
              <a:gd name="connsiteY35" fmla="*/ 1175657 h 1659314"/>
              <a:gd name="connsiteX36" fmla="*/ 26126 w 1742439"/>
              <a:gd name="connsiteY36" fmla="*/ 1254034 h 1659314"/>
              <a:gd name="connsiteX37" fmla="*/ 13063 w 1742439"/>
              <a:gd name="connsiteY37" fmla="*/ 1319349 h 1659314"/>
              <a:gd name="connsiteX38" fmla="*/ 0 w 1742439"/>
              <a:gd name="connsiteY38" fmla="*/ 1358537 h 1659314"/>
              <a:gd name="connsiteX39" fmla="*/ 13063 w 1742439"/>
              <a:gd name="connsiteY39" fmla="*/ 1502229 h 1659314"/>
              <a:gd name="connsiteX40" fmla="*/ 78377 w 1742439"/>
              <a:gd name="connsiteY40" fmla="*/ 1554480 h 1659314"/>
              <a:gd name="connsiteX41" fmla="*/ 156755 w 1742439"/>
              <a:gd name="connsiteY41" fmla="*/ 1606731 h 1659314"/>
              <a:gd name="connsiteX42" fmla="*/ 235132 w 1742439"/>
              <a:gd name="connsiteY42" fmla="*/ 1632857 h 1659314"/>
              <a:gd name="connsiteX43" fmla="*/ 274320 w 1742439"/>
              <a:gd name="connsiteY43" fmla="*/ 1645920 h 1659314"/>
              <a:gd name="connsiteX44" fmla="*/ 365760 w 1742439"/>
              <a:gd name="connsiteY44" fmla="*/ 1658983 h 1659314"/>
              <a:gd name="connsiteX45" fmla="*/ 653143 w 1742439"/>
              <a:gd name="connsiteY45" fmla="*/ 1645920 h 1659314"/>
              <a:gd name="connsiteX46" fmla="*/ 1463040 w 1742439"/>
              <a:gd name="connsiteY46" fmla="*/ 1645920 h 1659314"/>
              <a:gd name="connsiteX47" fmla="*/ 1541417 w 1742439"/>
              <a:gd name="connsiteY47" fmla="*/ 1619794 h 1659314"/>
              <a:gd name="connsiteX48" fmla="*/ 1580606 w 1742439"/>
              <a:gd name="connsiteY48" fmla="*/ 1606731 h 1659314"/>
              <a:gd name="connsiteX49" fmla="*/ 1619795 w 1742439"/>
              <a:gd name="connsiteY49" fmla="*/ 1580606 h 1659314"/>
              <a:gd name="connsiteX50" fmla="*/ 1645920 w 1742439"/>
              <a:gd name="connsiteY50" fmla="*/ 1541417 h 1659314"/>
              <a:gd name="connsiteX51" fmla="*/ 1685109 w 1742439"/>
              <a:gd name="connsiteY51" fmla="*/ 1502229 h 1659314"/>
              <a:gd name="connsiteX52" fmla="*/ 1698172 w 1742439"/>
              <a:gd name="connsiteY52" fmla="*/ 1463040 h 1659314"/>
              <a:gd name="connsiteX53" fmla="*/ 1724297 w 1742439"/>
              <a:gd name="connsiteY53" fmla="*/ 1423851 h 1659314"/>
              <a:gd name="connsiteX54" fmla="*/ 1724297 w 1742439"/>
              <a:gd name="connsiteY54" fmla="*/ 705394 h 1659314"/>
              <a:gd name="connsiteX55" fmla="*/ 1737360 w 1742439"/>
              <a:gd name="connsiteY55" fmla="*/ 548640 h 1659314"/>
              <a:gd name="connsiteX56" fmla="*/ 1724297 w 1742439"/>
              <a:gd name="connsiteY56" fmla="*/ 326571 h 1659314"/>
              <a:gd name="connsiteX57" fmla="*/ 1711235 w 1742439"/>
              <a:gd name="connsiteY57" fmla="*/ 287383 h 1659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742439" h="1659314">
                <a:moveTo>
                  <a:pt x="1711235" y="287383"/>
                </a:moveTo>
                <a:cubicBezTo>
                  <a:pt x="1706881" y="269966"/>
                  <a:pt x="1708101" y="241927"/>
                  <a:pt x="1698172" y="222069"/>
                </a:cubicBezTo>
                <a:cubicBezTo>
                  <a:pt x="1689910" y="205545"/>
                  <a:pt x="1670810" y="197072"/>
                  <a:pt x="1658983" y="182880"/>
                </a:cubicBezTo>
                <a:cubicBezTo>
                  <a:pt x="1613532" y="128339"/>
                  <a:pt x="1658001" y="152072"/>
                  <a:pt x="1593669" y="130629"/>
                </a:cubicBezTo>
                <a:cubicBezTo>
                  <a:pt x="1568238" y="54336"/>
                  <a:pt x="1600504" y="124401"/>
                  <a:pt x="1541417" y="65314"/>
                </a:cubicBezTo>
                <a:cubicBezTo>
                  <a:pt x="1530316" y="54213"/>
                  <a:pt x="1528605" y="34447"/>
                  <a:pt x="1515292" y="26126"/>
                </a:cubicBezTo>
                <a:cubicBezTo>
                  <a:pt x="1491939" y="11530"/>
                  <a:pt x="1436915" y="0"/>
                  <a:pt x="1436915" y="0"/>
                </a:cubicBezTo>
                <a:cubicBezTo>
                  <a:pt x="1375955" y="4354"/>
                  <a:pt x="1314474" y="3997"/>
                  <a:pt x="1254035" y="13063"/>
                </a:cubicBezTo>
                <a:cubicBezTo>
                  <a:pt x="1226800" y="17148"/>
                  <a:pt x="1175657" y="39189"/>
                  <a:pt x="1175657" y="39189"/>
                </a:cubicBezTo>
                <a:cubicBezTo>
                  <a:pt x="1166949" y="52252"/>
                  <a:pt x="1161791" y="68570"/>
                  <a:pt x="1149532" y="78377"/>
                </a:cubicBezTo>
                <a:cubicBezTo>
                  <a:pt x="1138780" y="86979"/>
                  <a:pt x="1122380" y="84753"/>
                  <a:pt x="1110343" y="91440"/>
                </a:cubicBezTo>
                <a:cubicBezTo>
                  <a:pt x="1082895" y="106689"/>
                  <a:pt x="1054169" y="121488"/>
                  <a:pt x="1031966" y="143691"/>
                </a:cubicBezTo>
                <a:cubicBezTo>
                  <a:pt x="1018903" y="156754"/>
                  <a:pt x="1004604" y="168688"/>
                  <a:pt x="992777" y="182880"/>
                </a:cubicBezTo>
                <a:cubicBezTo>
                  <a:pt x="982726" y="194941"/>
                  <a:pt x="977753" y="210968"/>
                  <a:pt x="966652" y="222069"/>
                </a:cubicBezTo>
                <a:cubicBezTo>
                  <a:pt x="955551" y="233170"/>
                  <a:pt x="940526" y="239486"/>
                  <a:pt x="927463" y="248194"/>
                </a:cubicBezTo>
                <a:cubicBezTo>
                  <a:pt x="918754" y="261257"/>
                  <a:pt x="913596" y="277575"/>
                  <a:pt x="901337" y="287383"/>
                </a:cubicBezTo>
                <a:cubicBezTo>
                  <a:pt x="890585" y="295985"/>
                  <a:pt x="874465" y="294288"/>
                  <a:pt x="862149" y="300446"/>
                </a:cubicBezTo>
                <a:cubicBezTo>
                  <a:pt x="848107" y="307467"/>
                  <a:pt x="836023" y="317863"/>
                  <a:pt x="822960" y="326571"/>
                </a:cubicBezTo>
                <a:cubicBezTo>
                  <a:pt x="814252" y="339634"/>
                  <a:pt x="807936" y="354659"/>
                  <a:pt x="796835" y="365760"/>
                </a:cubicBezTo>
                <a:cubicBezTo>
                  <a:pt x="721359" y="441237"/>
                  <a:pt x="793359" y="334772"/>
                  <a:pt x="718457" y="431074"/>
                </a:cubicBezTo>
                <a:cubicBezTo>
                  <a:pt x="699180" y="455859"/>
                  <a:pt x="666206" y="509451"/>
                  <a:pt x="666206" y="509451"/>
                </a:cubicBezTo>
                <a:cubicBezTo>
                  <a:pt x="661852" y="522514"/>
                  <a:pt x="661745" y="537888"/>
                  <a:pt x="653143" y="548640"/>
                </a:cubicBezTo>
                <a:cubicBezTo>
                  <a:pt x="643336" y="560899"/>
                  <a:pt x="626016" y="564715"/>
                  <a:pt x="613955" y="574766"/>
                </a:cubicBezTo>
                <a:cubicBezTo>
                  <a:pt x="599763" y="586593"/>
                  <a:pt x="588958" y="602128"/>
                  <a:pt x="574766" y="613954"/>
                </a:cubicBezTo>
                <a:cubicBezTo>
                  <a:pt x="562705" y="624005"/>
                  <a:pt x="547311" y="629650"/>
                  <a:pt x="535577" y="640080"/>
                </a:cubicBezTo>
                <a:cubicBezTo>
                  <a:pt x="507962" y="664626"/>
                  <a:pt x="483326" y="692331"/>
                  <a:pt x="457200" y="718457"/>
                </a:cubicBezTo>
                <a:lnTo>
                  <a:pt x="418012" y="757646"/>
                </a:lnTo>
                <a:lnTo>
                  <a:pt x="378823" y="796834"/>
                </a:lnTo>
                <a:cubicBezTo>
                  <a:pt x="353393" y="873125"/>
                  <a:pt x="385657" y="803064"/>
                  <a:pt x="326572" y="862149"/>
                </a:cubicBezTo>
                <a:cubicBezTo>
                  <a:pt x="315471" y="873250"/>
                  <a:pt x="312261" y="890999"/>
                  <a:pt x="300446" y="901337"/>
                </a:cubicBezTo>
                <a:cubicBezTo>
                  <a:pt x="276816" y="922014"/>
                  <a:pt x="222069" y="953589"/>
                  <a:pt x="222069" y="953589"/>
                </a:cubicBezTo>
                <a:cubicBezTo>
                  <a:pt x="213360" y="966652"/>
                  <a:pt x="207044" y="981676"/>
                  <a:pt x="195943" y="992777"/>
                </a:cubicBezTo>
                <a:cubicBezTo>
                  <a:pt x="184842" y="1003878"/>
                  <a:pt x="166562" y="1006644"/>
                  <a:pt x="156755" y="1018903"/>
                </a:cubicBezTo>
                <a:cubicBezTo>
                  <a:pt x="148153" y="1029655"/>
                  <a:pt x="150379" y="1046054"/>
                  <a:pt x="143692" y="1058091"/>
                </a:cubicBezTo>
                <a:cubicBezTo>
                  <a:pt x="128443" y="1085539"/>
                  <a:pt x="108857" y="1110343"/>
                  <a:pt x="91440" y="1136469"/>
                </a:cubicBezTo>
                <a:cubicBezTo>
                  <a:pt x="82732" y="1149532"/>
                  <a:pt x="70280" y="1160763"/>
                  <a:pt x="65315" y="1175657"/>
                </a:cubicBezTo>
                <a:cubicBezTo>
                  <a:pt x="47287" y="1229740"/>
                  <a:pt x="59890" y="1203389"/>
                  <a:pt x="26126" y="1254034"/>
                </a:cubicBezTo>
                <a:cubicBezTo>
                  <a:pt x="21772" y="1275806"/>
                  <a:pt x="18448" y="1297809"/>
                  <a:pt x="13063" y="1319349"/>
                </a:cubicBezTo>
                <a:cubicBezTo>
                  <a:pt x="9723" y="1332707"/>
                  <a:pt x="0" y="1344768"/>
                  <a:pt x="0" y="1358537"/>
                </a:cubicBezTo>
                <a:cubicBezTo>
                  <a:pt x="0" y="1406632"/>
                  <a:pt x="2986" y="1455202"/>
                  <a:pt x="13063" y="1502229"/>
                </a:cubicBezTo>
                <a:cubicBezTo>
                  <a:pt x="24152" y="1553979"/>
                  <a:pt x="44182" y="1535483"/>
                  <a:pt x="78377" y="1554480"/>
                </a:cubicBezTo>
                <a:cubicBezTo>
                  <a:pt x="105825" y="1569729"/>
                  <a:pt x="126967" y="1596802"/>
                  <a:pt x="156755" y="1606731"/>
                </a:cubicBezTo>
                <a:lnTo>
                  <a:pt x="235132" y="1632857"/>
                </a:lnTo>
                <a:cubicBezTo>
                  <a:pt x="248195" y="1637211"/>
                  <a:pt x="260689" y="1643973"/>
                  <a:pt x="274320" y="1645920"/>
                </a:cubicBezTo>
                <a:lnTo>
                  <a:pt x="365760" y="1658983"/>
                </a:lnTo>
                <a:cubicBezTo>
                  <a:pt x="461554" y="1654629"/>
                  <a:pt x="557250" y="1645920"/>
                  <a:pt x="653143" y="1645920"/>
                </a:cubicBezTo>
                <a:cubicBezTo>
                  <a:pt x="1565178" y="1645920"/>
                  <a:pt x="950707" y="1676058"/>
                  <a:pt x="1463040" y="1645920"/>
                </a:cubicBezTo>
                <a:lnTo>
                  <a:pt x="1541417" y="1619794"/>
                </a:lnTo>
                <a:cubicBezTo>
                  <a:pt x="1554480" y="1615440"/>
                  <a:pt x="1569149" y="1614369"/>
                  <a:pt x="1580606" y="1606731"/>
                </a:cubicBezTo>
                <a:lnTo>
                  <a:pt x="1619795" y="1580606"/>
                </a:lnTo>
                <a:cubicBezTo>
                  <a:pt x="1628503" y="1567543"/>
                  <a:pt x="1635869" y="1553478"/>
                  <a:pt x="1645920" y="1541417"/>
                </a:cubicBezTo>
                <a:cubicBezTo>
                  <a:pt x="1657747" y="1527225"/>
                  <a:pt x="1674862" y="1517600"/>
                  <a:pt x="1685109" y="1502229"/>
                </a:cubicBezTo>
                <a:cubicBezTo>
                  <a:pt x="1692747" y="1490772"/>
                  <a:pt x="1692014" y="1475356"/>
                  <a:pt x="1698172" y="1463040"/>
                </a:cubicBezTo>
                <a:cubicBezTo>
                  <a:pt x="1705193" y="1448998"/>
                  <a:pt x="1715589" y="1436914"/>
                  <a:pt x="1724297" y="1423851"/>
                </a:cubicBezTo>
                <a:cubicBezTo>
                  <a:pt x="1765118" y="1097285"/>
                  <a:pt x="1724297" y="1464922"/>
                  <a:pt x="1724297" y="705394"/>
                </a:cubicBezTo>
                <a:cubicBezTo>
                  <a:pt x="1724297" y="652962"/>
                  <a:pt x="1733006" y="600891"/>
                  <a:pt x="1737360" y="548640"/>
                </a:cubicBezTo>
                <a:cubicBezTo>
                  <a:pt x="1733006" y="474617"/>
                  <a:pt x="1731675" y="400354"/>
                  <a:pt x="1724297" y="326571"/>
                </a:cubicBezTo>
                <a:cubicBezTo>
                  <a:pt x="1719965" y="283252"/>
                  <a:pt x="1715589" y="304800"/>
                  <a:pt x="1711235" y="287383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00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91" grpId="0" animBg="1"/>
      <p:bldP spid="293" grpId="0" animBg="1"/>
      <p:bldP spid="294" grpId="0" animBg="1"/>
      <p:bldP spid="295" grpId="0" animBg="1"/>
      <p:bldP spid="29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5939-5F78-FE77-7846-7928B6BA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A0F8AF7-4E53-3795-1913-D2F063E9673A}"/>
              </a:ext>
            </a:extLst>
          </p:cNvPr>
          <p:cNvSpPr/>
          <p:nvPr/>
        </p:nvSpPr>
        <p:spPr>
          <a:xfrm>
            <a:off x="6273401" y="582960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A65DF7-CDBC-9DA6-E609-D5B001DE2BF6}"/>
              </a:ext>
            </a:extLst>
          </p:cNvPr>
          <p:cNvSpPr/>
          <p:nvPr/>
        </p:nvSpPr>
        <p:spPr>
          <a:xfrm>
            <a:off x="6273401" y="2467537"/>
            <a:ext cx="578945" cy="5889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5B337-066F-B838-0F18-581B2822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4449700" cy="1143000"/>
          </a:xfrm>
        </p:spPr>
        <p:txBody>
          <a:bodyPr/>
          <a:lstStyle/>
          <a:p>
            <a:r>
              <a:rPr lang="en-US" dirty="0"/>
              <a:t>Bags are separators in the graphs</a:t>
            </a:r>
            <a:endParaRPr lang="LID409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CF7A8-66AC-7AC4-7F77-4B925DA4F82E}"/>
              </a:ext>
            </a:extLst>
          </p:cNvPr>
          <p:cNvSpPr txBox="1"/>
          <p:nvPr/>
        </p:nvSpPr>
        <p:spPr>
          <a:xfrm>
            <a:off x="6358330" y="570903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CED227-4FF3-95C1-BB86-50E4F80F8B3D}"/>
              </a:ext>
            </a:extLst>
          </p:cNvPr>
          <p:cNvSpPr txBox="1"/>
          <p:nvPr/>
        </p:nvSpPr>
        <p:spPr>
          <a:xfrm>
            <a:off x="6368832" y="2455168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205" name="Content Placeholder 3">
            <a:extLst>
              <a:ext uri="{FF2B5EF4-FFF2-40B4-BE49-F238E27FC236}">
                <a16:creationId xmlns:a16="http://schemas.microsoft.com/office/drawing/2014/main" id="{B578BA87-3B5F-D5FE-30A8-496AEC9D4F0F}"/>
              </a:ext>
            </a:extLst>
          </p:cNvPr>
          <p:cNvSpPr txBox="1">
            <a:spLocks/>
          </p:cNvSpPr>
          <p:nvPr/>
        </p:nvSpPr>
        <p:spPr bwMode="auto">
          <a:xfrm>
            <a:off x="1381991" y="3466908"/>
            <a:ext cx="3543300" cy="262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ebdings" panose="05030102010509060703" pitchFamily="18" charset="2"/>
              <a:buChar char="g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ebdings" panose="05030102010509060703" pitchFamily="18" charset="2"/>
              <a:buChar char="g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LID4096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Content Placeholder 3">
                <a:extLst>
                  <a:ext uri="{FF2B5EF4-FFF2-40B4-BE49-F238E27FC236}">
                    <a16:creationId xmlns:a16="http://schemas.microsoft.com/office/drawing/2014/main" id="{FCDE7B0D-AD88-4D91-71F1-D8C81B546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</p:spPr>
            <p:txBody>
              <a:bodyPr/>
              <a:lstStyle/>
              <a:p>
                <a:r>
                  <a:rPr lang="en-US" dirty="0"/>
                  <a:t>Bags function as separators in the graph</a:t>
                </a:r>
              </a:p>
              <a:p>
                <a:pPr lvl="1"/>
                <a:r>
                  <a:rPr lang="en-US" dirty="0"/>
                  <a:t>Example:</a:t>
                </a:r>
                <a:br>
                  <a:rPr lang="en-US" dirty="0"/>
                </a:br>
                <a:r>
                  <a:rPr lang="en-US" dirty="0"/>
                  <a:t>The bag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separates the vertex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Removing:</a:t>
                </a:r>
              </a:p>
              <a:p>
                <a:pPr lvl="1"/>
                <a:r>
                  <a:rPr lang="en-US" dirty="0"/>
                  <a:t>A bag from the tree decomposition</a:t>
                </a:r>
              </a:p>
              <a:p>
                <a:pPr lvl="1"/>
                <a:r>
                  <a:rPr lang="en-US" dirty="0"/>
                  <a:t>The vertices in the bag from the graph</a:t>
                </a:r>
              </a:p>
              <a:p>
                <a:pPr lvl="1"/>
                <a:r>
                  <a:rPr lang="en-US" dirty="0"/>
                  <a:t>These vertices from all other bags</a:t>
                </a:r>
              </a:p>
              <a:p>
                <a:r>
                  <a:rPr lang="en-US" dirty="0"/>
                  <a:t>Results in subgraphs with tree decompositions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209" name="Content Placeholder 3">
                <a:extLst>
                  <a:ext uri="{FF2B5EF4-FFF2-40B4-BE49-F238E27FC236}">
                    <a16:creationId xmlns:a16="http://schemas.microsoft.com/office/drawing/2014/main" id="{FCDE7B0D-AD88-4D91-71F1-D8C81B546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3543300" cy="3962400"/>
              </a:xfrm>
              <a:blipFill>
                <a:blip r:embed="rId2"/>
                <a:stretch>
                  <a:fillRect l="-344" t="-769" r="-2582" b="-86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Oval 209">
            <a:extLst>
              <a:ext uri="{FF2B5EF4-FFF2-40B4-BE49-F238E27FC236}">
                <a16:creationId xmlns:a16="http://schemas.microsoft.com/office/drawing/2014/main" id="{FBD11E63-77B0-611A-F8C1-F52942A8C4C3}"/>
              </a:ext>
            </a:extLst>
          </p:cNvPr>
          <p:cNvSpPr/>
          <p:nvPr/>
        </p:nvSpPr>
        <p:spPr>
          <a:xfrm>
            <a:off x="4971364" y="3575253"/>
            <a:ext cx="968788" cy="927150"/>
          </a:xfrm>
          <a:prstGeom prst="ellipse">
            <a:avLst/>
          </a:prstGeom>
          <a:solidFill>
            <a:srgbClr val="00B050">
              <a:alpha val="43000"/>
            </a:srgb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DB5E67B-6D83-41E5-8506-90834C9AB779}"/>
              </a:ext>
            </a:extLst>
          </p:cNvPr>
          <p:cNvSpPr txBox="1"/>
          <p:nvPr/>
        </p:nvSpPr>
        <p:spPr>
          <a:xfrm>
            <a:off x="5123603" y="362680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5156EB3F-8149-05F4-325C-C176328EB312}"/>
              </a:ext>
            </a:extLst>
          </p:cNvPr>
          <p:cNvSpPr/>
          <p:nvPr/>
        </p:nvSpPr>
        <p:spPr>
          <a:xfrm>
            <a:off x="4971364" y="5014149"/>
            <a:ext cx="968788" cy="927150"/>
          </a:xfrm>
          <a:prstGeom prst="ellipse">
            <a:avLst/>
          </a:prstGeom>
          <a:solidFill>
            <a:schemeClr val="accent1">
              <a:alpha val="43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2862BF1-F67B-CA15-A239-7FEF1D9424A7}"/>
              </a:ext>
            </a:extLst>
          </p:cNvPr>
          <p:cNvSpPr txBox="1"/>
          <p:nvPr/>
        </p:nvSpPr>
        <p:spPr>
          <a:xfrm>
            <a:off x="5069224" y="5259349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6DBFE323-577A-3732-5544-E4DE5A07BA6B}"/>
              </a:ext>
            </a:extLst>
          </p:cNvPr>
          <p:cNvSpPr/>
          <p:nvPr/>
        </p:nvSpPr>
        <p:spPr>
          <a:xfrm>
            <a:off x="7879170" y="3501008"/>
            <a:ext cx="968788" cy="927150"/>
          </a:xfrm>
          <a:prstGeom prst="ellipse">
            <a:avLst/>
          </a:prstGeom>
          <a:solidFill>
            <a:srgbClr val="0070C0">
              <a:alpha val="43000"/>
            </a:srgbClr>
          </a:solidFill>
          <a:ln>
            <a:solidFill>
              <a:srgbClr val="0B4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AC65ED1-4D60-9767-F552-D6916CF053B7}"/>
              </a:ext>
            </a:extLst>
          </p:cNvPr>
          <p:cNvSpPr txBox="1"/>
          <p:nvPr/>
        </p:nvSpPr>
        <p:spPr>
          <a:xfrm>
            <a:off x="8316000" y="3537989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c</a:t>
            </a:r>
            <a:endParaRPr lang="nl-NL" sz="2800" dirty="0">
              <a:solidFill>
                <a:srgbClr val="000000"/>
              </a:solidFill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7E8C41B-F90B-64F8-03CB-9F59FCA79168}"/>
              </a:ext>
            </a:extLst>
          </p:cNvPr>
          <p:cNvSpPr txBox="1"/>
          <p:nvPr/>
        </p:nvSpPr>
        <p:spPr>
          <a:xfrm>
            <a:off x="8316416" y="3897495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e</a:t>
            </a:r>
            <a:endParaRPr lang="nl-NL" sz="2800" dirty="0">
              <a:solidFill>
                <a:srgbClr val="000000"/>
              </a:solidFill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746758C1-2037-DD97-8766-3D7A5BCE925B}"/>
              </a:ext>
            </a:extLst>
          </p:cNvPr>
          <p:cNvSpPr/>
          <p:nvPr/>
        </p:nvSpPr>
        <p:spPr>
          <a:xfrm>
            <a:off x="7879170" y="5069818"/>
            <a:ext cx="968788" cy="927150"/>
          </a:xfrm>
          <a:prstGeom prst="ellipse">
            <a:avLst/>
          </a:prstGeom>
          <a:solidFill>
            <a:schemeClr val="tx2">
              <a:alpha val="43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FFFF"/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6089967-4FB7-A209-320E-07421A77393B}"/>
              </a:ext>
            </a:extLst>
          </p:cNvPr>
          <p:cNvSpPr txBox="1"/>
          <p:nvPr/>
        </p:nvSpPr>
        <p:spPr>
          <a:xfrm>
            <a:off x="8344698" y="5390099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4A61D19-FA7E-E289-7B0F-7492A2D196D1}"/>
              </a:ext>
            </a:extLst>
          </p:cNvPr>
          <p:cNvSpPr txBox="1"/>
          <p:nvPr/>
        </p:nvSpPr>
        <p:spPr>
          <a:xfrm>
            <a:off x="8287561" y="5041113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e</a:t>
            </a:r>
            <a:endParaRPr lang="nl-NL" sz="2800" dirty="0">
              <a:solidFill>
                <a:srgbClr val="000000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16BA768A-057D-C908-9534-6FA136C6519F}"/>
              </a:ext>
            </a:extLst>
          </p:cNvPr>
          <p:cNvCxnSpPr>
            <a:endCxn id="231" idx="1"/>
          </p:cNvCxnSpPr>
          <p:nvPr/>
        </p:nvCxnSpPr>
        <p:spPr>
          <a:xfrm>
            <a:off x="7887087" y="5112456"/>
            <a:ext cx="133959" cy="93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Oval 235">
            <a:extLst>
              <a:ext uri="{FF2B5EF4-FFF2-40B4-BE49-F238E27FC236}">
                <a16:creationId xmlns:a16="http://schemas.microsoft.com/office/drawing/2014/main" id="{EA414E92-725F-3DE3-92E4-91EC6490776C}"/>
              </a:ext>
            </a:extLst>
          </p:cNvPr>
          <p:cNvSpPr/>
          <p:nvPr/>
        </p:nvSpPr>
        <p:spPr>
          <a:xfrm>
            <a:off x="7060176" y="4321085"/>
            <a:ext cx="968788" cy="927150"/>
          </a:xfrm>
          <a:prstGeom prst="ellipse">
            <a:avLst/>
          </a:prstGeom>
          <a:solidFill>
            <a:schemeClr val="accent1">
              <a:lumMod val="60000"/>
              <a:lumOff val="40000"/>
              <a:alpha val="43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FFFFFF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E8202584-0E28-A5F5-1089-BF9AF0CAE6BE}"/>
              </a:ext>
            </a:extLst>
          </p:cNvPr>
          <p:cNvSpPr txBox="1"/>
          <p:nvPr/>
        </p:nvSpPr>
        <p:spPr>
          <a:xfrm>
            <a:off x="7534466" y="4481977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</a:rPr>
              <a:t>e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E38E0E1-C981-6F99-E6E2-F897AA3DE2C6}"/>
              </a:ext>
            </a:extLst>
          </p:cNvPr>
          <p:cNvCxnSpPr>
            <a:cxnSpLocks/>
          </p:cNvCxnSpPr>
          <p:nvPr/>
        </p:nvCxnSpPr>
        <p:spPr>
          <a:xfrm flipV="1">
            <a:off x="7887088" y="4292380"/>
            <a:ext cx="133958" cy="16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F08FC60D-DE80-FDFD-7815-A23FA8B32B49}"/>
              </a:ext>
            </a:extLst>
          </p:cNvPr>
          <p:cNvGrpSpPr/>
          <p:nvPr/>
        </p:nvGrpSpPr>
        <p:grpSpPr>
          <a:xfrm>
            <a:off x="8241816" y="582960"/>
            <a:ext cx="578945" cy="2473507"/>
            <a:chOff x="8241816" y="582960"/>
            <a:chExt cx="578945" cy="2473507"/>
          </a:xfrm>
        </p:grpSpPr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40D3F032-6550-2B5E-0F9D-64F7350FD4BA}"/>
                </a:ext>
              </a:extLst>
            </p:cNvPr>
            <p:cNvSpPr/>
            <p:nvPr/>
          </p:nvSpPr>
          <p:spPr>
            <a:xfrm>
              <a:off x="8241816" y="582960"/>
              <a:ext cx="578945" cy="5889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E470A1C3-C8E2-F49B-0435-8A3B7966CFD9}"/>
                </a:ext>
              </a:extLst>
            </p:cNvPr>
            <p:cNvSpPr/>
            <p:nvPr/>
          </p:nvSpPr>
          <p:spPr>
            <a:xfrm>
              <a:off x="8241816" y="1525248"/>
              <a:ext cx="578945" cy="5889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4E5E0617-AB48-BE92-C50E-C540B916C367}"/>
                </a:ext>
              </a:extLst>
            </p:cNvPr>
            <p:cNvSpPr/>
            <p:nvPr/>
          </p:nvSpPr>
          <p:spPr>
            <a:xfrm>
              <a:off x="8241816" y="2467537"/>
              <a:ext cx="578945" cy="58893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rgbClr val="000000"/>
                </a:solidFill>
              </a:endParaRPr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64F067A2-687C-6624-C0E0-4B457D4A35D0}"/>
                </a:ext>
              </a:extLst>
            </p:cNvPr>
            <p:cNvCxnSpPr>
              <a:stCxn id="249" idx="4"/>
              <a:endCxn id="250" idx="0"/>
            </p:cNvCxnSpPr>
            <p:nvPr/>
          </p:nvCxnSpPr>
          <p:spPr>
            <a:xfrm>
              <a:off x="8531288" y="1171890"/>
              <a:ext cx="0" cy="35335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D9E0AEF6-24F4-A437-6F2F-6DEDD3FD60ED}"/>
                </a:ext>
              </a:extLst>
            </p:cNvPr>
            <p:cNvCxnSpPr>
              <a:stCxn id="250" idx="4"/>
              <a:endCxn id="251" idx="0"/>
            </p:cNvCxnSpPr>
            <p:nvPr/>
          </p:nvCxnSpPr>
          <p:spPr>
            <a:xfrm>
              <a:off x="8531288" y="2114179"/>
              <a:ext cx="0" cy="35335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B0697B9F-F467-255F-E429-87A4F2FF7628}"/>
                </a:ext>
              </a:extLst>
            </p:cNvPr>
            <p:cNvSpPr txBox="1"/>
            <p:nvPr/>
          </p:nvSpPr>
          <p:spPr>
            <a:xfrm>
              <a:off x="8336010" y="582960"/>
              <a:ext cx="3433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1FE96F4B-1574-0513-2841-6E01202678ED}"/>
                </a:ext>
              </a:extLst>
            </p:cNvPr>
            <p:cNvSpPr txBox="1"/>
            <p:nvPr/>
          </p:nvSpPr>
          <p:spPr>
            <a:xfrm>
              <a:off x="8336010" y="2436004"/>
              <a:ext cx="3834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41946D9F-EC33-D782-77D7-52648F054505}"/>
                </a:ext>
              </a:extLst>
            </p:cNvPr>
            <p:cNvSpPr txBox="1"/>
            <p:nvPr/>
          </p:nvSpPr>
          <p:spPr>
            <a:xfrm>
              <a:off x="8336010" y="1519064"/>
              <a:ext cx="359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2800" dirty="0">
                  <a:solidFill>
                    <a:srgbClr val="000000"/>
                  </a:solidFill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743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8CE5B-EF71-324C-26C6-6D9372B2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1" name="Line 13"/>
          <p:cNvSpPr>
            <a:spLocks noChangeShapeType="1"/>
          </p:cNvSpPr>
          <p:nvPr/>
        </p:nvSpPr>
        <p:spPr bwMode="auto">
          <a:xfrm flipV="1">
            <a:off x="5979173" y="3742184"/>
            <a:ext cx="713341" cy="8515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14C49-57A1-2F89-1BBD-0B221D39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separator property of a tree decomposition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7BAC44-7209-CD68-439A-48B462C6E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8" y="1828800"/>
                <a:ext cx="4214813" cy="4336504"/>
              </a:xfrm>
            </p:spPr>
            <p:txBody>
              <a:bodyPr/>
              <a:lstStyle/>
              <a:p>
                <a:r>
                  <a:rPr lang="en-US" b="1" dirty="0"/>
                  <a:t>Separator property:</a:t>
                </a:r>
              </a:p>
              <a:p>
                <a:pPr lvl="1"/>
                <a:r>
                  <a:rPr lang="en-US" dirty="0"/>
                  <a:t>The nodes in every bag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form a separator</a:t>
                </a:r>
              </a:p>
              <a:p>
                <a:pPr lvl="1"/>
                <a:r>
                  <a:rPr lang="en-US" dirty="0"/>
                  <a:t>That is,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are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and are in bags in separate subtrees after removing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then they are not adjacent</a:t>
                </a:r>
              </a:p>
              <a:p>
                <a:pPr lvl="1"/>
                <a:r>
                  <a:rPr lang="en-US" dirty="0"/>
                  <a:t>Even stronger, any path in G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must go through a vertex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Consequence of definition:</a:t>
                </a:r>
              </a:p>
              <a:p>
                <a:pPr marL="800100" lvl="1" indent="-342900">
                  <a:buFont typeface="+mj-lt"/>
                  <a:buAutoNum type="arabicPeriod" startAt="2"/>
                </a:pPr>
                <a:r>
                  <a:rPr lang="en-US" dirty="0"/>
                  <a:t>For all edges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there is a bag containing both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 startAt="2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nodes that contain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form a connected subtree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7BAC44-7209-CD68-439A-48B462C6E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8" y="1828800"/>
                <a:ext cx="4214813" cy="4336504"/>
              </a:xfrm>
              <a:blipFill>
                <a:blip r:embed="rId2"/>
                <a:stretch>
                  <a:fillRect l="-289" t="-703" r="-1447" b="-225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1">
            <a:extLst>
              <a:ext uri="{FF2B5EF4-FFF2-40B4-BE49-F238E27FC236}">
                <a16:creationId xmlns:a16="http://schemas.microsoft.com/office/drawing/2014/main" id="{BAA7C72D-8EF0-3ED3-B92B-A59FD55C60C7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1211689"/>
            <a:ext cx="2286000" cy="1676400"/>
            <a:chOff x="4128" y="816"/>
            <a:chExt cx="1440" cy="1056"/>
          </a:xfrm>
        </p:grpSpPr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9201A472-7426-3431-227E-41A9F21C7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9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Line 28">
              <a:extLst>
                <a:ext uri="{FF2B5EF4-FFF2-40B4-BE49-F238E27FC236}">
                  <a16:creationId xmlns:a16="http://schemas.microsoft.com/office/drawing/2014/main" id="{342C29BC-9662-CE44-D8DC-4B84632E0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00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Line 29">
              <a:extLst>
                <a:ext uri="{FF2B5EF4-FFF2-40B4-BE49-F238E27FC236}">
                  <a16:creationId xmlns:a16="http://schemas.microsoft.com/office/drawing/2014/main" id="{487D9BD6-365A-B4AF-8D8C-1562C60F17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Line 30">
              <a:extLst>
                <a:ext uri="{FF2B5EF4-FFF2-40B4-BE49-F238E27FC236}">
                  <a16:creationId xmlns:a16="http://schemas.microsoft.com/office/drawing/2014/main" id="{CB40EFA6-3080-7E6B-C9AD-8A6FBC402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Line 31">
              <a:extLst>
                <a:ext uri="{FF2B5EF4-FFF2-40B4-BE49-F238E27FC236}">
                  <a16:creationId xmlns:a16="http://schemas.microsoft.com/office/drawing/2014/main" id="{B94F3A57-E2A6-26C2-29C2-959C85F4A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00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Line 32">
              <a:extLst>
                <a:ext uri="{FF2B5EF4-FFF2-40B4-BE49-F238E27FC236}">
                  <a16:creationId xmlns:a16="http://schemas.microsoft.com/office/drawing/2014/main" id="{534651B2-6CB5-1868-926F-4F8930AD7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20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Line 33">
              <a:extLst>
                <a:ext uri="{FF2B5EF4-FFF2-40B4-BE49-F238E27FC236}">
                  <a16:creationId xmlns:a16="http://schemas.microsoft.com/office/drawing/2014/main" id="{F16F8DCE-4790-23DE-C5AB-B63800C61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39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Line 34">
              <a:extLst>
                <a:ext uri="{FF2B5EF4-FFF2-40B4-BE49-F238E27FC236}">
                  <a16:creationId xmlns:a16="http://schemas.microsoft.com/office/drawing/2014/main" id="{FED6F97A-9AD2-2726-2CF6-EC544D37F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680"/>
              <a:ext cx="52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Line 35">
              <a:extLst>
                <a:ext uri="{FF2B5EF4-FFF2-40B4-BE49-F238E27FC236}">
                  <a16:creationId xmlns:a16="http://schemas.microsoft.com/office/drawing/2014/main" id="{E56BEBA7-AEAB-3B9C-9BAB-8CB0F783B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Line 36">
              <a:extLst>
                <a:ext uri="{FF2B5EF4-FFF2-40B4-BE49-F238E27FC236}">
                  <a16:creationId xmlns:a16="http://schemas.microsoft.com/office/drawing/2014/main" id="{F9222451-047F-FD60-E694-52CFBE390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3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82" name="Group 37">
              <a:extLst>
                <a:ext uri="{FF2B5EF4-FFF2-40B4-BE49-F238E27FC236}">
                  <a16:creationId xmlns:a16="http://schemas.microsoft.com/office/drawing/2014/main" id="{C7313566-DD35-86AA-96C3-ED61808F50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056"/>
              <a:ext cx="212" cy="288"/>
              <a:chOff x="1728" y="2640"/>
              <a:chExt cx="212" cy="288"/>
            </a:xfrm>
          </p:grpSpPr>
          <p:sp>
            <p:nvSpPr>
              <p:cNvPr id="104" name="Oval 38">
                <a:extLst>
                  <a:ext uri="{FF2B5EF4-FFF2-40B4-BE49-F238E27FC236}">
                    <a16:creationId xmlns:a16="http://schemas.microsoft.com/office/drawing/2014/main" id="{3D275927-30B8-1D76-9EB2-2A4046314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68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5" name="Text Box 39">
                <a:extLst>
                  <a:ext uri="{FF2B5EF4-FFF2-40B4-BE49-F238E27FC236}">
                    <a16:creationId xmlns:a16="http://schemas.microsoft.com/office/drawing/2014/main" id="{D12CBD6A-2D37-28D0-6BFF-0339F69ADB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b</a:t>
                </a:r>
              </a:p>
            </p:txBody>
          </p:sp>
        </p:grpSp>
        <p:grpSp>
          <p:nvGrpSpPr>
            <p:cNvPr id="83" name="Group 40">
              <a:extLst>
                <a:ext uri="{FF2B5EF4-FFF2-40B4-BE49-F238E27FC236}">
                  <a16:creationId xmlns:a16="http://schemas.microsoft.com/office/drawing/2014/main" id="{9E1967B7-507A-31E0-CDFA-70BEDCC2B9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225"/>
              <a:ext cx="206" cy="288"/>
              <a:chOff x="3024" y="3264"/>
              <a:chExt cx="206" cy="288"/>
            </a:xfrm>
          </p:grpSpPr>
          <p:sp>
            <p:nvSpPr>
              <p:cNvPr id="102" name="Oval 41">
                <a:extLst>
                  <a:ext uri="{FF2B5EF4-FFF2-40B4-BE49-F238E27FC236}">
                    <a16:creationId xmlns:a16="http://schemas.microsoft.com/office/drawing/2014/main" id="{E264EAC3-EFE1-5BCC-D08D-B4CD82445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3341"/>
                <a:ext cx="192" cy="192"/>
              </a:xfrm>
              <a:prstGeom prst="ellipse">
                <a:avLst/>
              </a:prstGeom>
              <a:solidFill>
                <a:srgbClr val="C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" name="Text Box 42">
                <a:extLst>
                  <a:ext uri="{FF2B5EF4-FFF2-40B4-BE49-F238E27FC236}">
                    <a16:creationId xmlns:a16="http://schemas.microsoft.com/office/drawing/2014/main" id="{485C84E7-60D7-37E3-13C2-4BEBDD644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326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84" name="Group 43">
              <a:extLst>
                <a:ext uri="{FF2B5EF4-FFF2-40B4-BE49-F238E27FC236}">
                  <a16:creationId xmlns:a16="http://schemas.microsoft.com/office/drawing/2014/main" id="{6BA118BE-5390-4B99-B4BE-B8D6A49FC2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36"/>
              <a:ext cx="212" cy="288"/>
              <a:chOff x="1824" y="3024"/>
              <a:chExt cx="212" cy="288"/>
            </a:xfrm>
          </p:grpSpPr>
          <p:sp>
            <p:nvSpPr>
              <p:cNvPr id="100" name="Oval 44">
                <a:extLst>
                  <a:ext uri="{FF2B5EF4-FFF2-40B4-BE49-F238E27FC236}">
                    <a16:creationId xmlns:a16="http://schemas.microsoft.com/office/drawing/2014/main" id="{D5C9F264-9820-44DB-C016-13A64B4E8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" y="3081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1" name="Text Box 45">
                <a:extLst>
                  <a:ext uri="{FF2B5EF4-FFF2-40B4-BE49-F238E27FC236}">
                    <a16:creationId xmlns:a16="http://schemas.microsoft.com/office/drawing/2014/main" id="{A7A1817B-C21C-D0F0-7877-40BA8C438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02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d</a:t>
                </a:r>
              </a:p>
            </p:txBody>
          </p:sp>
        </p:grpSp>
        <p:grpSp>
          <p:nvGrpSpPr>
            <p:cNvPr id="85" name="Group 46">
              <a:extLst>
                <a:ext uri="{FF2B5EF4-FFF2-40B4-BE49-F238E27FC236}">
                  <a16:creationId xmlns:a16="http://schemas.microsoft.com/office/drawing/2014/main" id="{F24FBB00-CE92-AC3B-4417-819BA2BB9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584"/>
              <a:ext cx="201" cy="288"/>
              <a:chOff x="2208" y="2976"/>
              <a:chExt cx="201" cy="288"/>
            </a:xfrm>
          </p:grpSpPr>
          <p:sp>
            <p:nvSpPr>
              <p:cNvPr id="98" name="Oval 47">
                <a:extLst>
                  <a:ext uri="{FF2B5EF4-FFF2-40B4-BE49-F238E27FC236}">
                    <a16:creationId xmlns:a16="http://schemas.microsoft.com/office/drawing/2014/main" id="{0CD068E6-A30B-2E89-48AD-430658E7E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304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9" name="Text Box 48">
                <a:extLst>
                  <a:ext uri="{FF2B5EF4-FFF2-40B4-BE49-F238E27FC236}">
                    <a16:creationId xmlns:a16="http://schemas.microsoft.com/office/drawing/2014/main" id="{35606435-8FF0-B7E5-F620-300EA69C71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7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>
                    <a:latin typeface="Times New Roman" pitchFamily="18" charset="0"/>
                  </a:rPr>
                  <a:t>e</a:t>
                </a:r>
              </a:p>
            </p:txBody>
          </p:sp>
        </p:grpSp>
        <p:grpSp>
          <p:nvGrpSpPr>
            <p:cNvPr id="86" name="Group 49">
              <a:extLst>
                <a:ext uri="{FF2B5EF4-FFF2-40B4-BE49-F238E27FC236}">
                  <a16:creationId xmlns:a16="http://schemas.microsoft.com/office/drawing/2014/main" id="{5B8B56E1-12FC-C363-1C8E-2321CEDD8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248"/>
              <a:ext cx="192" cy="288"/>
              <a:chOff x="2448" y="2784"/>
              <a:chExt cx="192" cy="288"/>
            </a:xfrm>
          </p:grpSpPr>
          <p:sp>
            <p:nvSpPr>
              <p:cNvPr id="96" name="Oval 50">
                <a:extLst>
                  <a:ext uri="{FF2B5EF4-FFF2-40B4-BE49-F238E27FC236}">
                    <a16:creationId xmlns:a16="http://schemas.microsoft.com/office/drawing/2014/main" id="{6208528F-7F67-4306-ABAC-528737720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7" name="Text Box 51">
                <a:extLst>
                  <a:ext uri="{FF2B5EF4-FFF2-40B4-BE49-F238E27FC236}">
                    <a16:creationId xmlns:a16="http://schemas.microsoft.com/office/drawing/2014/main" id="{CFB94AEE-D6E5-1C33-189A-CAD04F042A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784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f</a:t>
                </a:r>
              </a:p>
            </p:txBody>
          </p:sp>
        </p:grpSp>
        <p:grpSp>
          <p:nvGrpSpPr>
            <p:cNvPr id="87" name="Group 52">
              <a:extLst>
                <a:ext uri="{FF2B5EF4-FFF2-40B4-BE49-F238E27FC236}">
                  <a16:creationId xmlns:a16="http://schemas.microsoft.com/office/drawing/2014/main" id="{0AF3EBEB-06FF-544C-8BBD-BEDABC0C7E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6" y="846"/>
              <a:ext cx="212" cy="288"/>
              <a:chOff x="3072" y="2208"/>
              <a:chExt cx="212" cy="288"/>
            </a:xfrm>
          </p:grpSpPr>
          <p:sp>
            <p:nvSpPr>
              <p:cNvPr id="94" name="Oval 53">
                <a:extLst>
                  <a:ext uri="{FF2B5EF4-FFF2-40B4-BE49-F238E27FC236}">
                    <a16:creationId xmlns:a16="http://schemas.microsoft.com/office/drawing/2014/main" id="{DCE7BF56-F901-8E98-5570-37031155B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" y="226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5" name="Text Box 54">
                <a:extLst>
                  <a:ext uri="{FF2B5EF4-FFF2-40B4-BE49-F238E27FC236}">
                    <a16:creationId xmlns:a16="http://schemas.microsoft.com/office/drawing/2014/main" id="{39586184-4A02-6B90-B7DA-85E10D4BF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h</a:t>
                </a:r>
              </a:p>
            </p:txBody>
          </p:sp>
        </p:grpSp>
        <p:grpSp>
          <p:nvGrpSpPr>
            <p:cNvPr id="88" name="Group 55">
              <a:extLst>
                <a:ext uri="{FF2B5EF4-FFF2-40B4-BE49-F238E27FC236}">
                  <a16:creationId xmlns:a16="http://schemas.microsoft.com/office/drawing/2014/main" id="{700B7F38-9A1C-CC8F-E9EC-E19BD6924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1" y="820"/>
              <a:ext cx="201" cy="288"/>
              <a:chOff x="1911" y="2015"/>
              <a:chExt cx="201" cy="288"/>
            </a:xfrm>
          </p:grpSpPr>
          <p:sp>
            <p:nvSpPr>
              <p:cNvPr id="92" name="Oval 56">
                <a:extLst>
                  <a:ext uri="{FF2B5EF4-FFF2-40B4-BE49-F238E27FC236}">
                    <a16:creationId xmlns:a16="http://schemas.microsoft.com/office/drawing/2014/main" id="{4CA9E43F-1A4B-251E-AB46-4126A2750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7" y="2091"/>
                <a:ext cx="192" cy="192"/>
              </a:xfrm>
              <a:prstGeom prst="ellipse">
                <a:avLst/>
              </a:prstGeom>
              <a:solidFill>
                <a:srgbClr val="C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3" name="Text Box 57">
                <a:extLst>
                  <a:ext uri="{FF2B5EF4-FFF2-40B4-BE49-F238E27FC236}">
                    <a16:creationId xmlns:a16="http://schemas.microsoft.com/office/drawing/2014/main" id="{0F8954B7-FCD5-B499-5DA4-FD1FF3B2B7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1" y="2015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a</a:t>
                </a:r>
              </a:p>
            </p:txBody>
          </p:sp>
        </p:grpSp>
        <p:grpSp>
          <p:nvGrpSpPr>
            <p:cNvPr id="89" name="Group 58">
              <a:extLst>
                <a:ext uri="{FF2B5EF4-FFF2-40B4-BE49-F238E27FC236}">
                  <a16:creationId xmlns:a16="http://schemas.microsoft.com/office/drawing/2014/main" id="{2DAB7C78-A8E3-9FAE-69E2-09AA8C5D17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816"/>
              <a:ext cx="212" cy="288"/>
              <a:chOff x="2400" y="2304"/>
              <a:chExt cx="212" cy="288"/>
            </a:xfrm>
          </p:grpSpPr>
          <p:sp>
            <p:nvSpPr>
              <p:cNvPr id="90" name="Oval 59">
                <a:extLst>
                  <a:ext uri="{FF2B5EF4-FFF2-40B4-BE49-F238E27FC236}">
                    <a16:creationId xmlns:a16="http://schemas.microsoft.com/office/drawing/2014/main" id="{77A749E3-C7DD-BEF7-E1C6-DE4062114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7" y="2386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1" name="Text Box 60">
                <a:extLst>
                  <a:ext uri="{FF2B5EF4-FFF2-40B4-BE49-F238E27FC236}">
                    <a16:creationId xmlns:a16="http://schemas.microsoft.com/office/drawing/2014/main" id="{1D0E31A7-0B90-9190-FCD4-25D94BE309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230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latin typeface="Times New Roman" pitchFamily="18" charset="0"/>
                  </a:rPr>
                  <a:t>g</a:t>
                </a:r>
              </a:p>
            </p:txBody>
          </p:sp>
        </p:grpSp>
      </p:grpSp>
      <p:sp>
        <p:nvSpPr>
          <p:cNvPr id="32791" name="Line 13">
            <a:extLst>
              <a:ext uri="{FF2B5EF4-FFF2-40B4-BE49-F238E27FC236}">
                <a16:creationId xmlns:a16="http://schemas.microsoft.com/office/drawing/2014/main" id="{3F46541E-012F-E2E3-1596-B6D6574232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9772" y="3700848"/>
            <a:ext cx="166043" cy="8929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>
            <a:off x="6993072" y="3700849"/>
            <a:ext cx="1064295" cy="3504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A306F95-D52F-4C37-4D96-E311206B0483}"/>
              </a:ext>
            </a:extLst>
          </p:cNvPr>
          <p:cNvGrpSpPr/>
          <p:nvPr/>
        </p:nvGrpSpPr>
        <p:grpSpPr>
          <a:xfrm>
            <a:off x="6582916" y="3284984"/>
            <a:ext cx="685800" cy="762000"/>
            <a:chOff x="2219399" y="1828800"/>
            <a:chExt cx="685800" cy="762000"/>
          </a:xfrm>
        </p:grpSpPr>
        <p:sp>
          <p:nvSpPr>
            <p:cNvPr id="107" name="Oval 1047">
              <a:extLst>
                <a:ext uri="{FF2B5EF4-FFF2-40B4-BE49-F238E27FC236}">
                  <a16:creationId xmlns:a16="http://schemas.microsoft.com/office/drawing/2014/main" id="{F441868A-C859-4869-C6F1-AD6AE4F7E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399" y="1905000"/>
              <a:ext cx="685800" cy="6858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8" name="Text Box 1051">
              <a:extLst>
                <a:ext uri="{FF2B5EF4-FFF2-40B4-BE49-F238E27FC236}">
                  <a16:creationId xmlns:a16="http://schemas.microsoft.com/office/drawing/2014/main" id="{607A44E2-C9E3-F0BC-D84E-32B216599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4655" y="18288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a</a:t>
              </a:r>
            </a:p>
          </p:txBody>
        </p:sp>
        <p:sp>
          <p:nvSpPr>
            <p:cNvPr id="109" name="Text Box 1054">
              <a:extLst>
                <a:ext uri="{FF2B5EF4-FFF2-40B4-BE49-F238E27FC236}">
                  <a16:creationId xmlns:a16="http://schemas.microsoft.com/office/drawing/2014/main" id="{58668117-6345-7024-37A2-DE54D5F27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0855" y="2133600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 eaLnBrk="1" hangingPunct="1"/>
              <a:r>
                <a:rPr lang="en-US" altLang="en-US" i="0" dirty="0"/>
                <a:t>c</a:t>
              </a:r>
            </a:p>
          </p:txBody>
        </p:sp>
      </p:grpSp>
      <p:sp>
        <p:nvSpPr>
          <p:cNvPr id="32768" name="Freeform 60">
            <a:extLst>
              <a:ext uri="{FF2B5EF4-FFF2-40B4-BE49-F238E27FC236}">
                <a16:creationId xmlns:a16="http://schemas.microsoft.com/office/drawing/2014/main" id="{D8B6D1FC-9370-0807-DAE4-C99ABA6FC485}"/>
              </a:ext>
            </a:extLst>
          </p:cNvPr>
          <p:cNvSpPr/>
          <p:nvPr/>
        </p:nvSpPr>
        <p:spPr>
          <a:xfrm>
            <a:off x="5148064" y="4585643"/>
            <a:ext cx="1014467" cy="1942247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69" name="Freeform 60">
            <a:extLst>
              <a:ext uri="{FF2B5EF4-FFF2-40B4-BE49-F238E27FC236}">
                <a16:creationId xmlns:a16="http://schemas.microsoft.com/office/drawing/2014/main" id="{22D58BF5-B96F-D983-A7BB-743D7A2483A2}"/>
              </a:ext>
            </a:extLst>
          </p:cNvPr>
          <p:cNvSpPr/>
          <p:nvPr/>
        </p:nvSpPr>
        <p:spPr>
          <a:xfrm flipH="1">
            <a:off x="6555293" y="4561332"/>
            <a:ext cx="1013049" cy="1942247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92" name="Freeform 60">
            <a:extLst>
              <a:ext uri="{FF2B5EF4-FFF2-40B4-BE49-F238E27FC236}">
                <a16:creationId xmlns:a16="http://schemas.microsoft.com/office/drawing/2014/main" id="{A4E33BB5-5EE8-EA68-729B-5AA0FA291A32}"/>
              </a:ext>
            </a:extLst>
          </p:cNvPr>
          <p:cNvSpPr/>
          <p:nvPr/>
        </p:nvSpPr>
        <p:spPr>
          <a:xfrm flipH="1">
            <a:off x="7823733" y="4035444"/>
            <a:ext cx="1209948" cy="2492446"/>
          </a:xfrm>
          <a:custGeom>
            <a:avLst/>
            <a:gdLst>
              <a:gd name="connsiteX0" fmla="*/ 211755 w 259882"/>
              <a:gd name="connsiteY0" fmla="*/ 0 h 462013"/>
              <a:gd name="connsiteX1" fmla="*/ 0 w 259882"/>
              <a:gd name="connsiteY1" fmla="*/ 462013 h 462013"/>
              <a:gd name="connsiteX2" fmla="*/ 259882 w 259882"/>
              <a:gd name="connsiteY2" fmla="*/ 462013 h 462013"/>
              <a:gd name="connsiteX3" fmla="*/ 211755 w 259882"/>
              <a:gd name="connsiteY3" fmla="*/ 0 h 46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882" h="462013">
                <a:moveTo>
                  <a:pt x="211755" y="0"/>
                </a:moveTo>
                <a:lnTo>
                  <a:pt x="0" y="462013"/>
                </a:lnTo>
                <a:lnTo>
                  <a:pt x="259882" y="462013"/>
                </a:lnTo>
                <a:lnTo>
                  <a:pt x="211755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94" name="Oval 1047">
            <a:extLst>
              <a:ext uri="{FF2B5EF4-FFF2-40B4-BE49-F238E27FC236}">
                <a16:creationId xmlns:a16="http://schemas.microsoft.com/office/drawing/2014/main" id="{91BC8AF1-6D70-CD1C-911E-14A578564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130" y="5736882"/>
            <a:ext cx="685800" cy="6858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2795" name="Oval 1047">
            <a:extLst>
              <a:ext uri="{FF2B5EF4-FFF2-40B4-BE49-F238E27FC236}">
                <a16:creationId xmlns:a16="http://schemas.microsoft.com/office/drawing/2014/main" id="{A3226751-9EA6-3627-AC1F-8AC87D81D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5907" y="5667691"/>
            <a:ext cx="685800" cy="6858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8035070" y="5851182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dirty="0"/>
              <a:t>w</a:t>
            </a:r>
            <a:endParaRPr lang="nl-NL" altLang="en-US" dirty="0"/>
          </a:p>
        </p:txBody>
      </p:sp>
      <p:sp>
        <p:nvSpPr>
          <p:cNvPr id="32796" name="Text Box 21">
            <a:extLst>
              <a:ext uri="{FF2B5EF4-FFF2-40B4-BE49-F238E27FC236}">
                <a16:creationId xmlns:a16="http://schemas.microsoft.com/office/drawing/2014/main" id="{ADF335D1-C6FA-FC9D-B187-0291BCED4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3952" y="5913025"/>
            <a:ext cx="3209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dirty="0"/>
              <a:t>v</a:t>
            </a:r>
            <a:endParaRPr lang="nl-NL" altLang="en-US" dirty="0"/>
          </a:p>
        </p:txBody>
      </p:sp>
    </p:spTree>
    <p:extLst>
      <p:ext uri="{BB962C8B-B14F-4D97-AF65-F5344CB8AC3E}">
        <p14:creationId xmlns:p14="http://schemas.microsoft.com/office/powerpoint/2010/main" val="11664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07F8A-5CBE-56C7-E1E5-7992F075F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4D2F-1825-1EFC-FB22-94B0D798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6E7EE-18A0-470F-DCE6-7C0E9904D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using treewidth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46175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0DDA-4BBD-F9EB-778D-C9DEBE17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>
            <a:extLst>
              <a:ext uri="{FF2B5EF4-FFF2-40B4-BE49-F238E27FC236}">
                <a16:creationId xmlns:a16="http://schemas.microsoft.com/office/drawing/2014/main" id="{F5DD8C41-6304-C524-AD4B-4C6AC3586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Algorithms using tree decompositions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5" name="Rectangle 3">
                <a:extLst>
                  <a:ext uri="{FF2B5EF4-FFF2-40B4-BE49-F238E27FC236}">
                    <a16:creationId xmlns:a16="http://schemas.microsoft.com/office/drawing/2014/main" id="{89F6299C-23EC-FCB4-9FD7-AD3733175B73}"/>
                  </a:ext>
                </a:extLst>
              </p:cNvPr>
              <p:cNvSpPr>
                <a:spLocks noGrp="1" noChangeArrowheads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Step 1</a:t>
                </a:r>
                <a:r>
                  <a:rPr lang="en-GB" altLang="en-US" dirty="0"/>
                  <a:t>: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Find</a:t>
                </a:r>
                <a:r>
                  <a:rPr lang="en-GB" altLang="en-US" dirty="0"/>
                  <a:t> a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tree</a:t>
                </a:r>
                <a:r>
                  <a:rPr lang="en-GB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decomposition</a:t>
                </a:r>
                <a:r>
                  <a:rPr lang="en-GB" altLang="en-US" dirty="0"/>
                  <a:t> of width bounded by some small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altLang="en-US" dirty="0"/>
                  <a:t>.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GB" altLang="en-US" dirty="0"/>
                  <a:t>Either because the class of graphs allows small width decompositions to be computed efficiently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GB" altLang="en-US" dirty="0"/>
                  <a:t>Or though exact algorithms or heuristics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Step 2</a:t>
                </a:r>
                <a:r>
                  <a:rPr lang="en-GB" altLang="en-US" dirty="0"/>
                  <a:t>: Use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dynamic</a:t>
                </a:r>
                <a:r>
                  <a:rPr lang="en-GB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GB" altLang="en-US" b="1" dirty="0">
                    <a:solidFill>
                      <a:srgbClr val="C00000"/>
                    </a:solidFill>
                  </a:rPr>
                  <a:t>programming</a:t>
                </a:r>
                <a:r>
                  <a:rPr lang="en-GB" altLang="en-US" dirty="0"/>
                  <a:t>, bottom-up on the tree.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Here we use a nice tree decomposition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Or transform the tree decomposition into a nice tree decomposition</a:t>
                </a:r>
              </a:p>
            </p:txBody>
          </p:sp>
        </mc:Choice>
        <mc:Fallback xmlns="">
          <p:sp>
            <p:nvSpPr>
              <p:cNvPr id="30725" name="Rectangle 3">
                <a:extLst>
                  <a:ext uri="{FF2B5EF4-FFF2-40B4-BE49-F238E27FC236}">
                    <a16:creationId xmlns:a16="http://schemas.microsoft.com/office/drawing/2014/main" id="{89F6299C-23EC-FCB4-9FD7-AD3733175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37" t="-1385" r="-505" b="-89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3">
            <a:extLst>
              <a:ext uri="{FF2B5EF4-FFF2-40B4-BE49-F238E27FC236}">
                <a16:creationId xmlns:a16="http://schemas.microsoft.com/office/drawing/2014/main" id="{E60A242D-DE3B-CDE4-32FF-C78907D46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362200"/>
            <a:ext cx="762000" cy="9906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BF3FF32E-D99C-F859-046F-B4E90F5E5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267200"/>
            <a:ext cx="533400" cy="9144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A4B771C-3E10-2A8C-EBDE-539AD4AB9D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8213" y="2362200"/>
            <a:ext cx="1298575" cy="281940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BDD1EC97-4EBE-A90D-6244-D256DAFC2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336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FE18A116-BC09-8FB1-F23A-3CE511028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480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8C27E3C6-E6CE-5E85-AB6D-BC83D89F7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9624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9E65C451-CC75-43F1-D735-42FB81A0C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8768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7E20DE38-C3F8-CB71-03C5-38181F24A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9530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9A4C0F02-ED78-3EFF-B7F9-F8D9628A3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533400" cy="5334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15" name="Group 12">
            <a:extLst>
              <a:ext uri="{FF2B5EF4-FFF2-40B4-BE49-F238E27FC236}">
                <a16:creationId xmlns:a16="http://schemas.microsoft.com/office/drawing/2014/main" id="{6A2BFAF4-A9FC-E47C-A842-22773B91B57E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800600"/>
            <a:ext cx="379413" cy="760413"/>
            <a:chOff x="3312" y="3024"/>
            <a:chExt cx="239" cy="479"/>
          </a:xfrm>
        </p:grpSpPr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D7E58521-92BC-C80A-FB32-FAAC9E7D8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01021DAB-FA27-AE4D-4BC5-E9DD87036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1</a:t>
              </a:r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BB342ED2-CACB-C16E-A1AC-25CEB2894413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876800"/>
            <a:ext cx="379413" cy="760413"/>
            <a:chOff x="4656" y="3072"/>
            <a:chExt cx="239" cy="479"/>
          </a:xfrm>
        </p:grpSpPr>
        <p:sp>
          <p:nvSpPr>
            <p:cNvPr id="19" name="AutoShape 16">
              <a:extLst>
                <a:ext uri="{FF2B5EF4-FFF2-40B4-BE49-F238E27FC236}">
                  <a16:creationId xmlns:a16="http://schemas.microsoft.com/office/drawing/2014/main" id="{B23A4986-975C-8522-7D5E-458DA24D4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072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AutoShape 17">
              <a:extLst>
                <a:ext uri="{FF2B5EF4-FFF2-40B4-BE49-F238E27FC236}">
                  <a16:creationId xmlns:a16="http://schemas.microsoft.com/office/drawing/2014/main" id="{5C071C6C-B5EE-DC16-53DC-CD3D452B5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072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2</a:t>
              </a:r>
            </a:p>
          </p:txBody>
        </p:sp>
      </p:grpSp>
      <p:grpSp>
        <p:nvGrpSpPr>
          <p:cNvPr id="21" name="Group 18">
            <a:extLst>
              <a:ext uri="{FF2B5EF4-FFF2-40B4-BE49-F238E27FC236}">
                <a16:creationId xmlns:a16="http://schemas.microsoft.com/office/drawing/2014/main" id="{CF60CA27-EB45-FC38-C29E-37B80810B209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810000"/>
            <a:ext cx="379413" cy="760413"/>
            <a:chOff x="3600" y="2400"/>
            <a:chExt cx="239" cy="479"/>
          </a:xfrm>
        </p:grpSpPr>
        <p:sp>
          <p:nvSpPr>
            <p:cNvPr id="22" name="AutoShape 19">
              <a:extLst>
                <a:ext uri="{FF2B5EF4-FFF2-40B4-BE49-F238E27FC236}">
                  <a16:creationId xmlns:a16="http://schemas.microsoft.com/office/drawing/2014/main" id="{5DC1E8BD-C5EC-A0C2-6BD3-4811FD80D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400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20">
              <a:extLst>
                <a:ext uri="{FF2B5EF4-FFF2-40B4-BE49-F238E27FC236}">
                  <a16:creationId xmlns:a16="http://schemas.microsoft.com/office/drawing/2014/main" id="{DEE9049E-AE46-9ADD-B48D-26D23C8AE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400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3</a:t>
              </a:r>
            </a:p>
          </p:txBody>
        </p:sp>
      </p:grpSp>
      <p:grpSp>
        <p:nvGrpSpPr>
          <p:cNvPr id="24" name="Group 21">
            <a:extLst>
              <a:ext uri="{FF2B5EF4-FFF2-40B4-BE49-F238E27FC236}">
                <a16:creationId xmlns:a16="http://schemas.microsoft.com/office/drawing/2014/main" id="{62169A39-B83A-EFAD-A6EA-BC6167CD3E4C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819400"/>
            <a:ext cx="379413" cy="760413"/>
            <a:chOff x="3840" y="1776"/>
            <a:chExt cx="239" cy="479"/>
          </a:xfrm>
        </p:grpSpPr>
        <p:sp>
          <p:nvSpPr>
            <p:cNvPr id="25" name="AutoShape 22">
              <a:extLst>
                <a:ext uri="{FF2B5EF4-FFF2-40B4-BE49-F238E27FC236}">
                  <a16:creationId xmlns:a16="http://schemas.microsoft.com/office/drawing/2014/main" id="{CF1EFF9E-863E-7E8A-984D-57D85ED55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776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23">
              <a:extLst>
                <a:ext uri="{FF2B5EF4-FFF2-40B4-BE49-F238E27FC236}">
                  <a16:creationId xmlns:a16="http://schemas.microsoft.com/office/drawing/2014/main" id="{8BC15C26-5557-83A5-7272-592161457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776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4</a:t>
              </a:r>
            </a:p>
          </p:txBody>
        </p:sp>
      </p:grpSp>
      <p:grpSp>
        <p:nvGrpSpPr>
          <p:cNvPr id="27" name="Group 24">
            <a:extLst>
              <a:ext uri="{FF2B5EF4-FFF2-40B4-BE49-F238E27FC236}">
                <a16:creationId xmlns:a16="http://schemas.microsoft.com/office/drawing/2014/main" id="{45A56F9D-C66A-A017-DBB8-01E5D683826D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828800"/>
            <a:ext cx="379413" cy="760413"/>
            <a:chOff x="4176" y="1152"/>
            <a:chExt cx="239" cy="479"/>
          </a:xfrm>
        </p:grpSpPr>
        <p:sp>
          <p:nvSpPr>
            <p:cNvPr id="28" name="AutoShape 25">
              <a:extLst>
                <a:ext uri="{FF2B5EF4-FFF2-40B4-BE49-F238E27FC236}">
                  <a16:creationId xmlns:a16="http://schemas.microsoft.com/office/drawing/2014/main" id="{21678318-1889-D8A0-3DF6-945FF08E6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152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26">
              <a:extLst>
                <a:ext uri="{FF2B5EF4-FFF2-40B4-BE49-F238E27FC236}">
                  <a16:creationId xmlns:a16="http://schemas.microsoft.com/office/drawing/2014/main" id="{C772D41A-55B5-6803-9F83-387A95F10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152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6</a:t>
              </a:r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423EC152-89C8-7F48-8470-3F68E6037EF0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3048000"/>
            <a:ext cx="379413" cy="760413"/>
            <a:chOff x="5328" y="1920"/>
            <a:chExt cx="239" cy="479"/>
          </a:xfrm>
        </p:grpSpPr>
        <p:sp>
          <p:nvSpPr>
            <p:cNvPr id="31" name="AutoShape 28">
              <a:extLst>
                <a:ext uri="{FF2B5EF4-FFF2-40B4-BE49-F238E27FC236}">
                  <a16:creationId xmlns:a16="http://schemas.microsoft.com/office/drawing/2014/main" id="{77828872-E199-C018-A27B-2C0B06D97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920"/>
              <a:ext cx="240" cy="480"/>
            </a:xfrm>
            <a:prstGeom prst="roundRect">
              <a:avLst>
                <a:gd name="adj" fmla="val 41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AutoShape 29">
              <a:extLst>
                <a:ext uri="{FF2B5EF4-FFF2-40B4-BE49-F238E27FC236}">
                  <a16:creationId xmlns:a16="http://schemas.microsoft.com/office/drawing/2014/main" id="{031D9DC7-2BA1-0EA5-8204-1CD09FF34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920"/>
              <a:ext cx="240" cy="480"/>
            </a:xfrm>
            <a:prstGeom prst="roundRect">
              <a:avLst>
                <a:gd name="adj" fmla="val 417"/>
              </a:avLst>
            </a:prstGeom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</a:pPr>
              <a:r>
                <a:rPr lang="en-GB" altLang="en-US" i="1"/>
                <a:t>5</a:t>
              </a:r>
            </a:p>
          </p:txBody>
        </p:sp>
      </p:grpSp>
      <p:sp>
        <p:nvSpPr>
          <p:cNvPr id="33" name="Line 30">
            <a:extLst>
              <a:ext uri="{FF2B5EF4-FFF2-40B4-BE49-F238E27FC236}">
                <a16:creationId xmlns:a16="http://schemas.microsoft.com/office/drawing/2014/main" id="{93734D2E-372F-A6FD-5EA6-3E74A2BF71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42656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9E50D90D-3180-41E5-3578-8AEC2EAD8A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32750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0555FE3B-C808-9F31-B41A-1C9B5DB799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284413"/>
            <a:ext cx="381000" cy="7651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B5F9A871-262F-FB52-99E8-74E2606E10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42013" y="4265613"/>
            <a:ext cx="1603375" cy="9175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042CACBE-40A0-F1F6-53BE-29A04643C6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6413" y="2208213"/>
            <a:ext cx="1755775" cy="993775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465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31B7-1A7D-D804-3677-B6CF284A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>
            <a:extLst>
              <a:ext uri="{FF2B5EF4-FFF2-40B4-BE49-F238E27FC236}">
                <a16:creationId xmlns:a16="http://schemas.microsoft.com/office/drawing/2014/main" id="{29AD435E-5EE7-9462-34EF-DB4E40886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Algorithms using tree decompositions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5" name="Rectangle 3">
                <a:extLst>
                  <a:ext uri="{FF2B5EF4-FFF2-40B4-BE49-F238E27FC236}">
                    <a16:creationId xmlns:a16="http://schemas.microsoft.com/office/drawing/2014/main" id="{3FACB6D0-C612-7DFE-476A-47167C3F4D43}"/>
                  </a:ext>
                </a:extLst>
              </p:cNvPr>
              <p:cNvSpPr>
                <a:spLocks noGrp="1" noChangeArrowheads="1"/>
              </p:cNvSpPr>
              <p:nvPr>
                <p:ph sz="half" idx="1"/>
              </p:nvPr>
            </p:nvSpPr>
            <p:spPr>
              <a:xfrm>
                <a:off x="1371599" y="1828800"/>
                <a:ext cx="5287936" cy="39624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Step 1</a:t>
                </a:r>
                <a:r>
                  <a:rPr lang="en-GB" altLang="en-US" dirty="0"/>
                  <a:t>: Find a tree decomposition of width bounded by some small </a:t>
                </a:r>
                <a14:m>
                  <m:oMath xmlns:m="http://schemas.openxmlformats.org/officeDocument/2006/math">
                    <m:r>
                      <a:rPr lang="en-GB" altLang="en-US" i="1" dirty="0" smtClean="0">
                        <a:latin typeface="Cambria Math"/>
                      </a:rPr>
                      <m:t>𝑘</m:t>
                    </m:r>
                  </m:oMath>
                </a14:m>
                <a:endParaRPr lang="en-GB" altLang="en-US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Step 2</a:t>
                </a:r>
                <a:r>
                  <a:rPr lang="en-GB" altLang="en-US" dirty="0"/>
                  <a:t>: Use dynamic programming, bottom-up on the tree.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GB" altLang="en-US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GB" altLang="en-US" b="1" dirty="0"/>
                  <a:t>Therefore, if: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Inputs are restricted to a class of graphs with a bound on the treewidth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Tree decompositions can be computed efficiently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The problem allows efficient dynamic programming on tree decompositions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altLang="en-US" b="1" dirty="0"/>
                  <a:t>Then: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altLang="en-US" dirty="0"/>
                  <a:t>We can solve many problems on these graphs using this 2-step approach</a:t>
                </a:r>
              </a:p>
              <a:p>
                <a:pPr lvl="1">
                  <a:lnSpc>
                    <a:spcPct val="90000"/>
                  </a:lnSpc>
                </a:pPr>
                <a:endParaRPr lang="en-GB" altLang="en-US" dirty="0"/>
              </a:p>
            </p:txBody>
          </p:sp>
        </mc:Choice>
        <mc:Fallback xmlns="">
          <p:sp>
            <p:nvSpPr>
              <p:cNvPr id="30725" name="Rectangle 3">
                <a:extLst>
                  <a:ext uri="{FF2B5EF4-FFF2-40B4-BE49-F238E27FC236}">
                    <a16:creationId xmlns:a16="http://schemas.microsoft.com/office/drawing/2014/main" id="{3FACB6D0-C612-7DFE-476A-47167C3F4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371599" y="1828800"/>
                <a:ext cx="5287936" cy="3962400"/>
              </a:xfrm>
              <a:blipFill>
                <a:blip r:embed="rId2"/>
                <a:stretch>
                  <a:fillRect l="-231" t="-1385" b="-2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D410563-A7CB-A884-C422-553ABCDFAE7B}"/>
              </a:ext>
            </a:extLst>
          </p:cNvPr>
          <p:cNvGrpSpPr/>
          <p:nvPr/>
        </p:nvGrpSpPr>
        <p:grpSpPr>
          <a:xfrm>
            <a:off x="6791980" y="1828801"/>
            <a:ext cx="2045633" cy="2176263"/>
            <a:chOff x="5257800" y="1828800"/>
            <a:chExt cx="3579813" cy="3808413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426D51BD-3FE6-0DA1-E750-B6741D8B7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2362200"/>
              <a:ext cx="762000" cy="990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DC3F7624-B4C5-546A-B3EB-F019C8971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7000" y="4267200"/>
              <a:ext cx="533400" cy="914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DC36D73B-D5D5-47BA-EE44-4094386556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8213" y="2362200"/>
              <a:ext cx="1298575" cy="28194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CB56EE88-D891-180F-D728-70E8C6841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2133600"/>
              <a:ext cx="533400" cy="5334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BA2044AA-4248-DD34-1572-B973F4687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3048000"/>
              <a:ext cx="533400" cy="5334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E6F92B31-E743-5E02-E675-144A51C9D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962400"/>
              <a:ext cx="533400" cy="5334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A44632CE-80CD-7734-6E11-F47A0987C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4876800"/>
              <a:ext cx="533400" cy="5334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45BFC50D-BB2F-F863-8CAD-16B5EEACD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953000"/>
              <a:ext cx="533400" cy="5334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203439A0-3367-E492-01A0-E32623F6D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3124200"/>
              <a:ext cx="533400" cy="533400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600"/>
            </a:p>
          </p:txBody>
        </p:sp>
        <p:grpSp>
          <p:nvGrpSpPr>
            <p:cNvPr id="15" name="Group 12">
              <a:extLst>
                <a:ext uri="{FF2B5EF4-FFF2-40B4-BE49-F238E27FC236}">
                  <a16:creationId xmlns:a16="http://schemas.microsoft.com/office/drawing/2014/main" id="{5590E3F7-A1BF-1129-3A9D-518242FD79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7800" y="4800600"/>
              <a:ext cx="379413" cy="760413"/>
              <a:chOff x="3312" y="3024"/>
              <a:chExt cx="239" cy="479"/>
            </a:xfrm>
          </p:grpSpPr>
          <p:sp>
            <p:nvSpPr>
              <p:cNvPr id="16" name="AutoShape 13">
                <a:extLst>
                  <a:ext uri="{FF2B5EF4-FFF2-40B4-BE49-F238E27FC236}">
                    <a16:creationId xmlns:a16="http://schemas.microsoft.com/office/drawing/2014/main" id="{89CCB06F-AE00-1632-9CD2-40B9CB865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024"/>
                <a:ext cx="240" cy="480"/>
              </a:xfrm>
              <a:prstGeom prst="roundRect">
                <a:avLst>
                  <a:gd name="adj" fmla="val 417"/>
                </a:avLst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17" name="AutoShape 14">
                <a:extLst>
                  <a:ext uri="{FF2B5EF4-FFF2-40B4-BE49-F238E27FC236}">
                    <a16:creationId xmlns:a16="http://schemas.microsoft.com/office/drawing/2014/main" id="{2D06337C-30D7-F863-DE71-EC43220EB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024"/>
                <a:ext cx="240" cy="480"/>
              </a:xfrm>
              <a:prstGeom prst="roundRect">
                <a:avLst>
                  <a:gd name="adj" fmla="val 417"/>
                </a:avLst>
              </a:prstGeom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tIns="46800" rIns="90000" bIns="46800" anchor="ctr"/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r>
                  <a:rPr lang="en-GB" altLang="en-US" sz="1600" i="1"/>
                  <a:t>1</a:t>
                </a:r>
              </a:p>
            </p:txBody>
          </p:sp>
        </p:grpSp>
        <p:grpSp>
          <p:nvGrpSpPr>
            <p:cNvPr id="18" name="Group 15">
              <a:extLst>
                <a:ext uri="{FF2B5EF4-FFF2-40B4-BE49-F238E27FC236}">
                  <a16:creationId xmlns:a16="http://schemas.microsoft.com/office/drawing/2014/main" id="{6E84F7F3-4EE9-74F4-439D-FD970DFEED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1400" y="4876800"/>
              <a:ext cx="379413" cy="760413"/>
              <a:chOff x="4656" y="3072"/>
              <a:chExt cx="239" cy="479"/>
            </a:xfrm>
          </p:grpSpPr>
          <p:sp>
            <p:nvSpPr>
              <p:cNvPr id="19" name="AutoShape 16">
                <a:extLst>
                  <a:ext uri="{FF2B5EF4-FFF2-40B4-BE49-F238E27FC236}">
                    <a16:creationId xmlns:a16="http://schemas.microsoft.com/office/drawing/2014/main" id="{BD83A311-BBA1-95BA-2EFB-FFBE9EF5A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3072"/>
                <a:ext cx="240" cy="480"/>
              </a:xfrm>
              <a:prstGeom prst="roundRect">
                <a:avLst>
                  <a:gd name="adj" fmla="val 417"/>
                </a:avLst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" name="AutoShape 17">
                <a:extLst>
                  <a:ext uri="{FF2B5EF4-FFF2-40B4-BE49-F238E27FC236}">
                    <a16:creationId xmlns:a16="http://schemas.microsoft.com/office/drawing/2014/main" id="{F8598A75-8042-4675-3A4F-8FFD4DC09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3072"/>
                <a:ext cx="240" cy="480"/>
              </a:xfrm>
              <a:prstGeom prst="roundRect">
                <a:avLst>
                  <a:gd name="adj" fmla="val 417"/>
                </a:avLst>
              </a:prstGeom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tIns="46800" rIns="90000" bIns="46800" anchor="ctr"/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r>
                  <a:rPr lang="en-GB" altLang="en-US" sz="1600" i="1"/>
                  <a:t>2</a:t>
                </a:r>
              </a:p>
            </p:txBody>
          </p:sp>
        </p:grpSp>
        <p:grpSp>
          <p:nvGrpSpPr>
            <p:cNvPr id="21" name="Group 18">
              <a:extLst>
                <a:ext uri="{FF2B5EF4-FFF2-40B4-BE49-F238E27FC236}">
                  <a16:creationId xmlns:a16="http://schemas.microsoft.com/office/drawing/2014/main" id="{48B1CF2D-5735-2038-F38D-A60A54CB6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3810000"/>
              <a:ext cx="379413" cy="760413"/>
              <a:chOff x="3600" y="2400"/>
              <a:chExt cx="239" cy="479"/>
            </a:xfrm>
          </p:grpSpPr>
          <p:sp>
            <p:nvSpPr>
              <p:cNvPr id="22" name="AutoShape 19">
                <a:extLst>
                  <a:ext uri="{FF2B5EF4-FFF2-40B4-BE49-F238E27FC236}">
                    <a16:creationId xmlns:a16="http://schemas.microsoft.com/office/drawing/2014/main" id="{6BB6451C-9806-C8A7-4C57-713885B01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400"/>
                <a:ext cx="240" cy="480"/>
              </a:xfrm>
              <a:prstGeom prst="roundRect">
                <a:avLst>
                  <a:gd name="adj" fmla="val 417"/>
                </a:avLst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3" name="AutoShape 20">
                <a:extLst>
                  <a:ext uri="{FF2B5EF4-FFF2-40B4-BE49-F238E27FC236}">
                    <a16:creationId xmlns:a16="http://schemas.microsoft.com/office/drawing/2014/main" id="{82662DE1-385F-36A9-D7F3-2EA73620C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400"/>
                <a:ext cx="240" cy="480"/>
              </a:xfrm>
              <a:prstGeom prst="roundRect">
                <a:avLst>
                  <a:gd name="adj" fmla="val 417"/>
                </a:avLst>
              </a:prstGeom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tIns="46800" rIns="90000" bIns="46800" anchor="ctr"/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r>
                  <a:rPr lang="en-GB" altLang="en-US" sz="1600" i="1"/>
                  <a:t>3</a:t>
                </a:r>
              </a:p>
            </p:txBody>
          </p:sp>
        </p:grpSp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42AF0CFB-2678-A3E4-53F0-4CD08A95B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2819400"/>
              <a:ext cx="379413" cy="760413"/>
              <a:chOff x="3840" y="1776"/>
              <a:chExt cx="239" cy="479"/>
            </a:xfrm>
          </p:grpSpPr>
          <p:sp>
            <p:nvSpPr>
              <p:cNvPr id="25" name="AutoShape 22">
                <a:extLst>
                  <a:ext uri="{FF2B5EF4-FFF2-40B4-BE49-F238E27FC236}">
                    <a16:creationId xmlns:a16="http://schemas.microsoft.com/office/drawing/2014/main" id="{EE807AE5-ED81-F20D-62D0-336099347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240" cy="480"/>
              </a:xfrm>
              <a:prstGeom prst="roundRect">
                <a:avLst>
                  <a:gd name="adj" fmla="val 417"/>
                </a:avLst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6" name="AutoShape 23">
                <a:extLst>
                  <a:ext uri="{FF2B5EF4-FFF2-40B4-BE49-F238E27FC236}">
                    <a16:creationId xmlns:a16="http://schemas.microsoft.com/office/drawing/2014/main" id="{5D7C3CD2-2FC2-9243-E491-1E207CD45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1776"/>
                <a:ext cx="240" cy="480"/>
              </a:xfrm>
              <a:prstGeom prst="roundRect">
                <a:avLst>
                  <a:gd name="adj" fmla="val 417"/>
                </a:avLst>
              </a:prstGeom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tIns="46800" rIns="90000" bIns="46800" anchor="ctr"/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r>
                  <a:rPr lang="en-GB" altLang="en-US" sz="1600" i="1"/>
                  <a:t>4</a:t>
                </a:r>
              </a:p>
            </p:txBody>
          </p:sp>
        </p:grpSp>
        <p:grpSp>
          <p:nvGrpSpPr>
            <p:cNvPr id="27" name="Group 24">
              <a:extLst>
                <a:ext uri="{FF2B5EF4-FFF2-40B4-BE49-F238E27FC236}">
                  <a16:creationId xmlns:a16="http://schemas.microsoft.com/office/drawing/2014/main" id="{47E0DF88-3608-C057-C6A3-A3BDB6513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29400" y="1828800"/>
              <a:ext cx="379413" cy="760413"/>
              <a:chOff x="4176" y="1152"/>
              <a:chExt cx="239" cy="479"/>
            </a:xfrm>
          </p:grpSpPr>
          <p:sp>
            <p:nvSpPr>
              <p:cNvPr id="28" name="AutoShape 25">
                <a:extLst>
                  <a:ext uri="{FF2B5EF4-FFF2-40B4-BE49-F238E27FC236}">
                    <a16:creationId xmlns:a16="http://schemas.microsoft.com/office/drawing/2014/main" id="{1F98F319-B7AA-5259-2261-64DAE625A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480"/>
              </a:xfrm>
              <a:prstGeom prst="roundRect">
                <a:avLst>
                  <a:gd name="adj" fmla="val 417"/>
                </a:avLst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9" name="AutoShape 26">
                <a:extLst>
                  <a:ext uri="{FF2B5EF4-FFF2-40B4-BE49-F238E27FC236}">
                    <a16:creationId xmlns:a16="http://schemas.microsoft.com/office/drawing/2014/main" id="{4002A242-D362-D46A-341E-68E10059E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480"/>
              </a:xfrm>
              <a:prstGeom prst="roundRect">
                <a:avLst>
                  <a:gd name="adj" fmla="val 417"/>
                </a:avLst>
              </a:prstGeom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tIns="46800" rIns="90000" bIns="46800" anchor="ctr"/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r>
                  <a:rPr lang="en-GB" altLang="en-US" sz="1600" i="1"/>
                  <a:t>6</a:t>
                </a:r>
              </a:p>
            </p:txBody>
          </p:sp>
        </p:grpSp>
        <p:grpSp>
          <p:nvGrpSpPr>
            <p:cNvPr id="30" name="Group 27">
              <a:extLst>
                <a:ext uri="{FF2B5EF4-FFF2-40B4-BE49-F238E27FC236}">
                  <a16:creationId xmlns:a16="http://schemas.microsoft.com/office/drawing/2014/main" id="{7E50135E-71FB-EF7B-AFF2-CD757D954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8200" y="3048000"/>
              <a:ext cx="379413" cy="760413"/>
              <a:chOff x="5328" y="1920"/>
              <a:chExt cx="239" cy="479"/>
            </a:xfrm>
          </p:grpSpPr>
          <p:sp>
            <p:nvSpPr>
              <p:cNvPr id="31" name="AutoShape 28">
                <a:extLst>
                  <a:ext uri="{FF2B5EF4-FFF2-40B4-BE49-F238E27FC236}">
                    <a16:creationId xmlns:a16="http://schemas.microsoft.com/office/drawing/2014/main" id="{02A29753-862A-94F2-05DD-ECA2F7E1A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920"/>
                <a:ext cx="240" cy="480"/>
              </a:xfrm>
              <a:prstGeom prst="roundRect">
                <a:avLst>
                  <a:gd name="adj" fmla="val 417"/>
                </a:avLst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32" name="AutoShape 29">
                <a:extLst>
                  <a:ext uri="{FF2B5EF4-FFF2-40B4-BE49-F238E27FC236}">
                    <a16:creationId xmlns:a16="http://schemas.microsoft.com/office/drawing/2014/main" id="{345FB435-74F5-0518-D41C-326934D46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920"/>
                <a:ext cx="240" cy="480"/>
              </a:xfrm>
              <a:prstGeom prst="roundRect">
                <a:avLst>
                  <a:gd name="adj" fmla="val 417"/>
                </a:avLst>
              </a:prstGeom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tIns="46800" rIns="90000" bIns="46800" anchor="ctr"/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r>
                  <a:rPr lang="en-GB" altLang="en-US" sz="1600" i="1"/>
                  <a:t>5</a:t>
                </a:r>
              </a:p>
            </p:txBody>
          </p:sp>
        </p:grp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0C53E786-4FDF-D1F3-3E68-A272A94F54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6400" y="4265613"/>
              <a:ext cx="381000" cy="76517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18050899-AA4B-B5C9-A708-934B32005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3275013"/>
              <a:ext cx="381000" cy="76517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6136B562-813A-800D-D7A3-FFF4897E5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00800" y="2284413"/>
              <a:ext cx="381000" cy="76517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DBB05373-2C14-1C05-91DA-4277B2B19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42013" y="4265613"/>
              <a:ext cx="1603375" cy="91757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FCB2B419-AFF0-0FB8-B7C3-4157EE039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56413" y="2208213"/>
              <a:ext cx="1755775" cy="99377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63293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nl-NL" altLang="en-US" sz="1400" i="0"/>
              <a:t>Treewidth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fld id="{238FEFD8-6A94-4B2F-926A-196D186353AF}" type="slidenum">
              <a:rPr lang="nl-NL" smtClean="0"/>
              <a:pPr eaLnBrk="1" hangingPunct="1">
                <a:defRPr/>
              </a:pPr>
              <a:t>54</a:t>
            </a:fld>
            <a:endParaRPr lang="nl-NL" altLang="en-US" sz="1400" i="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Determining treewidth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b="1" dirty="0"/>
              <a:t>Treewidth</a:t>
            </a:r>
            <a:r>
              <a:rPr lang="en-US" altLang="en-US" sz="2000" dirty="0"/>
              <a:t> problem (decision version):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Given</a:t>
            </a:r>
            <a:r>
              <a:rPr lang="en-US" altLang="en-US" sz="1800" dirty="0"/>
              <a:t>: Graph G, integer </a:t>
            </a:r>
            <a:r>
              <a:rPr lang="en-US" altLang="en-US" sz="1800" i="1" dirty="0"/>
              <a:t>k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Question</a:t>
            </a:r>
            <a:r>
              <a:rPr lang="en-US" altLang="en-US" sz="1800" dirty="0"/>
              <a:t>: Is the treewidth of G at most </a:t>
            </a:r>
            <a:r>
              <a:rPr lang="en-US" altLang="en-US" sz="1800" i="1" dirty="0"/>
              <a:t>k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b="1" dirty="0"/>
              <a:t>Treewidth</a:t>
            </a:r>
            <a:r>
              <a:rPr lang="en-US" altLang="en-US" sz="2000" dirty="0"/>
              <a:t> problem (construction version):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Given</a:t>
            </a:r>
            <a:r>
              <a:rPr lang="en-US" altLang="en-US" sz="1800" dirty="0"/>
              <a:t>: Graph 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Question</a:t>
            </a:r>
            <a:r>
              <a:rPr lang="en-US" altLang="en-US" sz="1800" dirty="0"/>
              <a:t>: construct a tree decomposition of G with minimum width</a:t>
            </a:r>
            <a:endParaRPr lang="en-US" altLang="en-US" sz="1800" i="1" dirty="0"/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NP-complete (Arnborg, </a:t>
            </a:r>
            <a:r>
              <a:rPr lang="en-US" altLang="en-US" sz="2000" dirty="0" err="1"/>
              <a:t>Proskurowski</a:t>
            </a:r>
            <a:r>
              <a:rPr lang="en-US" altLang="en-US" sz="2000" dirty="0"/>
              <a:t>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4CAC-C2DF-491C-9240-455BCDC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tree decompositions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0BE4F-3819-499A-8309-BE6EB39D6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small </a:t>
            </a:r>
            <a:r>
              <a:rPr lang="en-US" i="1" dirty="0"/>
              <a:t>k</a:t>
            </a:r>
            <a:r>
              <a:rPr lang="en-US" dirty="0"/>
              <a:t>: efficient, practical algorithms exist </a:t>
            </a:r>
          </a:p>
          <a:p>
            <a:pPr lvl="1"/>
            <a:r>
              <a:rPr lang="en-US" i="1" dirty="0"/>
              <a:t>k = </a:t>
            </a:r>
            <a:r>
              <a:rPr lang="en-US" dirty="0"/>
              <a:t>1, 2, 3 (</a:t>
            </a:r>
            <a:r>
              <a:rPr lang="en-US" altLang="en-US" dirty="0">
                <a:sym typeface="Wingdings" pitchFamily="2" charset="2"/>
              </a:rPr>
              <a:t>Arnborg, Corneil, </a:t>
            </a:r>
            <a:r>
              <a:rPr lang="en-US" altLang="en-US" dirty="0" err="1">
                <a:sym typeface="Wingdings" pitchFamily="2" charset="2"/>
              </a:rPr>
              <a:t>Proskurowski</a:t>
            </a:r>
            <a:r>
              <a:rPr lang="en-US" altLang="en-US" dirty="0">
                <a:sym typeface="Wingdings" pitchFamily="2" charset="2"/>
              </a:rPr>
              <a:t> 1987)</a:t>
            </a:r>
          </a:p>
          <a:p>
            <a:pPr lvl="1"/>
            <a:r>
              <a:rPr lang="en-US" dirty="0">
                <a:sym typeface="Wingdings" pitchFamily="2" charset="2"/>
              </a:rPr>
              <a:t>k = 4 (Sanders 1993)</a:t>
            </a:r>
            <a:endParaRPr lang="en-US" dirty="0"/>
          </a:p>
          <a:p>
            <a:r>
              <a:rPr lang="en-US" dirty="0"/>
              <a:t>Theoretical </a:t>
            </a:r>
            <a:r>
              <a:rPr lang="en-US" dirty="0">
                <a:sym typeface="Wingdings" panose="05000000000000000000" pitchFamily="2" charset="2"/>
              </a:rPr>
              <a:t>(</a:t>
            </a:r>
            <a:r>
              <a:rPr lang="en-US" i="1" dirty="0">
                <a:sym typeface="Wingdings" panose="05000000000000000000" pitchFamily="2" charset="2"/>
              </a:rPr>
              <a:t>n</a:t>
            </a:r>
            <a:r>
              <a:rPr lang="en-US" dirty="0">
                <a:sym typeface="Wingdings" panose="05000000000000000000" pitchFamily="2" charset="2"/>
              </a:rPr>
              <a:t>) algorithm for fixed </a:t>
            </a:r>
            <a:r>
              <a:rPr lang="en-US" i="1" dirty="0">
                <a:sym typeface="Wingdings" panose="05000000000000000000" pitchFamily="2" charset="2"/>
              </a:rPr>
              <a:t>k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FPT (Bodlander 1996)</a:t>
            </a:r>
          </a:p>
          <a:p>
            <a:r>
              <a:rPr lang="en-US" dirty="0">
                <a:sym typeface="Wingdings" panose="05000000000000000000" pitchFamily="2" charset="2"/>
              </a:rPr>
              <a:t>Practical algorithm for relatively small graphs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Current best by Tamaki</a:t>
            </a:r>
          </a:p>
          <a:p>
            <a:r>
              <a:rPr lang="en-US" dirty="0"/>
              <a:t>Heuristics that work quite well in practice</a:t>
            </a:r>
          </a:p>
          <a:p>
            <a:pPr lvl="1"/>
            <a:r>
              <a:rPr lang="en-US" dirty="0"/>
              <a:t>E.g., minimum degree heuristic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8237E-78AD-454F-9083-42EB2AA4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Treewidth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62F77-5D84-4F8D-882F-B2399037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38FEFD8-6A94-4B2F-926A-196D186353AF}" type="slidenum">
              <a:rPr lang="nl-NL" smtClean="0"/>
              <a:pPr>
                <a:defRPr/>
              </a:pPr>
              <a:t>55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78370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GB" altLang="en-US" dirty="0"/>
              <a:t>Courcelle’s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7" name="Rectangle 102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</p:spPr>
            <p:txBody>
              <a:bodyPr/>
              <a:lstStyle/>
              <a:p>
                <a:r>
                  <a:rPr lang="en-GB" altLang="en-US" b="1" dirty="0"/>
                  <a:t>Courcelle’s theorem </a:t>
                </a:r>
                <a:r>
                  <a:rPr lang="en-GB" altLang="en-US" dirty="0"/>
                  <a:t>(details omitted):</a:t>
                </a:r>
              </a:p>
              <a:p>
                <a:pPr lvl="1"/>
                <a:r>
                  <a:rPr lang="en-GB" altLang="en-US" dirty="0"/>
                  <a:t>Every graph property that is definable in monadic second-order logic can be decided in linear time on tree decompositions</a:t>
                </a:r>
              </a:p>
              <a:p>
                <a:endParaRPr lang="en-GB" altLang="en-US" dirty="0"/>
              </a:p>
              <a:p>
                <a:r>
                  <a:rPr lang="en-GB" altLang="en-US" dirty="0"/>
                  <a:t>Linear time in size of the graph, </a:t>
                </a:r>
                <a:r>
                  <a:rPr lang="en-GB" altLang="en-US" b="1" dirty="0"/>
                  <a:t>not</a:t>
                </a:r>
                <a:r>
                  <a:rPr lang="en-GB" altLang="en-US" dirty="0"/>
                  <a:t> linear in the treewidth!</a:t>
                </a:r>
              </a:p>
              <a:p>
                <a:pPr lvl="1"/>
                <a:r>
                  <a:rPr lang="en-GB" altLang="en-US" dirty="0"/>
                  <a:t>Running times of the form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altLang="en-US" dirty="0"/>
                  <a:t>, where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altLang="en-US" dirty="0"/>
                  <a:t> is the treewidth</a:t>
                </a:r>
              </a:p>
              <a:p>
                <a:pPr lvl="1"/>
                <a:r>
                  <a:rPr lang="en-GB" altLang="en-US" dirty="0"/>
                  <a:t>The most efficient algorithms </a:t>
                </a:r>
                <a:r>
                  <a:rPr lang="en-GB" altLang="en-US" dirty="0" err="1"/>
                  <a:t>w.r.t.</a:t>
                </a:r>
                <a:r>
                  <a:rPr lang="en-GB" altLang="en-US" dirty="0"/>
                  <a:t> treewidth are specialised (not a consequence of Courcelle’s theorem)</a:t>
                </a:r>
              </a:p>
              <a:p>
                <a:pPr lvl="1"/>
                <a:endParaRPr lang="en-GB" altLang="en-US" dirty="0"/>
              </a:p>
              <a:p>
                <a:r>
                  <a:rPr lang="en-GB" altLang="en-US" dirty="0"/>
                  <a:t>Examples:</a:t>
                </a:r>
              </a:p>
              <a:p>
                <a:pPr lvl="1"/>
                <a:r>
                  <a:rPr lang="en-GB" altLang="en-US" dirty="0"/>
                  <a:t>Independent set, dominating set, Hamilton cycle, longest path, Steiner Tree, k-colouring, k-edge colouring, minimum maximal matching, </a:t>
                </a:r>
                <a:r>
                  <a:rPr lang="en-GB" altLang="en-US" dirty="0" err="1"/>
                  <a:t>supergraph</a:t>
                </a:r>
                <a:r>
                  <a:rPr lang="en-GB" altLang="en-US" dirty="0"/>
                  <a:t> of H, etc.</a:t>
                </a:r>
              </a:p>
            </p:txBody>
          </p:sp>
        </mc:Choice>
        <mc:Fallback xmlns="">
          <p:sp>
            <p:nvSpPr>
              <p:cNvPr id="44037" name="Rectangle 10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828800"/>
                <a:ext cx="7520880" cy="3962400"/>
              </a:xfrm>
              <a:blipFill>
                <a:blip r:embed="rId2"/>
                <a:stretch>
                  <a:fillRect l="-162" t="-769" r="-16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6994-B059-D1E3-EFA1-F339105D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6254-B501-779F-7C48-51C59BC7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A75E1-B89E-F11B-F14A-26618731E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classes of bounded treewidth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454396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E6357F-46D1-440F-AF7E-49151068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</a:t>
            </a:r>
            <a:br>
              <a:rPr lang="en-US" dirty="0"/>
            </a:br>
            <a:r>
              <a:rPr lang="en-US" dirty="0"/>
              <a:t>Series-parallel graphs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4A24EA-CA2A-10CB-C0E6-693C64D11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Computing resistances with the laws of Ohm:</a:t>
            </a:r>
            <a:endParaRPr lang="LID4096" dirty="0"/>
          </a:p>
        </p:txBody>
      </p:sp>
      <p:graphicFrame>
        <p:nvGraphicFramePr>
          <p:cNvPr id="6" name="Object 1027">
            <a:extLst>
              <a:ext uri="{FF2B5EF4-FFF2-40B4-BE49-F238E27FC236}">
                <a16:creationId xmlns:a16="http://schemas.microsoft.com/office/drawing/2014/main" id="{945D9598-6C42-5A3F-79ED-744B956724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866785"/>
              </p:ext>
            </p:extLst>
          </p:nvPr>
        </p:nvGraphicFramePr>
        <p:xfrm>
          <a:off x="4467412" y="3898905"/>
          <a:ext cx="215900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812447" imgH="431613" progId="Equation.3">
                  <p:embed/>
                </p:oleObj>
              </mc:Choice>
              <mc:Fallback>
                <p:oleObj name="Vergelijking" r:id="rId2" imgW="812447" imgH="431613" progId="Equation.3">
                  <p:embed/>
                  <p:pic>
                    <p:nvPicPr>
                      <p:cNvPr id="4101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412" y="3898905"/>
                        <a:ext cx="2159000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28">
            <a:extLst>
              <a:ext uri="{FF2B5EF4-FFF2-40B4-BE49-F238E27FC236}">
                <a16:creationId xmlns:a16="http://schemas.microsoft.com/office/drawing/2014/main" id="{660F32D8-3C67-093E-D2C2-11E8ACA99A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701868"/>
              </p:ext>
            </p:extLst>
          </p:nvPr>
        </p:nvGraphicFramePr>
        <p:xfrm>
          <a:off x="1336783" y="4146975"/>
          <a:ext cx="20574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723586" imgH="215806" progId="Equation.3">
                  <p:embed/>
                </p:oleObj>
              </mc:Choice>
              <mc:Fallback>
                <p:oleObj name="Vergelijking" r:id="rId4" imgW="723586" imgH="215806" progId="Equation.3">
                  <p:embed/>
                  <p:pic>
                    <p:nvPicPr>
                      <p:cNvPr id="4102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783" y="4146975"/>
                        <a:ext cx="205740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29">
            <a:extLst>
              <a:ext uri="{FF2B5EF4-FFF2-40B4-BE49-F238E27FC236}">
                <a16:creationId xmlns:a16="http://schemas.microsoft.com/office/drawing/2014/main" id="{D6B621CD-C841-61DE-3BF4-1497B012DB3C}"/>
              </a:ext>
            </a:extLst>
          </p:cNvPr>
          <p:cNvGrpSpPr>
            <a:grpSpLocks/>
          </p:cNvGrpSpPr>
          <p:nvPr/>
        </p:nvGrpSpPr>
        <p:grpSpPr bwMode="auto">
          <a:xfrm>
            <a:off x="993883" y="3096682"/>
            <a:ext cx="2743200" cy="466725"/>
            <a:chOff x="288" y="2496"/>
            <a:chExt cx="1728" cy="294"/>
          </a:xfrm>
        </p:grpSpPr>
        <p:sp>
          <p:nvSpPr>
            <p:cNvPr id="9" name="Line 1030">
              <a:extLst>
                <a:ext uri="{FF2B5EF4-FFF2-40B4-BE49-F238E27FC236}">
                  <a16:creationId xmlns:a16="http://schemas.microsoft.com/office/drawing/2014/main" id="{7556C8C2-4A32-6F2C-02EE-5B0B60F47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64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1031">
              <a:extLst>
                <a:ext uri="{FF2B5EF4-FFF2-40B4-BE49-F238E27FC236}">
                  <a16:creationId xmlns:a16="http://schemas.microsoft.com/office/drawing/2014/main" id="{7F4265D7-33A4-F18F-EC12-9F8319A44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496"/>
              <a:ext cx="576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i="0"/>
                <a:t>R</a:t>
              </a:r>
              <a:r>
                <a:rPr lang="en-US" altLang="en-US" i="0" baseline="-25000"/>
                <a:t>1</a:t>
              </a:r>
              <a:endParaRPr lang="en-US" altLang="en-US" i="0"/>
            </a:p>
          </p:txBody>
        </p:sp>
        <p:sp>
          <p:nvSpPr>
            <p:cNvPr id="11" name="Text Box 1032">
              <a:extLst>
                <a:ext uri="{FF2B5EF4-FFF2-40B4-BE49-F238E27FC236}">
                  <a16:creationId xmlns:a16="http://schemas.microsoft.com/office/drawing/2014/main" id="{28764479-7FDC-6220-F751-FDD307B98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496"/>
              <a:ext cx="576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i="0"/>
                <a:t>R</a:t>
              </a:r>
              <a:r>
                <a:rPr lang="en-US" altLang="en-US" i="0" baseline="-25000"/>
                <a:t>2</a:t>
              </a:r>
              <a:endParaRPr lang="en-US" altLang="en-US" i="0"/>
            </a:p>
          </p:txBody>
        </p:sp>
      </p:grpSp>
      <p:grpSp>
        <p:nvGrpSpPr>
          <p:cNvPr id="12" name="Group 1033">
            <a:extLst>
              <a:ext uri="{FF2B5EF4-FFF2-40B4-BE49-F238E27FC236}">
                <a16:creationId xmlns:a16="http://schemas.microsoft.com/office/drawing/2014/main" id="{B50454B4-316B-BA9C-2452-46B4A53A4CC1}"/>
              </a:ext>
            </a:extLst>
          </p:cNvPr>
          <p:cNvGrpSpPr>
            <a:grpSpLocks/>
          </p:cNvGrpSpPr>
          <p:nvPr/>
        </p:nvGrpSpPr>
        <p:grpSpPr bwMode="auto">
          <a:xfrm>
            <a:off x="3946712" y="2640010"/>
            <a:ext cx="3200400" cy="1228725"/>
            <a:chOff x="2256" y="2736"/>
            <a:chExt cx="2016" cy="774"/>
          </a:xfrm>
        </p:grpSpPr>
        <p:sp>
          <p:nvSpPr>
            <p:cNvPr id="13" name="Line 1034">
              <a:extLst>
                <a:ext uri="{FF2B5EF4-FFF2-40B4-BE49-F238E27FC236}">
                  <a16:creationId xmlns:a16="http://schemas.microsoft.com/office/drawing/2014/main" id="{2C1DA137-E749-53BE-1AA1-DBEA36CE7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40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035">
              <a:extLst>
                <a:ext uri="{FF2B5EF4-FFF2-40B4-BE49-F238E27FC236}">
                  <a16:creationId xmlns:a16="http://schemas.microsoft.com/office/drawing/2014/main" id="{93D75635-3AC3-6FF8-81F2-DCD829B9A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92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1036">
              <a:extLst>
                <a:ext uri="{FF2B5EF4-FFF2-40B4-BE49-F238E27FC236}">
                  <a16:creationId xmlns:a16="http://schemas.microsoft.com/office/drawing/2014/main" id="{E949255F-C0D1-F085-2F83-F23B72610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736"/>
              <a:ext cx="576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i="0" dirty="0"/>
                <a:t>R</a:t>
              </a:r>
              <a:r>
                <a:rPr lang="en-US" altLang="en-US" i="0" baseline="-25000" dirty="0"/>
                <a:t>1</a:t>
              </a:r>
              <a:endParaRPr lang="en-US" altLang="en-US" i="0" dirty="0"/>
            </a:p>
          </p:txBody>
        </p:sp>
        <p:sp>
          <p:nvSpPr>
            <p:cNvPr id="16" name="Text Box 1037">
              <a:extLst>
                <a:ext uri="{FF2B5EF4-FFF2-40B4-BE49-F238E27FC236}">
                  <a16:creationId xmlns:a16="http://schemas.microsoft.com/office/drawing/2014/main" id="{6FA5FB64-16A2-F197-B8EA-8898458E0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216"/>
              <a:ext cx="576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i="0"/>
                <a:t>R</a:t>
              </a:r>
              <a:r>
                <a:rPr lang="en-US" altLang="en-US" i="0" baseline="-25000"/>
                <a:t>2</a:t>
              </a:r>
              <a:endParaRPr lang="en-US" altLang="en-US" i="0"/>
            </a:p>
          </p:txBody>
        </p:sp>
        <p:sp>
          <p:nvSpPr>
            <p:cNvPr id="17" name="Line 1038">
              <a:extLst>
                <a:ext uri="{FF2B5EF4-FFF2-40B4-BE49-F238E27FC236}">
                  <a16:creationId xmlns:a16="http://schemas.microsoft.com/office/drawing/2014/main" id="{96CB7363-AE4E-A4FF-E388-DDB1EF349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92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39">
              <a:extLst>
                <a:ext uri="{FF2B5EF4-FFF2-40B4-BE49-F238E27FC236}">
                  <a16:creationId xmlns:a16="http://schemas.microsoft.com/office/drawing/2014/main" id="{297718EC-CA1E-D2D0-927D-68E4188495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92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040">
              <a:extLst>
                <a:ext uri="{FF2B5EF4-FFF2-40B4-BE49-F238E27FC236}">
                  <a16:creationId xmlns:a16="http://schemas.microsoft.com/office/drawing/2014/main" id="{ED815948-84C6-F301-17C9-9B02A86BC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31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041">
              <a:extLst>
                <a:ext uri="{FF2B5EF4-FFF2-40B4-BE49-F238E27FC236}">
                  <a16:creationId xmlns:a16="http://schemas.microsoft.com/office/drawing/2014/main" id="{DE922761-E2B3-A75B-DC34-F68C5C43A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1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 Box 1042">
            <a:extLst>
              <a:ext uri="{FF2B5EF4-FFF2-40B4-BE49-F238E27FC236}">
                <a16:creationId xmlns:a16="http://schemas.microsoft.com/office/drawing/2014/main" id="{77C270AC-80BE-97D1-9C49-77C1F078F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351" y="5167105"/>
            <a:ext cx="1846263" cy="8318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dirty="0"/>
              <a:t>Two resistors</a:t>
            </a:r>
            <a:br>
              <a:rPr lang="en-US" altLang="en-US" dirty="0"/>
            </a:br>
            <a:r>
              <a:rPr lang="en-US" altLang="en-US" dirty="0"/>
              <a:t>in </a:t>
            </a:r>
            <a:r>
              <a:rPr lang="en-US" altLang="en-US" b="1" dirty="0"/>
              <a:t>series</a:t>
            </a:r>
            <a:endParaRPr lang="nl-NL" altLang="en-US" dirty="0"/>
          </a:p>
        </p:txBody>
      </p:sp>
      <p:sp>
        <p:nvSpPr>
          <p:cNvPr id="22" name="Text Box 1043">
            <a:extLst>
              <a:ext uri="{FF2B5EF4-FFF2-40B4-BE49-F238E27FC236}">
                <a16:creationId xmlns:a16="http://schemas.microsoft.com/office/drawing/2014/main" id="{E6C94D6B-7BD5-259B-BC88-5CAA45D66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5151444"/>
            <a:ext cx="1846262" cy="8318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dirty="0"/>
              <a:t>Two resistors</a:t>
            </a:r>
            <a:br>
              <a:rPr lang="en-US" altLang="en-US" dirty="0"/>
            </a:br>
            <a:r>
              <a:rPr lang="en-US" altLang="en-US" dirty="0"/>
              <a:t>in </a:t>
            </a:r>
            <a:r>
              <a:rPr lang="en-US" altLang="en-US" b="1" dirty="0"/>
              <a:t>parallel</a:t>
            </a:r>
            <a:endParaRPr lang="nl-NL" altLang="en-US" dirty="0"/>
          </a:p>
        </p:txBody>
      </p:sp>
      <p:pic>
        <p:nvPicPr>
          <p:cNvPr id="23" name="Picture 1044" descr="Ohm">
            <a:extLst>
              <a:ext uri="{FF2B5EF4-FFF2-40B4-BE49-F238E27FC236}">
                <a16:creationId xmlns:a16="http://schemas.microsoft.com/office/drawing/2014/main" id="{C977BCEA-3E7F-92F3-A4B0-2D9D8BBC4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100" y="1945745"/>
            <a:ext cx="10795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Box 1045">
            <a:extLst>
              <a:ext uri="{FF2B5EF4-FFF2-40B4-BE49-F238E27FC236}">
                <a16:creationId xmlns:a16="http://schemas.microsoft.com/office/drawing/2014/main" id="{692ED5B8-0909-6780-A467-DBA67BF63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025" y="3355445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en-US" sz="1800"/>
              <a:t>1789-1854</a:t>
            </a:r>
            <a:endParaRPr lang="nl-NL" altLang="en-US" sz="1800"/>
          </a:p>
        </p:txBody>
      </p:sp>
    </p:spTree>
    <p:extLst>
      <p:ext uri="{BB962C8B-B14F-4D97-AF65-F5344CB8AC3E}">
        <p14:creationId xmlns:p14="http://schemas.microsoft.com/office/powerpoint/2010/main" val="16104321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5382-5E4A-9F9B-6DB3-0FB7BEE1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</a:t>
            </a:r>
            <a:br>
              <a:rPr lang="en-US" dirty="0"/>
            </a:br>
            <a:r>
              <a:rPr lang="en-US" dirty="0"/>
              <a:t>Series-parallel graphs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7D279-ACDA-ADFE-4329-30EC30FC5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28800"/>
            <a:ext cx="7391400" cy="4162400"/>
          </a:xfrm>
        </p:spPr>
        <p:txBody>
          <a:bodyPr/>
          <a:lstStyle/>
          <a:p>
            <a:r>
              <a:rPr lang="en-US" dirty="0"/>
              <a:t>Series-parallel graphs combine serial and parallel circuits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Underlying there is a tree structure used to compute the resistance of the full circuit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BF6A9D-788C-7948-C15E-3F8880E4B8E3}"/>
              </a:ext>
            </a:extLst>
          </p:cNvPr>
          <p:cNvGrpSpPr/>
          <p:nvPr/>
        </p:nvGrpSpPr>
        <p:grpSpPr>
          <a:xfrm>
            <a:off x="2123728" y="2119699"/>
            <a:ext cx="6096000" cy="1752600"/>
            <a:chOff x="685800" y="2286000"/>
            <a:chExt cx="6096000" cy="1752600"/>
          </a:xfrm>
        </p:grpSpPr>
        <p:sp>
          <p:nvSpPr>
            <p:cNvPr id="5" name="Line 2">
              <a:extLst>
                <a:ext uri="{FF2B5EF4-FFF2-40B4-BE49-F238E27FC236}">
                  <a16:creationId xmlns:a16="http://schemas.microsoft.com/office/drawing/2014/main" id="{6BDF7293-7C96-7B3D-AA78-64B4EAE3D3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6200" y="3886200"/>
              <a:ext cx="2514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BE097515-4395-374B-72B8-AD5CDDA6D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3124200"/>
              <a:ext cx="15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5AA3C86E-0224-B040-4592-7BFF6E0D5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2438400"/>
              <a:ext cx="15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7D6B0B6E-24A5-DD79-F99E-7B996E91B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22860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/>
                <a:t>6</a:t>
              </a:r>
              <a:endParaRPr lang="nl-NL" alt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F0398C3F-DF75-212A-0F8B-711A2CA00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29718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/>
                <a:t>2</a:t>
              </a:r>
              <a:endParaRPr lang="nl-NL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9DF01843-A9C9-030A-936A-6C2A41C8F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24384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CE73871A-2154-A9DF-B2C3-BA6BDC9E1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24384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4AD10B54-9772-9D4B-3661-3669CCF57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3124200"/>
              <a:ext cx="15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BBE3FF9B-21A7-AE42-8588-8BE4C85AC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2438400"/>
              <a:ext cx="15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6255294B-A55E-5992-51F5-72A443458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22860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/>
                <a:t>6</a:t>
              </a:r>
              <a:endParaRPr lang="nl-NL" alt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4ABE44B6-5E2C-BE69-3696-FE992E5E7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29718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/>
                <a:t>2</a:t>
              </a:r>
              <a:endParaRPr lang="nl-NL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C53A4D40-BB3D-39F1-AE36-09EA375E4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24384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32898A0F-091D-2F49-638E-3A54ED586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6800" y="24384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903AB889-A3E8-E0AE-FA04-943E1A9A9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2819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4EDAF42E-69F9-46C7-50F7-A681E42D2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6800" y="2743200"/>
              <a:ext cx="15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04E5A4D7-B724-9F6F-C539-2B12A70D0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25908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/>
                <a:t>5</a:t>
              </a:r>
              <a:endParaRPr lang="nl-NL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50131D5B-5316-0DFC-3C5D-559FB12C4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2819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74A77049-6071-7AB1-EB33-83361ED57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28194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8C574B73-9776-2FF0-DE33-92F119752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2743200"/>
              <a:ext cx="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7D5BE59C-7231-12A2-7A67-7D374BF99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3886200"/>
              <a:ext cx="2895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5D490B00-07C4-F38E-5CD0-14344C77B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37338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/>
                <a:t>1</a:t>
              </a:r>
              <a:endParaRPr lang="nl-NL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7BD6702E-EB26-91F5-BD87-4860FAF6D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" y="32766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B315B7ED-24E2-8C6F-C10D-D1E6E277A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3352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97900BF3-5AFE-90DC-EAD0-37B164472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7338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/>
                <a:t>7</a:t>
              </a:r>
              <a:endParaRPr lang="nl-NL" alt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DF81E3E-B44E-CACE-D659-3491FDF50C72}"/>
              </a:ext>
            </a:extLst>
          </p:cNvPr>
          <p:cNvGrpSpPr/>
          <p:nvPr/>
        </p:nvGrpSpPr>
        <p:grpSpPr>
          <a:xfrm>
            <a:off x="2885728" y="4616576"/>
            <a:ext cx="3100202" cy="2131687"/>
            <a:chOff x="3581400" y="2271296"/>
            <a:chExt cx="4343400" cy="2986504"/>
          </a:xfrm>
        </p:grpSpPr>
        <p:sp>
          <p:nvSpPr>
            <p:cNvPr id="30" name="Line 2">
              <a:extLst>
                <a:ext uri="{FF2B5EF4-FFF2-40B4-BE49-F238E27FC236}">
                  <a16:creationId xmlns:a16="http://schemas.microsoft.com/office/drawing/2014/main" id="{DC1277B7-0B5C-AA68-AA99-EA410D62D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4038600"/>
              <a:ext cx="228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1" name="Line 3">
              <a:extLst>
                <a:ext uri="{FF2B5EF4-FFF2-40B4-BE49-F238E27FC236}">
                  <a16:creationId xmlns:a16="http://schemas.microsoft.com/office/drawing/2014/main" id="{9AB9E523-1920-9F18-E994-270FA30B1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400" y="3962400"/>
              <a:ext cx="228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2" name="Line 4">
              <a:extLst>
                <a:ext uri="{FF2B5EF4-FFF2-40B4-BE49-F238E27FC236}">
                  <a16:creationId xmlns:a16="http://schemas.microsoft.com/office/drawing/2014/main" id="{CDDFF6B2-F8B7-652E-D168-5DBEB35C35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6400" y="4038600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3" name="Line 5">
              <a:extLst>
                <a:ext uri="{FF2B5EF4-FFF2-40B4-BE49-F238E27FC236}">
                  <a16:creationId xmlns:a16="http://schemas.microsoft.com/office/drawing/2014/main" id="{57191092-8CE4-FF19-514C-3306DC650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9600" y="4038600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4" name="Line 6">
              <a:extLst>
                <a:ext uri="{FF2B5EF4-FFF2-40B4-BE49-F238E27FC236}">
                  <a16:creationId xmlns:a16="http://schemas.microsoft.com/office/drawing/2014/main" id="{AF20F111-C396-5166-8A34-4B8EF25B6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2971800"/>
              <a:ext cx="2286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B8C88020-9306-C773-F859-1C42BA758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86600" y="2971800"/>
              <a:ext cx="2286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6" name="Line 8">
              <a:extLst>
                <a:ext uri="{FF2B5EF4-FFF2-40B4-BE49-F238E27FC236}">
                  <a16:creationId xmlns:a16="http://schemas.microsoft.com/office/drawing/2014/main" id="{4B20A111-DE37-3E29-B574-62DE5EB6B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048000"/>
              <a:ext cx="7620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4C404946-B0BF-452E-4C07-B255E2B44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400" y="30480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E06FB5B2-C0C1-C60D-8BB3-0CD7A528F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2971800"/>
              <a:ext cx="9144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688AA831-B0EE-B767-7717-F21454736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2438400"/>
              <a:ext cx="1345988" cy="609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DAB4BACF-DF47-6C65-8B85-D0DC0AD4CE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207" y="2438395"/>
              <a:ext cx="1219193" cy="609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1600"/>
            </a:p>
          </p:txBody>
        </p:sp>
        <p:sp>
          <p:nvSpPr>
            <p:cNvPr id="41" name="Oval 14">
              <a:extLst>
                <a:ext uri="{FF2B5EF4-FFF2-40B4-BE49-F238E27FC236}">
                  <a16:creationId xmlns:a16="http://schemas.microsoft.com/office/drawing/2014/main" id="{2B413E18-2D6D-8FAF-961E-765B982F9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5968" y="2271296"/>
              <a:ext cx="304800" cy="304800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 dirty="0">
                  <a:solidFill>
                    <a:schemeClr val="bg1"/>
                  </a:solidFill>
                </a:rPr>
                <a:t>P</a:t>
              </a:r>
              <a:endParaRPr lang="nl-NL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42" name="Oval 39">
              <a:extLst>
                <a:ext uri="{FF2B5EF4-FFF2-40B4-BE49-F238E27FC236}">
                  <a16:creationId xmlns:a16="http://schemas.microsoft.com/office/drawing/2014/main" id="{621F2F50-4570-7F8C-AC88-B4A23AE8E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810000"/>
              <a:ext cx="304800" cy="304800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chemeClr val="bg1"/>
                  </a:solidFill>
                </a:rPr>
                <a:t>P</a:t>
              </a:r>
              <a:endParaRPr lang="nl-NL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43" name="Oval 40">
              <a:extLst>
                <a:ext uri="{FF2B5EF4-FFF2-40B4-BE49-F238E27FC236}">
                  <a16:creationId xmlns:a16="http://schemas.microsoft.com/office/drawing/2014/main" id="{E1F40E7B-B2AB-41D1-31D6-C1BA9FDB0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3810000"/>
              <a:ext cx="304800" cy="304800"/>
            </a:xfrm>
            <a:prstGeom prst="ellipse">
              <a:avLst/>
            </a:prstGeom>
            <a:solidFill>
              <a:srgbClr val="C00000"/>
            </a:solidFill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chemeClr val="bg1"/>
                  </a:solidFill>
                </a:rPr>
                <a:t>P</a:t>
              </a:r>
              <a:endParaRPr lang="nl-NL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44" name="AutoShape 41">
              <a:extLst>
                <a:ext uri="{FF2B5EF4-FFF2-40B4-BE49-F238E27FC236}">
                  <a16:creationId xmlns:a16="http://schemas.microsoft.com/office/drawing/2014/main" id="{DCA69D65-7AB9-4BB5-D873-D4F577C03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500" y="2965677"/>
              <a:ext cx="838201" cy="3048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 dirty="0">
                  <a:solidFill>
                    <a:srgbClr val="FFFF00"/>
                  </a:solidFill>
                </a:rPr>
                <a:t>S</a:t>
              </a:r>
              <a:endParaRPr lang="nl-NL" altLang="en-US" sz="1600" dirty="0">
                <a:solidFill>
                  <a:srgbClr val="FFFF00"/>
                </a:solidFill>
              </a:endParaRPr>
            </a:p>
          </p:txBody>
        </p:sp>
        <p:sp>
          <p:nvSpPr>
            <p:cNvPr id="45" name="AutoShape 42">
              <a:extLst>
                <a:ext uri="{FF2B5EF4-FFF2-40B4-BE49-F238E27FC236}">
                  <a16:creationId xmlns:a16="http://schemas.microsoft.com/office/drawing/2014/main" id="{1CD37B73-8563-E15D-C23E-9227F1335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6011" y="2965677"/>
              <a:ext cx="838201" cy="30480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rgbClr val="FFFF00"/>
                  </a:solidFill>
                </a:rPr>
                <a:t>S</a:t>
              </a:r>
              <a:endParaRPr lang="nl-NL" altLang="en-US" sz="1600">
                <a:solidFill>
                  <a:srgbClr val="FFFF00"/>
                </a:solidFill>
              </a:endParaRPr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E1FF0AF9-8156-E19F-9652-56005C7BAA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390900" y="40005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5</a:t>
              </a:r>
              <a:endParaRPr lang="nl-NL" altLang="en-US" sz="1600"/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83772EF5-7C0A-2034-17FB-78427BDB93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076700" y="47625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6</a:t>
              </a:r>
              <a:endParaRPr lang="nl-NL" altLang="en-US" sz="1600"/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5697C623-CC90-6F86-8FB2-9B8BBA79C8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219700" y="47625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6</a:t>
              </a:r>
              <a:endParaRPr lang="nl-NL" altLang="en-US" sz="1600"/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4BB567C0-484B-2DED-1B73-E962830356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610100" y="47625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2</a:t>
              </a:r>
              <a:endParaRPr lang="nl-NL" altLang="en-US" sz="1600"/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E6505468-BC4C-5D2F-CA3B-B6757F9B3B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753100" y="47625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2</a:t>
              </a:r>
              <a:endParaRPr lang="nl-NL" altLang="en-US" sz="1600"/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76EF4553-84DA-DDBB-F7ED-AF4DD1DEF2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743700" y="40005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7</a:t>
              </a:r>
              <a:endParaRPr lang="nl-NL" altLang="en-US" sz="1600"/>
            </a:p>
          </p:txBody>
        </p:sp>
        <p:sp>
          <p:nvSpPr>
            <p:cNvPr id="52" name="Rectangle 49">
              <a:extLst>
                <a:ext uri="{FF2B5EF4-FFF2-40B4-BE49-F238E27FC236}">
                  <a16:creationId xmlns:a16="http://schemas.microsoft.com/office/drawing/2014/main" id="{5CB5F3FC-C432-6F3D-08B1-B51FE4FC91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429500" y="4000500"/>
              <a:ext cx="685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1</a:t>
              </a:r>
              <a:endParaRPr lang="nl-NL" altLang="en-US" sz="1600"/>
            </a:p>
          </p:txBody>
        </p:sp>
      </p:grpSp>
      <p:sp>
        <p:nvSpPr>
          <p:cNvPr id="53" name="Text Box 27">
            <a:extLst>
              <a:ext uri="{FF2B5EF4-FFF2-40B4-BE49-F238E27FC236}">
                <a16:creationId xmlns:a16="http://schemas.microsoft.com/office/drawing/2014/main" id="{93F2C995-9626-E2EE-CFE2-AFBDDA87F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288" y="4486621"/>
            <a:ext cx="2120900" cy="132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altLang="en-US" sz="2000" dirty="0"/>
              <a:t>1/6 + 1/2 = 1/(1.5)</a:t>
            </a:r>
          </a:p>
          <a:p>
            <a:pPr algn="l" eaLnBrk="1" hangingPunct="1"/>
            <a:r>
              <a:rPr lang="en-US" altLang="en-US" sz="2000" dirty="0"/>
              <a:t>1.5 + 1.5 + 5 = 8</a:t>
            </a:r>
          </a:p>
          <a:p>
            <a:pPr algn="l" eaLnBrk="1" hangingPunct="1"/>
            <a:r>
              <a:rPr lang="en-US" altLang="en-US" sz="2000" dirty="0"/>
              <a:t>1 + 7 = 8</a:t>
            </a:r>
          </a:p>
          <a:p>
            <a:pPr algn="l" eaLnBrk="1" hangingPunct="1"/>
            <a:r>
              <a:rPr lang="en-US" altLang="en-US" sz="2000" dirty="0"/>
              <a:t>1/8 + 1/8 = 1/4</a:t>
            </a:r>
            <a:endParaRPr lang="nl-NL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8783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73A8-A9F4-75C4-F6E6-BD7351B2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FCEC-35CD-27D8-6D6C-E93160685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Series-parallel graphs have treewidth two</a:t>
            </a:r>
          </a:p>
          <a:p>
            <a:pPr lvl="1"/>
            <a:r>
              <a:rPr lang="en-US" dirty="0"/>
              <a:t>Proof: exercise! </a:t>
            </a:r>
            <a:br>
              <a:rPr lang="en-US" dirty="0"/>
            </a:br>
            <a:r>
              <a:rPr lang="en-US" dirty="0"/>
              <a:t>Use the series-parallel decomposition tree of the previous slide and transform it into an appropriate tree decomposition</a:t>
            </a:r>
          </a:p>
          <a:p>
            <a:pPr lvl="1"/>
            <a:endParaRPr lang="en-US" dirty="0"/>
          </a:p>
          <a:p>
            <a:r>
              <a:rPr lang="en-US" dirty="0"/>
              <a:t>Extension: generalized series-parallel graphs have treewidth two</a:t>
            </a:r>
          </a:p>
          <a:p>
            <a:pPr lvl="1"/>
            <a:r>
              <a:rPr lang="en-US" dirty="0"/>
              <a:t>Series-parallel graphs where we allow trees to grow out of any vertex</a:t>
            </a:r>
          </a:p>
          <a:p>
            <a:pPr lvl="1"/>
            <a:endParaRPr lang="en-US" dirty="0"/>
          </a:p>
          <a:p>
            <a:r>
              <a:rPr lang="en-US" b="1" dirty="0"/>
              <a:t>Consequence</a:t>
            </a:r>
            <a:r>
              <a:rPr lang="en-US" dirty="0"/>
              <a:t>: We can solve many problems on (generalized) series-parallel graphs in linear time </a:t>
            </a:r>
            <a:br>
              <a:rPr lang="en-US" dirty="0"/>
            </a:br>
            <a:r>
              <a:rPr lang="en-US" dirty="0"/>
              <a:t>(like on trees)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4286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B7AD-A379-0173-DC32-2CB34A85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</a:t>
            </a:r>
            <a:br>
              <a:rPr lang="en-US" dirty="0"/>
            </a:br>
            <a:r>
              <a:rPr lang="en-US" dirty="0"/>
              <a:t>Graphs of bounded degree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A4F1F-95EA-C80F-5478-AF3E2D556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Fomin and H</a:t>
                </a: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</a:rPr>
                  <a:t>ø</a:t>
                </a:r>
                <a:r>
                  <a:rPr lang="en-US" dirty="0"/>
                  <a:t>ie 2006:</a:t>
                </a:r>
              </a:p>
              <a:p>
                <a:pPr lvl="1"/>
                <a:r>
                  <a:rPr lang="en-US" dirty="0"/>
                  <a:t>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there exist an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-vertex graph of maximum degree at most three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dirty="0"/>
                  <a:t>, then a path decomposition of width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can be computed in polynomial time.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Path decomposition:</a:t>
                </a:r>
              </a:p>
              <a:p>
                <a:pPr lvl="1"/>
                <a:r>
                  <a:rPr lang="en-US" dirty="0"/>
                  <a:t>Tree decomposition where the underlying tree is a path</a:t>
                </a:r>
              </a:p>
              <a:p>
                <a:r>
                  <a:rPr lang="en-US" dirty="0"/>
                  <a:t>Nice path decomposition:</a:t>
                </a:r>
              </a:p>
              <a:p>
                <a:pPr lvl="1"/>
                <a:r>
                  <a:rPr lang="en-US" dirty="0"/>
                  <a:t>Nice tree decomposition without join bags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Corollary: Dominating Set can be solved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1.2010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dynamic programming algorithm</a:t>
                </a:r>
              </a:p>
              <a:p>
                <a:pPr lvl="1"/>
                <a:r>
                  <a:rPr lang="en-US" dirty="0"/>
                  <a:t>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small enough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&lt;1.201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A4F1F-95EA-C80F-5478-AF3E2D556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5" t="-769" r="-82" b="-923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2976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4B18-5195-5270-12D1-BC0332FC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 </a:t>
            </a:r>
            <a:br>
              <a:rPr lang="en-US" dirty="0"/>
            </a:br>
            <a:r>
              <a:rPr lang="en-US" dirty="0"/>
              <a:t>Planar graphs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E58AF-1D27-144A-BFF1-BDE9ED4699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Planar Separator Theorem:</a:t>
                </a:r>
                <a:r>
                  <a:rPr lang="en-US" dirty="0"/>
                  <a:t> Every planar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-vertex graph has a separator of size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while after removal results in two components of size at most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sz="1100" dirty="0"/>
              </a:p>
              <a:p>
                <a:r>
                  <a:rPr lang="en-US" b="1" dirty="0"/>
                  <a:t>Theorem</a:t>
                </a:r>
                <a:r>
                  <a:rPr lang="en-US" dirty="0"/>
                  <a:t>: </a:t>
                </a:r>
                <a:r>
                  <a:rPr lang="en-US" dirty="0">
                    <a:sym typeface="Wingdings" panose="05000000000000000000" pitchFamily="2" charset="2"/>
                  </a:rPr>
                  <a:t>Planar graphs have treewidth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maximum treewidth of a planar graph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By induction we prove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≤100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Base case: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≤100</m:t>
                    </m:r>
                    <m:rad>
                      <m:radPr>
                        <m:degHide m:val="on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fits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up to at least 10,000</a:t>
                </a:r>
              </a:p>
              <a:p>
                <a:pPr lvl="1">
                  <a:tabLst>
                    <a:tab pos="1704975" algn="l"/>
                    <a:tab pos="2154238" algn="l"/>
                  </a:tabLst>
                </a:pPr>
                <a:r>
                  <a:rPr lang="en-US" dirty="0"/>
                  <a:t>For larger planar graphs: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</m:ra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/3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  <a:tabLst>
                    <a:tab pos="2154238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</m:rad>
                    <m:r>
                      <a:rPr lang="en-US" i="1" dirty="0">
                        <a:latin typeface="Cambria Math" panose="02040503050406030204" pitchFamily="18" charset="0"/>
                      </a:rPr>
                      <m:t>+100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/3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≤100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endParaRPr lang="en-US" dirty="0"/>
              </a:p>
              <a:p>
                <a:pPr>
                  <a:tabLst>
                    <a:tab pos="2154238" algn="l"/>
                  </a:tabLst>
                </a:pPr>
                <a:endParaRPr lang="en-US" sz="1100" dirty="0"/>
              </a:p>
              <a:p>
                <a:pPr>
                  <a:tabLst>
                    <a:tab pos="2154238" algn="l"/>
                  </a:tabLst>
                </a:pPr>
                <a:r>
                  <a:rPr lang="en-US" dirty="0"/>
                  <a:t>Corollary: Planar Maximum Independent Set can be solved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E58AF-1D27-144A-BFF1-BDE9ED469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5" t="-769" r="-742" b="-90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8997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0938-796D-EE9F-8108-784C6283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Minors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9F48D-A08E-3ECD-A99F-A3FCC1175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</m:oMath>
                </a14:m>
                <a:r>
                  <a:rPr lang="en-US" dirty="0"/>
                  <a:t> is a minor of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</m:oMath>
                </a14:m>
                <a:r>
                  <a:rPr lang="en-US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</m:oMath>
                </a14:m>
                <a:r>
                  <a:rPr lang="en-US" dirty="0"/>
                  <a:t> can be obtained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</m:oMath>
                </a14:m>
                <a:r>
                  <a:rPr lang="en-US" dirty="0"/>
                  <a:t> with edge deletion, vertex deletion and edge contraction</a:t>
                </a:r>
              </a:p>
              <a:p>
                <a:pPr lvl="1"/>
                <a:r>
                  <a:rPr lang="en-US" dirty="0"/>
                  <a:t>The treewidth does not increase when you perform a minor operation!</a:t>
                </a:r>
                <a:endParaRPr lang="nl-NL" dirty="0"/>
              </a:p>
              <a:p>
                <a:r>
                  <a:rPr lang="en-US" dirty="0"/>
                  <a:t>Edge contraction: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Example: the left graph below is a minor of the right one</a:t>
                </a: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9F48D-A08E-3ECD-A99F-A3FCC1175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ADFDCE8-A953-E1E9-046E-D614C25FB68D}"/>
              </a:ext>
            </a:extLst>
          </p:cNvPr>
          <p:cNvGrpSpPr/>
          <p:nvPr/>
        </p:nvGrpSpPr>
        <p:grpSpPr>
          <a:xfrm>
            <a:off x="3927672" y="3282702"/>
            <a:ext cx="2232248" cy="1159336"/>
            <a:chOff x="3873528" y="2132856"/>
            <a:chExt cx="2232248" cy="115933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50923C5-5FB4-D62D-AB7B-3ACA1656E599}"/>
                </a:ext>
              </a:extLst>
            </p:cNvPr>
            <p:cNvSpPr/>
            <p:nvPr/>
          </p:nvSpPr>
          <p:spPr>
            <a:xfrm>
              <a:off x="4521600" y="2564904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BC6ECA4-6236-552B-3DCA-8D43CA1E0B90}"/>
                </a:ext>
              </a:extLst>
            </p:cNvPr>
            <p:cNvSpPr/>
            <p:nvPr/>
          </p:nvSpPr>
          <p:spPr>
            <a:xfrm>
              <a:off x="5169672" y="2564904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e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563CB7D-0D92-8826-1BAA-F1766C4755B8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4809632" y="2708920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ADE73AC-E07C-5482-D09B-2D2E83D55B89}"/>
                </a:ext>
              </a:extLst>
            </p:cNvPr>
            <p:cNvSpPr/>
            <p:nvPr/>
          </p:nvSpPr>
          <p:spPr>
            <a:xfrm>
              <a:off x="3873528" y="2132856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a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6652A35-38EB-F2F6-BAA4-BBE315F6CA86}"/>
                </a:ext>
              </a:extLst>
            </p:cNvPr>
            <p:cNvSpPr/>
            <p:nvPr/>
          </p:nvSpPr>
          <p:spPr>
            <a:xfrm>
              <a:off x="3873528" y="2564904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49D9B37-0E1A-56B9-E366-B985DF92C57F}"/>
                </a:ext>
              </a:extLst>
            </p:cNvPr>
            <p:cNvSpPr/>
            <p:nvPr/>
          </p:nvSpPr>
          <p:spPr>
            <a:xfrm>
              <a:off x="3873528" y="2996952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C676FE1-2FA0-14E7-168C-F9F5246C40D3}"/>
                </a:ext>
              </a:extLst>
            </p:cNvPr>
            <p:cNvSpPr/>
            <p:nvPr/>
          </p:nvSpPr>
          <p:spPr>
            <a:xfrm>
              <a:off x="5817744" y="2132856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f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3AB118-BB9C-DE03-BDDF-57FD4C2EB6BD}"/>
                </a:ext>
              </a:extLst>
            </p:cNvPr>
            <p:cNvSpPr/>
            <p:nvPr/>
          </p:nvSpPr>
          <p:spPr>
            <a:xfrm>
              <a:off x="5817744" y="2564904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g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76BF3F-7EA0-9D80-E2AC-50CEFF9CC5ED}"/>
                </a:ext>
              </a:extLst>
            </p:cNvPr>
            <p:cNvSpPr/>
            <p:nvPr/>
          </p:nvSpPr>
          <p:spPr>
            <a:xfrm>
              <a:off x="5817744" y="2996952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h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D49158A-4DCF-2251-C130-BF8578C9457F}"/>
                </a:ext>
              </a:extLst>
            </p:cNvPr>
            <p:cNvCxnSpPr>
              <a:stCxn id="8" idx="6"/>
              <a:endCxn id="5" idx="1"/>
            </p:cNvCxnSpPr>
            <p:nvPr/>
          </p:nvCxnSpPr>
          <p:spPr>
            <a:xfrm>
              <a:off x="4161560" y="2276872"/>
              <a:ext cx="402221" cy="33021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BEDDB9-10FB-4FF8-9903-14AB80337AC6}"/>
                </a:ext>
              </a:extLst>
            </p:cNvPr>
            <p:cNvCxnSpPr>
              <a:stCxn id="9" idx="6"/>
              <a:endCxn id="5" idx="2"/>
            </p:cNvCxnSpPr>
            <p:nvPr/>
          </p:nvCxnSpPr>
          <p:spPr>
            <a:xfrm>
              <a:off x="4161560" y="2708920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B21738-A90C-AB22-1E06-69BAA533A199}"/>
                </a:ext>
              </a:extLst>
            </p:cNvPr>
            <p:cNvCxnSpPr>
              <a:stCxn id="10" idx="7"/>
              <a:endCxn id="5" idx="3"/>
            </p:cNvCxnSpPr>
            <p:nvPr/>
          </p:nvCxnSpPr>
          <p:spPr>
            <a:xfrm flipV="1">
              <a:off x="4119379" y="2810755"/>
              <a:ext cx="444402" cy="2283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07E1C4-727C-3B1E-C53F-DB65536FBD04}"/>
                </a:ext>
              </a:extLst>
            </p:cNvPr>
            <p:cNvCxnSpPr>
              <a:stCxn id="6" idx="7"/>
              <a:endCxn id="11" idx="2"/>
            </p:cNvCxnSpPr>
            <p:nvPr/>
          </p:nvCxnSpPr>
          <p:spPr>
            <a:xfrm flipV="1">
              <a:off x="5415523" y="2276872"/>
              <a:ext cx="402221" cy="33021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7E0A29-8087-F86E-1B8F-7EAEC614ED10}"/>
                </a:ext>
              </a:extLst>
            </p:cNvPr>
            <p:cNvCxnSpPr>
              <a:stCxn id="6" idx="6"/>
              <a:endCxn id="12" idx="2"/>
            </p:cNvCxnSpPr>
            <p:nvPr/>
          </p:nvCxnSpPr>
          <p:spPr>
            <a:xfrm>
              <a:off x="5457704" y="2708920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8BB7EE-34AB-07DE-DB44-774D1A95527E}"/>
                </a:ext>
              </a:extLst>
            </p:cNvPr>
            <p:cNvCxnSpPr>
              <a:stCxn id="6" idx="5"/>
              <a:endCxn id="13" idx="1"/>
            </p:cNvCxnSpPr>
            <p:nvPr/>
          </p:nvCxnSpPr>
          <p:spPr>
            <a:xfrm>
              <a:off x="5415523" y="2810755"/>
              <a:ext cx="444402" cy="2283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B2D8C42-FDAC-216C-7D15-0179A40FE6EF}"/>
                </a:ext>
              </a:extLst>
            </p:cNvPr>
            <p:cNvSpPr/>
            <p:nvPr/>
          </p:nvSpPr>
          <p:spPr>
            <a:xfrm>
              <a:off x="4860032" y="3004160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i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293986-1F19-62A8-BB4B-6AEA3CA60E60}"/>
                </a:ext>
              </a:extLst>
            </p:cNvPr>
            <p:cNvCxnSpPr>
              <a:stCxn id="5" idx="5"/>
              <a:endCxn id="20" idx="0"/>
            </p:cNvCxnSpPr>
            <p:nvPr/>
          </p:nvCxnSpPr>
          <p:spPr>
            <a:xfrm>
              <a:off x="4767451" y="2810755"/>
              <a:ext cx="236597" cy="19340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B3AE77-FCA9-E2B6-6315-8B3FF9961D41}"/>
                </a:ext>
              </a:extLst>
            </p:cNvPr>
            <p:cNvCxnSpPr>
              <a:stCxn id="20" idx="0"/>
              <a:endCxn id="6" idx="3"/>
            </p:cNvCxnSpPr>
            <p:nvPr/>
          </p:nvCxnSpPr>
          <p:spPr>
            <a:xfrm flipV="1">
              <a:off x="5004048" y="2810755"/>
              <a:ext cx="207805" cy="19340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96780F-9F7A-77EC-4E62-DB0F9A3571BD}"/>
              </a:ext>
            </a:extLst>
          </p:cNvPr>
          <p:cNvGrpSpPr/>
          <p:nvPr/>
        </p:nvGrpSpPr>
        <p:grpSpPr>
          <a:xfrm>
            <a:off x="6853270" y="3284984"/>
            <a:ext cx="2232248" cy="1296144"/>
            <a:chOff x="6804248" y="2219272"/>
            <a:chExt cx="2232248" cy="129614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C4D66E7-657C-6945-174A-7E1FF2616E5D}"/>
                </a:ext>
              </a:extLst>
            </p:cNvPr>
            <p:cNvGrpSpPr/>
            <p:nvPr/>
          </p:nvGrpSpPr>
          <p:grpSpPr>
            <a:xfrm>
              <a:off x="6804248" y="2219272"/>
              <a:ext cx="2232248" cy="1152128"/>
              <a:chOff x="4076328" y="3933056"/>
              <a:chExt cx="2232248" cy="1152128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C96A01F-45EC-1B6C-448E-4C0C9A49C42C}"/>
                  </a:ext>
                </a:extLst>
              </p:cNvPr>
              <p:cNvSpPr/>
              <p:nvPr/>
            </p:nvSpPr>
            <p:spPr>
              <a:xfrm>
                <a:off x="4921867" y="4242688"/>
                <a:ext cx="512440" cy="51244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FD07924-EE29-BC86-8E5A-81AFA231377B}"/>
                  </a:ext>
                </a:extLst>
              </p:cNvPr>
              <p:cNvSpPr/>
              <p:nvPr/>
            </p:nvSpPr>
            <p:spPr>
              <a:xfrm>
                <a:off x="4076328" y="3933056"/>
                <a:ext cx="288032" cy="2880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9A84B44-B61A-4BFA-E3EA-4F64CCA70AC5}"/>
                  </a:ext>
                </a:extLst>
              </p:cNvPr>
              <p:cNvSpPr/>
              <p:nvPr/>
            </p:nvSpPr>
            <p:spPr>
              <a:xfrm>
                <a:off x="4076328" y="4365104"/>
                <a:ext cx="288032" cy="2880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b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0579AF8-553E-6D3A-5874-9BB0F2E436B6}"/>
                  </a:ext>
                </a:extLst>
              </p:cNvPr>
              <p:cNvSpPr/>
              <p:nvPr/>
            </p:nvSpPr>
            <p:spPr>
              <a:xfrm>
                <a:off x="4076328" y="4797152"/>
                <a:ext cx="288032" cy="2880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4AB94EE-574B-9F57-65CF-20C308DBC79D}"/>
                  </a:ext>
                </a:extLst>
              </p:cNvPr>
              <p:cNvSpPr/>
              <p:nvPr/>
            </p:nvSpPr>
            <p:spPr>
              <a:xfrm>
                <a:off x="6020544" y="3933056"/>
                <a:ext cx="288032" cy="2880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f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2AB8747-C695-4149-ABB7-2CC7D2DCD1E2}"/>
                  </a:ext>
                </a:extLst>
              </p:cNvPr>
              <p:cNvSpPr/>
              <p:nvPr/>
            </p:nvSpPr>
            <p:spPr>
              <a:xfrm>
                <a:off x="6020544" y="4365104"/>
                <a:ext cx="288032" cy="2880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g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02B4C61-599E-34D2-16B4-93FDEC0F22CA}"/>
                  </a:ext>
                </a:extLst>
              </p:cNvPr>
              <p:cNvSpPr/>
              <p:nvPr/>
            </p:nvSpPr>
            <p:spPr>
              <a:xfrm>
                <a:off x="6020544" y="4797152"/>
                <a:ext cx="288032" cy="28803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h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4D3A6EF-EB90-9B1D-3D1F-94B48BD21133}"/>
                  </a:ext>
                </a:extLst>
              </p:cNvPr>
              <p:cNvCxnSpPr>
                <a:stCxn id="28" idx="6"/>
                <a:endCxn id="27" idx="1"/>
              </p:cNvCxnSpPr>
              <p:nvPr/>
            </p:nvCxnSpPr>
            <p:spPr>
              <a:xfrm>
                <a:off x="4364360" y="4077072"/>
                <a:ext cx="632552" cy="24066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E1681D9-F2EB-55B2-29B6-68A79FD698DF}"/>
                  </a:ext>
                </a:extLst>
              </p:cNvPr>
              <p:cNvCxnSpPr>
                <a:stCxn id="29" idx="6"/>
                <a:endCxn id="27" idx="2"/>
              </p:cNvCxnSpPr>
              <p:nvPr/>
            </p:nvCxnSpPr>
            <p:spPr>
              <a:xfrm flipV="1">
                <a:off x="4364360" y="4498908"/>
                <a:ext cx="557507" cy="102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9C83645-12B4-69FC-6A9B-BF30D07670AD}"/>
                  </a:ext>
                </a:extLst>
              </p:cNvPr>
              <p:cNvCxnSpPr>
                <a:stCxn id="30" idx="7"/>
                <a:endCxn id="27" idx="3"/>
              </p:cNvCxnSpPr>
              <p:nvPr/>
            </p:nvCxnSpPr>
            <p:spPr>
              <a:xfrm flipV="1">
                <a:off x="4322179" y="4680083"/>
                <a:ext cx="674733" cy="1592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B8B3E36-AAB3-AA80-B497-0295CAAB3F65}"/>
                  </a:ext>
                </a:extLst>
              </p:cNvPr>
              <p:cNvCxnSpPr>
                <a:stCxn id="27" idx="7"/>
                <a:endCxn id="31" idx="2"/>
              </p:cNvCxnSpPr>
              <p:nvPr/>
            </p:nvCxnSpPr>
            <p:spPr>
              <a:xfrm flipV="1">
                <a:off x="5359262" y="4077072"/>
                <a:ext cx="661282" cy="24066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75127D1-2AC7-35A0-337A-F4CD7E092FB5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5434307" y="4498908"/>
                <a:ext cx="586237" cy="102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C80F6AA-2F7A-CD82-96ED-304E8DC13897}"/>
                  </a:ext>
                </a:extLst>
              </p:cNvPr>
              <p:cNvCxnSpPr>
                <a:stCxn id="27" idx="5"/>
                <a:endCxn id="33" idx="1"/>
              </p:cNvCxnSpPr>
              <p:nvPr/>
            </p:nvCxnSpPr>
            <p:spPr>
              <a:xfrm>
                <a:off x="5359262" y="4680083"/>
                <a:ext cx="703463" cy="1592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F9F4D9C-9367-2D46-0BAA-F1BF74315874}"/>
                  </a:ext>
                </a:extLst>
              </p:cNvPr>
              <p:cNvSpPr txBox="1"/>
              <p:nvPr/>
            </p:nvSpPr>
            <p:spPr>
              <a:xfrm>
                <a:off x="4960720" y="4318622"/>
                <a:ext cx="4347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+mj-lt"/>
                  </a:rPr>
                  <a:t>de</a:t>
                </a:r>
              </a:p>
            </p:txBody>
          </p: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D740ABC-9FF7-A98F-3A9A-FD8D72485EC3}"/>
                </a:ext>
              </a:extLst>
            </p:cNvPr>
            <p:cNvSpPr/>
            <p:nvPr/>
          </p:nvSpPr>
          <p:spPr>
            <a:xfrm>
              <a:off x="7769152" y="3227384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i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691833-FE55-4903-7204-D10337AE7742}"/>
                </a:ext>
              </a:extLst>
            </p:cNvPr>
            <p:cNvCxnSpPr>
              <a:stCxn id="25" idx="0"/>
              <a:endCxn id="27" idx="4"/>
            </p:cNvCxnSpPr>
            <p:nvPr/>
          </p:nvCxnSpPr>
          <p:spPr>
            <a:xfrm flipH="1" flipV="1">
              <a:off x="7906007" y="3041344"/>
              <a:ext cx="7161" cy="1860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8D3FDC-E834-CD85-48B8-D2584747C054}"/>
              </a:ext>
            </a:extLst>
          </p:cNvPr>
          <p:cNvGrpSpPr/>
          <p:nvPr/>
        </p:nvGrpSpPr>
        <p:grpSpPr>
          <a:xfrm>
            <a:off x="2714088" y="5083662"/>
            <a:ext cx="1368152" cy="1411360"/>
            <a:chOff x="971600" y="3140968"/>
            <a:chExt cx="1368152" cy="141136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33F89D4-1DDA-D601-3516-8A6DCE15438C}"/>
                </a:ext>
              </a:extLst>
            </p:cNvPr>
            <p:cNvSpPr/>
            <p:nvPr/>
          </p:nvSpPr>
          <p:spPr>
            <a:xfrm>
              <a:off x="971600" y="3702632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176FAC2-175A-C805-1D7E-C7B43CE82A0E}"/>
                </a:ext>
              </a:extLst>
            </p:cNvPr>
            <p:cNvSpPr/>
            <p:nvPr/>
          </p:nvSpPr>
          <p:spPr>
            <a:xfrm>
              <a:off x="2051720" y="3702632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94993E7-1683-7E8C-CA00-19BC6B19606F}"/>
                </a:ext>
              </a:extLst>
            </p:cNvPr>
            <p:cNvSpPr/>
            <p:nvPr/>
          </p:nvSpPr>
          <p:spPr>
            <a:xfrm>
              <a:off x="1490056" y="3702632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AB4F9A2-5412-F3F4-CC5C-DDD30A15D400}"/>
                </a:ext>
              </a:extLst>
            </p:cNvPr>
            <p:cNvSpPr/>
            <p:nvPr/>
          </p:nvSpPr>
          <p:spPr>
            <a:xfrm>
              <a:off x="1490056" y="4264296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C02733C-1B2E-473C-8BC9-251B2F84C3B4}"/>
                </a:ext>
              </a:extLst>
            </p:cNvPr>
            <p:cNvSpPr/>
            <p:nvPr/>
          </p:nvSpPr>
          <p:spPr>
            <a:xfrm>
              <a:off x="1490056" y="3140968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4E3B3D-7B13-8AA3-44B0-9BE92E40BFC9}"/>
                </a:ext>
              </a:extLst>
            </p:cNvPr>
            <p:cNvCxnSpPr>
              <a:stCxn id="42" idx="6"/>
              <a:endCxn id="44" idx="2"/>
            </p:cNvCxnSpPr>
            <p:nvPr/>
          </p:nvCxnSpPr>
          <p:spPr>
            <a:xfrm>
              <a:off x="1259632" y="3846648"/>
              <a:ext cx="23042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F4536A5-DCF7-4EA2-D0EC-F89CFB7BACBD}"/>
                </a:ext>
              </a:extLst>
            </p:cNvPr>
            <p:cNvCxnSpPr>
              <a:stCxn id="44" idx="6"/>
              <a:endCxn id="43" idx="2"/>
            </p:cNvCxnSpPr>
            <p:nvPr/>
          </p:nvCxnSpPr>
          <p:spPr>
            <a:xfrm>
              <a:off x="1778088" y="3846648"/>
              <a:ext cx="2736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114F8D7-BC8B-4203-00BB-66F9293574DD}"/>
                </a:ext>
              </a:extLst>
            </p:cNvPr>
            <p:cNvCxnSpPr>
              <a:stCxn id="46" idx="4"/>
              <a:endCxn id="44" idx="0"/>
            </p:cNvCxnSpPr>
            <p:nvPr/>
          </p:nvCxnSpPr>
          <p:spPr>
            <a:xfrm>
              <a:off x="1634072" y="3429000"/>
              <a:ext cx="0" cy="2736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8F79BB2-4D3F-3B5E-CCE9-D4AF8996CE57}"/>
                </a:ext>
              </a:extLst>
            </p:cNvPr>
            <p:cNvCxnSpPr>
              <a:stCxn id="44" idx="4"/>
              <a:endCxn id="45" idx="0"/>
            </p:cNvCxnSpPr>
            <p:nvPr/>
          </p:nvCxnSpPr>
          <p:spPr>
            <a:xfrm>
              <a:off x="1634072" y="3990664"/>
              <a:ext cx="0" cy="2736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B1EC89A-6957-80AF-A18F-82F73D68F670}"/>
              </a:ext>
            </a:extLst>
          </p:cNvPr>
          <p:cNvGrpSpPr/>
          <p:nvPr/>
        </p:nvGrpSpPr>
        <p:grpSpPr>
          <a:xfrm>
            <a:off x="4499992" y="5070758"/>
            <a:ext cx="2462672" cy="1432277"/>
            <a:chOff x="4845632" y="3212976"/>
            <a:chExt cx="2462672" cy="1432277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C130BDB-FCE0-E2FC-3C8B-27E507BEBE4B}"/>
                </a:ext>
              </a:extLst>
            </p:cNvPr>
            <p:cNvSpPr/>
            <p:nvPr/>
          </p:nvSpPr>
          <p:spPr>
            <a:xfrm>
              <a:off x="4845632" y="3789040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2256DA6-84D5-2F61-EDD3-1A31736A61E6}"/>
                </a:ext>
              </a:extLst>
            </p:cNvPr>
            <p:cNvSpPr/>
            <p:nvPr/>
          </p:nvSpPr>
          <p:spPr>
            <a:xfrm>
              <a:off x="5364088" y="3789040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9210F99-F641-7928-D53C-2987A43FAE65}"/>
                </a:ext>
              </a:extLst>
            </p:cNvPr>
            <p:cNvSpPr/>
            <p:nvPr/>
          </p:nvSpPr>
          <p:spPr>
            <a:xfrm>
              <a:off x="5364088" y="3212976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FF486D-F05D-6605-9524-2CF7AD77BEC3}"/>
                </a:ext>
              </a:extLst>
            </p:cNvPr>
            <p:cNvSpPr/>
            <p:nvPr/>
          </p:nvSpPr>
          <p:spPr>
            <a:xfrm rot="5559297">
              <a:off x="5882583" y="4357221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8D05B9A-FAA9-548D-3C50-82ED5B783CA0}"/>
                </a:ext>
              </a:extLst>
            </p:cNvPr>
            <p:cNvSpPr/>
            <p:nvPr/>
          </p:nvSpPr>
          <p:spPr>
            <a:xfrm rot="5559297">
              <a:off x="6453503" y="3817157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703775D-E69F-549B-6848-E1408131EDFE}"/>
                </a:ext>
              </a:extLst>
            </p:cNvPr>
            <p:cNvSpPr/>
            <p:nvPr/>
          </p:nvSpPr>
          <p:spPr>
            <a:xfrm rot="5559297">
              <a:off x="5892442" y="3796923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2C8786A-2B9D-7CA4-7AB9-972B68128CCC}"/>
                </a:ext>
              </a:extLst>
            </p:cNvPr>
            <p:cNvSpPr/>
            <p:nvPr/>
          </p:nvSpPr>
          <p:spPr>
            <a:xfrm>
              <a:off x="7020272" y="3825040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3A67BB4-FFFA-CAFF-D9CC-504EDC99000C}"/>
                </a:ext>
              </a:extLst>
            </p:cNvPr>
            <p:cNvCxnSpPr>
              <a:stCxn id="52" idx="6"/>
              <a:endCxn id="53" idx="2"/>
            </p:cNvCxnSpPr>
            <p:nvPr/>
          </p:nvCxnSpPr>
          <p:spPr>
            <a:xfrm>
              <a:off x="5133664" y="3933056"/>
              <a:ext cx="23042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41DF496-95F0-59E1-21B0-E098BB792B7F}"/>
                </a:ext>
              </a:extLst>
            </p:cNvPr>
            <p:cNvCxnSpPr>
              <a:stCxn id="53" idx="0"/>
              <a:endCxn id="54" idx="4"/>
            </p:cNvCxnSpPr>
            <p:nvPr/>
          </p:nvCxnSpPr>
          <p:spPr>
            <a:xfrm flipV="1">
              <a:off x="5508104" y="3501008"/>
              <a:ext cx="0" cy="2880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9A82B1C-E9AF-80DF-B784-96BA3FA1635A}"/>
                </a:ext>
              </a:extLst>
            </p:cNvPr>
            <p:cNvCxnSpPr>
              <a:stCxn id="53" idx="6"/>
              <a:endCxn id="57" idx="4"/>
            </p:cNvCxnSpPr>
            <p:nvPr/>
          </p:nvCxnSpPr>
          <p:spPr>
            <a:xfrm>
              <a:off x="5652120" y="3933056"/>
              <a:ext cx="240477" cy="121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7EC9FF5-32BA-1FC6-6464-9B5469353E70}"/>
                </a:ext>
              </a:extLst>
            </p:cNvPr>
            <p:cNvCxnSpPr>
              <a:stCxn id="57" idx="6"/>
              <a:endCxn id="55" idx="2"/>
            </p:cNvCxnSpPr>
            <p:nvPr/>
          </p:nvCxnSpPr>
          <p:spPr>
            <a:xfrm>
              <a:off x="6029787" y="4084800"/>
              <a:ext cx="3483" cy="2725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FEDF803-CC9F-642B-BB95-201E9F555ADC}"/>
                </a:ext>
              </a:extLst>
            </p:cNvPr>
            <p:cNvCxnSpPr>
              <a:stCxn id="57" idx="0"/>
              <a:endCxn id="56" idx="4"/>
            </p:cNvCxnSpPr>
            <p:nvPr/>
          </p:nvCxnSpPr>
          <p:spPr>
            <a:xfrm>
              <a:off x="6180319" y="3947610"/>
              <a:ext cx="273339" cy="689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D6D3137-AA24-1F2E-4C97-3CACAEF84E95}"/>
                </a:ext>
              </a:extLst>
            </p:cNvPr>
            <p:cNvCxnSpPr>
              <a:stCxn id="56" idx="0"/>
              <a:endCxn id="58" idx="2"/>
            </p:cNvCxnSpPr>
            <p:nvPr/>
          </p:nvCxnSpPr>
          <p:spPr>
            <a:xfrm>
              <a:off x="6741380" y="3967844"/>
              <a:ext cx="278892" cy="1212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D07E632-BB26-6961-9C6D-8FD506FB7848}"/>
                </a:ext>
              </a:extLst>
            </p:cNvPr>
            <p:cNvCxnSpPr>
              <a:stCxn id="52" idx="7"/>
              <a:endCxn id="54" idx="3"/>
            </p:cNvCxnSpPr>
            <p:nvPr/>
          </p:nvCxnSpPr>
          <p:spPr>
            <a:xfrm flipV="1">
              <a:off x="5091483" y="3458827"/>
              <a:ext cx="314786" cy="37239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0E1F2DB-4A7B-61CB-8780-CED4CA951E33}"/>
                </a:ext>
              </a:extLst>
            </p:cNvPr>
            <p:cNvCxnSpPr>
              <a:stCxn id="55" idx="1"/>
              <a:endCxn id="56" idx="5"/>
            </p:cNvCxnSpPr>
            <p:nvPr/>
          </p:nvCxnSpPr>
          <p:spPr>
            <a:xfrm flipV="1">
              <a:off x="6133042" y="4058182"/>
              <a:ext cx="358034" cy="346046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67" name="Right Arrow 17">
            <a:extLst>
              <a:ext uri="{FF2B5EF4-FFF2-40B4-BE49-F238E27FC236}">
                <a16:creationId xmlns:a16="http://schemas.microsoft.com/office/drawing/2014/main" id="{705F9494-EC39-452E-D0DC-14D6FDE237DE}"/>
              </a:ext>
            </a:extLst>
          </p:cNvPr>
          <p:cNvSpPr/>
          <p:nvPr/>
        </p:nvSpPr>
        <p:spPr>
          <a:xfrm>
            <a:off x="6328503" y="3731212"/>
            <a:ext cx="410528" cy="326244"/>
          </a:xfrm>
          <a:prstGeom prst="rightArrow">
            <a:avLst/>
          </a:prstGeom>
          <a:solidFill>
            <a:srgbClr val="7030A0"/>
          </a:solidFill>
          <a:ln>
            <a:solidFill>
              <a:srgbClr val="65016B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7" grpId="0" uiExpan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E797-4210-D0D9-89F0-9CBF0227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Minors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7E7CF5-328A-0575-8511-45003214B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Grid Minor Theorem</a:t>
                </a:r>
              </a:p>
              <a:p>
                <a:r>
                  <a:rPr lang="en-US" dirty="0"/>
                  <a:t>For every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every planar graph either has a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𝑙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𝑙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-grid as a minor or treewidth at most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/>
                      </a:rPr>
                      <m:t>𝑙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Moreover, there exists a polynomial time algorithm that either finds such a minor model or such a tree decomposition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Generalizes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treewidth bound for planar graphs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dirty="0"/>
              </a:p>
              <a:p>
                <a:r>
                  <a:rPr lang="en-US" dirty="0"/>
                  <a:t>Also for general graphs: </a:t>
                </a:r>
              </a:p>
              <a:p>
                <a:pPr lvl="1"/>
                <a:r>
                  <a:rPr lang="en-US" dirty="0"/>
                  <a:t>Any graph without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-grid as a minor has treewidth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7E7CF5-328A-0575-8511-45003214B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0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604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F105-1700-0631-5F8C-F99F7356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Applications: </a:t>
            </a:r>
            <a:br>
              <a:rPr lang="en-US" dirty="0"/>
            </a:br>
            <a:r>
              <a:rPr lang="en-US" dirty="0"/>
              <a:t>Fixed Parameter Tractable (FPT) Algorithms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9AAF5-65CE-062D-DA41-8587F39A26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Planar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-path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en-US" dirty="0"/>
                  <a:t> time:</a:t>
                </a:r>
              </a:p>
              <a:p>
                <a:pPr lvl="1"/>
                <a:r>
                  <a:rPr lang="en-US" dirty="0"/>
                  <a:t>If 𝐻 is a minor of 𝐺 and 𝐻 has a 𝑘-path, so does 𝐺 </a:t>
                </a:r>
              </a:p>
              <a:p>
                <a:pPr lvl="1"/>
                <a:r>
                  <a:rPr lang="en-US" dirty="0"/>
                  <a:t>Any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-grid has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-path</a:t>
                </a:r>
              </a:p>
              <a:p>
                <a:pPr lvl="1"/>
                <a:r>
                  <a:rPr lang="en-US" dirty="0"/>
                  <a:t>We can assume treewidth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 yes instance otherwise</a:t>
                </a:r>
              </a:p>
              <a:p>
                <a:pPr lvl="1"/>
                <a:r>
                  <a:rPr lang="en-US" dirty="0"/>
                  <a:t>Then do dynamic programming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Planar 𝑘-Dominating Set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time:</a:t>
                </a:r>
              </a:p>
              <a:p>
                <a:pPr lvl="1"/>
                <a:r>
                  <a:rPr lang="en-US" dirty="0"/>
                  <a:t>If G has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-grid as a minor, it does not have a</a:t>
                </a:r>
                <a:br>
                  <a:rPr lang="en-US" dirty="0"/>
                </a:br>
                <a:r>
                  <a:rPr lang="en-US" dirty="0"/>
                  <a:t>dominating set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assume treewidth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 yes instance otherwise</a:t>
                </a:r>
              </a:p>
              <a:p>
                <a:pPr lvl="1"/>
                <a:r>
                  <a:rPr lang="en-US" dirty="0"/>
                  <a:t>Then do dynamic programming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9AAF5-65CE-062D-DA41-8587F39A2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79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6208-7C5A-0789-015C-36D45FD75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7392-36BD-BEFA-190D-AB140A8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Treewidth – Advanced Algorithms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DDAED-8F5C-291C-914B-FE2FA2028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Advanced Dynamic Programming Techniques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305149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40BD-08D6-FA26-D551-13C9B6068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fast can we solve the Hamiltonian Cycle problem on graphs of small treewidth?</a:t>
            </a:r>
          </a:p>
          <a:p>
            <a:endParaRPr lang="en-US" dirty="0"/>
          </a:p>
          <a:p>
            <a:r>
              <a:rPr lang="en-US" b="1" dirty="0"/>
              <a:t>Question for you: </a:t>
            </a:r>
            <a:r>
              <a:rPr lang="en-US" dirty="0"/>
              <a:t>What if we have a separator of size 4?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DD46C-7547-E14B-9BFD-EBDB47B4F2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79FDEE-944D-4C65-9FDD-DDE07D21CF7D}" type="slidenum">
              <a:rPr lang="nl-NL" smtClean="0">
                <a:solidFill>
                  <a:srgbClr val="000000">
                    <a:tint val="75000"/>
                  </a:srgbClr>
                </a:solidFill>
              </a:rPr>
              <a:pPr/>
              <a:t>67</a:t>
            </a:fld>
            <a:endParaRPr lang="nl-NL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084B37-1B12-067B-903A-A7DBE7A99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Bonus Topic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B8AB35-F4AC-DD12-B517-E6E8C93FAE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16" b="5895"/>
          <a:stretch/>
        </p:blipFill>
        <p:spPr>
          <a:xfrm>
            <a:off x="3707904" y="3789040"/>
            <a:ext cx="2088232" cy="163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9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5C6E-662C-40E8-B83C-4C24098C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Matchings Connectivity Matrix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6DD6DCE-7CD4-4975-C8DF-390D8A078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Definition:</a:t>
                </a:r>
                <a:r>
                  <a:rPr lang="en-US" dirty="0"/>
                  <a:t> For even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dirty="0"/>
                  <a:t> and perfect matchings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if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an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HC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6DD6DCE-7CD4-4975-C8DF-390D8A078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5" t="-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A609590-C19E-4D5F-8BDE-CF6C7AC99407}"/>
              </a:ext>
            </a:extLst>
          </p:cNvPr>
          <p:cNvGrpSpPr/>
          <p:nvPr/>
        </p:nvGrpSpPr>
        <p:grpSpPr>
          <a:xfrm>
            <a:off x="1187624" y="3645024"/>
            <a:ext cx="2514129" cy="1450040"/>
            <a:chOff x="3503673" y="4062416"/>
            <a:chExt cx="1706770" cy="984391"/>
          </a:xfrm>
        </p:grpSpPr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CB71EF91-D7EB-45B5-916F-87B4D2BDC1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716" b="5895"/>
            <a:stretch/>
          </p:blipFill>
          <p:spPr>
            <a:xfrm>
              <a:off x="4209217" y="4062416"/>
              <a:ext cx="1001226" cy="78251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itle 1">
                  <a:extLst>
                    <a:ext uri="{FF2B5EF4-FFF2-40B4-BE49-F238E27FC236}">
                      <a16:creationId xmlns:a16="http://schemas.microsoft.com/office/drawing/2014/main" id="{79F8AB34-871E-410D-B807-5D5C3F54E0E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03673" y="4369976"/>
                  <a:ext cx="1082929" cy="67683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Tahoma" pitchFamily="34" charset="0"/>
                                <a:cs typeface="Tahoma" pitchFamily="34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Tahoma" pitchFamily="34" charset="0"/>
                                <a:cs typeface="Tahoma" pitchFamily="34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Tahoma" pitchFamily="34" charset="0"/>
                                <a:cs typeface="Tahoma" pitchFamily="34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nl-NL" sz="2800" b="1" baseline="-25000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Title 1">
                  <a:extLst>
                    <a:ext uri="{FF2B5EF4-FFF2-40B4-BE49-F238E27FC236}">
                      <a16:creationId xmlns:a16="http://schemas.microsoft.com/office/drawing/2014/main" id="{79F8AB34-871E-410D-B807-5D5C3F54E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3673" y="4369976"/>
                  <a:ext cx="1082929" cy="6768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AF7DA09-1E53-4511-AD92-06F0B7FA8E57}"/>
              </a:ext>
            </a:extLst>
          </p:cNvPr>
          <p:cNvGrpSpPr/>
          <p:nvPr/>
        </p:nvGrpSpPr>
        <p:grpSpPr>
          <a:xfrm>
            <a:off x="3779912" y="2852936"/>
            <a:ext cx="5303515" cy="3766231"/>
            <a:chOff x="1036221" y="2122134"/>
            <a:chExt cx="4335417" cy="3078747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2F8DCFA5-B0D5-4AA8-9931-BF0E2B3CE9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8058" b="1582"/>
            <a:stretch/>
          </p:blipFill>
          <p:spPr>
            <a:xfrm>
              <a:off x="1683722" y="2122134"/>
              <a:ext cx="3687916" cy="290337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itle 1">
                  <a:extLst>
                    <a:ext uri="{FF2B5EF4-FFF2-40B4-BE49-F238E27FC236}">
                      <a16:creationId xmlns:a16="http://schemas.microsoft.com/office/drawing/2014/main" id="{1FE089DA-6F32-4BA9-A0DC-C63A3B35C52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36221" y="4524050"/>
                  <a:ext cx="863156" cy="67683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Tahoma" pitchFamily="34" charset="0"/>
                                <a:cs typeface="Tahoma" pitchFamily="34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Tahoma" pitchFamily="34" charset="0"/>
                                <a:cs typeface="Tahoma" pitchFamily="34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b="1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Tahoma" pitchFamily="34" charset="0"/>
                                <a:cs typeface="Tahoma" pitchFamily="34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nl-NL" sz="2800" b="1" baseline="-25000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Title 1">
                  <a:extLst>
                    <a:ext uri="{FF2B5EF4-FFF2-40B4-BE49-F238E27FC236}">
                      <a16:creationId xmlns:a16="http://schemas.microsoft.com/office/drawing/2014/main" id="{1FE089DA-6F32-4BA9-A0DC-C63A3B35C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221" y="4524050"/>
                  <a:ext cx="863156" cy="6768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1666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5C6E-662C-40E8-B83C-4C24098C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Matchings Connectivity Matrix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F90CE-05C9-2A3E-B81B-A0A6F6ECB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1805"/>
            <a:ext cx="9144000" cy="605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47213"/>
      </p:ext>
    </p:extLst>
  </p:cSld>
  <p:clrMapOvr>
    <a:masterClrMapping/>
  </p:clrMapOvr>
</p:sld>
</file>

<file path=ppt/theme/theme1.xml><?xml version="1.0" encoding="utf-8"?>
<a:theme xmlns:a="http://schemas.openxmlformats.org/drawingml/2006/main" name="InformationENG">
  <a:themeElements>
    <a:clrScheme name="">
      <a:dk1>
        <a:srgbClr val="000000"/>
      </a:dk1>
      <a:lt1>
        <a:srgbClr val="FFFFFF"/>
      </a:lt1>
      <a:dk2>
        <a:srgbClr val="000000"/>
      </a:dk2>
      <a:lt2>
        <a:srgbClr val="89014C"/>
      </a:lt2>
      <a:accent1>
        <a:srgbClr val="008AA3"/>
      </a:accent1>
      <a:accent2>
        <a:srgbClr val="008C6B"/>
      </a:accent2>
      <a:accent3>
        <a:srgbClr val="FFFFFF"/>
      </a:accent3>
      <a:accent4>
        <a:srgbClr val="000000"/>
      </a:accent4>
      <a:accent5>
        <a:srgbClr val="AAC4CE"/>
      </a:accent5>
      <a:accent6>
        <a:srgbClr val="007E60"/>
      </a:accent6>
      <a:hlink>
        <a:srgbClr val="AA1328"/>
      </a:hlink>
      <a:folHlink>
        <a:srgbClr val="7F7F7F"/>
      </a:folHlink>
    </a:clrScheme>
    <a:fontScheme name="InformationENG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InformationE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InformationENG">
  <a:themeElements>
    <a:clrScheme name="">
      <a:dk1>
        <a:srgbClr val="000000"/>
      </a:dk1>
      <a:lt1>
        <a:srgbClr val="FFFFFF"/>
      </a:lt1>
      <a:dk2>
        <a:srgbClr val="000000"/>
      </a:dk2>
      <a:lt2>
        <a:srgbClr val="89014C"/>
      </a:lt2>
      <a:accent1>
        <a:srgbClr val="008AA3"/>
      </a:accent1>
      <a:accent2>
        <a:srgbClr val="008C6B"/>
      </a:accent2>
      <a:accent3>
        <a:srgbClr val="FFFFFF"/>
      </a:accent3>
      <a:accent4>
        <a:srgbClr val="000000"/>
      </a:accent4>
      <a:accent5>
        <a:srgbClr val="AAC4CE"/>
      </a:accent5>
      <a:accent6>
        <a:srgbClr val="007E60"/>
      </a:accent6>
      <a:hlink>
        <a:srgbClr val="AA1328"/>
      </a:hlink>
      <a:folHlink>
        <a:srgbClr val="7F7F7F"/>
      </a:folHlink>
    </a:clrScheme>
    <a:fontScheme name="InformationENG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InformationE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Master CS versie Johan</Template>
  <TotalTime>28398</TotalTime>
  <Words>5393</Words>
  <Application>Microsoft Office PowerPoint</Application>
  <PresentationFormat>On-screen Show (4:3)</PresentationFormat>
  <Paragraphs>1348</Paragraphs>
  <Slides>69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Arial</vt:lpstr>
      <vt:lpstr>Arial Narrow</vt:lpstr>
      <vt:lpstr>Calibri</vt:lpstr>
      <vt:lpstr>Cambria Math</vt:lpstr>
      <vt:lpstr>Times</vt:lpstr>
      <vt:lpstr>Times New Roman</vt:lpstr>
      <vt:lpstr>Verdana</vt:lpstr>
      <vt:lpstr>Webdings</vt:lpstr>
      <vt:lpstr>Wingdings</vt:lpstr>
      <vt:lpstr>InformationENG</vt:lpstr>
      <vt:lpstr>1_InformationENG</vt:lpstr>
      <vt:lpstr>Vergelijking</vt:lpstr>
      <vt:lpstr>Treewidth</vt:lpstr>
      <vt:lpstr>Treewidth – Advanced Algorithms</vt:lpstr>
      <vt:lpstr>Maximum Weight Independent Set  on Trees</vt:lpstr>
      <vt:lpstr>Maximum Weight Independent Set  on Trees</vt:lpstr>
      <vt:lpstr>Treewidth</vt:lpstr>
      <vt:lpstr>Dynamic programming: storing recursively computed optimal solutions to substructures</vt:lpstr>
      <vt:lpstr>Dynamic programming: storing recursively computed optimal solutions to substructures</vt:lpstr>
      <vt:lpstr>Dynamic programming: storing recursively computed optimal solutions to substructures</vt:lpstr>
      <vt:lpstr>Dynamic programming: storing recursively computed optimal solutions to substructures</vt:lpstr>
      <vt:lpstr>Dynamic programming: storing recursively computed optimal solutions to substructures</vt:lpstr>
      <vt:lpstr>Dynamic programming: storing recursively computed optimal solutions to substructures</vt:lpstr>
      <vt:lpstr>Dynamic programming: storing recursively computed optimal solutions to substructures</vt:lpstr>
      <vt:lpstr>Treewidth – Advanced Algorithms</vt:lpstr>
      <vt:lpstr>Tree decomposition</vt:lpstr>
      <vt:lpstr>Tree decomposition</vt:lpstr>
      <vt:lpstr>Tree decomposition</vt:lpstr>
      <vt:lpstr>Treewidth: the width of a tree decomposition</vt:lpstr>
      <vt:lpstr>Treewidth – Advanced Algorithms</vt:lpstr>
      <vt:lpstr>Nice tree decomposition</vt:lpstr>
      <vt:lpstr>Transformation of a tree decomposition to a nice tree decomposition</vt:lpstr>
      <vt:lpstr>Transformation of a tree decomposition to a nice tree decomposition</vt:lpstr>
      <vt:lpstr>Transformation to a nice tree decomposition</vt:lpstr>
      <vt:lpstr>Transformation to a nice tree decomposition</vt:lpstr>
      <vt:lpstr>Transformation to a nice tree decomposition</vt:lpstr>
      <vt:lpstr>Transformation to a nice tree decomposition</vt:lpstr>
      <vt:lpstr>Treewidth – Advanced Algorithms</vt:lpstr>
      <vt:lpstr>Algorithms using tree decompositions</vt:lpstr>
      <vt:lpstr>Second example: Weighted dominating set</vt:lpstr>
      <vt:lpstr>Weighted Dominating Set in Trees</vt:lpstr>
      <vt:lpstr>Weighted Dominating Set in Trees</vt:lpstr>
      <vt:lpstr>Weighted Dominating Set in Trees</vt:lpstr>
      <vt:lpstr>Weighted Dominating Set and Treewidth</vt:lpstr>
      <vt:lpstr>Weighted Dominating Set and Treewidth</vt:lpstr>
      <vt:lpstr>Weighted Dominating Set and Treewidth</vt:lpstr>
      <vt:lpstr>Treewidth</vt:lpstr>
      <vt:lpstr>Algorithms using tree decompositions</vt:lpstr>
      <vt:lpstr>Treewidth – Advanced Algorithms</vt:lpstr>
      <vt:lpstr>Treewidth is a measure of  how ‘treelike’ a graphs is</vt:lpstr>
      <vt:lpstr>Treewidth is a measure of  how ‘treelike’ a graphs is</vt:lpstr>
      <vt:lpstr>Characterization 1: Tree decompositions</vt:lpstr>
      <vt:lpstr>Characterization 2: k-boundary graphs</vt:lpstr>
      <vt:lpstr>Characterization 3: Cops and Robber</vt:lpstr>
      <vt:lpstr>Characterization 3: Cops and Robber</vt:lpstr>
      <vt:lpstr>Characterization 3: Cops and Robber</vt:lpstr>
      <vt:lpstr>Treewidth – Advanced Algorithms</vt:lpstr>
      <vt:lpstr>Another example</vt:lpstr>
      <vt:lpstr>Nice tree decompositions</vt:lpstr>
      <vt:lpstr>Bags are separators in the graphs</vt:lpstr>
      <vt:lpstr>Bags are separators in the graphs</vt:lpstr>
      <vt:lpstr>The separator property of a tree decomposition</vt:lpstr>
      <vt:lpstr>Treewidth – Advanced Algorithms</vt:lpstr>
      <vt:lpstr>Algorithms using tree decompositions</vt:lpstr>
      <vt:lpstr>Algorithms using tree decompositions</vt:lpstr>
      <vt:lpstr>Determining treewidth</vt:lpstr>
      <vt:lpstr>Finding tree decompositions</vt:lpstr>
      <vt:lpstr>Courcelle’s theorem</vt:lpstr>
      <vt:lpstr>Treewidth – Advanced Algorithms</vt:lpstr>
      <vt:lpstr>Example 1: Series-parallel graphs</vt:lpstr>
      <vt:lpstr>Example 1: Series-parallel graphs</vt:lpstr>
      <vt:lpstr>Example 1:</vt:lpstr>
      <vt:lpstr>Example 2: Graphs of bounded degree</vt:lpstr>
      <vt:lpstr>Example 3:  Planar graphs</vt:lpstr>
      <vt:lpstr>Graph Minors</vt:lpstr>
      <vt:lpstr>Grid Minors</vt:lpstr>
      <vt:lpstr>Applications:  Fixed Parameter Tractable (FPT) Algorithms</vt:lpstr>
      <vt:lpstr>Treewidth – Advanced Algorithms</vt:lpstr>
      <vt:lpstr>Bonus Topic</vt:lpstr>
      <vt:lpstr>Matchings Connectivity Matrix</vt:lpstr>
      <vt:lpstr>Matchings Connectivity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van Rooij</dc:creator>
  <cp:lastModifiedBy>Johan van Rooij</cp:lastModifiedBy>
  <cp:revision>15</cp:revision>
  <dcterms:created xsi:type="dcterms:W3CDTF">2025-12-09T15:02:35Z</dcterms:created>
  <dcterms:modified xsi:type="dcterms:W3CDTF">2026-03-24T11:15:01Z</dcterms:modified>
</cp:coreProperties>
</file>