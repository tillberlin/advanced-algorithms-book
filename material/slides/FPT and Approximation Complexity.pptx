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>
  <p:sldMasterIdLst>
    <p:sldMasterId id="2147483648" r:id="rId1"/>
  </p:sldMasterIdLst>
  <p:notesMasterIdLst>
    <p:notesMasterId r:id="rId52"/>
  </p:notesMasterIdLst>
  <p:sldIdLst>
    <p:sldId id="256" r:id="rId2"/>
    <p:sldId id="394" r:id="rId3"/>
    <p:sldId id="395" r:id="rId4"/>
    <p:sldId id="268" r:id="rId5"/>
    <p:sldId id="258" r:id="rId6"/>
    <p:sldId id="259" r:id="rId7"/>
    <p:sldId id="260" r:id="rId8"/>
    <p:sldId id="261" r:id="rId9"/>
    <p:sldId id="269" r:id="rId10"/>
    <p:sldId id="262" r:id="rId11"/>
    <p:sldId id="263" r:id="rId12"/>
    <p:sldId id="265" r:id="rId13"/>
    <p:sldId id="266" r:id="rId14"/>
    <p:sldId id="267" r:id="rId15"/>
    <p:sldId id="264" r:id="rId16"/>
    <p:sldId id="270" r:id="rId17"/>
    <p:sldId id="271" r:id="rId18"/>
    <p:sldId id="273" r:id="rId19"/>
    <p:sldId id="275" r:id="rId20"/>
    <p:sldId id="272" r:id="rId21"/>
    <p:sldId id="274" r:id="rId22"/>
    <p:sldId id="277" r:id="rId23"/>
    <p:sldId id="276" r:id="rId24"/>
    <p:sldId id="278" r:id="rId25"/>
    <p:sldId id="279" r:id="rId26"/>
    <p:sldId id="280" r:id="rId27"/>
    <p:sldId id="281" r:id="rId28"/>
    <p:sldId id="283" r:id="rId29"/>
    <p:sldId id="282" r:id="rId30"/>
    <p:sldId id="284" r:id="rId31"/>
    <p:sldId id="311" r:id="rId32"/>
    <p:sldId id="396" r:id="rId33"/>
    <p:sldId id="397" r:id="rId34"/>
    <p:sldId id="326" r:id="rId35"/>
    <p:sldId id="327" r:id="rId36"/>
    <p:sldId id="393" r:id="rId37"/>
    <p:sldId id="343" r:id="rId38"/>
    <p:sldId id="342" r:id="rId39"/>
    <p:sldId id="344" r:id="rId40"/>
    <p:sldId id="387" r:id="rId41"/>
    <p:sldId id="347" r:id="rId42"/>
    <p:sldId id="348" r:id="rId43"/>
    <p:sldId id="345" r:id="rId44"/>
    <p:sldId id="349" r:id="rId45"/>
    <p:sldId id="350" r:id="rId46"/>
    <p:sldId id="351" r:id="rId47"/>
    <p:sldId id="354" r:id="rId48"/>
    <p:sldId id="352" r:id="rId49"/>
    <p:sldId id="355" r:id="rId50"/>
    <p:sldId id="356" r:id="rId51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53"/>
    </p:embeddedFont>
    <p:embeddedFont>
      <p:font typeface="CMEX10" panose="020B0604020202020204" charset="0"/>
      <p:regular r:id="rId54"/>
    </p:embeddedFont>
    <p:embeddedFont>
      <p:font typeface="CMMI10" panose="020B0604020202020204" charset="0"/>
      <p:regular r:id="rId55"/>
    </p:embeddedFont>
    <p:embeddedFont>
      <p:font typeface="CMMI5" panose="020B0604020202020204" charset="0"/>
      <p:regular r:id="rId56"/>
    </p:embeddedFont>
    <p:embeddedFont>
      <p:font typeface="CMMI7" panose="020B0604020202020204" charset="0"/>
      <p:regular r:id="rId57"/>
    </p:embeddedFont>
    <p:embeddedFont>
      <p:font typeface="CMR10" panose="020B0604020202020204" charset="0"/>
      <p:regular r:id="rId58"/>
    </p:embeddedFont>
    <p:embeddedFont>
      <p:font typeface="CMR5" panose="020B0604020202020204" charset="0"/>
      <p:regular r:id="rId59"/>
    </p:embeddedFont>
    <p:embeddedFont>
      <p:font typeface="CMR7" panose="020B0604020202020204" charset="0"/>
      <p:regular r:id="rId60"/>
    </p:embeddedFont>
    <p:embeddedFont>
      <p:font typeface="cmsy10" panose="020B0604020202020204"/>
      <p:regular r:id="rId61"/>
    </p:embeddedFont>
    <p:embeddedFont>
      <p:font typeface="CMSY10ORIG" panose="020B0604020202020204" charset="0"/>
      <p:regular r:id="rId62"/>
    </p:embeddedFont>
    <p:embeddedFont>
      <p:font typeface="CMSY5" panose="020B0604020202020204" charset="0"/>
      <p:regular r:id="rId63"/>
    </p:embeddedFont>
    <p:embeddedFont>
      <p:font typeface="CMSY7" panose="020B0604020202020204" charset="0"/>
      <p:regular r:id="rId64"/>
    </p:embeddedFont>
    <p:embeddedFont>
      <p:font typeface="Times" panose="02020603050405020304" pitchFamily="18" charset="0"/>
      <p:regular r:id="rId65"/>
      <p:bold r:id="rId66"/>
      <p:italic r:id="rId67"/>
      <p:boldItalic r:id="rId68"/>
    </p:embeddedFont>
    <p:embeddedFont>
      <p:font typeface="Verdana" panose="020B0604030504040204" pitchFamily="34" charset="0"/>
      <p:regular r:id="rId69"/>
      <p:bold r:id="rId70"/>
      <p:italic r:id="rId71"/>
      <p:boldItalic r:id="rId72"/>
    </p:embeddedFont>
    <p:embeddedFont>
      <p:font typeface="Webdings" panose="05030102010509060703" pitchFamily="18" charset="2"/>
      <p:regular r:id="rId73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B927"/>
    <a:srgbClr val="7F7F7F"/>
    <a:srgbClr val="008C6B"/>
    <a:srgbClr val="FFFFFF"/>
    <a:srgbClr val="65016B"/>
    <a:srgbClr val="89014C"/>
    <a:srgbClr val="0B44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81149" autoAdjust="0"/>
  </p:normalViewPr>
  <p:slideViewPr>
    <p:cSldViewPr>
      <p:cViewPr varScale="1">
        <p:scale>
          <a:sx n="88" d="100"/>
          <a:sy n="88" d="100"/>
        </p:scale>
        <p:origin x="1440" y="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1.fntdata"/><Relationship Id="rId68" Type="http://schemas.openxmlformats.org/officeDocument/2006/relationships/font" Target="fonts/font16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font" Target="fonts/font14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69" Type="http://schemas.openxmlformats.org/officeDocument/2006/relationships/font" Target="fonts/font17.fntdata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2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67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70" Type="http://schemas.openxmlformats.org/officeDocument/2006/relationships/font" Target="fonts/font18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font" Target="fonts/font13.fntdata"/><Relationship Id="rId73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font" Target="fonts/font19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EB0EADC-3813-442B-845C-9C59D6A78A8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Note that the list contains problems in P, problems that are NP-complete,</a:t>
            </a:r>
            <a:r>
              <a:rPr lang="en-GB" baseline="0" dirty="0"/>
              <a:t> and problems (graph isomorphism) for which we do not know whether they are in P or whether they are NP-complete.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B0EADC-3813-442B-845C-9C59D6A78A8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Question: what means NP-hard compared</a:t>
            </a:r>
            <a:r>
              <a:rPr lang="en-GB" baseline="0" dirty="0"/>
              <a:t> to NP-complete here?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B0EADC-3813-442B-845C-9C59D6A78A8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Still, do not fall for the ‘I solved P=?NP</a:t>
            </a:r>
            <a:r>
              <a:rPr lang="en-GB" baseline="0" dirty="0"/>
              <a:t> question trap’.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B0EADC-3813-442B-845C-9C59D6A78A8F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FPT definition makes no sense if P = NP.</a:t>
            </a:r>
          </a:p>
          <a:p>
            <a:r>
              <a:rPr lang="en-GB" dirty="0"/>
              <a:t>If P = NP, then we can solve clique in poly time, i.e., we solve a W[1]-complete problem in FTP (P) time.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B0EADC-3813-442B-845C-9C59D6A78A8F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XP: Can you give some examples</a:t>
            </a:r>
            <a:r>
              <a:rPr lang="en-GB" baseline="0" dirty="0"/>
              <a:t> of problems in XP? (anything you know to be FTP, dominating set, independent set, clique, etc...)</a:t>
            </a:r>
          </a:p>
          <a:p>
            <a:r>
              <a:rPr lang="en-GB" baseline="0" dirty="0"/>
              <a:t>XP useful in thinking about parameterised problems – hard to find FTP algorithm if an XP algorithm is not easily found.</a:t>
            </a:r>
          </a:p>
          <a:p>
            <a:endParaRPr lang="en-GB" baseline="0" dirty="0"/>
          </a:p>
          <a:p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B0EADC-3813-442B-845C-9C59D6A78A8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Note the change of order of</a:t>
            </a:r>
            <a:r>
              <a:rPr lang="en-GB" baseline="0" dirty="0"/>
              <a:t> A and B here!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B0EADC-3813-442B-845C-9C59D6A78A8F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If P = NP, then k-clique poly-time solvable, so k-clique in FPT =&gt; FPT = W[1]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/>
              <a:t>FPT = W[1] would falsify the ETH.</a:t>
            </a:r>
          </a:p>
          <a:p>
            <a:endParaRPr lang="en-GB" dirty="0"/>
          </a:p>
          <a:p>
            <a:r>
              <a:rPr lang="en-GB" dirty="0"/>
              <a:t>Clique</a:t>
            </a:r>
            <a:r>
              <a:rPr lang="en-GB" baseline="0" dirty="0"/>
              <a:t> in G is equivalent to an independent set in the complement of G.</a:t>
            </a:r>
          </a:p>
          <a:p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B0EADC-3813-442B-845C-9C59D6A78A8F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B0EADC-3813-442B-845C-9C59D6A78A8F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B0EADC-3813-442B-845C-9C59D6A78A8F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So what about independent set on regular graphs?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B0EADC-3813-442B-845C-9C59D6A78A8F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Let op: </a:t>
            </a:r>
            <a:r>
              <a:rPr lang="en-GB" dirty="0" err="1"/>
              <a:t>binnen</a:t>
            </a:r>
            <a:r>
              <a:rPr lang="en-GB" dirty="0"/>
              <a:t> 10 </a:t>
            </a:r>
            <a:r>
              <a:rPr lang="en-GB" dirty="0" err="1"/>
              <a:t>minuten</a:t>
            </a:r>
            <a:r>
              <a:rPr lang="en-GB" dirty="0"/>
              <a:t> </a:t>
            </a:r>
            <a:r>
              <a:rPr lang="en-GB" dirty="0" err="1"/>
              <a:t>wil</a:t>
            </a:r>
            <a:r>
              <a:rPr lang="en-GB" baseline="0" dirty="0"/>
              <a:t> je het over APX-completeness </a:t>
            </a:r>
            <a:r>
              <a:rPr lang="en-GB" baseline="0" dirty="0" err="1"/>
              <a:t>hebben</a:t>
            </a:r>
            <a:r>
              <a:rPr lang="en-GB" baseline="0" dirty="0"/>
              <a:t>!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B3BF-39B7-4A3A-9C81-273C2A4C6322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PCP theorem: every decision problem in the NP complexity class has probabilistically checkable proofs (proofs that can be checked by a randomized algorithm with high</a:t>
            </a:r>
            <a:r>
              <a:rPr lang="en-US" baseline="0" dirty="0"/>
              <a:t> probability of correctness</a:t>
            </a:r>
            <a:r>
              <a:rPr lang="en-US" dirty="0"/>
              <a:t>) of constant query complexity and logarithmic randomness complexity (uses a logarithmic number of random bits).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B3BF-39B7-4A3A-9C81-273C2A4C6322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For a minimisation problem</a:t>
            </a:r>
            <a:r>
              <a:rPr lang="en-GB" baseline="0" dirty="0"/>
              <a:t> (absolute value symbols exist to work for both max en min problems):</a:t>
            </a:r>
          </a:p>
          <a:p>
            <a:pPr marL="228600" indent="-228600">
              <a:buAutoNum type="arabicPeriod"/>
            </a:pPr>
            <a:r>
              <a:rPr lang="en-GB" dirty="0"/>
              <a:t>VAL(g(y))  - OPT(x) \</a:t>
            </a:r>
            <a:r>
              <a:rPr lang="en-GB" dirty="0" err="1"/>
              <a:t>leq</a:t>
            </a:r>
            <a:r>
              <a:rPr lang="en-GB" dirty="0"/>
              <a:t> b ( VAL(y) - OPT(f(x)) )	[by</a:t>
            </a:r>
            <a:r>
              <a:rPr lang="en-GB" baseline="0" dirty="0"/>
              <a:t> def part 3</a:t>
            </a:r>
            <a:r>
              <a:rPr lang="en-GB" dirty="0"/>
              <a:t>]</a:t>
            </a:r>
          </a:p>
          <a:p>
            <a:pPr marL="228600" indent="-228600">
              <a:buAutoNum type="arabicPeriod"/>
            </a:pPr>
            <a:r>
              <a:rPr lang="en-GB" dirty="0"/>
              <a:t>\</a:t>
            </a:r>
            <a:r>
              <a:rPr lang="en-GB" dirty="0" err="1"/>
              <a:t>leq</a:t>
            </a:r>
            <a:r>
              <a:rPr lang="en-GB" dirty="0"/>
              <a:t> b ( (1+epsilon)</a:t>
            </a:r>
            <a:r>
              <a:rPr lang="en-GB" baseline="0" dirty="0"/>
              <a:t> OPT f(x)</a:t>
            </a:r>
            <a:r>
              <a:rPr lang="en-GB" dirty="0"/>
              <a:t> - OPT(f(x)) </a:t>
            </a:r>
            <a:r>
              <a:rPr lang="en-GB" baseline="0" dirty="0"/>
              <a:t>)	[by def (1+epsilon)-approx of PTAS]</a:t>
            </a:r>
          </a:p>
          <a:p>
            <a:pPr marL="228600" indent="-228600">
              <a:buAutoNum type="arabicPeriod"/>
            </a:pPr>
            <a:r>
              <a:rPr lang="en-GB" baseline="0" dirty="0"/>
              <a:t>\</a:t>
            </a:r>
            <a:r>
              <a:rPr lang="en-GB" baseline="0" dirty="0" err="1"/>
              <a:t>leq</a:t>
            </a:r>
            <a:r>
              <a:rPr lang="en-GB" baseline="0" dirty="0"/>
              <a:t> b epsilon OPT f(x)			[simplify]</a:t>
            </a:r>
          </a:p>
          <a:p>
            <a:pPr marL="228600" indent="-228600">
              <a:buAutoNum type="arabicPeriod"/>
            </a:pPr>
            <a:r>
              <a:rPr lang="en-GB" baseline="0" dirty="0"/>
              <a:t>\</a:t>
            </a:r>
            <a:r>
              <a:rPr lang="en-GB" baseline="0" dirty="0" err="1"/>
              <a:t>leq</a:t>
            </a:r>
            <a:r>
              <a:rPr lang="en-GB" baseline="0" dirty="0"/>
              <a:t> b epsilon a OPT(x)			[by def part 2]</a:t>
            </a:r>
          </a:p>
          <a:p>
            <a:pPr marL="228600" indent="-228600">
              <a:buNone/>
            </a:pPr>
            <a:r>
              <a:rPr lang="en-GB" baseline="0" dirty="0"/>
              <a:t>Thus </a:t>
            </a:r>
            <a:r>
              <a:rPr lang="en-GB" baseline="0"/>
              <a:t>a (1 </a:t>
            </a:r>
            <a:r>
              <a:rPr lang="en-GB" baseline="0" dirty="0"/>
              <a:t>+ b </a:t>
            </a:r>
            <a:r>
              <a:rPr lang="en-GB" baseline="0"/>
              <a:t>epsilon a)-approximation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B3BF-39B7-4A3A-9C81-273C2A4C6322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For a minimisation problem</a:t>
            </a:r>
            <a:r>
              <a:rPr lang="en-GB" baseline="0" dirty="0"/>
              <a:t> (absolute value symbols exist to work for both max en min problems):</a:t>
            </a:r>
          </a:p>
          <a:p>
            <a:pPr marL="228600" indent="-228600">
              <a:buAutoNum type="arabicPeriod"/>
            </a:pPr>
            <a:r>
              <a:rPr lang="en-GB" dirty="0"/>
              <a:t>VAL(g(y))  - OPT(x) \</a:t>
            </a:r>
            <a:r>
              <a:rPr lang="en-GB" dirty="0" err="1"/>
              <a:t>leq</a:t>
            </a:r>
            <a:r>
              <a:rPr lang="en-GB" dirty="0"/>
              <a:t> b ( VAL(y) - OPT(f(x)) )	[by</a:t>
            </a:r>
            <a:r>
              <a:rPr lang="en-GB" baseline="0" dirty="0"/>
              <a:t> def part 3</a:t>
            </a:r>
            <a:r>
              <a:rPr lang="en-GB" dirty="0"/>
              <a:t>]</a:t>
            </a:r>
          </a:p>
          <a:p>
            <a:pPr marL="228600" indent="-228600">
              <a:buAutoNum type="arabicPeriod"/>
            </a:pPr>
            <a:r>
              <a:rPr lang="en-GB" dirty="0"/>
              <a:t>\</a:t>
            </a:r>
            <a:r>
              <a:rPr lang="en-GB" dirty="0" err="1"/>
              <a:t>leq</a:t>
            </a:r>
            <a:r>
              <a:rPr lang="en-GB" dirty="0"/>
              <a:t> b ( (1+epsilon)</a:t>
            </a:r>
            <a:r>
              <a:rPr lang="en-GB" baseline="0" dirty="0"/>
              <a:t> OPT f(x)</a:t>
            </a:r>
            <a:r>
              <a:rPr lang="en-GB" dirty="0"/>
              <a:t> - OPT(f(x)) </a:t>
            </a:r>
            <a:r>
              <a:rPr lang="en-GB" baseline="0" dirty="0"/>
              <a:t>)	[by def (1+epsilon)-approx of PTAS]</a:t>
            </a:r>
          </a:p>
          <a:p>
            <a:pPr marL="228600" indent="-228600">
              <a:buAutoNum type="arabicPeriod"/>
            </a:pPr>
            <a:r>
              <a:rPr lang="en-GB" baseline="0" dirty="0"/>
              <a:t>\</a:t>
            </a:r>
            <a:r>
              <a:rPr lang="en-GB" baseline="0" dirty="0" err="1"/>
              <a:t>leq</a:t>
            </a:r>
            <a:r>
              <a:rPr lang="en-GB" baseline="0" dirty="0"/>
              <a:t> b epsilon OPT f(x)			[simplify]</a:t>
            </a:r>
          </a:p>
          <a:p>
            <a:pPr marL="228600" indent="-228600">
              <a:buAutoNum type="arabicPeriod"/>
            </a:pPr>
            <a:r>
              <a:rPr lang="en-GB" baseline="0" dirty="0"/>
              <a:t>\</a:t>
            </a:r>
            <a:r>
              <a:rPr lang="en-GB" baseline="0" dirty="0" err="1"/>
              <a:t>leq</a:t>
            </a:r>
            <a:r>
              <a:rPr lang="en-GB" baseline="0" dirty="0"/>
              <a:t> b epsilon a OPT(x)			[by def part 2]</a:t>
            </a:r>
          </a:p>
          <a:p>
            <a:pPr marL="228600" indent="-228600">
              <a:buNone/>
            </a:pPr>
            <a:r>
              <a:rPr lang="en-GB" baseline="0" dirty="0"/>
              <a:t>Thus a (1 + b epsilon a)-approximation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B3BF-39B7-4A3A-9C81-273C2A4C6322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Copy to blackboard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B3BF-39B7-4A3A-9C81-273C2A4C6322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Truth</a:t>
            </a:r>
            <a:r>
              <a:rPr lang="en-GB" baseline="0" dirty="0"/>
              <a:t> table on </a:t>
            </a:r>
            <a:r>
              <a:rPr lang="en-GB" baseline="0" dirty="0" err="1"/>
              <a:t>blackbord</a:t>
            </a:r>
            <a:r>
              <a:rPr lang="en-GB" baseline="0" dirty="0"/>
              <a:t>: (</a:t>
            </a:r>
            <a:r>
              <a:rPr lang="en-GB" baseline="0" dirty="0" err="1"/>
              <a:t>x,y,z</a:t>
            </a:r>
            <a:r>
              <a:rPr lang="en-GB" baseline="0" dirty="0"/>
              <a:t>) all false -&gt; new clauses 6 true, otherwise new clauses 7 true.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B3BF-39B7-4A3A-9C81-273C2A4C6322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Truth</a:t>
            </a:r>
            <a:r>
              <a:rPr lang="en-GB" baseline="0" dirty="0"/>
              <a:t> table on </a:t>
            </a:r>
            <a:r>
              <a:rPr lang="en-GB" baseline="0" dirty="0" err="1"/>
              <a:t>blackbord</a:t>
            </a:r>
            <a:r>
              <a:rPr lang="en-GB" baseline="0" dirty="0"/>
              <a:t>: (</a:t>
            </a:r>
            <a:r>
              <a:rPr lang="en-GB" baseline="0" dirty="0" err="1"/>
              <a:t>x,y,z</a:t>
            </a:r>
            <a:r>
              <a:rPr lang="en-GB" baseline="0" dirty="0"/>
              <a:t>) all false -&gt; new clauses 6 true, otherwise new clauses 7 true.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B3BF-39B7-4A3A-9C81-273C2A4C6322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Op blackboard</a:t>
            </a:r>
            <a:r>
              <a:rPr lang="en-GB" baseline="0" dirty="0"/>
              <a:t> </a:t>
            </a:r>
            <a:r>
              <a:rPr lang="en-GB" baseline="0" dirty="0" err="1"/>
              <a:t>voorbeeld</a:t>
            </a:r>
            <a:r>
              <a:rPr lang="en-GB" baseline="0" dirty="0"/>
              <a:t> </a:t>
            </a:r>
            <a:r>
              <a:rPr lang="en-GB" baseline="0" dirty="0" err="1"/>
              <a:t>geven</a:t>
            </a:r>
            <a:r>
              <a:rPr lang="en-GB" baseline="0" dirty="0"/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B3BF-39B7-4A3A-9C81-273C2A4C6322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Op </a:t>
            </a:r>
            <a:r>
              <a:rPr lang="en-GB" dirty="0" err="1"/>
              <a:t>blackbord</a:t>
            </a:r>
            <a:r>
              <a:rPr lang="en-GB" baseline="0" dirty="0"/>
              <a:t> </a:t>
            </a:r>
            <a:r>
              <a:rPr lang="en-GB" baseline="0" dirty="0" err="1"/>
              <a:t>voorbeeld</a:t>
            </a:r>
            <a:r>
              <a:rPr lang="en-GB" baseline="0" dirty="0"/>
              <a:t> </a:t>
            </a:r>
            <a:r>
              <a:rPr lang="en-GB" baseline="0" dirty="0" err="1"/>
              <a:t>geven</a:t>
            </a:r>
            <a:r>
              <a:rPr lang="en-GB" baseline="0" dirty="0"/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B3BF-39B7-4A3A-9C81-273C2A4C6322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Rectangle 16"/>
          <p:cNvSpPr>
            <a:spLocks noChangeArrowheads="1"/>
          </p:cNvSpPr>
          <p:nvPr/>
        </p:nvSpPr>
        <p:spPr bwMode="auto">
          <a:xfrm>
            <a:off x="7620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fld id="{F323BAF2-5101-4F48-8A71-6ACA6B8EC8D2}" type="slidenum">
              <a:rPr lang="en-US" sz="1200">
                <a:latin typeface="Verdana" charset="0"/>
              </a:rPr>
              <a:pPr algn="r"/>
              <a:t>‹#›</a:t>
            </a:fld>
            <a:endParaRPr lang="en-US" sz="1400">
              <a:latin typeface="Verdana" charset="0"/>
            </a:endParaRPr>
          </a:p>
        </p:txBody>
      </p:sp>
      <p:pic>
        <p:nvPicPr>
          <p:cNvPr id="3101" name="Picture 2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588"/>
            <a:ext cx="9144000" cy="6861176"/>
          </a:xfrm>
          <a:prstGeom prst="rect">
            <a:avLst/>
          </a:prstGeom>
          <a:noFill/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52600" y="2057400"/>
            <a:ext cx="7010400" cy="1676400"/>
          </a:xfrm>
        </p:spPr>
        <p:txBody>
          <a:bodyPr/>
          <a:lstStyle>
            <a:lvl1pPr algn="r">
              <a:lnSpc>
                <a:spcPts val="4400"/>
              </a:lnSpc>
              <a:spcAft>
                <a:spcPts val="300"/>
              </a:spcAft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3962400"/>
            <a:ext cx="6400800" cy="1752600"/>
          </a:xfrm>
        </p:spPr>
        <p:txBody>
          <a:bodyPr/>
          <a:lstStyle>
            <a:lvl1pPr marL="0" indent="0" algn="r">
              <a:buFont typeface="Webdings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2362200" y="6248400"/>
            <a:ext cx="3657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Béta Template powerpoint</a:t>
            </a:r>
            <a:endParaRPr lang="en-US" sz="14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Béta Template powerpoint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Béta Template powerpoint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828800"/>
            <a:ext cx="36195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0" y="1828800"/>
            <a:ext cx="36195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Béta Template powerpoint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Béta Template powerpoint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Béta Template powerpoint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Béta Template powerpoint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Béta Template powerpoint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Béta Template powerpoint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Béta Template powerpoint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5150" y="304800"/>
            <a:ext cx="18478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304800"/>
            <a:ext cx="53911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Béta Template powerpoint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1371600" y="1828800"/>
            <a:ext cx="7391400" cy="39624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0" y="6477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05200" y="6477000"/>
            <a:ext cx="2895600" cy="38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Béta Template powerpoint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371600" y="1828800"/>
            <a:ext cx="7391400" cy="3962400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0" y="6477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05200" y="6477000"/>
            <a:ext cx="2895600" cy="38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Béta Template powerpoint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371600" y="1828800"/>
            <a:ext cx="7391400" cy="39624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0" y="6477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05200" y="6477000"/>
            <a:ext cx="2895600" cy="38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Béta Template powerpoint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Picture 29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0" y="-1588"/>
            <a:ext cx="9144000" cy="6861176"/>
          </a:xfrm>
          <a:prstGeom prst="rect">
            <a:avLst/>
          </a:prstGeom>
          <a:noFill/>
        </p:spPr>
      </p:pic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fld id="{FC964122-5571-44A9-92C0-199C8B48E5F7}" type="slidenum">
              <a:rPr lang="en-US" sz="1200">
                <a:latin typeface="Verdana" charset="0"/>
              </a:rPr>
              <a:pPr algn="r"/>
              <a:t>‹#›</a:t>
            </a:fld>
            <a:endParaRPr lang="en-US" sz="1400">
              <a:latin typeface="Verdana" charset="0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304800"/>
            <a:ext cx="7391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1600" y="1828800"/>
            <a:ext cx="73914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2" name="Rectangle 1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200" y="6477000"/>
            <a:ext cx="2895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n-lt"/>
              </a:defRPr>
            </a:lvl1pPr>
          </a:lstStyle>
          <a:p>
            <a:r>
              <a:rPr lang="en-US"/>
              <a:t>Béta Template powerpoint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ebdings" charset="2"/>
        <a:buChar char="g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ebdings" charset="2"/>
        <a:buChar char="g"/>
        <a:defRPr sz="1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+mn-lt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000">
          <a:solidFill>
            <a:schemeClr val="tx1"/>
          </a:solidFill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000">
          <a:solidFill>
            <a:schemeClr val="tx1"/>
          </a:solidFill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000">
          <a:solidFill>
            <a:schemeClr val="tx1"/>
          </a:solidFill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000">
          <a:solidFill>
            <a:schemeClr val="tx1"/>
          </a:solidFill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0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Parameterised Complexity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Advanced </a:t>
            </a:r>
            <a:r>
              <a:rPr lang="nl-NL" dirty="0" err="1"/>
              <a:t>Algorithms</a:t>
            </a:r>
            <a:r>
              <a:rPr lang="nl-NL" dirty="0"/>
              <a:t> 2024/2025</a:t>
            </a:r>
          </a:p>
          <a:p>
            <a:r>
              <a:rPr lang="nl-NL" dirty="0"/>
              <a:t>Johan M. M. van Rooij</a:t>
            </a:r>
          </a:p>
          <a:p>
            <a:r>
              <a:rPr lang="nl-NL" dirty="0"/>
              <a:t>Jesper Nederlof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52EB5-04C1-003F-5BBD-AC06B6B7E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EDEDF-5ACC-3ED2-08B8-F01F99C35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6A16B-DA4A-553F-AB5F-C69478C70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8800"/>
            <a:ext cx="7391400" cy="376064"/>
          </a:xfrm>
        </p:spPr>
        <p:txBody>
          <a:bodyPr/>
          <a:lstStyle/>
          <a:p>
            <a:r>
              <a:rPr lang="en-GB" dirty="0"/>
              <a:t>Classical complexity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6C581B-9294-D568-5F66-100E886B619A}"/>
              </a:ext>
            </a:extLst>
          </p:cNvPr>
          <p:cNvSpPr txBox="1">
            <a:spLocks/>
          </p:cNvSpPr>
          <p:nvPr/>
        </p:nvSpPr>
        <p:spPr bwMode="auto">
          <a:xfrm>
            <a:off x="1371600" y="2142904"/>
            <a:ext cx="7391400" cy="3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sz="1800" kern="0" dirty="0"/>
              <a:t>Parameterised complexity basics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0BB62C2-FDCB-20D1-36F7-3623D73091BD}"/>
              </a:ext>
            </a:extLst>
          </p:cNvPr>
          <p:cNvSpPr txBox="1">
            <a:spLocks/>
          </p:cNvSpPr>
          <p:nvPr/>
        </p:nvSpPr>
        <p:spPr bwMode="auto">
          <a:xfrm>
            <a:off x="1371600" y="2457008"/>
            <a:ext cx="7391400" cy="3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sz="1800" kern="0" dirty="0"/>
              <a:t>Parameterised reductions / hardness proofs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F9AF1D7-64C0-19A7-F691-8A4B34852B5E}"/>
              </a:ext>
            </a:extLst>
          </p:cNvPr>
          <p:cNvSpPr txBox="1">
            <a:spLocks/>
          </p:cNvSpPr>
          <p:nvPr/>
        </p:nvSpPr>
        <p:spPr bwMode="auto">
          <a:xfrm>
            <a:off x="1371600" y="2897184"/>
            <a:ext cx="7391400" cy="3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sz="1800" kern="0" dirty="0"/>
              <a:t>Approximation Complexity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208142-1CA4-9028-3837-3D8BE90AEAFF}"/>
              </a:ext>
            </a:extLst>
          </p:cNvPr>
          <p:cNvCxnSpPr/>
          <p:nvPr/>
        </p:nvCxnSpPr>
        <p:spPr bwMode="auto">
          <a:xfrm>
            <a:off x="1259632" y="2883312"/>
            <a:ext cx="770485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85174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FB5BB-0ABC-D6D1-4DDB-1191B9589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22D4C-E17B-9A25-F477-0949705E5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lecture: first half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D4EAC-6D6A-3EB6-A795-BF6C9AFDF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8800"/>
            <a:ext cx="7391400" cy="376064"/>
          </a:xfrm>
        </p:spPr>
        <p:txBody>
          <a:bodyPr/>
          <a:lstStyle/>
          <a:p>
            <a:r>
              <a:rPr lang="en-GB" dirty="0"/>
              <a:t>Classical complexity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29B78D0-F2B4-DAF3-8C02-966616A9C789}"/>
              </a:ext>
            </a:extLst>
          </p:cNvPr>
          <p:cNvSpPr txBox="1">
            <a:spLocks/>
          </p:cNvSpPr>
          <p:nvPr/>
        </p:nvSpPr>
        <p:spPr bwMode="auto">
          <a:xfrm>
            <a:off x="1371600" y="2730704"/>
            <a:ext cx="7391400" cy="3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sz="1800" kern="0" dirty="0"/>
              <a:t>Parameterised complexity basics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27F4C21-2742-A78A-43A5-326A5AB1CD25}"/>
              </a:ext>
            </a:extLst>
          </p:cNvPr>
          <p:cNvSpPr txBox="1">
            <a:spLocks/>
          </p:cNvSpPr>
          <p:nvPr/>
        </p:nvSpPr>
        <p:spPr bwMode="auto">
          <a:xfrm>
            <a:off x="1371600" y="4216616"/>
            <a:ext cx="7391400" cy="3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sz="1800" kern="0" dirty="0"/>
              <a:t>Parameterised reductions / hardness proofs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704E93C-917D-89B9-695C-13D8EF8A6BD6}"/>
              </a:ext>
            </a:extLst>
          </p:cNvPr>
          <p:cNvSpPr txBox="1">
            <a:spLocks/>
          </p:cNvSpPr>
          <p:nvPr/>
        </p:nvSpPr>
        <p:spPr bwMode="auto">
          <a:xfrm>
            <a:off x="1371600" y="5501208"/>
            <a:ext cx="7391400" cy="3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sz="1800" kern="0" dirty="0"/>
              <a:t>Approximation Complexity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98C40C-6BE9-23B7-D011-9B424074C301}"/>
              </a:ext>
            </a:extLst>
          </p:cNvPr>
          <p:cNvCxnSpPr/>
          <p:nvPr/>
        </p:nvCxnSpPr>
        <p:spPr bwMode="auto">
          <a:xfrm>
            <a:off x="1259632" y="5487336"/>
            <a:ext cx="770485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CDD27B4-68C7-13F2-3EF5-C843CC921FB5}"/>
              </a:ext>
            </a:extLst>
          </p:cNvPr>
          <p:cNvSpPr txBox="1">
            <a:spLocks/>
          </p:cNvSpPr>
          <p:nvPr/>
        </p:nvSpPr>
        <p:spPr bwMode="auto">
          <a:xfrm>
            <a:off x="1371600" y="2135969"/>
            <a:ext cx="7391400" cy="58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pPr lvl="1"/>
            <a:r>
              <a:rPr lang="en-GB" b="1" kern="0" dirty="0"/>
              <a:t>P</a:t>
            </a:r>
            <a:r>
              <a:rPr lang="en-GB" kern="0" dirty="0"/>
              <a:t> vs </a:t>
            </a:r>
            <a:r>
              <a:rPr lang="en-GB" b="1" kern="0" dirty="0"/>
              <a:t>NP</a:t>
            </a:r>
            <a:endParaRPr lang="en-GB" kern="0" dirty="0"/>
          </a:p>
          <a:p>
            <a:pPr lvl="1"/>
            <a:r>
              <a:rPr lang="en-GB" kern="0" dirty="0"/>
              <a:t>Conditional non-existence proofs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F385D6C-301C-0D65-477A-AEB3DE405637}"/>
              </a:ext>
            </a:extLst>
          </p:cNvPr>
          <p:cNvSpPr txBox="1">
            <a:spLocks/>
          </p:cNvSpPr>
          <p:nvPr/>
        </p:nvSpPr>
        <p:spPr bwMode="auto">
          <a:xfrm>
            <a:off x="1371600" y="3030288"/>
            <a:ext cx="7391400" cy="1262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pPr lvl="1"/>
            <a:r>
              <a:rPr lang="en-GB" b="1" dirty="0"/>
              <a:t>FTP</a:t>
            </a:r>
          </a:p>
          <a:p>
            <a:pPr lvl="1"/>
            <a:r>
              <a:rPr lang="en-GB" b="1" dirty="0"/>
              <a:t>XP</a:t>
            </a:r>
            <a:endParaRPr lang="en-GB" dirty="0"/>
          </a:p>
          <a:p>
            <a:pPr lvl="1"/>
            <a:r>
              <a:rPr lang="en-GB" dirty="0"/>
              <a:t>The </a:t>
            </a:r>
            <a:r>
              <a:rPr lang="en-GB" b="1" dirty="0"/>
              <a:t>W</a:t>
            </a:r>
            <a:r>
              <a:rPr lang="en-GB" dirty="0"/>
              <a:t>-hierarchy (no details)</a:t>
            </a:r>
          </a:p>
          <a:p>
            <a:pPr lvl="1"/>
            <a:r>
              <a:rPr lang="en-GB" dirty="0"/>
              <a:t>Clique is not in </a:t>
            </a:r>
            <a:r>
              <a:rPr lang="en-GB" b="1" dirty="0"/>
              <a:t>FPT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1833D7B-7500-65E1-3D3B-9CE852E97144}"/>
              </a:ext>
            </a:extLst>
          </p:cNvPr>
          <p:cNvSpPr txBox="1">
            <a:spLocks/>
          </p:cNvSpPr>
          <p:nvPr/>
        </p:nvSpPr>
        <p:spPr bwMode="auto">
          <a:xfrm>
            <a:off x="1357064" y="4507288"/>
            <a:ext cx="7391400" cy="865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pPr lvl="1"/>
            <a:r>
              <a:rPr lang="en-GB" dirty="0"/>
              <a:t>Clique on regular graphs</a:t>
            </a:r>
          </a:p>
          <a:p>
            <a:pPr lvl="1"/>
            <a:r>
              <a:rPr lang="en-GB" dirty="0"/>
              <a:t>Multicoloured clique on regular graphs</a:t>
            </a:r>
          </a:p>
          <a:p>
            <a:pPr lvl="1"/>
            <a:r>
              <a:rPr lang="en-GB" dirty="0"/>
              <a:t>Dominating set</a:t>
            </a:r>
          </a:p>
        </p:txBody>
      </p:sp>
    </p:spTree>
    <p:extLst>
      <p:ext uri="{BB962C8B-B14F-4D97-AF65-F5344CB8AC3E}">
        <p14:creationId xmlns:p14="http://schemas.microsoft.com/office/powerpoint/2010/main" val="7022740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2" y="4406900"/>
            <a:ext cx="8421688" cy="1362075"/>
          </a:xfrm>
        </p:spPr>
        <p:txBody>
          <a:bodyPr/>
          <a:lstStyle/>
          <a:p>
            <a:r>
              <a:rPr lang="en-GB" dirty="0"/>
              <a:t>Classical complexity and conditional proofs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Parameterised</a:t>
            </a:r>
            <a:r>
              <a:rPr lang="en-US" dirty="0"/>
              <a:t> Complexity </a:t>
            </a:r>
            <a:r>
              <a:rPr lang="en-GB" dirty="0"/>
              <a:t>– Algorithms and Networks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Classical complexity: 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Classical complexity theory defines a problem to be ‘tractable’ if it can be solved by a polynomial-time algorithm.</a:t>
            </a:r>
          </a:p>
          <a:p>
            <a:pPr lvl="1"/>
            <a:r>
              <a:rPr lang="en-GB" b="1" dirty="0"/>
              <a:t>P</a:t>
            </a:r>
            <a:r>
              <a:rPr lang="en-GB" dirty="0"/>
              <a:t> is the class of polynomial time solvable problems.</a:t>
            </a:r>
          </a:p>
          <a:p>
            <a:pPr lvl="2">
              <a:buFont typeface="Wingdings" pitchFamily="2" charset="2"/>
              <a:buChar char="Ø"/>
            </a:pPr>
            <a:r>
              <a:rPr lang="en-GB" dirty="0"/>
              <a:t>Shortest paths.</a:t>
            </a:r>
          </a:p>
          <a:p>
            <a:pPr lvl="2">
              <a:buFont typeface="Wingdings" pitchFamily="2" charset="2"/>
              <a:buChar char="Ø"/>
            </a:pPr>
            <a:r>
              <a:rPr lang="en-GB" dirty="0"/>
              <a:t>Maximum matching / minimum weight perfect matching.</a:t>
            </a:r>
          </a:p>
          <a:p>
            <a:pPr lvl="2">
              <a:buFont typeface="Wingdings" pitchFamily="2" charset="2"/>
              <a:buChar char="Ø"/>
            </a:pPr>
            <a:r>
              <a:rPr lang="en-GB" dirty="0"/>
              <a:t>Maximum flow / minimum cost flow.</a:t>
            </a:r>
          </a:p>
          <a:p>
            <a:pPr lvl="2">
              <a:buFont typeface="Wingdings" pitchFamily="2" charset="2"/>
              <a:buChar char="Ø"/>
            </a:pPr>
            <a:r>
              <a:rPr lang="en-GB" dirty="0"/>
              <a:t>Stable marriage.</a:t>
            </a:r>
          </a:p>
          <a:p>
            <a:pPr lvl="2">
              <a:buFont typeface="Wingdings" pitchFamily="2" charset="2"/>
              <a:buChar char="Ø"/>
            </a:pPr>
            <a:r>
              <a:rPr lang="en-GB" dirty="0"/>
              <a:t>Many more.</a:t>
            </a:r>
          </a:p>
          <a:p>
            <a:pPr lvl="1"/>
            <a:endParaRPr lang="en-GB" sz="1000" dirty="0"/>
          </a:p>
          <a:p>
            <a:r>
              <a:rPr lang="en-GB" dirty="0"/>
              <a:t>Classical complexity theory defines a problem to be ‘intractable’ if it cannot be solved by a no polynomial-time algorithm.</a:t>
            </a:r>
          </a:p>
          <a:p>
            <a:pPr lvl="1"/>
            <a:r>
              <a:rPr lang="en-GB" dirty="0"/>
              <a:t>Even so, we often solve many problems that are not in </a:t>
            </a:r>
            <a:r>
              <a:rPr lang="en-GB" b="1" dirty="0"/>
              <a:t>P </a:t>
            </a:r>
            <a:r>
              <a:rPr lang="en-GB" dirty="0"/>
              <a:t>in practical situations (most interesting problems are not in </a:t>
            </a:r>
            <a:r>
              <a:rPr lang="en-GB" b="1" dirty="0"/>
              <a:t>P</a:t>
            </a:r>
            <a:r>
              <a:rPr lang="en-GB" dirty="0"/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Classical complexity: NP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520880" cy="3962400"/>
          </a:xfrm>
        </p:spPr>
        <p:txBody>
          <a:bodyPr/>
          <a:lstStyle/>
          <a:p>
            <a:r>
              <a:rPr lang="en-GB" b="1" dirty="0"/>
              <a:t>NP</a:t>
            </a:r>
            <a:r>
              <a:rPr lang="en-GB" dirty="0"/>
              <a:t> is the class of all problems for which we can verify solutions in polynomial time.</a:t>
            </a:r>
          </a:p>
          <a:p>
            <a:pPr lvl="1"/>
            <a:r>
              <a:rPr lang="en-GB" dirty="0"/>
              <a:t>We have seen before: </a:t>
            </a:r>
            <a:r>
              <a:rPr lang="en-GB" b="1" dirty="0"/>
              <a:t>P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µ</a:t>
            </a:r>
            <a:r>
              <a:rPr lang="en-GB" dirty="0"/>
              <a:t> </a:t>
            </a:r>
            <a:r>
              <a:rPr lang="en-GB" b="1" dirty="0"/>
              <a:t>NP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dirty="0"/>
              <a:t>NP</a:t>
            </a:r>
            <a:r>
              <a:rPr lang="en-GB" dirty="0"/>
              <a:t> includes many problems that we have considered so far:</a:t>
            </a:r>
          </a:p>
          <a:p>
            <a:pPr lvl="1"/>
            <a:r>
              <a:rPr lang="en-GB" dirty="0"/>
              <a:t>All problems in </a:t>
            </a:r>
            <a:r>
              <a:rPr lang="en-GB" b="1" dirty="0"/>
              <a:t>P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Graph isomorphism.</a:t>
            </a:r>
          </a:p>
          <a:p>
            <a:pPr lvl="1"/>
            <a:r>
              <a:rPr lang="en-GB" dirty="0"/>
              <a:t>Satisfiability / 3-Satisfiability / Max-Satisfiability.</a:t>
            </a:r>
          </a:p>
          <a:p>
            <a:pPr lvl="1"/>
            <a:r>
              <a:rPr lang="en-GB" dirty="0"/>
              <a:t>Maximum Independent Set / Minimum Vertex Cover / Clique.</a:t>
            </a:r>
          </a:p>
          <a:p>
            <a:pPr lvl="1"/>
            <a:r>
              <a:rPr lang="en-GB" dirty="0"/>
              <a:t>Minimum Dominating Set.</a:t>
            </a:r>
          </a:p>
          <a:p>
            <a:pPr lvl="1"/>
            <a:r>
              <a:rPr lang="en-GB" dirty="0"/>
              <a:t>Set Cover.</a:t>
            </a:r>
          </a:p>
          <a:p>
            <a:pPr lvl="1"/>
            <a:r>
              <a:rPr lang="en-GB" dirty="0"/>
              <a:t>Hamilton Cycle / Travelling Salesman Problem.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Classical complexity: P </a:t>
            </a:r>
            <a:r>
              <a:rPr lang="en-GB" dirty="0" err="1"/>
              <a:t>vs</a:t>
            </a:r>
            <a:r>
              <a:rPr lang="en-GB" dirty="0"/>
              <a:t> NP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have not been able to prove that </a:t>
            </a:r>
            <a:r>
              <a:rPr lang="en-GB" b="1" dirty="0"/>
              <a:t>P</a:t>
            </a:r>
            <a:r>
              <a:rPr lang="en-GB" dirty="0"/>
              <a:t> </a:t>
            </a:r>
            <a:r>
              <a:rPr lang="en-GB" dirty="0">
                <a:latin typeface="Symbol"/>
                <a:sym typeface="Symbol"/>
              </a:rPr>
              <a:t>=</a:t>
            </a:r>
            <a:r>
              <a:rPr lang="en-GB" dirty="0"/>
              <a:t> </a:t>
            </a:r>
            <a:r>
              <a:rPr lang="en-GB" b="1" dirty="0"/>
              <a:t>NP </a:t>
            </a:r>
            <a:r>
              <a:rPr lang="en-GB" dirty="0"/>
              <a:t>or </a:t>
            </a:r>
            <a:r>
              <a:rPr lang="en-GB" b="1" dirty="0"/>
              <a:t>P</a:t>
            </a:r>
            <a:r>
              <a:rPr lang="en-GB" dirty="0"/>
              <a:t> </a:t>
            </a:r>
            <a:r>
              <a:rPr lang="en-GB" dirty="0">
                <a:latin typeface="Symbol"/>
                <a:sym typeface="Symbol"/>
              </a:rPr>
              <a:t></a:t>
            </a:r>
            <a:r>
              <a:rPr lang="en-GB" dirty="0"/>
              <a:t> </a:t>
            </a:r>
            <a:r>
              <a:rPr lang="en-GB" b="1" dirty="0"/>
              <a:t>NP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Therefore, we do not know whether there are problems in </a:t>
            </a:r>
            <a:r>
              <a:rPr lang="en-GB" b="1" dirty="0"/>
              <a:t>NP</a:t>
            </a:r>
            <a:r>
              <a:rPr lang="en-GB" dirty="0"/>
              <a:t> without polynomial-time algorithms.</a:t>
            </a:r>
          </a:p>
          <a:p>
            <a:pPr lvl="1"/>
            <a:r>
              <a:rPr lang="en-GB" dirty="0"/>
              <a:t>But we expect that </a:t>
            </a:r>
            <a:r>
              <a:rPr lang="en-GB" b="1" dirty="0"/>
              <a:t>P</a:t>
            </a:r>
            <a:r>
              <a:rPr lang="en-GB" dirty="0"/>
              <a:t> </a:t>
            </a:r>
            <a:r>
              <a:rPr lang="en-GB" dirty="0">
                <a:latin typeface="Symbol"/>
                <a:sym typeface="Symbol"/>
              </a:rPr>
              <a:t></a:t>
            </a:r>
            <a:r>
              <a:rPr lang="en-GB" dirty="0"/>
              <a:t> </a:t>
            </a:r>
            <a:r>
              <a:rPr lang="en-GB" b="1" dirty="0"/>
              <a:t>NP</a:t>
            </a:r>
            <a:r>
              <a:rPr lang="en-GB" dirty="0"/>
              <a:t>, and thus that some problem in </a:t>
            </a:r>
            <a:r>
              <a:rPr lang="en-GB" b="1" dirty="0"/>
              <a:t>NP</a:t>
            </a:r>
            <a:r>
              <a:rPr lang="en-GB" dirty="0"/>
              <a:t> do not have polynomial-time algorithms.</a:t>
            </a:r>
          </a:p>
          <a:p>
            <a:pPr lvl="1"/>
            <a:endParaRPr lang="en-GB" dirty="0"/>
          </a:p>
          <a:p>
            <a:r>
              <a:rPr lang="en-GB" dirty="0"/>
              <a:t>We have been able to prove that if some problems have polynomial-time algorithms solving them, then all problems in </a:t>
            </a:r>
            <a:r>
              <a:rPr lang="en-GB" b="1" dirty="0"/>
              <a:t>NP</a:t>
            </a:r>
            <a:r>
              <a:rPr lang="en-GB" dirty="0"/>
              <a:t> have polynomial-time algorithms.</a:t>
            </a:r>
          </a:p>
          <a:p>
            <a:pPr lvl="1"/>
            <a:r>
              <a:rPr lang="en-GB" dirty="0"/>
              <a:t>These problems are called </a:t>
            </a:r>
            <a:r>
              <a:rPr lang="en-GB" b="1" dirty="0"/>
              <a:t>NP</a:t>
            </a:r>
            <a:r>
              <a:rPr lang="en-GB" dirty="0"/>
              <a:t>-complete.</a:t>
            </a:r>
          </a:p>
          <a:p>
            <a:pPr lvl="1"/>
            <a:endParaRPr lang="en-GB" dirty="0"/>
          </a:p>
          <a:p>
            <a:r>
              <a:rPr lang="en-GB" dirty="0"/>
              <a:t>Cook-Levin Theorem: Satisfiability is </a:t>
            </a:r>
            <a:r>
              <a:rPr lang="en-GB" b="1" dirty="0"/>
              <a:t>NP</a:t>
            </a:r>
            <a:r>
              <a:rPr lang="en-GB" dirty="0"/>
              <a:t>-complete.</a:t>
            </a:r>
          </a:p>
          <a:p>
            <a:pPr lvl="1"/>
            <a:r>
              <a:rPr lang="en-GB" dirty="0"/>
              <a:t>Polynomial-time reductions prove other problems to be </a:t>
            </a:r>
            <a:r>
              <a:rPr lang="en-GB" b="1" dirty="0"/>
              <a:t>NP</a:t>
            </a:r>
            <a:r>
              <a:rPr lang="en-GB" dirty="0"/>
              <a:t>-complete as well.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Conditional non-existence proofs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592888" cy="4336504"/>
          </a:xfrm>
        </p:spPr>
        <p:txBody>
          <a:bodyPr/>
          <a:lstStyle/>
          <a:p>
            <a:r>
              <a:rPr lang="en-GB" dirty="0"/>
              <a:t>Proving a problem to be </a:t>
            </a:r>
            <a:r>
              <a:rPr lang="en-GB" b="1" dirty="0"/>
              <a:t>NP</a:t>
            </a:r>
            <a:r>
              <a:rPr lang="en-GB" dirty="0"/>
              <a:t>-complete.</a:t>
            </a:r>
          </a:p>
          <a:p>
            <a:pPr lvl="1"/>
            <a:r>
              <a:rPr lang="en-GB" dirty="0"/>
              <a:t>Does not prove that no polynomial-time algorithm exists for the problem.</a:t>
            </a:r>
          </a:p>
          <a:p>
            <a:pPr lvl="1"/>
            <a:r>
              <a:rPr lang="en-GB" dirty="0"/>
              <a:t>Does prove that: if </a:t>
            </a:r>
            <a:r>
              <a:rPr lang="en-GB" b="1" dirty="0"/>
              <a:t>P</a:t>
            </a:r>
            <a:r>
              <a:rPr lang="en-GB" dirty="0"/>
              <a:t> </a:t>
            </a:r>
            <a:r>
              <a:rPr lang="en-GB" dirty="0">
                <a:latin typeface="Symbol"/>
                <a:sym typeface="Symbol"/>
              </a:rPr>
              <a:t></a:t>
            </a:r>
            <a:r>
              <a:rPr lang="en-GB" dirty="0"/>
              <a:t> </a:t>
            </a:r>
            <a:r>
              <a:rPr lang="en-GB" b="1" dirty="0"/>
              <a:t>NP</a:t>
            </a:r>
            <a:r>
              <a:rPr lang="en-GB" dirty="0"/>
              <a:t>, then no polynomial-time algorithm exists for the problem.</a:t>
            </a:r>
            <a:endParaRPr lang="en-GB" sz="1000" dirty="0"/>
          </a:p>
          <a:p>
            <a:r>
              <a:rPr lang="en-GB" dirty="0"/>
              <a:t>This is a </a:t>
            </a:r>
            <a:r>
              <a:rPr lang="en-GB" b="1" dirty="0">
                <a:solidFill>
                  <a:srgbClr val="C00000"/>
                </a:solidFill>
              </a:rPr>
              <a:t>conditional non-existence proof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If a complexity-theoretic assumption holds, then some algorithm cannot exist.</a:t>
            </a:r>
          </a:p>
          <a:p>
            <a:pPr lvl="1"/>
            <a:r>
              <a:rPr lang="en-GB" dirty="0"/>
              <a:t>We have seen some examples when considering approximation algorithms: if </a:t>
            </a:r>
            <a:r>
              <a:rPr lang="en-GB" b="1" dirty="0"/>
              <a:t>P</a:t>
            </a:r>
            <a:r>
              <a:rPr lang="en-GB" dirty="0"/>
              <a:t> </a:t>
            </a:r>
            <a:r>
              <a:rPr lang="en-GB" dirty="0">
                <a:latin typeface="Symbol"/>
                <a:sym typeface="Symbol"/>
              </a:rPr>
              <a:t></a:t>
            </a:r>
            <a:r>
              <a:rPr lang="en-GB" dirty="0"/>
              <a:t> </a:t>
            </a:r>
            <a:r>
              <a:rPr lang="en-GB" b="1" dirty="0"/>
              <a:t>NP</a:t>
            </a:r>
            <a:r>
              <a:rPr lang="en-GB" dirty="0"/>
              <a:t>, then some approximation algorithms cannot exist. </a:t>
            </a:r>
          </a:p>
          <a:p>
            <a:r>
              <a:rPr lang="en-GB" dirty="0"/>
              <a:t>Conditional non-existence proofs do not prove that some type of algorithm does not exist.</a:t>
            </a:r>
          </a:p>
          <a:p>
            <a:pPr lvl="1"/>
            <a:r>
              <a:rPr lang="en-GB" dirty="0"/>
              <a:t>Only that it has huge scientific consequences if one would exists.</a:t>
            </a:r>
          </a:p>
          <a:p>
            <a:pPr lvl="1"/>
            <a:r>
              <a:rPr lang="en-GB" dirty="0"/>
              <a:t>And very likely requires deep new insights in complexity theory.</a:t>
            </a:r>
          </a:p>
          <a:p>
            <a:pPr lvl="1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2" y="4406900"/>
            <a:ext cx="8421688" cy="1362075"/>
          </a:xfrm>
        </p:spPr>
        <p:txBody>
          <a:bodyPr/>
          <a:lstStyle/>
          <a:p>
            <a:r>
              <a:rPr lang="en-GB" dirty="0"/>
              <a:t>Parameterised complexity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Parameterised</a:t>
            </a:r>
            <a:r>
              <a:rPr lang="en-US" dirty="0"/>
              <a:t> Complexity </a:t>
            </a:r>
            <a:r>
              <a:rPr lang="en-GB" dirty="0"/>
              <a:t>– Algorithms and Networks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Parameterised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592888" cy="3962400"/>
          </a:xfrm>
        </p:spPr>
        <p:txBody>
          <a:bodyPr/>
          <a:lstStyle/>
          <a:p>
            <a:r>
              <a:rPr lang="en-GB" dirty="0"/>
              <a:t>In parameterised complexity, we consider parameterised decision problems (different from decision problems in </a:t>
            </a:r>
            <a:r>
              <a:rPr lang="en-GB" b="1" dirty="0"/>
              <a:t>NP</a:t>
            </a:r>
            <a:r>
              <a:rPr lang="en-GB" dirty="0"/>
              <a:t>):</a:t>
            </a:r>
          </a:p>
          <a:p>
            <a:pPr lvl="1"/>
            <a:r>
              <a:rPr lang="en-GB" dirty="0"/>
              <a:t>Instance (often with size denoted as n).</a:t>
            </a:r>
          </a:p>
          <a:p>
            <a:pPr lvl="1"/>
            <a:r>
              <a:rPr lang="en-GB" dirty="0"/>
              <a:t>Parameter (often a number k, but can be something else).</a:t>
            </a:r>
          </a:p>
          <a:p>
            <a:pPr lvl="1"/>
            <a:r>
              <a:rPr lang="en-GB" dirty="0"/>
              <a:t>Yes/No decision question.</a:t>
            </a:r>
          </a:p>
          <a:p>
            <a:endParaRPr lang="en-GB" dirty="0"/>
          </a:p>
          <a:p>
            <a:r>
              <a:rPr lang="en-GB" b="1" dirty="0"/>
              <a:t>FPT</a:t>
            </a:r>
            <a:r>
              <a:rPr lang="en-GB" dirty="0"/>
              <a:t>: class of parameterised problems that can be solved in O( f(k) poly(n) ) time.</a:t>
            </a:r>
          </a:p>
          <a:p>
            <a:endParaRPr lang="en-GB" dirty="0"/>
          </a:p>
          <a:p>
            <a:r>
              <a:rPr lang="en-GB" dirty="0"/>
              <a:t>What if </a:t>
            </a:r>
            <a:r>
              <a:rPr lang="en-GB" b="1" dirty="0"/>
              <a:t>P</a:t>
            </a:r>
            <a:r>
              <a:rPr lang="en-GB" dirty="0"/>
              <a:t> = </a:t>
            </a:r>
            <a:r>
              <a:rPr lang="en-GB" b="1" dirty="0"/>
              <a:t>NP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What about </a:t>
            </a:r>
            <a:r>
              <a:rPr lang="en-GB" b="1" dirty="0"/>
              <a:t>FPT</a:t>
            </a:r>
            <a:r>
              <a:rPr lang="en-GB" dirty="0"/>
              <a:t> then?</a:t>
            </a:r>
          </a:p>
          <a:p>
            <a:endParaRPr lang="en-GB" dirty="0"/>
          </a:p>
          <a:p>
            <a:pPr>
              <a:buNone/>
            </a:pPr>
            <a:endParaRPr lang="en-GB" dirty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Parameterised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592888" cy="4192488"/>
          </a:xfrm>
        </p:spPr>
        <p:txBody>
          <a:bodyPr/>
          <a:lstStyle/>
          <a:p>
            <a:r>
              <a:rPr lang="en-GB" dirty="0"/>
              <a:t>Parameterised complexity classes:</a:t>
            </a:r>
          </a:p>
          <a:p>
            <a:pPr lvl="1"/>
            <a:r>
              <a:rPr lang="en-GB" b="1" dirty="0"/>
              <a:t>FPT</a:t>
            </a:r>
            <a:r>
              <a:rPr lang="en-GB" dirty="0"/>
              <a:t>.</a:t>
            </a:r>
          </a:p>
          <a:p>
            <a:pPr lvl="1"/>
            <a:r>
              <a:rPr lang="en-GB" b="1" dirty="0"/>
              <a:t>W[1]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µ</a:t>
            </a:r>
            <a:r>
              <a:rPr lang="en-GB" dirty="0"/>
              <a:t> </a:t>
            </a:r>
            <a:r>
              <a:rPr lang="en-GB" b="1" dirty="0"/>
              <a:t>W[2]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µ</a:t>
            </a:r>
            <a:r>
              <a:rPr lang="en-GB" dirty="0"/>
              <a:t> ....</a:t>
            </a:r>
          </a:p>
          <a:p>
            <a:pPr lvl="1"/>
            <a:r>
              <a:rPr lang="en-GB" b="1" dirty="0"/>
              <a:t>XP</a:t>
            </a:r>
            <a:r>
              <a:rPr lang="en-GB" dirty="0"/>
              <a:t>.</a:t>
            </a:r>
          </a:p>
          <a:p>
            <a:r>
              <a:rPr lang="en-GB" b="1" dirty="0"/>
              <a:t>FPT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µ</a:t>
            </a:r>
            <a:r>
              <a:rPr lang="en-GB" dirty="0"/>
              <a:t> </a:t>
            </a:r>
            <a:r>
              <a:rPr lang="en-GB" b="1" dirty="0"/>
              <a:t>W[1]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µ</a:t>
            </a:r>
            <a:r>
              <a:rPr lang="en-GB" dirty="0"/>
              <a:t> </a:t>
            </a:r>
            <a:r>
              <a:rPr lang="en-GB" b="1" dirty="0"/>
              <a:t>W[2]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µ </a:t>
            </a:r>
            <a:r>
              <a:rPr lang="en-GB" dirty="0"/>
              <a:t>... </a:t>
            </a:r>
            <a:r>
              <a:rPr lang="en-GB" dirty="0">
                <a:latin typeface="cmsy10"/>
              </a:rPr>
              <a:t>µ</a:t>
            </a:r>
            <a:r>
              <a:rPr lang="en-GB" dirty="0"/>
              <a:t> </a:t>
            </a:r>
            <a:r>
              <a:rPr lang="en-GB" b="1" dirty="0"/>
              <a:t>XP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dirty="0"/>
              <a:t>FPT</a:t>
            </a:r>
            <a:r>
              <a:rPr lang="en-GB" dirty="0"/>
              <a:t> we know.</a:t>
            </a:r>
          </a:p>
          <a:p>
            <a:r>
              <a:rPr lang="en-GB" b="1" dirty="0"/>
              <a:t>XP</a:t>
            </a:r>
            <a:r>
              <a:rPr lang="en-GB" dirty="0"/>
              <a:t>: class of parameterised problems that can be solved in O( </a:t>
            </a:r>
            <a:r>
              <a:rPr lang="en-GB" dirty="0" err="1"/>
              <a:t>n</a:t>
            </a:r>
            <a:r>
              <a:rPr lang="en-GB" baseline="30000" dirty="0" err="1"/>
              <a:t>f</a:t>
            </a:r>
            <a:r>
              <a:rPr lang="en-GB" baseline="30000" dirty="0"/>
              <a:t>(k)</a:t>
            </a:r>
            <a:r>
              <a:rPr lang="en-GB" dirty="0"/>
              <a:t> ) time.</a:t>
            </a:r>
          </a:p>
          <a:p>
            <a:r>
              <a:rPr lang="en-GB" b="1" dirty="0"/>
              <a:t>W</a:t>
            </a:r>
            <a:r>
              <a:rPr lang="en-GB" dirty="0"/>
              <a:t>[</a:t>
            </a:r>
            <a:r>
              <a:rPr lang="en-GB" dirty="0" err="1"/>
              <a:t>i</a:t>
            </a:r>
            <a:r>
              <a:rPr lang="en-GB" dirty="0"/>
              <a:t>] classes we will not formally define (see book on Parameterised Complexity if you are interested).</a:t>
            </a:r>
          </a:p>
          <a:p>
            <a:pPr lvl="1"/>
            <a:r>
              <a:rPr lang="en-GB" dirty="0"/>
              <a:t>However, we will use that some problems are W[1]-hard.</a:t>
            </a:r>
          </a:p>
          <a:p>
            <a:pPr lvl="1"/>
            <a:r>
              <a:rPr lang="en-GB" dirty="0"/>
              <a:t>We will get back to this – we need some theory first.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Parameterised reductions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592888" cy="4192488"/>
          </a:xfrm>
        </p:spPr>
        <p:txBody>
          <a:bodyPr/>
          <a:lstStyle/>
          <a:p>
            <a:r>
              <a:rPr lang="en-GB" dirty="0"/>
              <a:t>In classical complexity polynomial-time reductions from problem A to problem B prove that:</a:t>
            </a:r>
          </a:p>
          <a:p>
            <a:pPr lvl="1"/>
            <a:r>
              <a:rPr lang="en-GB" dirty="0"/>
              <a:t>If B is polynomial-time solvable, then A is.</a:t>
            </a:r>
          </a:p>
          <a:p>
            <a:pPr lvl="1"/>
            <a:r>
              <a:rPr lang="en-GB" dirty="0"/>
              <a:t>But also, if A is most-likely not in </a:t>
            </a:r>
            <a:r>
              <a:rPr lang="en-GB" b="1" dirty="0"/>
              <a:t>P</a:t>
            </a:r>
            <a:r>
              <a:rPr lang="en-GB" dirty="0"/>
              <a:t>, then so is B most likely.</a:t>
            </a:r>
          </a:p>
          <a:p>
            <a:pPr lvl="1"/>
            <a:endParaRPr lang="en-GB" dirty="0"/>
          </a:p>
          <a:p>
            <a:r>
              <a:rPr lang="en-GB" dirty="0"/>
              <a:t>In parameterised complexity, we have parameterised reductions from problem A to problem B.</a:t>
            </a:r>
          </a:p>
          <a:p>
            <a:pPr lvl="1"/>
            <a:r>
              <a:rPr lang="en-GB" dirty="0"/>
              <a:t>If B is in </a:t>
            </a:r>
            <a:r>
              <a:rPr lang="en-GB" b="1" dirty="0"/>
              <a:t>FPT</a:t>
            </a:r>
            <a:r>
              <a:rPr lang="en-GB" dirty="0"/>
              <a:t>, then so is A.</a:t>
            </a:r>
          </a:p>
          <a:p>
            <a:pPr lvl="1"/>
            <a:r>
              <a:rPr lang="en-GB" dirty="0"/>
              <a:t>And: if A is not in </a:t>
            </a:r>
            <a:r>
              <a:rPr lang="en-GB" b="1" dirty="0"/>
              <a:t>FPT</a:t>
            </a:r>
            <a:r>
              <a:rPr lang="en-GB" dirty="0"/>
              <a:t> (under some assumption that we get to later), then B is not either.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Parameterised reduction: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391400" cy="4192488"/>
          </a:xfrm>
        </p:spPr>
        <p:txBody>
          <a:bodyPr/>
          <a:lstStyle/>
          <a:p>
            <a:r>
              <a:rPr lang="en-GB" dirty="0"/>
              <a:t>A </a:t>
            </a:r>
            <a:r>
              <a:rPr lang="en-GB" dirty="0">
                <a:solidFill>
                  <a:srgbClr val="C00000"/>
                </a:solidFill>
              </a:rPr>
              <a:t>parameterised reduction </a:t>
            </a:r>
            <a:r>
              <a:rPr lang="en-GB" dirty="0"/>
              <a:t>from parameterised problem A to parameterised problem B is an algorithm R that given an instance and parameter (</a:t>
            </a:r>
            <a:r>
              <a:rPr lang="en-GB" dirty="0" err="1"/>
              <a:t>x,k</a:t>
            </a:r>
            <a:r>
              <a:rPr lang="en-GB" dirty="0"/>
              <a:t>) of A outputs and instance and parameter (</a:t>
            </a:r>
            <a:r>
              <a:rPr lang="en-GB" dirty="0" err="1"/>
              <a:t>x’,k</a:t>
            </a:r>
            <a:r>
              <a:rPr lang="en-GB" dirty="0"/>
              <a:t>’) of B such that: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(</a:t>
            </a:r>
            <a:r>
              <a:rPr lang="en-GB" dirty="0" err="1"/>
              <a:t>x,k</a:t>
            </a:r>
            <a:r>
              <a:rPr lang="en-GB" dirty="0"/>
              <a:t>) is a yes-instance, if and only if, (</a:t>
            </a:r>
            <a:r>
              <a:rPr lang="en-GB" dirty="0" err="1"/>
              <a:t>x’,k</a:t>
            </a:r>
            <a:r>
              <a:rPr lang="en-GB" dirty="0"/>
              <a:t>’) is a yes instance.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k‘ </a:t>
            </a:r>
            <a:r>
              <a:rPr lang="en-GB" dirty="0">
                <a:latin typeface="cmsy10"/>
              </a:rPr>
              <a:t>·</a:t>
            </a:r>
            <a:r>
              <a:rPr lang="en-GB" dirty="0"/>
              <a:t> g(k) for some computable function g.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R runs in f(k)poly(x) time, for some computable function f.</a:t>
            </a:r>
          </a:p>
          <a:p>
            <a:pPr marL="800100" lvl="1" indent="-342900">
              <a:buFont typeface="+mj-lt"/>
              <a:buAutoNum type="arabicPeriod"/>
            </a:pPr>
            <a:endParaRPr lang="en-GB" dirty="0"/>
          </a:p>
          <a:p>
            <a:pPr marL="400050">
              <a:buNone/>
            </a:pPr>
            <a:r>
              <a:rPr lang="en-GB" b="1" dirty="0"/>
              <a:t>Lemma </a:t>
            </a:r>
            <a:r>
              <a:rPr lang="en-GB" dirty="0"/>
              <a:t>(parameterised reductions work as intended):</a:t>
            </a:r>
          </a:p>
          <a:p>
            <a:pPr marL="400050"/>
            <a:r>
              <a:rPr lang="en-GB" dirty="0"/>
              <a:t>If B is in </a:t>
            </a:r>
            <a:r>
              <a:rPr lang="en-GB" b="1" dirty="0"/>
              <a:t>FPT </a:t>
            </a:r>
            <a:r>
              <a:rPr lang="en-GB" dirty="0"/>
              <a:t>and there is a parameterised reduction from A to B, then A is in </a:t>
            </a:r>
            <a:r>
              <a:rPr lang="en-GB" b="1" dirty="0"/>
              <a:t>FPT</a:t>
            </a:r>
            <a:r>
              <a:rPr lang="en-GB" dirty="0"/>
              <a:t>.</a:t>
            </a:r>
          </a:p>
          <a:p>
            <a:pPr marL="800100" lvl="1"/>
            <a:r>
              <a:rPr lang="en-GB" dirty="0"/>
              <a:t>Proof on blackboard, good exercise to do yourself.</a:t>
            </a:r>
          </a:p>
          <a:p>
            <a:pPr marL="800100" lvl="1"/>
            <a:r>
              <a:rPr lang="en-GB" dirty="0"/>
              <a:t>Use that if you run a reduction R on an instance (</a:t>
            </a:r>
            <a:r>
              <a:rPr lang="en-GB" dirty="0" err="1"/>
              <a:t>x,k</a:t>
            </a:r>
            <a:r>
              <a:rPr lang="en-GB" dirty="0"/>
              <a:t>) of A, then the size of the result is at most the running time of R.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Parameterised clique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Clique</a:t>
            </a:r>
          </a:p>
          <a:p>
            <a:pPr lvl="1"/>
            <a:r>
              <a:rPr lang="en-GB" u="sng" dirty="0"/>
              <a:t>Instance</a:t>
            </a:r>
            <a:r>
              <a:rPr lang="en-GB" dirty="0"/>
              <a:t>: graph G=(V,E).</a:t>
            </a:r>
          </a:p>
          <a:p>
            <a:pPr lvl="1"/>
            <a:r>
              <a:rPr lang="en-GB" u="sng" dirty="0"/>
              <a:t>Parameter</a:t>
            </a:r>
            <a:r>
              <a:rPr lang="en-GB" dirty="0"/>
              <a:t>: integer k.</a:t>
            </a:r>
          </a:p>
          <a:p>
            <a:pPr lvl="1"/>
            <a:r>
              <a:rPr lang="en-GB" u="sng" dirty="0"/>
              <a:t>Question</a:t>
            </a:r>
            <a:r>
              <a:rPr lang="en-GB" dirty="0"/>
              <a:t>: does G have a clique of size at least k?</a:t>
            </a:r>
          </a:p>
          <a:p>
            <a:pPr lvl="1"/>
            <a:endParaRPr lang="en-GB" dirty="0"/>
          </a:p>
          <a:p>
            <a:r>
              <a:rPr lang="en-GB" dirty="0"/>
              <a:t>In parameterised complexity, we often work with the assumption that clique is </a:t>
            </a:r>
            <a:r>
              <a:rPr lang="en-GB" u="sng" dirty="0">
                <a:solidFill>
                  <a:srgbClr val="C00000"/>
                </a:solidFill>
              </a:rPr>
              <a:t>not</a:t>
            </a:r>
            <a:r>
              <a:rPr lang="en-GB" dirty="0"/>
              <a:t> in </a:t>
            </a:r>
            <a:r>
              <a:rPr lang="en-GB" b="1" dirty="0"/>
              <a:t>FPT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This assumption is equivalent to: </a:t>
            </a:r>
            <a:r>
              <a:rPr lang="en-GB" b="1" dirty="0"/>
              <a:t>FPT</a:t>
            </a:r>
            <a:r>
              <a:rPr lang="en-GB" dirty="0"/>
              <a:t> </a:t>
            </a:r>
            <a:r>
              <a:rPr lang="en-GB" dirty="0">
                <a:latin typeface="Symbol"/>
                <a:sym typeface="Symbol"/>
              </a:rPr>
              <a:t></a:t>
            </a:r>
            <a:r>
              <a:rPr lang="en-GB" dirty="0"/>
              <a:t> </a:t>
            </a:r>
            <a:r>
              <a:rPr lang="en-GB" b="1" dirty="0"/>
              <a:t>W[1]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This is true because clique is W[1]-complete.</a:t>
            </a:r>
          </a:p>
          <a:p>
            <a:pPr lvl="1"/>
            <a:r>
              <a:rPr lang="en-GB" dirty="0"/>
              <a:t>I want to omit the (rather technical) definition of the W[</a:t>
            </a:r>
            <a:r>
              <a:rPr lang="en-GB" dirty="0" err="1"/>
              <a:t>i</a:t>
            </a:r>
            <a:r>
              <a:rPr lang="en-GB" dirty="0"/>
              <a:t>] classes. </a:t>
            </a:r>
            <a:r>
              <a:rPr lang="en-GB" b="1" dirty="0"/>
              <a:t>FPT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µ</a:t>
            </a:r>
            <a:r>
              <a:rPr lang="en-GB" dirty="0"/>
              <a:t> </a:t>
            </a:r>
            <a:r>
              <a:rPr lang="en-GB" b="1" dirty="0"/>
              <a:t>W[1]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µ</a:t>
            </a:r>
            <a:r>
              <a:rPr lang="en-GB" dirty="0"/>
              <a:t> </a:t>
            </a:r>
            <a:r>
              <a:rPr lang="en-GB" b="1" dirty="0"/>
              <a:t>W[2]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µ </a:t>
            </a:r>
            <a:r>
              <a:rPr lang="en-GB" dirty="0"/>
              <a:t>... </a:t>
            </a:r>
            <a:r>
              <a:rPr lang="en-GB" dirty="0">
                <a:latin typeface="cmsy10"/>
              </a:rPr>
              <a:t>µ</a:t>
            </a:r>
            <a:r>
              <a:rPr lang="en-GB" dirty="0"/>
              <a:t> </a:t>
            </a:r>
            <a:r>
              <a:rPr lang="en-GB" b="1" dirty="0"/>
              <a:t>XP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I do want you to know that these two statements are equivalent.</a:t>
            </a:r>
          </a:p>
          <a:p>
            <a:pPr lvl="1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Parameterised complexity and conditional non-existence proofs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 </a:t>
            </a:r>
            <a:r>
              <a:rPr lang="en-GB" b="1" dirty="0"/>
              <a:t>FPT</a:t>
            </a:r>
            <a:r>
              <a:rPr lang="en-GB" dirty="0"/>
              <a:t> </a:t>
            </a:r>
            <a:r>
              <a:rPr lang="en-GB" dirty="0">
                <a:latin typeface="Symbol"/>
                <a:sym typeface="Symbol"/>
              </a:rPr>
              <a:t></a:t>
            </a:r>
            <a:r>
              <a:rPr lang="en-GB" dirty="0"/>
              <a:t> </a:t>
            </a:r>
            <a:r>
              <a:rPr lang="en-GB" b="1" dirty="0"/>
              <a:t>W[1] </a:t>
            </a:r>
            <a:r>
              <a:rPr lang="en-GB" dirty="0"/>
              <a:t>is equivalent to clique not being in </a:t>
            </a:r>
            <a:r>
              <a:rPr lang="en-GB" b="1" dirty="0"/>
              <a:t>FPT</a:t>
            </a:r>
            <a:r>
              <a:rPr lang="en-GB" dirty="0"/>
              <a:t>.</a:t>
            </a:r>
          </a:p>
          <a:p>
            <a:endParaRPr lang="en-GB" b="1" dirty="0"/>
          </a:p>
          <a:p>
            <a:r>
              <a:rPr lang="en-GB" b="1" dirty="0"/>
              <a:t>FPT</a:t>
            </a:r>
            <a:r>
              <a:rPr lang="en-GB" dirty="0"/>
              <a:t> </a:t>
            </a:r>
            <a:r>
              <a:rPr lang="en-GB" dirty="0">
                <a:latin typeface="Symbol"/>
                <a:sym typeface="Symbol"/>
              </a:rPr>
              <a:t></a:t>
            </a:r>
            <a:r>
              <a:rPr lang="en-GB" dirty="0"/>
              <a:t> </a:t>
            </a:r>
            <a:r>
              <a:rPr lang="en-GB" b="1" dirty="0"/>
              <a:t>W[1]</a:t>
            </a:r>
            <a:r>
              <a:rPr lang="en-GB" dirty="0"/>
              <a:t> is an often-used assumption in parameterised complexity.</a:t>
            </a:r>
          </a:p>
          <a:p>
            <a:pPr lvl="1"/>
            <a:r>
              <a:rPr lang="en-GB" dirty="0"/>
              <a:t>How does this relate to </a:t>
            </a:r>
            <a:r>
              <a:rPr lang="en-GB" b="1" dirty="0"/>
              <a:t>P</a:t>
            </a:r>
            <a:r>
              <a:rPr lang="en-GB" dirty="0"/>
              <a:t> </a:t>
            </a:r>
            <a:r>
              <a:rPr lang="en-GB" dirty="0">
                <a:latin typeface="Symbol"/>
                <a:sym typeface="Symbol"/>
              </a:rPr>
              <a:t></a:t>
            </a:r>
            <a:r>
              <a:rPr lang="en-GB" dirty="0"/>
              <a:t> </a:t>
            </a:r>
            <a:r>
              <a:rPr lang="en-GB" b="1" dirty="0"/>
              <a:t>NP</a:t>
            </a:r>
            <a:r>
              <a:rPr lang="en-GB" dirty="0"/>
              <a:t>? Is it stronger? It is weaker?</a:t>
            </a:r>
          </a:p>
          <a:p>
            <a:pPr lvl="1"/>
            <a:endParaRPr lang="en-GB" dirty="0"/>
          </a:p>
          <a:p>
            <a:r>
              <a:rPr lang="en-GB" b="1" dirty="0"/>
              <a:t>Independent Set</a:t>
            </a:r>
          </a:p>
          <a:p>
            <a:pPr lvl="1"/>
            <a:r>
              <a:rPr lang="en-GB" u="sng" dirty="0"/>
              <a:t>Instance</a:t>
            </a:r>
            <a:r>
              <a:rPr lang="en-GB" dirty="0"/>
              <a:t>: graph G=(V,E).</a:t>
            </a:r>
          </a:p>
          <a:p>
            <a:pPr lvl="1"/>
            <a:r>
              <a:rPr lang="en-GB" u="sng" dirty="0"/>
              <a:t>Parameter</a:t>
            </a:r>
            <a:r>
              <a:rPr lang="en-GB" dirty="0"/>
              <a:t>: integer k.</a:t>
            </a:r>
          </a:p>
          <a:p>
            <a:pPr lvl="1"/>
            <a:r>
              <a:rPr lang="en-GB" u="sng" dirty="0"/>
              <a:t>Question</a:t>
            </a:r>
            <a:r>
              <a:rPr lang="en-GB" dirty="0"/>
              <a:t>: does G have an independent set of size at least k?</a:t>
            </a:r>
          </a:p>
          <a:p>
            <a:endParaRPr lang="en-GB" dirty="0"/>
          </a:p>
          <a:p>
            <a:r>
              <a:rPr lang="en-GB" dirty="0"/>
              <a:t>Assuming </a:t>
            </a:r>
            <a:r>
              <a:rPr lang="en-GB" b="1" dirty="0"/>
              <a:t>FPT</a:t>
            </a:r>
            <a:r>
              <a:rPr lang="en-GB" dirty="0"/>
              <a:t> </a:t>
            </a:r>
            <a:r>
              <a:rPr lang="en-GB" dirty="0">
                <a:latin typeface="Symbol"/>
                <a:sym typeface="Symbol"/>
              </a:rPr>
              <a:t></a:t>
            </a:r>
            <a:r>
              <a:rPr lang="en-GB" dirty="0"/>
              <a:t> </a:t>
            </a:r>
            <a:r>
              <a:rPr lang="en-GB" b="1" dirty="0"/>
              <a:t>W[1]</a:t>
            </a:r>
            <a:r>
              <a:rPr lang="en-GB" dirty="0"/>
              <a:t>, what can we say about the parameterised version of independent set?</a:t>
            </a:r>
          </a:p>
          <a:p>
            <a:pPr lvl="1"/>
            <a:endParaRPr lang="en-GB" dirty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Independent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Assuming </a:t>
            </a:r>
            <a:r>
              <a:rPr lang="en-GB" b="1" dirty="0"/>
              <a:t>FPT</a:t>
            </a:r>
            <a:r>
              <a:rPr lang="en-GB" dirty="0"/>
              <a:t> </a:t>
            </a:r>
            <a:r>
              <a:rPr lang="en-GB" dirty="0">
                <a:latin typeface="Symbol"/>
                <a:sym typeface="Symbol"/>
              </a:rPr>
              <a:t></a:t>
            </a:r>
            <a:r>
              <a:rPr lang="en-GB" dirty="0"/>
              <a:t> </a:t>
            </a:r>
            <a:r>
              <a:rPr lang="en-GB" b="1" dirty="0"/>
              <a:t>W[1]</a:t>
            </a:r>
            <a:r>
              <a:rPr lang="en-GB" dirty="0"/>
              <a:t>, what can we say about the parameterised version of independent set?</a:t>
            </a:r>
          </a:p>
          <a:p>
            <a:pPr lvl="1"/>
            <a:r>
              <a:rPr lang="en-GB" dirty="0"/>
              <a:t>Let us prove that assuming </a:t>
            </a:r>
            <a:r>
              <a:rPr lang="en-GB" b="1" dirty="0"/>
              <a:t>FPT</a:t>
            </a:r>
            <a:r>
              <a:rPr lang="en-GB" dirty="0"/>
              <a:t> </a:t>
            </a:r>
            <a:r>
              <a:rPr lang="en-GB" dirty="0">
                <a:latin typeface="Symbol"/>
                <a:sym typeface="Symbol"/>
              </a:rPr>
              <a:t></a:t>
            </a:r>
            <a:r>
              <a:rPr lang="en-GB" dirty="0"/>
              <a:t> </a:t>
            </a:r>
            <a:r>
              <a:rPr lang="en-GB" b="1" dirty="0"/>
              <a:t>W[1]</a:t>
            </a:r>
            <a:r>
              <a:rPr lang="en-GB" dirty="0"/>
              <a:t>, independent set is not in FPT by giving a parameterised reduction.</a:t>
            </a:r>
          </a:p>
          <a:p>
            <a:r>
              <a:rPr lang="en-GB" dirty="0"/>
              <a:t>Recall:</a:t>
            </a:r>
          </a:p>
          <a:p>
            <a:pPr lvl="1"/>
            <a:r>
              <a:rPr lang="en-GB" dirty="0"/>
              <a:t>A clique in G is equivalent to an independent set in the complement of G.</a:t>
            </a:r>
          </a:p>
          <a:p>
            <a:pPr lvl="1"/>
            <a:r>
              <a:rPr lang="en-GB" dirty="0"/>
              <a:t>A </a:t>
            </a:r>
            <a:r>
              <a:rPr lang="en-GB" dirty="0">
                <a:solidFill>
                  <a:srgbClr val="C00000"/>
                </a:solidFill>
              </a:rPr>
              <a:t>parameterised reduction </a:t>
            </a:r>
            <a:r>
              <a:rPr lang="en-GB" dirty="0"/>
              <a:t>from problem A to problem B is an algorithm R that given an instance and parameter (</a:t>
            </a:r>
            <a:r>
              <a:rPr lang="en-GB" dirty="0" err="1"/>
              <a:t>x,k</a:t>
            </a:r>
            <a:r>
              <a:rPr lang="en-GB" dirty="0"/>
              <a:t>) of A outputs and instance and parameter (</a:t>
            </a:r>
            <a:r>
              <a:rPr lang="en-GB" dirty="0" err="1"/>
              <a:t>x’,k</a:t>
            </a:r>
            <a:r>
              <a:rPr lang="en-GB" dirty="0"/>
              <a:t>’) of B such that: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(</a:t>
            </a:r>
            <a:r>
              <a:rPr lang="en-GB" dirty="0" err="1"/>
              <a:t>x,k</a:t>
            </a:r>
            <a:r>
              <a:rPr lang="en-GB" dirty="0"/>
              <a:t>) is a yes-instance, if and only if, (</a:t>
            </a:r>
            <a:r>
              <a:rPr lang="en-GB" dirty="0" err="1"/>
              <a:t>x’,k</a:t>
            </a:r>
            <a:r>
              <a:rPr lang="en-GB" dirty="0"/>
              <a:t>’) is a yes instance.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k‘ </a:t>
            </a:r>
            <a:r>
              <a:rPr lang="en-GB" dirty="0">
                <a:latin typeface="cmsy10"/>
              </a:rPr>
              <a:t>·</a:t>
            </a:r>
            <a:r>
              <a:rPr lang="en-GB" dirty="0"/>
              <a:t> g(k) for some computable function g.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R runs in f(k)poly(x) time, for some computable function f.</a:t>
            </a:r>
          </a:p>
          <a:p>
            <a:pPr marL="400050"/>
            <a:r>
              <a:rPr lang="en-GB" dirty="0"/>
              <a:t>(Very simple) reduction R:</a:t>
            </a:r>
          </a:p>
          <a:p>
            <a:pPr marL="800100" lvl="1"/>
            <a:r>
              <a:rPr lang="en-GB" dirty="0"/>
              <a:t>Take the complement of the graph G, do not change k.</a:t>
            </a:r>
          </a:p>
          <a:p>
            <a:pPr marL="342900" lvl="1" indent="-342900">
              <a:buClr>
                <a:schemeClr val="hlink"/>
              </a:buClr>
              <a:buSzPct val="90000"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Vertex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772400" cy="3962400"/>
          </a:xfrm>
        </p:spPr>
        <p:txBody>
          <a:bodyPr/>
          <a:lstStyle/>
          <a:p>
            <a:r>
              <a:rPr lang="en-GB" dirty="0"/>
              <a:t>Assuming </a:t>
            </a:r>
            <a:r>
              <a:rPr lang="en-GB" b="1" dirty="0"/>
              <a:t>FPT</a:t>
            </a:r>
            <a:r>
              <a:rPr lang="en-GB" dirty="0"/>
              <a:t> </a:t>
            </a:r>
            <a:r>
              <a:rPr lang="en-GB" dirty="0">
                <a:latin typeface="Symbol"/>
                <a:sym typeface="Symbol"/>
              </a:rPr>
              <a:t></a:t>
            </a:r>
            <a:r>
              <a:rPr lang="en-GB" dirty="0"/>
              <a:t> </a:t>
            </a:r>
            <a:r>
              <a:rPr lang="en-GB" b="1" dirty="0"/>
              <a:t>W[1],</a:t>
            </a:r>
          </a:p>
          <a:p>
            <a:pPr lvl="1"/>
            <a:r>
              <a:rPr lang="en-GB" dirty="0"/>
              <a:t>Clique is not in </a:t>
            </a:r>
            <a:r>
              <a:rPr lang="en-GB" b="1" dirty="0"/>
              <a:t>FPT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Independent set is not in </a:t>
            </a:r>
            <a:r>
              <a:rPr lang="en-GB" b="1" dirty="0"/>
              <a:t>FPT</a:t>
            </a:r>
            <a:r>
              <a:rPr lang="en-GB" dirty="0"/>
              <a:t>.</a:t>
            </a:r>
          </a:p>
          <a:p>
            <a:r>
              <a:rPr lang="en-GB" dirty="0"/>
              <a:t>What about vertex cover?</a:t>
            </a:r>
          </a:p>
          <a:p>
            <a:pPr lvl="1"/>
            <a:r>
              <a:rPr lang="en-GB" dirty="0"/>
              <a:t>I is an independent set in G=(V,E), </a:t>
            </a:r>
            <a:r>
              <a:rPr lang="en-GB" dirty="0" err="1"/>
              <a:t>iff</a:t>
            </a:r>
            <a:r>
              <a:rPr lang="en-GB" dirty="0"/>
              <a:t>, V-I is a vertex cover in G.</a:t>
            </a:r>
          </a:p>
          <a:p>
            <a:pPr lvl="1"/>
            <a:endParaRPr lang="en-GB" sz="800" dirty="0"/>
          </a:p>
          <a:p>
            <a:r>
              <a:rPr lang="en-GB" b="1" dirty="0"/>
              <a:t>Vertex Cover</a:t>
            </a:r>
          </a:p>
          <a:p>
            <a:pPr lvl="1"/>
            <a:r>
              <a:rPr lang="en-GB" u="sng" dirty="0"/>
              <a:t>Instance</a:t>
            </a:r>
            <a:r>
              <a:rPr lang="en-GB" dirty="0"/>
              <a:t>: graph G=(V,E).</a:t>
            </a:r>
          </a:p>
          <a:p>
            <a:pPr lvl="1"/>
            <a:r>
              <a:rPr lang="en-GB" u="sng" dirty="0"/>
              <a:t>Parameter</a:t>
            </a:r>
            <a:r>
              <a:rPr lang="en-GB" dirty="0"/>
              <a:t>: integer k.</a:t>
            </a:r>
          </a:p>
          <a:p>
            <a:pPr lvl="1"/>
            <a:r>
              <a:rPr lang="en-GB" u="sng" dirty="0"/>
              <a:t>Question</a:t>
            </a:r>
            <a:r>
              <a:rPr lang="en-GB" dirty="0"/>
              <a:t>: does G have an vertex cover of size at most k?</a:t>
            </a:r>
          </a:p>
          <a:p>
            <a:pPr lvl="1"/>
            <a:endParaRPr lang="en-GB" sz="800" dirty="0"/>
          </a:p>
          <a:p>
            <a:r>
              <a:rPr lang="en-GB" dirty="0"/>
              <a:t>Jesper showed you already that vertex cover is </a:t>
            </a:r>
            <a:r>
              <a:rPr lang="en-GB" b="1" dirty="0"/>
              <a:t>FPT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Why does a similarly simple reduction not work?</a:t>
            </a:r>
          </a:p>
          <a:p>
            <a:pPr lvl="1"/>
            <a:r>
              <a:rPr lang="en-GB" dirty="0"/>
              <a:t>Because the parameter changes! Parameterised reductions and polynomial-time reductions are mostly different!</a:t>
            </a: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6381328" y="1624608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nl-NL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H="1">
            <a:off x="6914728" y="1700808"/>
            <a:ext cx="609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nl-NL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7524328" y="1700808"/>
            <a:ext cx="1219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nl-NL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6381328" y="1624608"/>
            <a:ext cx="1219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nl-NL"/>
          </a:p>
        </p:txBody>
      </p:sp>
      <p:sp>
        <p:nvSpPr>
          <p:cNvPr id="8" name="Oval 8"/>
          <p:cNvSpPr>
            <a:spLocks noChangeArrowheads="1"/>
          </p:cNvSpPr>
          <p:nvPr/>
        </p:nvSpPr>
        <p:spPr bwMode="auto">
          <a:xfrm>
            <a:off x="6228928" y="1472208"/>
            <a:ext cx="304800" cy="3048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altLang="en-US"/>
          </a:p>
        </p:txBody>
      </p:sp>
      <p:sp>
        <p:nvSpPr>
          <p:cNvPr id="9" name="Oval 9"/>
          <p:cNvSpPr>
            <a:spLocks noChangeArrowheads="1"/>
          </p:cNvSpPr>
          <p:nvPr/>
        </p:nvSpPr>
        <p:spPr bwMode="auto">
          <a:xfrm>
            <a:off x="7371928" y="1548408"/>
            <a:ext cx="304800" cy="304800"/>
          </a:xfrm>
          <a:prstGeom prst="ellipse">
            <a:avLst/>
          </a:prstGeom>
          <a:solidFill>
            <a:srgbClr val="C00000"/>
          </a:solidFill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altLang="en-US"/>
          </a:p>
        </p:txBody>
      </p:sp>
      <p:sp>
        <p:nvSpPr>
          <p:cNvPr id="10" name="Oval 10"/>
          <p:cNvSpPr>
            <a:spLocks noChangeArrowheads="1"/>
          </p:cNvSpPr>
          <p:nvPr/>
        </p:nvSpPr>
        <p:spPr bwMode="auto">
          <a:xfrm>
            <a:off x="6762328" y="2234208"/>
            <a:ext cx="304800" cy="304800"/>
          </a:xfrm>
          <a:prstGeom prst="ellipse">
            <a:avLst/>
          </a:prstGeom>
          <a:solidFill>
            <a:srgbClr val="C00000"/>
          </a:solidFill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altLang="en-US"/>
          </a:p>
        </p:txBody>
      </p:sp>
      <p:sp>
        <p:nvSpPr>
          <p:cNvPr id="11" name="Oval 11"/>
          <p:cNvSpPr>
            <a:spLocks noChangeArrowheads="1"/>
          </p:cNvSpPr>
          <p:nvPr/>
        </p:nvSpPr>
        <p:spPr bwMode="auto">
          <a:xfrm>
            <a:off x="8514928" y="1624608"/>
            <a:ext cx="304800" cy="3048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2" y="4406900"/>
            <a:ext cx="8421688" cy="1362075"/>
          </a:xfrm>
        </p:spPr>
        <p:txBody>
          <a:bodyPr/>
          <a:lstStyle/>
          <a:p>
            <a:r>
              <a:rPr lang="en-GB" dirty="0"/>
              <a:t>More Parameterised REDUCTIONS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Parameterised</a:t>
            </a:r>
            <a:r>
              <a:rPr lang="en-US" dirty="0"/>
              <a:t> Complexity </a:t>
            </a:r>
            <a:r>
              <a:rPr lang="en-GB" dirty="0"/>
              <a:t>– Algorithms and Networks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parameterised reductions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en-GB" dirty="0">
                <a:solidFill>
                  <a:srgbClr val="C00000"/>
                </a:solidFill>
              </a:rPr>
              <a:t>parameterised reduction </a:t>
            </a:r>
            <a:r>
              <a:rPr lang="en-GB" dirty="0"/>
              <a:t>from parameterised problem A to parameterised problem B is an algorithm R that given an instance and parameter (</a:t>
            </a:r>
            <a:r>
              <a:rPr lang="en-GB" dirty="0" err="1"/>
              <a:t>x,k</a:t>
            </a:r>
            <a:r>
              <a:rPr lang="en-GB" dirty="0"/>
              <a:t>) of A outputs and instance and parameter (</a:t>
            </a:r>
            <a:r>
              <a:rPr lang="en-GB" dirty="0" err="1"/>
              <a:t>x’,k</a:t>
            </a:r>
            <a:r>
              <a:rPr lang="en-GB" dirty="0"/>
              <a:t>’) of B such that: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(</a:t>
            </a:r>
            <a:r>
              <a:rPr lang="en-GB" dirty="0" err="1"/>
              <a:t>x,k</a:t>
            </a:r>
            <a:r>
              <a:rPr lang="en-GB" dirty="0"/>
              <a:t>) is a yes-instance, if and only if, (</a:t>
            </a:r>
            <a:r>
              <a:rPr lang="en-GB" dirty="0" err="1"/>
              <a:t>x’,k</a:t>
            </a:r>
            <a:r>
              <a:rPr lang="en-GB" dirty="0"/>
              <a:t>’) is a yes instance.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k‘ </a:t>
            </a:r>
            <a:r>
              <a:rPr lang="en-GB" dirty="0">
                <a:latin typeface="cmsy10"/>
              </a:rPr>
              <a:t>·</a:t>
            </a:r>
            <a:r>
              <a:rPr lang="en-GB" dirty="0"/>
              <a:t> g(k) for some computable function g.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R runs in f(k)poly(x) time, for some computable function f.</a:t>
            </a:r>
          </a:p>
          <a:p>
            <a:endParaRPr lang="en-GB" dirty="0"/>
          </a:p>
          <a:p>
            <a:r>
              <a:rPr lang="en-GB" dirty="0"/>
              <a:t>Next reduction will be to clique on regular graphs.</a:t>
            </a:r>
          </a:p>
          <a:p>
            <a:endParaRPr lang="en-GB" dirty="0"/>
          </a:p>
          <a:p>
            <a:r>
              <a:rPr lang="en-GB" b="1" dirty="0"/>
              <a:t>Clique on regular graphs</a:t>
            </a:r>
          </a:p>
          <a:p>
            <a:pPr lvl="1"/>
            <a:r>
              <a:rPr lang="en-GB" u="sng" dirty="0"/>
              <a:t>Instance</a:t>
            </a:r>
            <a:r>
              <a:rPr lang="en-GB" dirty="0"/>
              <a:t>: graph G=(V,E) where every vertex has degree d.</a:t>
            </a:r>
          </a:p>
          <a:p>
            <a:pPr lvl="1"/>
            <a:r>
              <a:rPr lang="en-GB" u="sng" dirty="0"/>
              <a:t>Parameter</a:t>
            </a:r>
            <a:r>
              <a:rPr lang="en-GB" dirty="0"/>
              <a:t>: integer k.</a:t>
            </a:r>
          </a:p>
          <a:p>
            <a:pPr lvl="1"/>
            <a:r>
              <a:rPr lang="en-GB" u="sng" dirty="0"/>
              <a:t>Question</a:t>
            </a:r>
            <a:r>
              <a:rPr lang="en-GB" dirty="0"/>
              <a:t>: does G have a clique of size at least k?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parameterised reduction to </a:t>
            </a:r>
            <a:br>
              <a:rPr lang="en-GB" dirty="0"/>
            </a:br>
            <a:r>
              <a:rPr lang="en-GB" dirty="0"/>
              <a:t>clique on regular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772400" cy="4264496"/>
          </a:xfrm>
        </p:spPr>
        <p:txBody>
          <a:bodyPr/>
          <a:lstStyle/>
          <a:p>
            <a:r>
              <a:rPr lang="en-GB" u="sng" dirty="0"/>
              <a:t>Parameterised reduction</a:t>
            </a:r>
            <a:r>
              <a:rPr lang="en-GB" dirty="0"/>
              <a:t>: clique to clique on regular graphs.</a:t>
            </a:r>
          </a:p>
          <a:p>
            <a:pPr lvl="1"/>
            <a:r>
              <a:rPr lang="en-GB" dirty="0"/>
              <a:t>Let G=(V,E) be the instance of clique with parameter k.</a:t>
            </a:r>
          </a:p>
          <a:p>
            <a:pPr lvl="1"/>
            <a:r>
              <a:rPr lang="en-GB" dirty="0"/>
              <a:t>If k </a:t>
            </a:r>
            <a:r>
              <a:rPr lang="en-GB" dirty="0">
                <a:latin typeface="cmsy10"/>
              </a:rPr>
              <a:t>· </a:t>
            </a:r>
            <a:r>
              <a:rPr lang="en-GB" dirty="0"/>
              <a:t>2, clique is trivial, and we can output a trivial solution.</a:t>
            </a:r>
          </a:p>
          <a:p>
            <a:pPr lvl="1"/>
            <a:r>
              <a:rPr lang="en-GB" dirty="0"/>
              <a:t>Build an instance of clique on regular graphs as follows: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Let d be the maximum degree in G (example below has d=4).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Take d disjoint copies G</a:t>
            </a:r>
            <a:r>
              <a:rPr lang="en-GB" baseline="-25000" dirty="0"/>
              <a:t>1</a:t>
            </a:r>
            <a:r>
              <a:rPr lang="en-GB" dirty="0"/>
              <a:t>, G</a:t>
            </a:r>
            <a:r>
              <a:rPr lang="en-GB" baseline="-25000" dirty="0"/>
              <a:t>2</a:t>
            </a:r>
            <a:r>
              <a:rPr lang="en-GB" dirty="0"/>
              <a:t>, ..., G</a:t>
            </a:r>
            <a:r>
              <a:rPr lang="en-GB" baseline="-25000" dirty="0"/>
              <a:t>d</a:t>
            </a:r>
            <a:r>
              <a:rPr lang="en-GB" dirty="0"/>
              <a:t>. Let v</a:t>
            </a:r>
            <a:r>
              <a:rPr lang="en-GB" baseline="-25000" dirty="0"/>
              <a:t>i</a:t>
            </a:r>
            <a:r>
              <a:rPr lang="en-GB" dirty="0"/>
              <a:t> be the copy of v in </a:t>
            </a:r>
            <a:r>
              <a:rPr lang="en-GB" dirty="0" err="1"/>
              <a:t>G</a:t>
            </a:r>
            <a:r>
              <a:rPr lang="en-GB" baseline="-25000" dirty="0" err="1"/>
              <a:t>i</a:t>
            </a:r>
            <a:r>
              <a:rPr lang="en-GB" dirty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For every v</a:t>
            </a:r>
            <a:r>
              <a:rPr lang="en-GB" dirty="0">
                <a:latin typeface="cmsy10"/>
              </a:rPr>
              <a:t>2</a:t>
            </a:r>
            <a:r>
              <a:rPr lang="en-GB" dirty="0"/>
              <a:t>V, add d - degree(v) vertices, and add edge between these vertices and all copies v</a:t>
            </a:r>
            <a:r>
              <a:rPr lang="en-GB" baseline="-25000" dirty="0"/>
              <a:t>i</a:t>
            </a:r>
            <a:r>
              <a:rPr lang="en-GB" dirty="0"/>
              <a:t>.</a:t>
            </a:r>
          </a:p>
          <a:p>
            <a:pPr marL="800100" lvl="1" indent="-342900"/>
            <a:r>
              <a:rPr lang="en-GB" dirty="0"/>
              <a:t>Set the new parameter k’ equal to k.</a:t>
            </a:r>
          </a:p>
          <a:p>
            <a:pPr marL="800100" lvl="1" indent="-342900">
              <a:buFont typeface="+mj-lt"/>
              <a:buAutoNum type="arabicPeriod"/>
            </a:pPr>
            <a:endParaRPr lang="en-GB" dirty="0"/>
          </a:p>
        </p:txBody>
      </p:sp>
      <p:grpSp>
        <p:nvGrpSpPr>
          <p:cNvPr id="37" name="Group 36"/>
          <p:cNvGrpSpPr/>
          <p:nvPr/>
        </p:nvGrpSpPr>
        <p:grpSpPr>
          <a:xfrm>
            <a:off x="1331640" y="4655177"/>
            <a:ext cx="1735164" cy="1222095"/>
            <a:chOff x="1475656" y="4509120"/>
            <a:chExt cx="1735164" cy="1222095"/>
          </a:xfrm>
        </p:grpSpPr>
        <p:sp>
          <p:nvSpPr>
            <p:cNvPr id="4" name="Freeform 3"/>
            <p:cNvSpPr/>
            <p:nvPr/>
          </p:nvSpPr>
          <p:spPr bwMode="auto">
            <a:xfrm>
              <a:off x="1475656" y="4509120"/>
              <a:ext cx="1735164" cy="1222095"/>
            </a:xfrm>
            <a:custGeom>
              <a:avLst/>
              <a:gdLst>
                <a:gd name="connsiteX0" fmla="*/ 584791 w 1735164"/>
                <a:gd name="connsiteY0" fmla="*/ 20616 h 1222095"/>
                <a:gd name="connsiteX1" fmla="*/ 584791 w 1735164"/>
                <a:gd name="connsiteY1" fmla="*/ 20616 h 1222095"/>
                <a:gd name="connsiteX2" fmla="*/ 244549 w 1735164"/>
                <a:gd name="connsiteY2" fmla="*/ 20616 h 1222095"/>
                <a:gd name="connsiteX3" fmla="*/ 180754 w 1735164"/>
                <a:gd name="connsiteY3" fmla="*/ 41881 h 1222095"/>
                <a:gd name="connsiteX4" fmla="*/ 116958 w 1735164"/>
                <a:gd name="connsiteY4" fmla="*/ 84411 h 1222095"/>
                <a:gd name="connsiteX5" fmla="*/ 74428 w 1735164"/>
                <a:gd name="connsiteY5" fmla="*/ 148207 h 1222095"/>
                <a:gd name="connsiteX6" fmla="*/ 31898 w 1735164"/>
                <a:gd name="connsiteY6" fmla="*/ 243900 h 1222095"/>
                <a:gd name="connsiteX7" fmla="*/ 21265 w 1735164"/>
                <a:gd name="connsiteY7" fmla="*/ 307695 h 1222095"/>
                <a:gd name="connsiteX8" fmla="*/ 0 w 1735164"/>
                <a:gd name="connsiteY8" fmla="*/ 371491 h 1222095"/>
                <a:gd name="connsiteX9" fmla="*/ 10633 w 1735164"/>
                <a:gd name="connsiteY9" fmla="*/ 584142 h 1222095"/>
                <a:gd name="connsiteX10" fmla="*/ 21265 w 1735164"/>
                <a:gd name="connsiteY10" fmla="*/ 616039 h 1222095"/>
                <a:gd name="connsiteX11" fmla="*/ 63795 w 1735164"/>
                <a:gd name="connsiteY11" fmla="*/ 679835 h 1222095"/>
                <a:gd name="connsiteX12" fmla="*/ 127591 w 1735164"/>
                <a:gd name="connsiteY12" fmla="*/ 722365 h 1222095"/>
                <a:gd name="connsiteX13" fmla="*/ 148856 w 1735164"/>
                <a:gd name="connsiteY13" fmla="*/ 892486 h 1222095"/>
                <a:gd name="connsiteX14" fmla="*/ 159488 w 1735164"/>
                <a:gd name="connsiteY14" fmla="*/ 924384 h 1222095"/>
                <a:gd name="connsiteX15" fmla="*/ 191386 w 1735164"/>
                <a:gd name="connsiteY15" fmla="*/ 945649 h 1222095"/>
                <a:gd name="connsiteX16" fmla="*/ 233916 w 1735164"/>
                <a:gd name="connsiteY16" fmla="*/ 988179 h 1222095"/>
                <a:gd name="connsiteX17" fmla="*/ 297712 w 1735164"/>
                <a:gd name="connsiteY17" fmla="*/ 1030709 h 1222095"/>
                <a:gd name="connsiteX18" fmla="*/ 361507 w 1735164"/>
                <a:gd name="connsiteY18" fmla="*/ 1083872 h 1222095"/>
                <a:gd name="connsiteX19" fmla="*/ 414670 w 1735164"/>
                <a:gd name="connsiteY19" fmla="*/ 1094505 h 1222095"/>
                <a:gd name="connsiteX20" fmla="*/ 478465 w 1735164"/>
                <a:gd name="connsiteY20" fmla="*/ 1115770 h 1222095"/>
                <a:gd name="connsiteX21" fmla="*/ 520995 w 1735164"/>
                <a:gd name="connsiteY21" fmla="*/ 1126402 h 1222095"/>
                <a:gd name="connsiteX22" fmla="*/ 552893 w 1735164"/>
                <a:gd name="connsiteY22" fmla="*/ 1137035 h 1222095"/>
                <a:gd name="connsiteX23" fmla="*/ 616688 w 1735164"/>
                <a:gd name="connsiteY23" fmla="*/ 1147667 h 1222095"/>
                <a:gd name="connsiteX24" fmla="*/ 659219 w 1735164"/>
                <a:gd name="connsiteY24" fmla="*/ 1158300 h 1222095"/>
                <a:gd name="connsiteX25" fmla="*/ 744279 w 1735164"/>
                <a:gd name="connsiteY25" fmla="*/ 1168932 h 1222095"/>
                <a:gd name="connsiteX26" fmla="*/ 956930 w 1735164"/>
                <a:gd name="connsiteY26" fmla="*/ 1190198 h 1222095"/>
                <a:gd name="connsiteX27" fmla="*/ 1127051 w 1735164"/>
                <a:gd name="connsiteY27" fmla="*/ 1200830 h 1222095"/>
                <a:gd name="connsiteX28" fmla="*/ 1392865 w 1735164"/>
                <a:gd name="connsiteY28" fmla="*/ 1222095 h 1222095"/>
                <a:gd name="connsiteX29" fmla="*/ 1669312 w 1735164"/>
                <a:gd name="connsiteY29" fmla="*/ 1211463 h 1222095"/>
                <a:gd name="connsiteX30" fmla="*/ 1690577 w 1735164"/>
                <a:gd name="connsiteY30" fmla="*/ 1073239 h 1222095"/>
                <a:gd name="connsiteX31" fmla="*/ 1573619 w 1735164"/>
                <a:gd name="connsiteY31" fmla="*/ 935016 h 1222095"/>
                <a:gd name="connsiteX32" fmla="*/ 1552354 w 1735164"/>
                <a:gd name="connsiteY32" fmla="*/ 903118 h 1222095"/>
                <a:gd name="connsiteX33" fmla="*/ 1531088 w 1735164"/>
                <a:gd name="connsiteY33" fmla="*/ 881853 h 1222095"/>
                <a:gd name="connsiteX34" fmla="*/ 1456661 w 1735164"/>
                <a:gd name="connsiteY34" fmla="*/ 775528 h 1222095"/>
                <a:gd name="connsiteX35" fmla="*/ 1446028 w 1735164"/>
                <a:gd name="connsiteY35" fmla="*/ 743630 h 1222095"/>
                <a:gd name="connsiteX36" fmla="*/ 1435395 w 1735164"/>
                <a:gd name="connsiteY36" fmla="*/ 626672 h 1222095"/>
                <a:gd name="connsiteX37" fmla="*/ 1403498 w 1735164"/>
                <a:gd name="connsiteY37" fmla="*/ 605407 h 1222095"/>
                <a:gd name="connsiteX38" fmla="*/ 1339702 w 1735164"/>
                <a:gd name="connsiteY38" fmla="*/ 562877 h 1222095"/>
                <a:gd name="connsiteX39" fmla="*/ 1318437 w 1735164"/>
                <a:gd name="connsiteY39" fmla="*/ 541611 h 1222095"/>
                <a:gd name="connsiteX40" fmla="*/ 1286540 w 1735164"/>
                <a:gd name="connsiteY40" fmla="*/ 530979 h 1222095"/>
                <a:gd name="connsiteX41" fmla="*/ 1169581 w 1735164"/>
                <a:gd name="connsiteY41" fmla="*/ 509714 h 1222095"/>
                <a:gd name="connsiteX42" fmla="*/ 1137684 w 1735164"/>
                <a:gd name="connsiteY42" fmla="*/ 499081 h 1222095"/>
                <a:gd name="connsiteX43" fmla="*/ 1095154 w 1735164"/>
                <a:gd name="connsiteY43" fmla="*/ 488449 h 1222095"/>
                <a:gd name="connsiteX44" fmla="*/ 1031358 w 1735164"/>
                <a:gd name="connsiteY44" fmla="*/ 467184 h 1222095"/>
                <a:gd name="connsiteX45" fmla="*/ 1010093 w 1735164"/>
                <a:gd name="connsiteY45" fmla="*/ 445918 h 1222095"/>
                <a:gd name="connsiteX46" fmla="*/ 978195 w 1735164"/>
                <a:gd name="connsiteY46" fmla="*/ 435286 h 1222095"/>
                <a:gd name="connsiteX47" fmla="*/ 946298 w 1735164"/>
                <a:gd name="connsiteY47" fmla="*/ 414021 h 1222095"/>
                <a:gd name="connsiteX48" fmla="*/ 903768 w 1735164"/>
                <a:gd name="connsiteY48" fmla="*/ 350225 h 1222095"/>
                <a:gd name="connsiteX49" fmla="*/ 882502 w 1735164"/>
                <a:gd name="connsiteY49" fmla="*/ 328960 h 1222095"/>
                <a:gd name="connsiteX50" fmla="*/ 839972 w 1735164"/>
                <a:gd name="connsiteY50" fmla="*/ 265165 h 1222095"/>
                <a:gd name="connsiteX51" fmla="*/ 861237 w 1735164"/>
                <a:gd name="connsiteY51" fmla="*/ 233267 h 1222095"/>
                <a:gd name="connsiteX52" fmla="*/ 882502 w 1735164"/>
                <a:gd name="connsiteY52" fmla="*/ 169472 h 1222095"/>
                <a:gd name="connsiteX53" fmla="*/ 871870 w 1735164"/>
                <a:gd name="connsiteY53" fmla="*/ 137574 h 1222095"/>
                <a:gd name="connsiteX54" fmla="*/ 839972 w 1735164"/>
                <a:gd name="connsiteY54" fmla="*/ 116309 h 1222095"/>
                <a:gd name="connsiteX55" fmla="*/ 765544 w 1735164"/>
                <a:gd name="connsiteY55" fmla="*/ 95044 h 1222095"/>
                <a:gd name="connsiteX56" fmla="*/ 701749 w 1735164"/>
                <a:gd name="connsiteY56" fmla="*/ 73779 h 1222095"/>
                <a:gd name="connsiteX57" fmla="*/ 659219 w 1735164"/>
                <a:gd name="connsiteY57" fmla="*/ 63146 h 1222095"/>
                <a:gd name="connsiteX58" fmla="*/ 584791 w 1735164"/>
                <a:gd name="connsiteY58" fmla="*/ 20616 h 1222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735164" h="1222095">
                  <a:moveTo>
                    <a:pt x="584791" y="20616"/>
                  </a:moveTo>
                  <a:lnTo>
                    <a:pt x="584791" y="20616"/>
                  </a:lnTo>
                  <a:cubicBezTo>
                    <a:pt x="438416" y="4353"/>
                    <a:pt x="443844" y="0"/>
                    <a:pt x="244549" y="20616"/>
                  </a:cubicBezTo>
                  <a:cubicBezTo>
                    <a:pt x="222253" y="22922"/>
                    <a:pt x="180754" y="41881"/>
                    <a:pt x="180754" y="41881"/>
                  </a:cubicBezTo>
                  <a:cubicBezTo>
                    <a:pt x="159489" y="56058"/>
                    <a:pt x="131135" y="63146"/>
                    <a:pt x="116958" y="84411"/>
                  </a:cubicBezTo>
                  <a:lnTo>
                    <a:pt x="74428" y="148207"/>
                  </a:lnTo>
                  <a:cubicBezTo>
                    <a:pt x="50347" y="184329"/>
                    <a:pt x="40334" y="193288"/>
                    <a:pt x="31898" y="243900"/>
                  </a:cubicBezTo>
                  <a:cubicBezTo>
                    <a:pt x="28354" y="265165"/>
                    <a:pt x="26494" y="286780"/>
                    <a:pt x="21265" y="307695"/>
                  </a:cubicBezTo>
                  <a:cubicBezTo>
                    <a:pt x="15828" y="329441"/>
                    <a:pt x="0" y="371491"/>
                    <a:pt x="0" y="371491"/>
                  </a:cubicBezTo>
                  <a:cubicBezTo>
                    <a:pt x="3544" y="442375"/>
                    <a:pt x="4485" y="513437"/>
                    <a:pt x="10633" y="584142"/>
                  </a:cubicBezTo>
                  <a:cubicBezTo>
                    <a:pt x="11604" y="595307"/>
                    <a:pt x="15822" y="606242"/>
                    <a:pt x="21265" y="616039"/>
                  </a:cubicBezTo>
                  <a:cubicBezTo>
                    <a:pt x="33677" y="638380"/>
                    <a:pt x="42530" y="665658"/>
                    <a:pt x="63795" y="679835"/>
                  </a:cubicBezTo>
                  <a:lnTo>
                    <a:pt x="127591" y="722365"/>
                  </a:lnTo>
                  <a:cubicBezTo>
                    <a:pt x="155622" y="806464"/>
                    <a:pt x="125872" y="708611"/>
                    <a:pt x="148856" y="892486"/>
                  </a:cubicBezTo>
                  <a:cubicBezTo>
                    <a:pt x="150246" y="903607"/>
                    <a:pt x="152487" y="915632"/>
                    <a:pt x="159488" y="924384"/>
                  </a:cubicBezTo>
                  <a:cubicBezTo>
                    <a:pt x="167471" y="934363"/>
                    <a:pt x="180753" y="938561"/>
                    <a:pt x="191386" y="945649"/>
                  </a:cubicBezTo>
                  <a:cubicBezTo>
                    <a:pt x="211639" y="1006405"/>
                    <a:pt x="185311" y="955775"/>
                    <a:pt x="233916" y="988179"/>
                  </a:cubicBezTo>
                  <a:cubicBezTo>
                    <a:pt x="313556" y="1041274"/>
                    <a:pt x="221871" y="1005430"/>
                    <a:pt x="297712" y="1030709"/>
                  </a:cubicBezTo>
                  <a:cubicBezTo>
                    <a:pt x="314261" y="1047259"/>
                    <a:pt x="337820" y="1074989"/>
                    <a:pt x="361507" y="1083872"/>
                  </a:cubicBezTo>
                  <a:cubicBezTo>
                    <a:pt x="378428" y="1090218"/>
                    <a:pt x="397235" y="1089750"/>
                    <a:pt x="414670" y="1094505"/>
                  </a:cubicBezTo>
                  <a:cubicBezTo>
                    <a:pt x="436295" y="1100403"/>
                    <a:pt x="456995" y="1109329"/>
                    <a:pt x="478465" y="1115770"/>
                  </a:cubicBezTo>
                  <a:cubicBezTo>
                    <a:pt x="492462" y="1119969"/>
                    <a:pt x="506944" y="1122388"/>
                    <a:pt x="520995" y="1126402"/>
                  </a:cubicBezTo>
                  <a:cubicBezTo>
                    <a:pt x="531772" y="1129481"/>
                    <a:pt x="541952" y="1134604"/>
                    <a:pt x="552893" y="1137035"/>
                  </a:cubicBezTo>
                  <a:cubicBezTo>
                    <a:pt x="573938" y="1141712"/>
                    <a:pt x="595548" y="1143439"/>
                    <a:pt x="616688" y="1147667"/>
                  </a:cubicBezTo>
                  <a:cubicBezTo>
                    <a:pt x="631018" y="1150533"/>
                    <a:pt x="644804" y="1155898"/>
                    <a:pt x="659219" y="1158300"/>
                  </a:cubicBezTo>
                  <a:cubicBezTo>
                    <a:pt x="687404" y="1162997"/>
                    <a:pt x="715901" y="1165593"/>
                    <a:pt x="744279" y="1168932"/>
                  </a:cubicBezTo>
                  <a:cubicBezTo>
                    <a:pt x="811522" y="1176843"/>
                    <a:pt x="890170" y="1185253"/>
                    <a:pt x="956930" y="1190198"/>
                  </a:cubicBezTo>
                  <a:cubicBezTo>
                    <a:pt x="1013592" y="1194395"/>
                    <a:pt x="1070385" y="1196684"/>
                    <a:pt x="1127051" y="1200830"/>
                  </a:cubicBezTo>
                  <a:lnTo>
                    <a:pt x="1392865" y="1222095"/>
                  </a:lnTo>
                  <a:cubicBezTo>
                    <a:pt x="1485014" y="1218551"/>
                    <a:pt x="1577584" y="1220952"/>
                    <a:pt x="1669312" y="1211463"/>
                  </a:cubicBezTo>
                  <a:cubicBezTo>
                    <a:pt x="1735164" y="1204651"/>
                    <a:pt x="1698131" y="1092123"/>
                    <a:pt x="1690577" y="1073239"/>
                  </a:cubicBezTo>
                  <a:cubicBezTo>
                    <a:pt x="1664918" y="1009092"/>
                    <a:pt x="1614420" y="982618"/>
                    <a:pt x="1573619" y="935016"/>
                  </a:cubicBezTo>
                  <a:cubicBezTo>
                    <a:pt x="1565303" y="925314"/>
                    <a:pt x="1560337" y="913097"/>
                    <a:pt x="1552354" y="903118"/>
                  </a:cubicBezTo>
                  <a:cubicBezTo>
                    <a:pt x="1546092" y="895290"/>
                    <a:pt x="1537506" y="889554"/>
                    <a:pt x="1531088" y="881853"/>
                  </a:cubicBezTo>
                  <a:cubicBezTo>
                    <a:pt x="1517610" y="865679"/>
                    <a:pt x="1460341" y="786568"/>
                    <a:pt x="1456661" y="775528"/>
                  </a:cubicBezTo>
                  <a:lnTo>
                    <a:pt x="1446028" y="743630"/>
                  </a:lnTo>
                  <a:cubicBezTo>
                    <a:pt x="1442484" y="704644"/>
                    <a:pt x="1446907" y="664088"/>
                    <a:pt x="1435395" y="626672"/>
                  </a:cubicBezTo>
                  <a:cubicBezTo>
                    <a:pt x="1431637" y="614459"/>
                    <a:pt x="1413315" y="613588"/>
                    <a:pt x="1403498" y="605407"/>
                  </a:cubicBezTo>
                  <a:cubicBezTo>
                    <a:pt x="1350402" y="561160"/>
                    <a:pt x="1395758" y="581561"/>
                    <a:pt x="1339702" y="562877"/>
                  </a:cubicBezTo>
                  <a:cubicBezTo>
                    <a:pt x="1332614" y="555788"/>
                    <a:pt x="1327033" y="546769"/>
                    <a:pt x="1318437" y="541611"/>
                  </a:cubicBezTo>
                  <a:cubicBezTo>
                    <a:pt x="1308827" y="535845"/>
                    <a:pt x="1297316" y="534058"/>
                    <a:pt x="1286540" y="530979"/>
                  </a:cubicBezTo>
                  <a:cubicBezTo>
                    <a:pt x="1236403" y="516654"/>
                    <a:pt x="1229824" y="518320"/>
                    <a:pt x="1169581" y="509714"/>
                  </a:cubicBezTo>
                  <a:cubicBezTo>
                    <a:pt x="1158949" y="506170"/>
                    <a:pt x="1148460" y="502160"/>
                    <a:pt x="1137684" y="499081"/>
                  </a:cubicBezTo>
                  <a:cubicBezTo>
                    <a:pt x="1123633" y="495066"/>
                    <a:pt x="1109151" y="492648"/>
                    <a:pt x="1095154" y="488449"/>
                  </a:cubicBezTo>
                  <a:cubicBezTo>
                    <a:pt x="1073684" y="482008"/>
                    <a:pt x="1031358" y="467184"/>
                    <a:pt x="1031358" y="467184"/>
                  </a:cubicBezTo>
                  <a:cubicBezTo>
                    <a:pt x="1024270" y="460095"/>
                    <a:pt x="1018689" y="451076"/>
                    <a:pt x="1010093" y="445918"/>
                  </a:cubicBezTo>
                  <a:cubicBezTo>
                    <a:pt x="1000482" y="440152"/>
                    <a:pt x="988220" y="440298"/>
                    <a:pt x="978195" y="435286"/>
                  </a:cubicBezTo>
                  <a:cubicBezTo>
                    <a:pt x="966765" y="429571"/>
                    <a:pt x="956930" y="421109"/>
                    <a:pt x="946298" y="414021"/>
                  </a:cubicBezTo>
                  <a:cubicBezTo>
                    <a:pt x="932121" y="392756"/>
                    <a:pt x="921840" y="368297"/>
                    <a:pt x="903768" y="350225"/>
                  </a:cubicBezTo>
                  <a:cubicBezTo>
                    <a:pt x="896679" y="343137"/>
                    <a:pt x="888517" y="336980"/>
                    <a:pt x="882502" y="328960"/>
                  </a:cubicBezTo>
                  <a:cubicBezTo>
                    <a:pt x="867167" y="308514"/>
                    <a:pt x="839972" y="265165"/>
                    <a:pt x="839972" y="265165"/>
                  </a:cubicBezTo>
                  <a:cubicBezTo>
                    <a:pt x="847060" y="254532"/>
                    <a:pt x="856047" y="244944"/>
                    <a:pt x="861237" y="233267"/>
                  </a:cubicBezTo>
                  <a:cubicBezTo>
                    <a:pt x="870341" y="212784"/>
                    <a:pt x="882502" y="169472"/>
                    <a:pt x="882502" y="169472"/>
                  </a:cubicBezTo>
                  <a:cubicBezTo>
                    <a:pt x="878958" y="158839"/>
                    <a:pt x="878871" y="146326"/>
                    <a:pt x="871870" y="137574"/>
                  </a:cubicBezTo>
                  <a:cubicBezTo>
                    <a:pt x="863887" y="127595"/>
                    <a:pt x="851402" y="122024"/>
                    <a:pt x="839972" y="116309"/>
                  </a:cubicBezTo>
                  <a:cubicBezTo>
                    <a:pt x="822111" y="107379"/>
                    <a:pt x="782570" y="100152"/>
                    <a:pt x="765544" y="95044"/>
                  </a:cubicBezTo>
                  <a:cubicBezTo>
                    <a:pt x="744074" y="88603"/>
                    <a:pt x="723014" y="80867"/>
                    <a:pt x="701749" y="73779"/>
                  </a:cubicBezTo>
                  <a:cubicBezTo>
                    <a:pt x="666488" y="62025"/>
                    <a:pt x="681059" y="63146"/>
                    <a:pt x="659219" y="63146"/>
                  </a:cubicBezTo>
                  <a:lnTo>
                    <a:pt x="584791" y="20616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2051720" y="5373216"/>
              <a:ext cx="144016" cy="14401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/>
              </a:endParaRPr>
            </a:p>
          </p:txBody>
        </p:sp>
        <p:cxnSp>
          <p:nvCxnSpPr>
            <p:cNvPr id="10" name="Straight Connector 9"/>
            <p:cNvCxnSpPr>
              <a:stCxn id="8" idx="2"/>
              <a:endCxn id="16" idx="5"/>
            </p:cNvCxnSpPr>
            <p:nvPr/>
          </p:nvCxnSpPr>
          <p:spPr bwMode="auto">
            <a:xfrm flipH="1" flipV="1">
              <a:off x="1886613" y="5280117"/>
              <a:ext cx="165107" cy="16510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Straight Connector 12"/>
            <p:cNvCxnSpPr>
              <a:stCxn id="8" idx="5"/>
              <a:endCxn id="20" idx="2"/>
            </p:cNvCxnSpPr>
            <p:nvPr/>
          </p:nvCxnSpPr>
          <p:spPr bwMode="auto">
            <a:xfrm>
              <a:off x="2174645" y="5496141"/>
              <a:ext cx="309123" cy="2109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" name="Oval 15"/>
            <p:cNvSpPr/>
            <p:nvPr/>
          </p:nvSpPr>
          <p:spPr bwMode="auto">
            <a:xfrm>
              <a:off x="1763688" y="5157192"/>
              <a:ext cx="144016" cy="14401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/>
              </a:endParaRPr>
            </a:p>
          </p:txBody>
        </p:sp>
        <p:sp>
          <p:nvSpPr>
            <p:cNvPr id="20" name="Oval 19"/>
            <p:cNvSpPr/>
            <p:nvPr/>
          </p:nvSpPr>
          <p:spPr bwMode="auto">
            <a:xfrm>
              <a:off x="2483768" y="5445224"/>
              <a:ext cx="144016" cy="14401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/>
              </a:endParaRPr>
            </a:p>
          </p:txBody>
        </p:sp>
        <p:cxnSp>
          <p:nvCxnSpPr>
            <p:cNvPr id="25" name="Straight Connector 24"/>
            <p:cNvCxnSpPr>
              <a:stCxn id="16" idx="7"/>
            </p:cNvCxnSpPr>
            <p:nvPr/>
          </p:nvCxnSpPr>
          <p:spPr bwMode="auto">
            <a:xfrm flipV="1">
              <a:off x="1886613" y="4941168"/>
              <a:ext cx="93099" cy="2371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Connector 26"/>
            <p:cNvCxnSpPr>
              <a:stCxn id="16" idx="0"/>
            </p:cNvCxnSpPr>
            <p:nvPr/>
          </p:nvCxnSpPr>
          <p:spPr bwMode="auto">
            <a:xfrm flipH="1" flipV="1">
              <a:off x="1763688" y="4869160"/>
              <a:ext cx="72008" cy="28803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Straight Connector 28"/>
            <p:cNvCxnSpPr>
              <a:stCxn id="16" idx="2"/>
            </p:cNvCxnSpPr>
            <p:nvPr/>
          </p:nvCxnSpPr>
          <p:spPr bwMode="auto">
            <a:xfrm flipH="1" flipV="1">
              <a:off x="1619672" y="5013176"/>
              <a:ext cx="144016" cy="21602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Straight Connector 30"/>
            <p:cNvCxnSpPr>
              <a:stCxn id="20" idx="0"/>
            </p:cNvCxnSpPr>
            <p:nvPr/>
          </p:nvCxnSpPr>
          <p:spPr bwMode="auto">
            <a:xfrm flipV="1">
              <a:off x="2555776" y="5229200"/>
              <a:ext cx="72008" cy="21602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Straight Connector 32"/>
            <p:cNvCxnSpPr>
              <a:stCxn id="20" idx="6"/>
            </p:cNvCxnSpPr>
            <p:nvPr/>
          </p:nvCxnSpPr>
          <p:spPr bwMode="auto">
            <a:xfrm flipV="1">
              <a:off x="2627784" y="5445224"/>
              <a:ext cx="216024" cy="7200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Straight Connector 34"/>
            <p:cNvCxnSpPr>
              <a:stCxn id="20" idx="5"/>
            </p:cNvCxnSpPr>
            <p:nvPr/>
          </p:nvCxnSpPr>
          <p:spPr bwMode="auto">
            <a:xfrm>
              <a:off x="2606693" y="5568149"/>
              <a:ext cx="237115" cy="2109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8" name="Group 37"/>
          <p:cNvGrpSpPr/>
          <p:nvPr/>
        </p:nvGrpSpPr>
        <p:grpSpPr>
          <a:xfrm>
            <a:off x="3268884" y="4653136"/>
            <a:ext cx="1735164" cy="1222095"/>
            <a:chOff x="1475656" y="4509120"/>
            <a:chExt cx="1735164" cy="1222095"/>
          </a:xfrm>
        </p:grpSpPr>
        <p:sp>
          <p:nvSpPr>
            <p:cNvPr id="39" name="Freeform 38"/>
            <p:cNvSpPr/>
            <p:nvPr/>
          </p:nvSpPr>
          <p:spPr bwMode="auto">
            <a:xfrm>
              <a:off x="1475656" y="4509120"/>
              <a:ext cx="1735164" cy="1222095"/>
            </a:xfrm>
            <a:custGeom>
              <a:avLst/>
              <a:gdLst>
                <a:gd name="connsiteX0" fmla="*/ 584791 w 1735164"/>
                <a:gd name="connsiteY0" fmla="*/ 20616 h 1222095"/>
                <a:gd name="connsiteX1" fmla="*/ 584791 w 1735164"/>
                <a:gd name="connsiteY1" fmla="*/ 20616 h 1222095"/>
                <a:gd name="connsiteX2" fmla="*/ 244549 w 1735164"/>
                <a:gd name="connsiteY2" fmla="*/ 20616 h 1222095"/>
                <a:gd name="connsiteX3" fmla="*/ 180754 w 1735164"/>
                <a:gd name="connsiteY3" fmla="*/ 41881 h 1222095"/>
                <a:gd name="connsiteX4" fmla="*/ 116958 w 1735164"/>
                <a:gd name="connsiteY4" fmla="*/ 84411 h 1222095"/>
                <a:gd name="connsiteX5" fmla="*/ 74428 w 1735164"/>
                <a:gd name="connsiteY5" fmla="*/ 148207 h 1222095"/>
                <a:gd name="connsiteX6" fmla="*/ 31898 w 1735164"/>
                <a:gd name="connsiteY6" fmla="*/ 243900 h 1222095"/>
                <a:gd name="connsiteX7" fmla="*/ 21265 w 1735164"/>
                <a:gd name="connsiteY7" fmla="*/ 307695 h 1222095"/>
                <a:gd name="connsiteX8" fmla="*/ 0 w 1735164"/>
                <a:gd name="connsiteY8" fmla="*/ 371491 h 1222095"/>
                <a:gd name="connsiteX9" fmla="*/ 10633 w 1735164"/>
                <a:gd name="connsiteY9" fmla="*/ 584142 h 1222095"/>
                <a:gd name="connsiteX10" fmla="*/ 21265 w 1735164"/>
                <a:gd name="connsiteY10" fmla="*/ 616039 h 1222095"/>
                <a:gd name="connsiteX11" fmla="*/ 63795 w 1735164"/>
                <a:gd name="connsiteY11" fmla="*/ 679835 h 1222095"/>
                <a:gd name="connsiteX12" fmla="*/ 127591 w 1735164"/>
                <a:gd name="connsiteY12" fmla="*/ 722365 h 1222095"/>
                <a:gd name="connsiteX13" fmla="*/ 148856 w 1735164"/>
                <a:gd name="connsiteY13" fmla="*/ 892486 h 1222095"/>
                <a:gd name="connsiteX14" fmla="*/ 159488 w 1735164"/>
                <a:gd name="connsiteY14" fmla="*/ 924384 h 1222095"/>
                <a:gd name="connsiteX15" fmla="*/ 191386 w 1735164"/>
                <a:gd name="connsiteY15" fmla="*/ 945649 h 1222095"/>
                <a:gd name="connsiteX16" fmla="*/ 233916 w 1735164"/>
                <a:gd name="connsiteY16" fmla="*/ 988179 h 1222095"/>
                <a:gd name="connsiteX17" fmla="*/ 297712 w 1735164"/>
                <a:gd name="connsiteY17" fmla="*/ 1030709 h 1222095"/>
                <a:gd name="connsiteX18" fmla="*/ 361507 w 1735164"/>
                <a:gd name="connsiteY18" fmla="*/ 1083872 h 1222095"/>
                <a:gd name="connsiteX19" fmla="*/ 414670 w 1735164"/>
                <a:gd name="connsiteY19" fmla="*/ 1094505 h 1222095"/>
                <a:gd name="connsiteX20" fmla="*/ 478465 w 1735164"/>
                <a:gd name="connsiteY20" fmla="*/ 1115770 h 1222095"/>
                <a:gd name="connsiteX21" fmla="*/ 520995 w 1735164"/>
                <a:gd name="connsiteY21" fmla="*/ 1126402 h 1222095"/>
                <a:gd name="connsiteX22" fmla="*/ 552893 w 1735164"/>
                <a:gd name="connsiteY22" fmla="*/ 1137035 h 1222095"/>
                <a:gd name="connsiteX23" fmla="*/ 616688 w 1735164"/>
                <a:gd name="connsiteY23" fmla="*/ 1147667 h 1222095"/>
                <a:gd name="connsiteX24" fmla="*/ 659219 w 1735164"/>
                <a:gd name="connsiteY24" fmla="*/ 1158300 h 1222095"/>
                <a:gd name="connsiteX25" fmla="*/ 744279 w 1735164"/>
                <a:gd name="connsiteY25" fmla="*/ 1168932 h 1222095"/>
                <a:gd name="connsiteX26" fmla="*/ 956930 w 1735164"/>
                <a:gd name="connsiteY26" fmla="*/ 1190198 h 1222095"/>
                <a:gd name="connsiteX27" fmla="*/ 1127051 w 1735164"/>
                <a:gd name="connsiteY27" fmla="*/ 1200830 h 1222095"/>
                <a:gd name="connsiteX28" fmla="*/ 1392865 w 1735164"/>
                <a:gd name="connsiteY28" fmla="*/ 1222095 h 1222095"/>
                <a:gd name="connsiteX29" fmla="*/ 1669312 w 1735164"/>
                <a:gd name="connsiteY29" fmla="*/ 1211463 h 1222095"/>
                <a:gd name="connsiteX30" fmla="*/ 1690577 w 1735164"/>
                <a:gd name="connsiteY30" fmla="*/ 1073239 h 1222095"/>
                <a:gd name="connsiteX31" fmla="*/ 1573619 w 1735164"/>
                <a:gd name="connsiteY31" fmla="*/ 935016 h 1222095"/>
                <a:gd name="connsiteX32" fmla="*/ 1552354 w 1735164"/>
                <a:gd name="connsiteY32" fmla="*/ 903118 h 1222095"/>
                <a:gd name="connsiteX33" fmla="*/ 1531088 w 1735164"/>
                <a:gd name="connsiteY33" fmla="*/ 881853 h 1222095"/>
                <a:gd name="connsiteX34" fmla="*/ 1456661 w 1735164"/>
                <a:gd name="connsiteY34" fmla="*/ 775528 h 1222095"/>
                <a:gd name="connsiteX35" fmla="*/ 1446028 w 1735164"/>
                <a:gd name="connsiteY35" fmla="*/ 743630 h 1222095"/>
                <a:gd name="connsiteX36" fmla="*/ 1435395 w 1735164"/>
                <a:gd name="connsiteY36" fmla="*/ 626672 h 1222095"/>
                <a:gd name="connsiteX37" fmla="*/ 1403498 w 1735164"/>
                <a:gd name="connsiteY37" fmla="*/ 605407 h 1222095"/>
                <a:gd name="connsiteX38" fmla="*/ 1339702 w 1735164"/>
                <a:gd name="connsiteY38" fmla="*/ 562877 h 1222095"/>
                <a:gd name="connsiteX39" fmla="*/ 1318437 w 1735164"/>
                <a:gd name="connsiteY39" fmla="*/ 541611 h 1222095"/>
                <a:gd name="connsiteX40" fmla="*/ 1286540 w 1735164"/>
                <a:gd name="connsiteY40" fmla="*/ 530979 h 1222095"/>
                <a:gd name="connsiteX41" fmla="*/ 1169581 w 1735164"/>
                <a:gd name="connsiteY41" fmla="*/ 509714 h 1222095"/>
                <a:gd name="connsiteX42" fmla="*/ 1137684 w 1735164"/>
                <a:gd name="connsiteY42" fmla="*/ 499081 h 1222095"/>
                <a:gd name="connsiteX43" fmla="*/ 1095154 w 1735164"/>
                <a:gd name="connsiteY43" fmla="*/ 488449 h 1222095"/>
                <a:gd name="connsiteX44" fmla="*/ 1031358 w 1735164"/>
                <a:gd name="connsiteY44" fmla="*/ 467184 h 1222095"/>
                <a:gd name="connsiteX45" fmla="*/ 1010093 w 1735164"/>
                <a:gd name="connsiteY45" fmla="*/ 445918 h 1222095"/>
                <a:gd name="connsiteX46" fmla="*/ 978195 w 1735164"/>
                <a:gd name="connsiteY46" fmla="*/ 435286 h 1222095"/>
                <a:gd name="connsiteX47" fmla="*/ 946298 w 1735164"/>
                <a:gd name="connsiteY47" fmla="*/ 414021 h 1222095"/>
                <a:gd name="connsiteX48" fmla="*/ 903768 w 1735164"/>
                <a:gd name="connsiteY48" fmla="*/ 350225 h 1222095"/>
                <a:gd name="connsiteX49" fmla="*/ 882502 w 1735164"/>
                <a:gd name="connsiteY49" fmla="*/ 328960 h 1222095"/>
                <a:gd name="connsiteX50" fmla="*/ 839972 w 1735164"/>
                <a:gd name="connsiteY50" fmla="*/ 265165 h 1222095"/>
                <a:gd name="connsiteX51" fmla="*/ 861237 w 1735164"/>
                <a:gd name="connsiteY51" fmla="*/ 233267 h 1222095"/>
                <a:gd name="connsiteX52" fmla="*/ 882502 w 1735164"/>
                <a:gd name="connsiteY52" fmla="*/ 169472 h 1222095"/>
                <a:gd name="connsiteX53" fmla="*/ 871870 w 1735164"/>
                <a:gd name="connsiteY53" fmla="*/ 137574 h 1222095"/>
                <a:gd name="connsiteX54" fmla="*/ 839972 w 1735164"/>
                <a:gd name="connsiteY54" fmla="*/ 116309 h 1222095"/>
                <a:gd name="connsiteX55" fmla="*/ 765544 w 1735164"/>
                <a:gd name="connsiteY55" fmla="*/ 95044 h 1222095"/>
                <a:gd name="connsiteX56" fmla="*/ 701749 w 1735164"/>
                <a:gd name="connsiteY56" fmla="*/ 73779 h 1222095"/>
                <a:gd name="connsiteX57" fmla="*/ 659219 w 1735164"/>
                <a:gd name="connsiteY57" fmla="*/ 63146 h 1222095"/>
                <a:gd name="connsiteX58" fmla="*/ 584791 w 1735164"/>
                <a:gd name="connsiteY58" fmla="*/ 20616 h 1222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735164" h="1222095">
                  <a:moveTo>
                    <a:pt x="584791" y="20616"/>
                  </a:moveTo>
                  <a:lnTo>
                    <a:pt x="584791" y="20616"/>
                  </a:lnTo>
                  <a:cubicBezTo>
                    <a:pt x="438416" y="4353"/>
                    <a:pt x="443844" y="0"/>
                    <a:pt x="244549" y="20616"/>
                  </a:cubicBezTo>
                  <a:cubicBezTo>
                    <a:pt x="222253" y="22922"/>
                    <a:pt x="180754" y="41881"/>
                    <a:pt x="180754" y="41881"/>
                  </a:cubicBezTo>
                  <a:cubicBezTo>
                    <a:pt x="159489" y="56058"/>
                    <a:pt x="131135" y="63146"/>
                    <a:pt x="116958" y="84411"/>
                  </a:cubicBezTo>
                  <a:lnTo>
                    <a:pt x="74428" y="148207"/>
                  </a:lnTo>
                  <a:cubicBezTo>
                    <a:pt x="50347" y="184329"/>
                    <a:pt x="40334" y="193288"/>
                    <a:pt x="31898" y="243900"/>
                  </a:cubicBezTo>
                  <a:cubicBezTo>
                    <a:pt x="28354" y="265165"/>
                    <a:pt x="26494" y="286780"/>
                    <a:pt x="21265" y="307695"/>
                  </a:cubicBezTo>
                  <a:cubicBezTo>
                    <a:pt x="15828" y="329441"/>
                    <a:pt x="0" y="371491"/>
                    <a:pt x="0" y="371491"/>
                  </a:cubicBezTo>
                  <a:cubicBezTo>
                    <a:pt x="3544" y="442375"/>
                    <a:pt x="4485" y="513437"/>
                    <a:pt x="10633" y="584142"/>
                  </a:cubicBezTo>
                  <a:cubicBezTo>
                    <a:pt x="11604" y="595307"/>
                    <a:pt x="15822" y="606242"/>
                    <a:pt x="21265" y="616039"/>
                  </a:cubicBezTo>
                  <a:cubicBezTo>
                    <a:pt x="33677" y="638380"/>
                    <a:pt x="42530" y="665658"/>
                    <a:pt x="63795" y="679835"/>
                  </a:cubicBezTo>
                  <a:lnTo>
                    <a:pt x="127591" y="722365"/>
                  </a:lnTo>
                  <a:cubicBezTo>
                    <a:pt x="155622" y="806464"/>
                    <a:pt x="125872" y="708611"/>
                    <a:pt x="148856" y="892486"/>
                  </a:cubicBezTo>
                  <a:cubicBezTo>
                    <a:pt x="150246" y="903607"/>
                    <a:pt x="152487" y="915632"/>
                    <a:pt x="159488" y="924384"/>
                  </a:cubicBezTo>
                  <a:cubicBezTo>
                    <a:pt x="167471" y="934363"/>
                    <a:pt x="180753" y="938561"/>
                    <a:pt x="191386" y="945649"/>
                  </a:cubicBezTo>
                  <a:cubicBezTo>
                    <a:pt x="211639" y="1006405"/>
                    <a:pt x="185311" y="955775"/>
                    <a:pt x="233916" y="988179"/>
                  </a:cubicBezTo>
                  <a:cubicBezTo>
                    <a:pt x="313556" y="1041274"/>
                    <a:pt x="221871" y="1005430"/>
                    <a:pt x="297712" y="1030709"/>
                  </a:cubicBezTo>
                  <a:cubicBezTo>
                    <a:pt x="314261" y="1047259"/>
                    <a:pt x="337820" y="1074989"/>
                    <a:pt x="361507" y="1083872"/>
                  </a:cubicBezTo>
                  <a:cubicBezTo>
                    <a:pt x="378428" y="1090218"/>
                    <a:pt x="397235" y="1089750"/>
                    <a:pt x="414670" y="1094505"/>
                  </a:cubicBezTo>
                  <a:cubicBezTo>
                    <a:pt x="436295" y="1100403"/>
                    <a:pt x="456995" y="1109329"/>
                    <a:pt x="478465" y="1115770"/>
                  </a:cubicBezTo>
                  <a:cubicBezTo>
                    <a:pt x="492462" y="1119969"/>
                    <a:pt x="506944" y="1122388"/>
                    <a:pt x="520995" y="1126402"/>
                  </a:cubicBezTo>
                  <a:cubicBezTo>
                    <a:pt x="531772" y="1129481"/>
                    <a:pt x="541952" y="1134604"/>
                    <a:pt x="552893" y="1137035"/>
                  </a:cubicBezTo>
                  <a:cubicBezTo>
                    <a:pt x="573938" y="1141712"/>
                    <a:pt x="595548" y="1143439"/>
                    <a:pt x="616688" y="1147667"/>
                  </a:cubicBezTo>
                  <a:cubicBezTo>
                    <a:pt x="631018" y="1150533"/>
                    <a:pt x="644804" y="1155898"/>
                    <a:pt x="659219" y="1158300"/>
                  </a:cubicBezTo>
                  <a:cubicBezTo>
                    <a:pt x="687404" y="1162997"/>
                    <a:pt x="715901" y="1165593"/>
                    <a:pt x="744279" y="1168932"/>
                  </a:cubicBezTo>
                  <a:cubicBezTo>
                    <a:pt x="811522" y="1176843"/>
                    <a:pt x="890170" y="1185253"/>
                    <a:pt x="956930" y="1190198"/>
                  </a:cubicBezTo>
                  <a:cubicBezTo>
                    <a:pt x="1013592" y="1194395"/>
                    <a:pt x="1070385" y="1196684"/>
                    <a:pt x="1127051" y="1200830"/>
                  </a:cubicBezTo>
                  <a:lnTo>
                    <a:pt x="1392865" y="1222095"/>
                  </a:lnTo>
                  <a:cubicBezTo>
                    <a:pt x="1485014" y="1218551"/>
                    <a:pt x="1577584" y="1220952"/>
                    <a:pt x="1669312" y="1211463"/>
                  </a:cubicBezTo>
                  <a:cubicBezTo>
                    <a:pt x="1735164" y="1204651"/>
                    <a:pt x="1698131" y="1092123"/>
                    <a:pt x="1690577" y="1073239"/>
                  </a:cubicBezTo>
                  <a:cubicBezTo>
                    <a:pt x="1664918" y="1009092"/>
                    <a:pt x="1614420" y="982618"/>
                    <a:pt x="1573619" y="935016"/>
                  </a:cubicBezTo>
                  <a:cubicBezTo>
                    <a:pt x="1565303" y="925314"/>
                    <a:pt x="1560337" y="913097"/>
                    <a:pt x="1552354" y="903118"/>
                  </a:cubicBezTo>
                  <a:cubicBezTo>
                    <a:pt x="1546092" y="895290"/>
                    <a:pt x="1537506" y="889554"/>
                    <a:pt x="1531088" y="881853"/>
                  </a:cubicBezTo>
                  <a:cubicBezTo>
                    <a:pt x="1517610" y="865679"/>
                    <a:pt x="1460341" y="786568"/>
                    <a:pt x="1456661" y="775528"/>
                  </a:cubicBezTo>
                  <a:lnTo>
                    <a:pt x="1446028" y="743630"/>
                  </a:lnTo>
                  <a:cubicBezTo>
                    <a:pt x="1442484" y="704644"/>
                    <a:pt x="1446907" y="664088"/>
                    <a:pt x="1435395" y="626672"/>
                  </a:cubicBezTo>
                  <a:cubicBezTo>
                    <a:pt x="1431637" y="614459"/>
                    <a:pt x="1413315" y="613588"/>
                    <a:pt x="1403498" y="605407"/>
                  </a:cubicBezTo>
                  <a:cubicBezTo>
                    <a:pt x="1350402" y="561160"/>
                    <a:pt x="1395758" y="581561"/>
                    <a:pt x="1339702" y="562877"/>
                  </a:cubicBezTo>
                  <a:cubicBezTo>
                    <a:pt x="1332614" y="555788"/>
                    <a:pt x="1327033" y="546769"/>
                    <a:pt x="1318437" y="541611"/>
                  </a:cubicBezTo>
                  <a:cubicBezTo>
                    <a:pt x="1308827" y="535845"/>
                    <a:pt x="1297316" y="534058"/>
                    <a:pt x="1286540" y="530979"/>
                  </a:cubicBezTo>
                  <a:cubicBezTo>
                    <a:pt x="1236403" y="516654"/>
                    <a:pt x="1229824" y="518320"/>
                    <a:pt x="1169581" y="509714"/>
                  </a:cubicBezTo>
                  <a:cubicBezTo>
                    <a:pt x="1158949" y="506170"/>
                    <a:pt x="1148460" y="502160"/>
                    <a:pt x="1137684" y="499081"/>
                  </a:cubicBezTo>
                  <a:cubicBezTo>
                    <a:pt x="1123633" y="495066"/>
                    <a:pt x="1109151" y="492648"/>
                    <a:pt x="1095154" y="488449"/>
                  </a:cubicBezTo>
                  <a:cubicBezTo>
                    <a:pt x="1073684" y="482008"/>
                    <a:pt x="1031358" y="467184"/>
                    <a:pt x="1031358" y="467184"/>
                  </a:cubicBezTo>
                  <a:cubicBezTo>
                    <a:pt x="1024270" y="460095"/>
                    <a:pt x="1018689" y="451076"/>
                    <a:pt x="1010093" y="445918"/>
                  </a:cubicBezTo>
                  <a:cubicBezTo>
                    <a:pt x="1000482" y="440152"/>
                    <a:pt x="988220" y="440298"/>
                    <a:pt x="978195" y="435286"/>
                  </a:cubicBezTo>
                  <a:cubicBezTo>
                    <a:pt x="966765" y="429571"/>
                    <a:pt x="956930" y="421109"/>
                    <a:pt x="946298" y="414021"/>
                  </a:cubicBezTo>
                  <a:cubicBezTo>
                    <a:pt x="932121" y="392756"/>
                    <a:pt x="921840" y="368297"/>
                    <a:pt x="903768" y="350225"/>
                  </a:cubicBezTo>
                  <a:cubicBezTo>
                    <a:pt x="896679" y="343137"/>
                    <a:pt x="888517" y="336980"/>
                    <a:pt x="882502" y="328960"/>
                  </a:cubicBezTo>
                  <a:cubicBezTo>
                    <a:pt x="867167" y="308514"/>
                    <a:pt x="839972" y="265165"/>
                    <a:pt x="839972" y="265165"/>
                  </a:cubicBezTo>
                  <a:cubicBezTo>
                    <a:pt x="847060" y="254532"/>
                    <a:pt x="856047" y="244944"/>
                    <a:pt x="861237" y="233267"/>
                  </a:cubicBezTo>
                  <a:cubicBezTo>
                    <a:pt x="870341" y="212784"/>
                    <a:pt x="882502" y="169472"/>
                    <a:pt x="882502" y="169472"/>
                  </a:cubicBezTo>
                  <a:cubicBezTo>
                    <a:pt x="878958" y="158839"/>
                    <a:pt x="878871" y="146326"/>
                    <a:pt x="871870" y="137574"/>
                  </a:cubicBezTo>
                  <a:cubicBezTo>
                    <a:pt x="863887" y="127595"/>
                    <a:pt x="851402" y="122024"/>
                    <a:pt x="839972" y="116309"/>
                  </a:cubicBezTo>
                  <a:cubicBezTo>
                    <a:pt x="822111" y="107379"/>
                    <a:pt x="782570" y="100152"/>
                    <a:pt x="765544" y="95044"/>
                  </a:cubicBezTo>
                  <a:cubicBezTo>
                    <a:pt x="744074" y="88603"/>
                    <a:pt x="723014" y="80867"/>
                    <a:pt x="701749" y="73779"/>
                  </a:cubicBezTo>
                  <a:cubicBezTo>
                    <a:pt x="666488" y="62025"/>
                    <a:pt x="681059" y="63146"/>
                    <a:pt x="659219" y="63146"/>
                  </a:cubicBezTo>
                  <a:lnTo>
                    <a:pt x="584791" y="20616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/>
              </a:endParaRPr>
            </a:p>
          </p:txBody>
        </p:sp>
        <p:sp>
          <p:nvSpPr>
            <p:cNvPr id="40" name="Oval 39"/>
            <p:cNvSpPr/>
            <p:nvPr/>
          </p:nvSpPr>
          <p:spPr bwMode="auto">
            <a:xfrm>
              <a:off x="2051720" y="5373216"/>
              <a:ext cx="144016" cy="14401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/>
              </a:endParaRPr>
            </a:p>
          </p:txBody>
        </p:sp>
        <p:cxnSp>
          <p:nvCxnSpPr>
            <p:cNvPr id="41" name="Straight Connector 40"/>
            <p:cNvCxnSpPr>
              <a:stCxn id="40" idx="2"/>
              <a:endCxn id="43" idx="5"/>
            </p:cNvCxnSpPr>
            <p:nvPr/>
          </p:nvCxnSpPr>
          <p:spPr bwMode="auto">
            <a:xfrm flipH="1" flipV="1">
              <a:off x="1886613" y="5280117"/>
              <a:ext cx="165107" cy="16510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Straight Connector 41"/>
            <p:cNvCxnSpPr>
              <a:stCxn id="40" idx="5"/>
              <a:endCxn id="44" idx="2"/>
            </p:cNvCxnSpPr>
            <p:nvPr/>
          </p:nvCxnSpPr>
          <p:spPr bwMode="auto">
            <a:xfrm>
              <a:off x="2174645" y="5496141"/>
              <a:ext cx="309123" cy="2109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3" name="Oval 42"/>
            <p:cNvSpPr/>
            <p:nvPr/>
          </p:nvSpPr>
          <p:spPr bwMode="auto">
            <a:xfrm>
              <a:off x="1763688" y="5157192"/>
              <a:ext cx="144016" cy="14401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/>
              </a:endParaRPr>
            </a:p>
          </p:txBody>
        </p:sp>
        <p:sp>
          <p:nvSpPr>
            <p:cNvPr id="44" name="Oval 43"/>
            <p:cNvSpPr/>
            <p:nvPr/>
          </p:nvSpPr>
          <p:spPr bwMode="auto">
            <a:xfrm>
              <a:off x="2483768" y="5445224"/>
              <a:ext cx="144016" cy="14401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/>
              </a:endParaRPr>
            </a:p>
          </p:txBody>
        </p:sp>
        <p:cxnSp>
          <p:nvCxnSpPr>
            <p:cNvPr id="45" name="Straight Connector 44"/>
            <p:cNvCxnSpPr>
              <a:stCxn id="43" idx="7"/>
            </p:cNvCxnSpPr>
            <p:nvPr/>
          </p:nvCxnSpPr>
          <p:spPr bwMode="auto">
            <a:xfrm flipV="1">
              <a:off x="1886613" y="4941168"/>
              <a:ext cx="93099" cy="2371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Straight Connector 45"/>
            <p:cNvCxnSpPr>
              <a:stCxn id="43" idx="0"/>
            </p:cNvCxnSpPr>
            <p:nvPr/>
          </p:nvCxnSpPr>
          <p:spPr bwMode="auto">
            <a:xfrm flipH="1" flipV="1">
              <a:off x="1763688" y="4869160"/>
              <a:ext cx="72008" cy="28803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/>
            <p:cNvCxnSpPr>
              <a:stCxn id="43" idx="2"/>
            </p:cNvCxnSpPr>
            <p:nvPr/>
          </p:nvCxnSpPr>
          <p:spPr bwMode="auto">
            <a:xfrm flipH="1" flipV="1">
              <a:off x="1619672" y="5013176"/>
              <a:ext cx="144016" cy="21602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Straight Connector 47"/>
            <p:cNvCxnSpPr>
              <a:stCxn id="44" idx="0"/>
            </p:cNvCxnSpPr>
            <p:nvPr/>
          </p:nvCxnSpPr>
          <p:spPr bwMode="auto">
            <a:xfrm flipV="1">
              <a:off x="2555776" y="5229200"/>
              <a:ext cx="72008" cy="21602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Straight Connector 48"/>
            <p:cNvCxnSpPr>
              <a:stCxn id="44" idx="6"/>
            </p:cNvCxnSpPr>
            <p:nvPr/>
          </p:nvCxnSpPr>
          <p:spPr bwMode="auto">
            <a:xfrm flipV="1">
              <a:off x="2627784" y="5445224"/>
              <a:ext cx="216024" cy="7200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Straight Connector 49"/>
            <p:cNvCxnSpPr>
              <a:stCxn id="44" idx="5"/>
            </p:cNvCxnSpPr>
            <p:nvPr/>
          </p:nvCxnSpPr>
          <p:spPr bwMode="auto">
            <a:xfrm>
              <a:off x="2606693" y="5568149"/>
              <a:ext cx="237115" cy="2109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1" name="Group 50"/>
          <p:cNvGrpSpPr/>
          <p:nvPr/>
        </p:nvGrpSpPr>
        <p:grpSpPr>
          <a:xfrm>
            <a:off x="5148064" y="4725144"/>
            <a:ext cx="1735164" cy="1222095"/>
            <a:chOff x="1475656" y="4509120"/>
            <a:chExt cx="1735164" cy="1222095"/>
          </a:xfrm>
        </p:grpSpPr>
        <p:sp>
          <p:nvSpPr>
            <p:cNvPr id="52" name="Freeform 51"/>
            <p:cNvSpPr/>
            <p:nvPr/>
          </p:nvSpPr>
          <p:spPr bwMode="auto">
            <a:xfrm>
              <a:off x="1475656" y="4509120"/>
              <a:ext cx="1735164" cy="1222095"/>
            </a:xfrm>
            <a:custGeom>
              <a:avLst/>
              <a:gdLst>
                <a:gd name="connsiteX0" fmla="*/ 584791 w 1735164"/>
                <a:gd name="connsiteY0" fmla="*/ 20616 h 1222095"/>
                <a:gd name="connsiteX1" fmla="*/ 584791 w 1735164"/>
                <a:gd name="connsiteY1" fmla="*/ 20616 h 1222095"/>
                <a:gd name="connsiteX2" fmla="*/ 244549 w 1735164"/>
                <a:gd name="connsiteY2" fmla="*/ 20616 h 1222095"/>
                <a:gd name="connsiteX3" fmla="*/ 180754 w 1735164"/>
                <a:gd name="connsiteY3" fmla="*/ 41881 h 1222095"/>
                <a:gd name="connsiteX4" fmla="*/ 116958 w 1735164"/>
                <a:gd name="connsiteY4" fmla="*/ 84411 h 1222095"/>
                <a:gd name="connsiteX5" fmla="*/ 74428 w 1735164"/>
                <a:gd name="connsiteY5" fmla="*/ 148207 h 1222095"/>
                <a:gd name="connsiteX6" fmla="*/ 31898 w 1735164"/>
                <a:gd name="connsiteY6" fmla="*/ 243900 h 1222095"/>
                <a:gd name="connsiteX7" fmla="*/ 21265 w 1735164"/>
                <a:gd name="connsiteY7" fmla="*/ 307695 h 1222095"/>
                <a:gd name="connsiteX8" fmla="*/ 0 w 1735164"/>
                <a:gd name="connsiteY8" fmla="*/ 371491 h 1222095"/>
                <a:gd name="connsiteX9" fmla="*/ 10633 w 1735164"/>
                <a:gd name="connsiteY9" fmla="*/ 584142 h 1222095"/>
                <a:gd name="connsiteX10" fmla="*/ 21265 w 1735164"/>
                <a:gd name="connsiteY10" fmla="*/ 616039 h 1222095"/>
                <a:gd name="connsiteX11" fmla="*/ 63795 w 1735164"/>
                <a:gd name="connsiteY11" fmla="*/ 679835 h 1222095"/>
                <a:gd name="connsiteX12" fmla="*/ 127591 w 1735164"/>
                <a:gd name="connsiteY12" fmla="*/ 722365 h 1222095"/>
                <a:gd name="connsiteX13" fmla="*/ 148856 w 1735164"/>
                <a:gd name="connsiteY13" fmla="*/ 892486 h 1222095"/>
                <a:gd name="connsiteX14" fmla="*/ 159488 w 1735164"/>
                <a:gd name="connsiteY14" fmla="*/ 924384 h 1222095"/>
                <a:gd name="connsiteX15" fmla="*/ 191386 w 1735164"/>
                <a:gd name="connsiteY15" fmla="*/ 945649 h 1222095"/>
                <a:gd name="connsiteX16" fmla="*/ 233916 w 1735164"/>
                <a:gd name="connsiteY16" fmla="*/ 988179 h 1222095"/>
                <a:gd name="connsiteX17" fmla="*/ 297712 w 1735164"/>
                <a:gd name="connsiteY17" fmla="*/ 1030709 h 1222095"/>
                <a:gd name="connsiteX18" fmla="*/ 361507 w 1735164"/>
                <a:gd name="connsiteY18" fmla="*/ 1083872 h 1222095"/>
                <a:gd name="connsiteX19" fmla="*/ 414670 w 1735164"/>
                <a:gd name="connsiteY19" fmla="*/ 1094505 h 1222095"/>
                <a:gd name="connsiteX20" fmla="*/ 478465 w 1735164"/>
                <a:gd name="connsiteY20" fmla="*/ 1115770 h 1222095"/>
                <a:gd name="connsiteX21" fmla="*/ 520995 w 1735164"/>
                <a:gd name="connsiteY21" fmla="*/ 1126402 h 1222095"/>
                <a:gd name="connsiteX22" fmla="*/ 552893 w 1735164"/>
                <a:gd name="connsiteY22" fmla="*/ 1137035 h 1222095"/>
                <a:gd name="connsiteX23" fmla="*/ 616688 w 1735164"/>
                <a:gd name="connsiteY23" fmla="*/ 1147667 h 1222095"/>
                <a:gd name="connsiteX24" fmla="*/ 659219 w 1735164"/>
                <a:gd name="connsiteY24" fmla="*/ 1158300 h 1222095"/>
                <a:gd name="connsiteX25" fmla="*/ 744279 w 1735164"/>
                <a:gd name="connsiteY25" fmla="*/ 1168932 h 1222095"/>
                <a:gd name="connsiteX26" fmla="*/ 956930 w 1735164"/>
                <a:gd name="connsiteY26" fmla="*/ 1190198 h 1222095"/>
                <a:gd name="connsiteX27" fmla="*/ 1127051 w 1735164"/>
                <a:gd name="connsiteY27" fmla="*/ 1200830 h 1222095"/>
                <a:gd name="connsiteX28" fmla="*/ 1392865 w 1735164"/>
                <a:gd name="connsiteY28" fmla="*/ 1222095 h 1222095"/>
                <a:gd name="connsiteX29" fmla="*/ 1669312 w 1735164"/>
                <a:gd name="connsiteY29" fmla="*/ 1211463 h 1222095"/>
                <a:gd name="connsiteX30" fmla="*/ 1690577 w 1735164"/>
                <a:gd name="connsiteY30" fmla="*/ 1073239 h 1222095"/>
                <a:gd name="connsiteX31" fmla="*/ 1573619 w 1735164"/>
                <a:gd name="connsiteY31" fmla="*/ 935016 h 1222095"/>
                <a:gd name="connsiteX32" fmla="*/ 1552354 w 1735164"/>
                <a:gd name="connsiteY32" fmla="*/ 903118 h 1222095"/>
                <a:gd name="connsiteX33" fmla="*/ 1531088 w 1735164"/>
                <a:gd name="connsiteY33" fmla="*/ 881853 h 1222095"/>
                <a:gd name="connsiteX34" fmla="*/ 1456661 w 1735164"/>
                <a:gd name="connsiteY34" fmla="*/ 775528 h 1222095"/>
                <a:gd name="connsiteX35" fmla="*/ 1446028 w 1735164"/>
                <a:gd name="connsiteY35" fmla="*/ 743630 h 1222095"/>
                <a:gd name="connsiteX36" fmla="*/ 1435395 w 1735164"/>
                <a:gd name="connsiteY36" fmla="*/ 626672 h 1222095"/>
                <a:gd name="connsiteX37" fmla="*/ 1403498 w 1735164"/>
                <a:gd name="connsiteY37" fmla="*/ 605407 h 1222095"/>
                <a:gd name="connsiteX38" fmla="*/ 1339702 w 1735164"/>
                <a:gd name="connsiteY38" fmla="*/ 562877 h 1222095"/>
                <a:gd name="connsiteX39" fmla="*/ 1318437 w 1735164"/>
                <a:gd name="connsiteY39" fmla="*/ 541611 h 1222095"/>
                <a:gd name="connsiteX40" fmla="*/ 1286540 w 1735164"/>
                <a:gd name="connsiteY40" fmla="*/ 530979 h 1222095"/>
                <a:gd name="connsiteX41" fmla="*/ 1169581 w 1735164"/>
                <a:gd name="connsiteY41" fmla="*/ 509714 h 1222095"/>
                <a:gd name="connsiteX42" fmla="*/ 1137684 w 1735164"/>
                <a:gd name="connsiteY42" fmla="*/ 499081 h 1222095"/>
                <a:gd name="connsiteX43" fmla="*/ 1095154 w 1735164"/>
                <a:gd name="connsiteY43" fmla="*/ 488449 h 1222095"/>
                <a:gd name="connsiteX44" fmla="*/ 1031358 w 1735164"/>
                <a:gd name="connsiteY44" fmla="*/ 467184 h 1222095"/>
                <a:gd name="connsiteX45" fmla="*/ 1010093 w 1735164"/>
                <a:gd name="connsiteY45" fmla="*/ 445918 h 1222095"/>
                <a:gd name="connsiteX46" fmla="*/ 978195 w 1735164"/>
                <a:gd name="connsiteY46" fmla="*/ 435286 h 1222095"/>
                <a:gd name="connsiteX47" fmla="*/ 946298 w 1735164"/>
                <a:gd name="connsiteY47" fmla="*/ 414021 h 1222095"/>
                <a:gd name="connsiteX48" fmla="*/ 903768 w 1735164"/>
                <a:gd name="connsiteY48" fmla="*/ 350225 h 1222095"/>
                <a:gd name="connsiteX49" fmla="*/ 882502 w 1735164"/>
                <a:gd name="connsiteY49" fmla="*/ 328960 h 1222095"/>
                <a:gd name="connsiteX50" fmla="*/ 839972 w 1735164"/>
                <a:gd name="connsiteY50" fmla="*/ 265165 h 1222095"/>
                <a:gd name="connsiteX51" fmla="*/ 861237 w 1735164"/>
                <a:gd name="connsiteY51" fmla="*/ 233267 h 1222095"/>
                <a:gd name="connsiteX52" fmla="*/ 882502 w 1735164"/>
                <a:gd name="connsiteY52" fmla="*/ 169472 h 1222095"/>
                <a:gd name="connsiteX53" fmla="*/ 871870 w 1735164"/>
                <a:gd name="connsiteY53" fmla="*/ 137574 h 1222095"/>
                <a:gd name="connsiteX54" fmla="*/ 839972 w 1735164"/>
                <a:gd name="connsiteY54" fmla="*/ 116309 h 1222095"/>
                <a:gd name="connsiteX55" fmla="*/ 765544 w 1735164"/>
                <a:gd name="connsiteY55" fmla="*/ 95044 h 1222095"/>
                <a:gd name="connsiteX56" fmla="*/ 701749 w 1735164"/>
                <a:gd name="connsiteY56" fmla="*/ 73779 h 1222095"/>
                <a:gd name="connsiteX57" fmla="*/ 659219 w 1735164"/>
                <a:gd name="connsiteY57" fmla="*/ 63146 h 1222095"/>
                <a:gd name="connsiteX58" fmla="*/ 584791 w 1735164"/>
                <a:gd name="connsiteY58" fmla="*/ 20616 h 1222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735164" h="1222095">
                  <a:moveTo>
                    <a:pt x="584791" y="20616"/>
                  </a:moveTo>
                  <a:lnTo>
                    <a:pt x="584791" y="20616"/>
                  </a:lnTo>
                  <a:cubicBezTo>
                    <a:pt x="438416" y="4353"/>
                    <a:pt x="443844" y="0"/>
                    <a:pt x="244549" y="20616"/>
                  </a:cubicBezTo>
                  <a:cubicBezTo>
                    <a:pt x="222253" y="22922"/>
                    <a:pt x="180754" y="41881"/>
                    <a:pt x="180754" y="41881"/>
                  </a:cubicBezTo>
                  <a:cubicBezTo>
                    <a:pt x="159489" y="56058"/>
                    <a:pt x="131135" y="63146"/>
                    <a:pt x="116958" y="84411"/>
                  </a:cubicBezTo>
                  <a:lnTo>
                    <a:pt x="74428" y="148207"/>
                  </a:lnTo>
                  <a:cubicBezTo>
                    <a:pt x="50347" y="184329"/>
                    <a:pt x="40334" y="193288"/>
                    <a:pt x="31898" y="243900"/>
                  </a:cubicBezTo>
                  <a:cubicBezTo>
                    <a:pt x="28354" y="265165"/>
                    <a:pt x="26494" y="286780"/>
                    <a:pt x="21265" y="307695"/>
                  </a:cubicBezTo>
                  <a:cubicBezTo>
                    <a:pt x="15828" y="329441"/>
                    <a:pt x="0" y="371491"/>
                    <a:pt x="0" y="371491"/>
                  </a:cubicBezTo>
                  <a:cubicBezTo>
                    <a:pt x="3544" y="442375"/>
                    <a:pt x="4485" y="513437"/>
                    <a:pt x="10633" y="584142"/>
                  </a:cubicBezTo>
                  <a:cubicBezTo>
                    <a:pt x="11604" y="595307"/>
                    <a:pt x="15822" y="606242"/>
                    <a:pt x="21265" y="616039"/>
                  </a:cubicBezTo>
                  <a:cubicBezTo>
                    <a:pt x="33677" y="638380"/>
                    <a:pt x="42530" y="665658"/>
                    <a:pt x="63795" y="679835"/>
                  </a:cubicBezTo>
                  <a:lnTo>
                    <a:pt x="127591" y="722365"/>
                  </a:lnTo>
                  <a:cubicBezTo>
                    <a:pt x="155622" y="806464"/>
                    <a:pt x="125872" y="708611"/>
                    <a:pt x="148856" y="892486"/>
                  </a:cubicBezTo>
                  <a:cubicBezTo>
                    <a:pt x="150246" y="903607"/>
                    <a:pt x="152487" y="915632"/>
                    <a:pt x="159488" y="924384"/>
                  </a:cubicBezTo>
                  <a:cubicBezTo>
                    <a:pt x="167471" y="934363"/>
                    <a:pt x="180753" y="938561"/>
                    <a:pt x="191386" y="945649"/>
                  </a:cubicBezTo>
                  <a:cubicBezTo>
                    <a:pt x="211639" y="1006405"/>
                    <a:pt x="185311" y="955775"/>
                    <a:pt x="233916" y="988179"/>
                  </a:cubicBezTo>
                  <a:cubicBezTo>
                    <a:pt x="313556" y="1041274"/>
                    <a:pt x="221871" y="1005430"/>
                    <a:pt x="297712" y="1030709"/>
                  </a:cubicBezTo>
                  <a:cubicBezTo>
                    <a:pt x="314261" y="1047259"/>
                    <a:pt x="337820" y="1074989"/>
                    <a:pt x="361507" y="1083872"/>
                  </a:cubicBezTo>
                  <a:cubicBezTo>
                    <a:pt x="378428" y="1090218"/>
                    <a:pt x="397235" y="1089750"/>
                    <a:pt x="414670" y="1094505"/>
                  </a:cubicBezTo>
                  <a:cubicBezTo>
                    <a:pt x="436295" y="1100403"/>
                    <a:pt x="456995" y="1109329"/>
                    <a:pt x="478465" y="1115770"/>
                  </a:cubicBezTo>
                  <a:cubicBezTo>
                    <a:pt x="492462" y="1119969"/>
                    <a:pt x="506944" y="1122388"/>
                    <a:pt x="520995" y="1126402"/>
                  </a:cubicBezTo>
                  <a:cubicBezTo>
                    <a:pt x="531772" y="1129481"/>
                    <a:pt x="541952" y="1134604"/>
                    <a:pt x="552893" y="1137035"/>
                  </a:cubicBezTo>
                  <a:cubicBezTo>
                    <a:pt x="573938" y="1141712"/>
                    <a:pt x="595548" y="1143439"/>
                    <a:pt x="616688" y="1147667"/>
                  </a:cubicBezTo>
                  <a:cubicBezTo>
                    <a:pt x="631018" y="1150533"/>
                    <a:pt x="644804" y="1155898"/>
                    <a:pt x="659219" y="1158300"/>
                  </a:cubicBezTo>
                  <a:cubicBezTo>
                    <a:pt x="687404" y="1162997"/>
                    <a:pt x="715901" y="1165593"/>
                    <a:pt x="744279" y="1168932"/>
                  </a:cubicBezTo>
                  <a:cubicBezTo>
                    <a:pt x="811522" y="1176843"/>
                    <a:pt x="890170" y="1185253"/>
                    <a:pt x="956930" y="1190198"/>
                  </a:cubicBezTo>
                  <a:cubicBezTo>
                    <a:pt x="1013592" y="1194395"/>
                    <a:pt x="1070385" y="1196684"/>
                    <a:pt x="1127051" y="1200830"/>
                  </a:cubicBezTo>
                  <a:lnTo>
                    <a:pt x="1392865" y="1222095"/>
                  </a:lnTo>
                  <a:cubicBezTo>
                    <a:pt x="1485014" y="1218551"/>
                    <a:pt x="1577584" y="1220952"/>
                    <a:pt x="1669312" y="1211463"/>
                  </a:cubicBezTo>
                  <a:cubicBezTo>
                    <a:pt x="1735164" y="1204651"/>
                    <a:pt x="1698131" y="1092123"/>
                    <a:pt x="1690577" y="1073239"/>
                  </a:cubicBezTo>
                  <a:cubicBezTo>
                    <a:pt x="1664918" y="1009092"/>
                    <a:pt x="1614420" y="982618"/>
                    <a:pt x="1573619" y="935016"/>
                  </a:cubicBezTo>
                  <a:cubicBezTo>
                    <a:pt x="1565303" y="925314"/>
                    <a:pt x="1560337" y="913097"/>
                    <a:pt x="1552354" y="903118"/>
                  </a:cubicBezTo>
                  <a:cubicBezTo>
                    <a:pt x="1546092" y="895290"/>
                    <a:pt x="1537506" y="889554"/>
                    <a:pt x="1531088" y="881853"/>
                  </a:cubicBezTo>
                  <a:cubicBezTo>
                    <a:pt x="1517610" y="865679"/>
                    <a:pt x="1460341" y="786568"/>
                    <a:pt x="1456661" y="775528"/>
                  </a:cubicBezTo>
                  <a:lnTo>
                    <a:pt x="1446028" y="743630"/>
                  </a:lnTo>
                  <a:cubicBezTo>
                    <a:pt x="1442484" y="704644"/>
                    <a:pt x="1446907" y="664088"/>
                    <a:pt x="1435395" y="626672"/>
                  </a:cubicBezTo>
                  <a:cubicBezTo>
                    <a:pt x="1431637" y="614459"/>
                    <a:pt x="1413315" y="613588"/>
                    <a:pt x="1403498" y="605407"/>
                  </a:cubicBezTo>
                  <a:cubicBezTo>
                    <a:pt x="1350402" y="561160"/>
                    <a:pt x="1395758" y="581561"/>
                    <a:pt x="1339702" y="562877"/>
                  </a:cubicBezTo>
                  <a:cubicBezTo>
                    <a:pt x="1332614" y="555788"/>
                    <a:pt x="1327033" y="546769"/>
                    <a:pt x="1318437" y="541611"/>
                  </a:cubicBezTo>
                  <a:cubicBezTo>
                    <a:pt x="1308827" y="535845"/>
                    <a:pt x="1297316" y="534058"/>
                    <a:pt x="1286540" y="530979"/>
                  </a:cubicBezTo>
                  <a:cubicBezTo>
                    <a:pt x="1236403" y="516654"/>
                    <a:pt x="1229824" y="518320"/>
                    <a:pt x="1169581" y="509714"/>
                  </a:cubicBezTo>
                  <a:cubicBezTo>
                    <a:pt x="1158949" y="506170"/>
                    <a:pt x="1148460" y="502160"/>
                    <a:pt x="1137684" y="499081"/>
                  </a:cubicBezTo>
                  <a:cubicBezTo>
                    <a:pt x="1123633" y="495066"/>
                    <a:pt x="1109151" y="492648"/>
                    <a:pt x="1095154" y="488449"/>
                  </a:cubicBezTo>
                  <a:cubicBezTo>
                    <a:pt x="1073684" y="482008"/>
                    <a:pt x="1031358" y="467184"/>
                    <a:pt x="1031358" y="467184"/>
                  </a:cubicBezTo>
                  <a:cubicBezTo>
                    <a:pt x="1024270" y="460095"/>
                    <a:pt x="1018689" y="451076"/>
                    <a:pt x="1010093" y="445918"/>
                  </a:cubicBezTo>
                  <a:cubicBezTo>
                    <a:pt x="1000482" y="440152"/>
                    <a:pt x="988220" y="440298"/>
                    <a:pt x="978195" y="435286"/>
                  </a:cubicBezTo>
                  <a:cubicBezTo>
                    <a:pt x="966765" y="429571"/>
                    <a:pt x="956930" y="421109"/>
                    <a:pt x="946298" y="414021"/>
                  </a:cubicBezTo>
                  <a:cubicBezTo>
                    <a:pt x="932121" y="392756"/>
                    <a:pt x="921840" y="368297"/>
                    <a:pt x="903768" y="350225"/>
                  </a:cubicBezTo>
                  <a:cubicBezTo>
                    <a:pt x="896679" y="343137"/>
                    <a:pt x="888517" y="336980"/>
                    <a:pt x="882502" y="328960"/>
                  </a:cubicBezTo>
                  <a:cubicBezTo>
                    <a:pt x="867167" y="308514"/>
                    <a:pt x="839972" y="265165"/>
                    <a:pt x="839972" y="265165"/>
                  </a:cubicBezTo>
                  <a:cubicBezTo>
                    <a:pt x="847060" y="254532"/>
                    <a:pt x="856047" y="244944"/>
                    <a:pt x="861237" y="233267"/>
                  </a:cubicBezTo>
                  <a:cubicBezTo>
                    <a:pt x="870341" y="212784"/>
                    <a:pt x="882502" y="169472"/>
                    <a:pt x="882502" y="169472"/>
                  </a:cubicBezTo>
                  <a:cubicBezTo>
                    <a:pt x="878958" y="158839"/>
                    <a:pt x="878871" y="146326"/>
                    <a:pt x="871870" y="137574"/>
                  </a:cubicBezTo>
                  <a:cubicBezTo>
                    <a:pt x="863887" y="127595"/>
                    <a:pt x="851402" y="122024"/>
                    <a:pt x="839972" y="116309"/>
                  </a:cubicBezTo>
                  <a:cubicBezTo>
                    <a:pt x="822111" y="107379"/>
                    <a:pt x="782570" y="100152"/>
                    <a:pt x="765544" y="95044"/>
                  </a:cubicBezTo>
                  <a:cubicBezTo>
                    <a:pt x="744074" y="88603"/>
                    <a:pt x="723014" y="80867"/>
                    <a:pt x="701749" y="73779"/>
                  </a:cubicBezTo>
                  <a:cubicBezTo>
                    <a:pt x="666488" y="62025"/>
                    <a:pt x="681059" y="63146"/>
                    <a:pt x="659219" y="63146"/>
                  </a:cubicBezTo>
                  <a:lnTo>
                    <a:pt x="584791" y="20616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/>
              </a:endParaRPr>
            </a:p>
          </p:txBody>
        </p:sp>
        <p:sp>
          <p:nvSpPr>
            <p:cNvPr id="53" name="Oval 52"/>
            <p:cNvSpPr/>
            <p:nvPr/>
          </p:nvSpPr>
          <p:spPr bwMode="auto">
            <a:xfrm>
              <a:off x="2051720" y="5373216"/>
              <a:ext cx="144016" cy="14401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/>
              </a:endParaRPr>
            </a:p>
          </p:txBody>
        </p:sp>
        <p:cxnSp>
          <p:nvCxnSpPr>
            <p:cNvPr id="54" name="Straight Connector 53"/>
            <p:cNvCxnSpPr>
              <a:stCxn id="53" idx="2"/>
              <a:endCxn id="56" idx="5"/>
            </p:cNvCxnSpPr>
            <p:nvPr/>
          </p:nvCxnSpPr>
          <p:spPr bwMode="auto">
            <a:xfrm flipH="1" flipV="1">
              <a:off x="1886613" y="5280117"/>
              <a:ext cx="165107" cy="16510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" name="Straight Connector 54"/>
            <p:cNvCxnSpPr>
              <a:stCxn id="53" idx="5"/>
              <a:endCxn id="57" idx="2"/>
            </p:cNvCxnSpPr>
            <p:nvPr/>
          </p:nvCxnSpPr>
          <p:spPr bwMode="auto">
            <a:xfrm>
              <a:off x="2174645" y="5496141"/>
              <a:ext cx="309123" cy="2109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6" name="Oval 55"/>
            <p:cNvSpPr/>
            <p:nvPr/>
          </p:nvSpPr>
          <p:spPr bwMode="auto">
            <a:xfrm>
              <a:off x="1763688" y="5157192"/>
              <a:ext cx="144016" cy="14401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/>
              </a:endParaRPr>
            </a:p>
          </p:txBody>
        </p:sp>
        <p:sp>
          <p:nvSpPr>
            <p:cNvPr id="57" name="Oval 56"/>
            <p:cNvSpPr/>
            <p:nvPr/>
          </p:nvSpPr>
          <p:spPr bwMode="auto">
            <a:xfrm>
              <a:off x="2483768" y="5445224"/>
              <a:ext cx="144016" cy="14401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/>
              </a:endParaRPr>
            </a:p>
          </p:txBody>
        </p:sp>
        <p:cxnSp>
          <p:nvCxnSpPr>
            <p:cNvPr id="58" name="Straight Connector 57"/>
            <p:cNvCxnSpPr>
              <a:stCxn id="56" idx="7"/>
            </p:cNvCxnSpPr>
            <p:nvPr/>
          </p:nvCxnSpPr>
          <p:spPr bwMode="auto">
            <a:xfrm flipV="1">
              <a:off x="1886613" y="4941168"/>
              <a:ext cx="93099" cy="2371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Straight Connector 58"/>
            <p:cNvCxnSpPr>
              <a:stCxn id="56" idx="0"/>
            </p:cNvCxnSpPr>
            <p:nvPr/>
          </p:nvCxnSpPr>
          <p:spPr bwMode="auto">
            <a:xfrm flipH="1" flipV="1">
              <a:off x="1763688" y="4869160"/>
              <a:ext cx="72008" cy="28803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Straight Connector 59"/>
            <p:cNvCxnSpPr>
              <a:stCxn id="56" idx="2"/>
            </p:cNvCxnSpPr>
            <p:nvPr/>
          </p:nvCxnSpPr>
          <p:spPr bwMode="auto">
            <a:xfrm flipH="1" flipV="1">
              <a:off x="1619672" y="5013176"/>
              <a:ext cx="144016" cy="21602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Straight Connector 60"/>
            <p:cNvCxnSpPr>
              <a:stCxn id="57" idx="0"/>
            </p:cNvCxnSpPr>
            <p:nvPr/>
          </p:nvCxnSpPr>
          <p:spPr bwMode="auto">
            <a:xfrm flipV="1">
              <a:off x="2555776" y="5229200"/>
              <a:ext cx="72008" cy="21602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Straight Connector 61"/>
            <p:cNvCxnSpPr>
              <a:stCxn id="57" idx="6"/>
            </p:cNvCxnSpPr>
            <p:nvPr/>
          </p:nvCxnSpPr>
          <p:spPr bwMode="auto">
            <a:xfrm flipV="1">
              <a:off x="2627784" y="5445224"/>
              <a:ext cx="216024" cy="7200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Straight Connector 62"/>
            <p:cNvCxnSpPr>
              <a:stCxn id="57" idx="5"/>
            </p:cNvCxnSpPr>
            <p:nvPr/>
          </p:nvCxnSpPr>
          <p:spPr bwMode="auto">
            <a:xfrm>
              <a:off x="2606693" y="5568149"/>
              <a:ext cx="237115" cy="2109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4" name="Group 63"/>
          <p:cNvGrpSpPr/>
          <p:nvPr/>
        </p:nvGrpSpPr>
        <p:grpSpPr>
          <a:xfrm>
            <a:off x="6876256" y="4653136"/>
            <a:ext cx="1735164" cy="1222095"/>
            <a:chOff x="1475656" y="4509120"/>
            <a:chExt cx="1735164" cy="1222095"/>
          </a:xfrm>
        </p:grpSpPr>
        <p:sp>
          <p:nvSpPr>
            <p:cNvPr id="65" name="Freeform 64"/>
            <p:cNvSpPr/>
            <p:nvPr/>
          </p:nvSpPr>
          <p:spPr bwMode="auto">
            <a:xfrm>
              <a:off x="1475656" y="4509120"/>
              <a:ext cx="1735164" cy="1222095"/>
            </a:xfrm>
            <a:custGeom>
              <a:avLst/>
              <a:gdLst>
                <a:gd name="connsiteX0" fmla="*/ 584791 w 1735164"/>
                <a:gd name="connsiteY0" fmla="*/ 20616 h 1222095"/>
                <a:gd name="connsiteX1" fmla="*/ 584791 w 1735164"/>
                <a:gd name="connsiteY1" fmla="*/ 20616 h 1222095"/>
                <a:gd name="connsiteX2" fmla="*/ 244549 w 1735164"/>
                <a:gd name="connsiteY2" fmla="*/ 20616 h 1222095"/>
                <a:gd name="connsiteX3" fmla="*/ 180754 w 1735164"/>
                <a:gd name="connsiteY3" fmla="*/ 41881 h 1222095"/>
                <a:gd name="connsiteX4" fmla="*/ 116958 w 1735164"/>
                <a:gd name="connsiteY4" fmla="*/ 84411 h 1222095"/>
                <a:gd name="connsiteX5" fmla="*/ 74428 w 1735164"/>
                <a:gd name="connsiteY5" fmla="*/ 148207 h 1222095"/>
                <a:gd name="connsiteX6" fmla="*/ 31898 w 1735164"/>
                <a:gd name="connsiteY6" fmla="*/ 243900 h 1222095"/>
                <a:gd name="connsiteX7" fmla="*/ 21265 w 1735164"/>
                <a:gd name="connsiteY7" fmla="*/ 307695 h 1222095"/>
                <a:gd name="connsiteX8" fmla="*/ 0 w 1735164"/>
                <a:gd name="connsiteY8" fmla="*/ 371491 h 1222095"/>
                <a:gd name="connsiteX9" fmla="*/ 10633 w 1735164"/>
                <a:gd name="connsiteY9" fmla="*/ 584142 h 1222095"/>
                <a:gd name="connsiteX10" fmla="*/ 21265 w 1735164"/>
                <a:gd name="connsiteY10" fmla="*/ 616039 h 1222095"/>
                <a:gd name="connsiteX11" fmla="*/ 63795 w 1735164"/>
                <a:gd name="connsiteY11" fmla="*/ 679835 h 1222095"/>
                <a:gd name="connsiteX12" fmla="*/ 127591 w 1735164"/>
                <a:gd name="connsiteY12" fmla="*/ 722365 h 1222095"/>
                <a:gd name="connsiteX13" fmla="*/ 148856 w 1735164"/>
                <a:gd name="connsiteY13" fmla="*/ 892486 h 1222095"/>
                <a:gd name="connsiteX14" fmla="*/ 159488 w 1735164"/>
                <a:gd name="connsiteY14" fmla="*/ 924384 h 1222095"/>
                <a:gd name="connsiteX15" fmla="*/ 191386 w 1735164"/>
                <a:gd name="connsiteY15" fmla="*/ 945649 h 1222095"/>
                <a:gd name="connsiteX16" fmla="*/ 233916 w 1735164"/>
                <a:gd name="connsiteY16" fmla="*/ 988179 h 1222095"/>
                <a:gd name="connsiteX17" fmla="*/ 297712 w 1735164"/>
                <a:gd name="connsiteY17" fmla="*/ 1030709 h 1222095"/>
                <a:gd name="connsiteX18" fmla="*/ 361507 w 1735164"/>
                <a:gd name="connsiteY18" fmla="*/ 1083872 h 1222095"/>
                <a:gd name="connsiteX19" fmla="*/ 414670 w 1735164"/>
                <a:gd name="connsiteY19" fmla="*/ 1094505 h 1222095"/>
                <a:gd name="connsiteX20" fmla="*/ 478465 w 1735164"/>
                <a:gd name="connsiteY20" fmla="*/ 1115770 h 1222095"/>
                <a:gd name="connsiteX21" fmla="*/ 520995 w 1735164"/>
                <a:gd name="connsiteY21" fmla="*/ 1126402 h 1222095"/>
                <a:gd name="connsiteX22" fmla="*/ 552893 w 1735164"/>
                <a:gd name="connsiteY22" fmla="*/ 1137035 h 1222095"/>
                <a:gd name="connsiteX23" fmla="*/ 616688 w 1735164"/>
                <a:gd name="connsiteY23" fmla="*/ 1147667 h 1222095"/>
                <a:gd name="connsiteX24" fmla="*/ 659219 w 1735164"/>
                <a:gd name="connsiteY24" fmla="*/ 1158300 h 1222095"/>
                <a:gd name="connsiteX25" fmla="*/ 744279 w 1735164"/>
                <a:gd name="connsiteY25" fmla="*/ 1168932 h 1222095"/>
                <a:gd name="connsiteX26" fmla="*/ 956930 w 1735164"/>
                <a:gd name="connsiteY26" fmla="*/ 1190198 h 1222095"/>
                <a:gd name="connsiteX27" fmla="*/ 1127051 w 1735164"/>
                <a:gd name="connsiteY27" fmla="*/ 1200830 h 1222095"/>
                <a:gd name="connsiteX28" fmla="*/ 1392865 w 1735164"/>
                <a:gd name="connsiteY28" fmla="*/ 1222095 h 1222095"/>
                <a:gd name="connsiteX29" fmla="*/ 1669312 w 1735164"/>
                <a:gd name="connsiteY29" fmla="*/ 1211463 h 1222095"/>
                <a:gd name="connsiteX30" fmla="*/ 1690577 w 1735164"/>
                <a:gd name="connsiteY30" fmla="*/ 1073239 h 1222095"/>
                <a:gd name="connsiteX31" fmla="*/ 1573619 w 1735164"/>
                <a:gd name="connsiteY31" fmla="*/ 935016 h 1222095"/>
                <a:gd name="connsiteX32" fmla="*/ 1552354 w 1735164"/>
                <a:gd name="connsiteY32" fmla="*/ 903118 h 1222095"/>
                <a:gd name="connsiteX33" fmla="*/ 1531088 w 1735164"/>
                <a:gd name="connsiteY33" fmla="*/ 881853 h 1222095"/>
                <a:gd name="connsiteX34" fmla="*/ 1456661 w 1735164"/>
                <a:gd name="connsiteY34" fmla="*/ 775528 h 1222095"/>
                <a:gd name="connsiteX35" fmla="*/ 1446028 w 1735164"/>
                <a:gd name="connsiteY35" fmla="*/ 743630 h 1222095"/>
                <a:gd name="connsiteX36" fmla="*/ 1435395 w 1735164"/>
                <a:gd name="connsiteY36" fmla="*/ 626672 h 1222095"/>
                <a:gd name="connsiteX37" fmla="*/ 1403498 w 1735164"/>
                <a:gd name="connsiteY37" fmla="*/ 605407 h 1222095"/>
                <a:gd name="connsiteX38" fmla="*/ 1339702 w 1735164"/>
                <a:gd name="connsiteY38" fmla="*/ 562877 h 1222095"/>
                <a:gd name="connsiteX39" fmla="*/ 1318437 w 1735164"/>
                <a:gd name="connsiteY39" fmla="*/ 541611 h 1222095"/>
                <a:gd name="connsiteX40" fmla="*/ 1286540 w 1735164"/>
                <a:gd name="connsiteY40" fmla="*/ 530979 h 1222095"/>
                <a:gd name="connsiteX41" fmla="*/ 1169581 w 1735164"/>
                <a:gd name="connsiteY41" fmla="*/ 509714 h 1222095"/>
                <a:gd name="connsiteX42" fmla="*/ 1137684 w 1735164"/>
                <a:gd name="connsiteY42" fmla="*/ 499081 h 1222095"/>
                <a:gd name="connsiteX43" fmla="*/ 1095154 w 1735164"/>
                <a:gd name="connsiteY43" fmla="*/ 488449 h 1222095"/>
                <a:gd name="connsiteX44" fmla="*/ 1031358 w 1735164"/>
                <a:gd name="connsiteY44" fmla="*/ 467184 h 1222095"/>
                <a:gd name="connsiteX45" fmla="*/ 1010093 w 1735164"/>
                <a:gd name="connsiteY45" fmla="*/ 445918 h 1222095"/>
                <a:gd name="connsiteX46" fmla="*/ 978195 w 1735164"/>
                <a:gd name="connsiteY46" fmla="*/ 435286 h 1222095"/>
                <a:gd name="connsiteX47" fmla="*/ 946298 w 1735164"/>
                <a:gd name="connsiteY47" fmla="*/ 414021 h 1222095"/>
                <a:gd name="connsiteX48" fmla="*/ 903768 w 1735164"/>
                <a:gd name="connsiteY48" fmla="*/ 350225 h 1222095"/>
                <a:gd name="connsiteX49" fmla="*/ 882502 w 1735164"/>
                <a:gd name="connsiteY49" fmla="*/ 328960 h 1222095"/>
                <a:gd name="connsiteX50" fmla="*/ 839972 w 1735164"/>
                <a:gd name="connsiteY50" fmla="*/ 265165 h 1222095"/>
                <a:gd name="connsiteX51" fmla="*/ 861237 w 1735164"/>
                <a:gd name="connsiteY51" fmla="*/ 233267 h 1222095"/>
                <a:gd name="connsiteX52" fmla="*/ 882502 w 1735164"/>
                <a:gd name="connsiteY52" fmla="*/ 169472 h 1222095"/>
                <a:gd name="connsiteX53" fmla="*/ 871870 w 1735164"/>
                <a:gd name="connsiteY53" fmla="*/ 137574 h 1222095"/>
                <a:gd name="connsiteX54" fmla="*/ 839972 w 1735164"/>
                <a:gd name="connsiteY54" fmla="*/ 116309 h 1222095"/>
                <a:gd name="connsiteX55" fmla="*/ 765544 w 1735164"/>
                <a:gd name="connsiteY55" fmla="*/ 95044 h 1222095"/>
                <a:gd name="connsiteX56" fmla="*/ 701749 w 1735164"/>
                <a:gd name="connsiteY56" fmla="*/ 73779 h 1222095"/>
                <a:gd name="connsiteX57" fmla="*/ 659219 w 1735164"/>
                <a:gd name="connsiteY57" fmla="*/ 63146 h 1222095"/>
                <a:gd name="connsiteX58" fmla="*/ 584791 w 1735164"/>
                <a:gd name="connsiteY58" fmla="*/ 20616 h 1222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735164" h="1222095">
                  <a:moveTo>
                    <a:pt x="584791" y="20616"/>
                  </a:moveTo>
                  <a:lnTo>
                    <a:pt x="584791" y="20616"/>
                  </a:lnTo>
                  <a:cubicBezTo>
                    <a:pt x="438416" y="4353"/>
                    <a:pt x="443844" y="0"/>
                    <a:pt x="244549" y="20616"/>
                  </a:cubicBezTo>
                  <a:cubicBezTo>
                    <a:pt x="222253" y="22922"/>
                    <a:pt x="180754" y="41881"/>
                    <a:pt x="180754" y="41881"/>
                  </a:cubicBezTo>
                  <a:cubicBezTo>
                    <a:pt x="159489" y="56058"/>
                    <a:pt x="131135" y="63146"/>
                    <a:pt x="116958" y="84411"/>
                  </a:cubicBezTo>
                  <a:lnTo>
                    <a:pt x="74428" y="148207"/>
                  </a:lnTo>
                  <a:cubicBezTo>
                    <a:pt x="50347" y="184329"/>
                    <a:pt x="40334" y="193288"/>
                    <a:pt x="31898" y="243900"/>
                  </a:cubicBezTo>
                  <a:cubicBezTo>
                    <a:pt x="28354" y="265165"/>
                    <a:pt x="26494" y="286780"/>
                    <a:pt x="21265" y="307695"/>
                  </a:cubicBezTo>
                  <a:cubicBezTo>
                    <a:pt x="15828" y="329441"/>
                    <a:pt x="0" y="371491"/>
                    <a:pt x="0" y="371491"/>
                  </a:cubicBezTo>
                  <a:cubicBezTo>
                    <a:pt x="3544" y="442375"/>
                    <a:pt x="4485" y="513437"/>
                    <a:pt x="10633" y="584142"/>
                  </a:cubicBezTo>
                  <a:cubicBezTo>
                    <a:pt x="11604" y="595307"/>
                    <a:pt x="15822" y="606242"/>
                    <a:pt x="21265" y="616039"/>
                  </a:cubicBezTo>
                  <a:cubicBezTo>
                    <a:pt x="33677" y="638380"/>
                    <a:pt x="42530" y="665658"/>
                    <a:pt x="63795" y="679835"/>
                  </a:cubicBezTo>
                  <a:lnTo>
                    <a:pt x="127591" y="722365"/>
                  </a:lnTo>
                  <a:cubicBezTo>
                    <a:pt x="155622" y="806464"/>
                    <a:pt x="125872" y="708611"/>
                    <a:pt x="148856" y="892486"/>
                  </a:cubicBezTo>
                  <a:cubicBezTo>
                    <a:pt x="150246" y="903607"/>
                    <a:pt x="152487" y="915632"/>
                    <a:pt x="159488" y="924384"/>
                  </a:cubicBezTo>
                  <a:cubicBezTo>
                    <a:pt x="167471" y="934363"/>
                    <a:pt x="180753" y="938561"/>
                    <a:pt x="191386" y="945649"/>
                  </a:cubicBezTo>
                  <a:cubicBezTo>
                    <a:pt x="211639" y="1006405"/>
                    <a:pt x="185311" y="955775"/>
                    <a:pt x="233916" y="988179"/>
                  </a:cubicBezTo>
                  <a:cubicBezTo>
                    <a:pt x="313556" y="1041274"/>
                    <a:pt x="221871" y="1005430"/>
                    <a:pt x="297712" y="1030709"/>
                  </a:cubicBezTo>
                  <a:cubicBezTo>
                    <a:pt x="314261" y="1047259"/>
                    <a:pt x="337820" y="1074989"/>
                    <a:pt x="361507" y="1083872"/>
                  </a:cubicBezTo>
                  <a:cubicBezTo>
                    <a:pt x="378428" y="1090218"/>
                    <a:pt x="397235" y="1089750"/>
                    <a:pt x="414670" y="1094505"/>
                  </a:cubicBezTo>
                  <a:cubicBezTo>
                    <a:pt x="436295" y="1100403"/>
                    <a:pt x="456995" y="1109329"/>
                    <a:pt x="478465" y="1115770"/>
                  </a:cubicBezTo>
                  <a:cubicBezTo>
                    <a:pt x="492462" y="1119969"/>
                    <a:pt x="506944" y="1122388"/>
                    <a:pt x="520995" y="1126402"/>
                  </a:cubicBezTo>
                  <a:cubicBezTo>
                    <a:pt x="531772" y="1129481"/>
                    <a:pt x="541952" y="1134604"/>
                    <a:pt x="552893" y="1137035"/>
                  </a:cubicBezTo>
                  <a:cubicBezTo>
                    <a:pt x="573938" y="1141712"/>
                    <a:pt x="595548" y="1143439"/>
                    <a:pt x="616688" y="1147667"/>
                  </a:cubicBezTo>
                  <a:cubicBezTo>
                    <a:pt x="631018" y="1150533"/>
                    <a:pt x="644804" y="1155898"/>
                    <a:pt x="659219" y="1158300"/>
                  </a:cubicBezTo>
                  <a:cubicBezTo>
                    <a:pt x="687404" y="1162997"/>
                    <a:pt x="715901" y="1165593"/>
                    <a:pt x="744279" y="1168932"/>
                  </a:cubicBezTo>
                  <a:cubicBezTo>
                    <a:pt x="811522" y="1176843"/>
                    <a:pt x="890170" y="1185253"/>
                    <a:pt x="956930" y="1190198"/>
                  </a:cubicBezTo>
                  <a:cubicBezTo>
                    <a:pt x="1013592" y="1194395"/>
                    <a:pt x="1070385" y="1196684"/>
                    <a:pt x="1127051" y="1200830"/>
                  </a:cubicBezTo>
                  <a:lnTo>
                    <a:pt x="1392865" y="1222095"/>
                  </a:lnTo>
                  <a:cubicBezTo>
                    <a:pt x="1485014" y="1218551"/>
                    <a:pt x="1577584" y="1220952"/>
                    <a:pt x="1669312" y="1211463"/>
                  </a:cubicBezTo>
                  <a:cubicBezTo>
                    <a:pt x="1735164" y="1204651"/>
                    <a:pt x="1698131" y="1092123"/>
                    <a:pt x="1690577" y="1073239"/>
                  </a:cubicBezTo>
                  <a:cubicBezTo>
                    <a:pt x="1664918" y="1009092"/>
                    <a:pt x="1614420" y="982618"/>
                    <a:pt x="1573619" y="935016"/>
                  </a:cubicBezTo>
                  <a:cubicBezTo>
                    <a:pt x="1565303" y="925314"/>
                    <a:pt x="1560337" y="913097"/>
                    <a:pt x="1552354" y="903118"/>
                  </a:cubicBezTo>
                  <a:cubicBezTo>
                    <a:pt x="1546092" y="895290"/>
                    <a:pt x="1537506" y="889554"/>
                    <a:pt x="1531088" y="881853"/>
                  </a:cubicBezTo>
                  <a:cubicBezTo>
                    <a:pt x="1517610" y="865679"/>
                    <a:pt x="1460341" y="786568"/>
                    <a:pt x="1456661" y="775528"/>
                  </a:cubicBezTo>
                  <a:lnTo>
                    <a:pt x="1446028" y="743630"/>
                  </a:lnTo>
                  <a:cubicBezTo>
                    <a:pt x="1442484" y="704644"/>
                    <a:pt x="1446907" y="664088"/>
                    <a:pt x="1435395" y="626672"/>
                  </a:cubicBezTo>
                  <a:cubicBezTo>
                    <a:pt x="1431637" y="614459"/>
                    <a:pt x="1413315" y="613588"/>
                    <a:pt x="1403498" y="605407"/>
                  </a:cubicBezTo>
                  <a:cubicBezTo>
                    <a:pt x="1350402" y="561160"/>
                    <a:pt x="1395758" y="581561"/>
                    <a:pt x="1339702" y="562877"/>
                  </a:cubicBezTo>
                  <a:cubicBezTo>
                    <a:pt x="1332614" y="555788"/>
                    <a:pt x="1327033" y="546769"/>
                    <a:pt x="1318437" y="541611"/>
                  </a:cubicBezTo>
                  <a:cubicBezTo>
                    <a:pt x="1308827" y="535845"/>
                    <a:pt x="1297316" y="534058"/>
                    <a:pt x="1286540" y="530979"/>
                  </a:cubicBezTo>
                  <a:cubicBezTo>
                    <a:pt x="1236403" y="516654"/>
                    <a:pt x="1229824" y="518320"/>
                    <a:pt x="1169581" y="509714"/>
                  </a:cubicBezTo>
                  <a:cubicBezTo>
                    <a:pt x="1158949" y="506170"/>
                    <a:pt x="1148460" y="502160"/>
                    <a:pt x="1137684" y="499081"/>
                  </a:cubicBezTo>
                  <a:cubicBezTo>
                    <a:pt x="1123633" y="495066"/>
                    <a:pt x="1109151" y="492648"/>
                    <a:pt x="1095154" y="488449"/>
                  </a:cubicBezTo>
                  <a:cubicBezTo>
                    <a:pt x="1073684" y="482008"/>
                    <a:pt x="1031358" y="467184"/>
                    <a:pt x="1031358" y="467184"/>
                  </a:cubicBezTo>
                  <a:cubicBezTo>
                    <a:pt x="1024270" y="460095"/>
                    <a:pt x="1018689" y="451076"/>
                    <a:pt x="1010093" y="445918"/>
                  </a:cubicBezTo>
                  <a:cubicBezTo>
                    <a:pt x="1000482" y="440152"/>
                    <a:pt x="988220" y="440298"/>
                    <a:pt x="978195" y="435286"/>
                  </a:cubicBezTo>
                  <a:cubicBezTo>
                    <a:pt x="966765" y="429571"/>
                    <a:pt x="956930" y="421109"/>
                    <a:pt x="946298" y="414021"/>
                  </a:cubicBezTo>
                  <a:cubicBezTo>
                    <a:pt x="932121" y="392756"/>
                    <a:pt x="921840" y="368297"/>
                    <a:pt x="903768" y="350225"/>
                  </a:cubicBezTo>
                  <a:cubicBezTo>
                    <a:pt x="896679" y="343137"/>
                    <a:pt x="888517" y="336980"/>
                    <a:pt x="882502" y="328960"/>
                  </a:cubicBezTo>
                  <a:cubicBezTo>
                    <a:pt x="867167" y="308514"/>
                    <a:pt x="839972" y="265165"/>
                    <a:pt x="839972" y="265165"/>
                  </a:cubicBezTo>
                  <a:cubicBezTo>
                    <a:pt x="847060" y="254532"/>
                    <a:pt x="856047" y="244944"/>
                    <a:pt x="861237" y="233267"/>
                  </a:cubicBezTo>
                  <a:cubicBezTo>
                    <a:pt x="870341" y="212784"/>
                    <a:pt x="882502" y="169472"/>
                    <a:pt x="882502" y="169472"/>
                  </a:cubicBezTo>
                  <a:cubicBezTo>
                    <a:pt x="878958" y="158839"/>
                    <a:pt x="878871" y="146326"/>
                    <a:pt x="871870" y="137574"/>
                  </a:cubicBezTo>
                  <a:cubicBezTo>
                    <a:pt x="863887" y="127595"/>
                    <a:pt x="851402" y="122024"/>
                    <a:pt x="839972" y="116309"/>
                  </a:cubicBezTo>
                  <a:cubicBezTo>
                    <a:pt x="822111" y="107379"/>
                    <a:pt x="782570" y="100152"/>
                    <a:pt x="765544" y="95044"/>
                  </a:cubicBezTo>
                  <a:cubicBezTo>
                    <a:pt x="744074" y="88603"/>
                    <a:pt x="723014" y="80867"/>
                    <a:pt x="701749" y="73779"/>
                  </a:cubicBezTo>
                  <a:cubicBezTo>
                    <a:pt x="666488" y="62025"/>
                    <a:pt x="681059" y="63146"/>
                    <a:pt x="659219" y="63146"/>
                  </a:cubicBezTo>
                  <a:lnTo>
                    <a:pt x="584791" y="20616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/>
              </a:endParaRPr>
            </a:p>
          </p:txBody>
        </p:sp>
        <p:sp>
          <p:nvSpPr>
            <p:cNvPr id="66" name="Oval 65"/>
            <p:cNvSpPr/>
            <p:nvPr/>
          </p:nvSpPr>
          <p:spPr bwMode="auto">
            <a:xfrm>
              <a:off x="2051720" y="5373216"/>
              <a:ext cx="144016" cy="14401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/>
              </a:endParaRPr>
            </a:p>
          </p:txBody>
        </p:sp>
        <p:cxnSp>
          <p:nvCxnSpPr>
            <p:cNvPr id="67" name="Straight Connector 66"/>
            <p:cNvCxnSpPr>
              <a:stCxn id="66" idx="2"/>
              <a:endCxn id="69" idx="5"/>
            </p:cNvCxnSpPr>
            <p:nvPr/>
          </p:nvCxnSpPr>
          <p:spPr bwMode="auto">
            <a:xfrm flipH="1" flipV="1">
              <a:off x="1886613" y="5280117"/>
              <a:ext cx="165107" cy="16510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Straight Connector 67"/>
            <p:cNvCxnSpPr>
              <a:stCxn id="66" idx="5"/>
              <a:endCxn id="70" idx="2"/>
            </p:cNvCxnSpPr>
            <p:nvPr/>
          </p:nvCxnSpPr>
          <p:spPr bwMode="auto">
            <a:xfrm>
              <a:off x="2174645" y="5496141"/>
              <a:ext cx="309123" cy="2109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9" name="Oval 68"/>
            <p:cNvSpPr/>
            <p:nvPr/>
          </p:nvSpPr>
          <p:spPr bwMode="auto">
            <a:xfrm>
              <a:off x="1763688" y="5157192"/>
              <a:ext cx="144016" cy="14401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/>
              </a:endParaRPr>
            </a:p>
          </p:txBody>
        </p:sp>
        <p:sp>
          <p:nvSpPr>
            <p:cNvPr id="70" name="Oval 69"/>
            <p:cNvSpPr/>
            <p:nvPr/>
          </p:nvSpPr>
          <p:spPr bwMode="auto">
            <a:xfrm>
              <a:off x="2483768" y="5445224"/>
              <a:ext cx="144016" cy="14401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/>
              </a:endParaRPr>
            </a:p>
          </p:txBody>
        </p:sp>
        <p:cxnSp>
          <p:nvCxnSpPr>
            <p:cNvPr id="71" name="Straight Connector 70"/>
            <p:cNvCxnSpPr>
              <a:stCxn id="69" idx="7"/>
            </p:cNvCxnSpPr>
            <p:nvPr/>
          </p:nvCxnSpPr>
          <p:spPr bwMode="auto">
            <a:xfrm flipV="1">
              <a:off x="1886613" y="4941168"/>
              <a:ext cx="93099" cy="2371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Straight Connector 71"/>
            <p:cNvCxnSpPr>
              <a:stCxn id="69" idx="0"/>
            </p:cNvCxnSpPr>
            <p:nvPr/>
          </p:nvCxnSpPr>
          <p:spPr bwMode="auto">
            <a:xfrm flipH="1" flipV="1">
              <a:off x="1763688" y="4869160"/>
              <a:ext cx="72008" cy="28803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Straight Connector 72"/>
            <p:cNvCxnSpPr>
              <a:stCxn id="69" idx="2"/>
            </p:cNvCxnSpPr>
            <p:nvPr/>
          </p:nvCxnSpPr>
          <p:spPr bwMode="auto">
            <a:xfrm flipH="1" flipV="1">
              <a:off x="1619672" y="5013176"/>
              <a:ext cx="144016" cy="21602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Straight Connector 73"/>
            <p:cNvCxnSpPr>
              <a:stCxn id="70" idx="0"/>
            </p:cNvCxnSpPr>
            <p:nvPr/>
          </p:nvCxnSpPr>
          <p:spPr bwMode="auto">
            <a:xfrm flipV="1">
              <a:off x="2555776" y="5229200"/>
              <a:ext cx="72008" cy="21602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Straight Connector 74"/>
            <p:cNvCxnSpPr>
              <a:stCxn id="70" idx="6"/>
            </p:cNvCxnSpPr>
            <p:nvPr/>
          </p:nvCxnSpPr>
          <p:spPr bwMode="auto">
            <a:xfrm flipV="1">
              <a:off x="2627784" y="5445224"/>
              <a:ext cx="216024" cy="7200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Straight Connector 75"/>
            <p:cNvCxnSpPr>
              <a:stCxn id="70" idx="5"/>
            </p:cNvCxnSpPr>
            <p:nvPr/>
          </p:nvCxnSpPr>
          <p:spPr bwMode="auto">
            <a:xfrm>
              <a:off x="2606693" y="5568149"/>
              <a:ext cx="237115" cy="2109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8" name="Oval 77"/>
          <p:cNvSpPr/>
          <p:nvPr/>
        </p:nvSpPr>
        <p:spPr bwMode="auto">
          <a:xfrm>
            <a:off x="4788024" y="6237312"/>
            <a:ext cx="144016" cy="144016"/>
          </a:xfrm>
          <a:prstGeom prst="ellipse">
            <a:avLst/>
          </a:prstGeom>
          <a:solidFill>
            <a:srgbClr val="C00000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sp>
        <p:nvSpPr>
          <p:cNvPr id="79" name="Oval 78"/>
          <p:cNvSpPr/>
          <p:nvPr/>
        </p:nvSpPr>
        <p:spPr bwMode="auto">
          <a:xfrm>
            <a:off x="5292080" y="6237312"/>
            <a:ext cx="144016" cy="144016"/>
          </a:xfrm>
          <a:prstGeom prst="ellipse">
            <a:avLst/>
          </a:prstGeom>
          <a:solidFill>
            <a:srgbClr val="C00000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cxnSp>
        <p:nvCxnSpPr>
          <p:cNvPr id="81" name="Straight Connector 80"/>
          <p:cNvCxnSpPr>
            <a:stCxn id="8" idx="4"/>
            <a:endCxn id="78" idx="2"/>
          </p:cNvCxnSpPr>
          <p:nvPr/>
        </p:nvCxnSpPr>
        <p:spPr bwMode="auto">
          <a:xfrm>
            <a:off x="1979712" y="5663289"/>
            <a:ext cx="2808312" cy="64603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/>
          <p:cNvCxnSpPr>
            <a:endCxn id="79" idx="2"/>
          </p:cNvCxnSpPr>
          <p:nvPr/>
        </p:nvCxnSpPr>
        <p:spPr bwMode="auto">
          <a:xfrm>
            <a:off x="1979712" y="5661248"/>
            <a:ext cx="3312368" cy="64807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Straight Connector 86"/>
          <p:cNvCxnSpPr>
            <a:endCxn id="78" idx="1"/>
          </p:cNvCxnSpPr>
          <p:nvPr/>
        </p:nvCxnSpPr>
        <p:spPr bwMode="auto">
          <a:xfrm>
            <a:off x="3923928" y="5661248"/>
            <a:ext cx="885187" cy="59715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/>
          <p:cNvCxnSpPr>
            <a:endCxn id="79" idx="1"/>
          </p:cNvCxnSpPr>
          <p:nvPr/>
        </p:nvCxnSpPr>
        <p:spPr bwMode="auto">
          <a:xfrm>
            <a:off x="3923928" y="5661248"/>
            <a:ext cx="1389243" cy="59715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2" name="Straight Connector 91"/>
          <p:cNvCxnSpPr>
            <a:stCxn id="53" idx="4"/>
            <a:endCxn id="79" idx="7"/>
          </p:cNvCxnSpPr>
          <p:nvPr/>
        </p:nvCxnSpPr>
        <p:spPr bwMode="auto">
          <a:xfrm flipH="1">
            <a:off x="5415005" y="5733256"/>
            <a:ext cx="381131" cy="52514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4" name="Straight Connector 93"/>
          <p:cNvCxnSpPr>
            <a:endCxn id="78" idx="7"/>
          </p:cNvCxnSpPr>
          <p:nvPr/>
        </p:nvCxnSpPr>
        <p:spPr bwMode="auto">
          <a:xfrm flipH="1">
            <a:off x="4910949" y="5733256"/>
            <a:ext cx="885187" cy="52514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Straight Connector 95"/>
          <p:cNvCxnSpPr>
            <a:stCxn id="66" idx="3"/>
            <a:endCxn id="79" idx="6"/>
          </p:cNvCxnSpPr>
          <p:nvPr/>
        </p:nvCxnSpPr>
        <p:spPr bwMode="auto">
          <a:xfrm flipH="1">
            <a:off x="5436096" y="5640157"/>
            <a:ext cx="2037315" cy="6691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8" name="Straight Connector 97"/>
          <p:cNvCxnSpPr>
            <a:stCxn id="66" idx="2"/>
            <a:endCxn id="78" idx="6"/>
          </p:cNvCxnSpPr>
          <p:nvPr/>
        </p:nvCxnSpPr>
        <p:spPr bwMode="auto">
          <a:xfrm flipH="1">
            <a:off x="4932040" y="5589240"/>
            <a:ext cx="2520280" cy="7200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0" name="TextBox 99"/>
          <p:cNvSpPr txBox="1"/>
          <p:nvPr/>
        </p:nvSpPr>
        <p:spPr>
          <a:xfrm>
            <a:off x="1907704" y="4941168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G</a:t>
            </a:r>
            <a:r>
              <a:rPr lang="en-GB" baseline="-25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79912" y="486916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G</a:t>
            </a:r>
            <a:r>
              <a:rPr lang="en-GB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52120" y="4839543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G</a:t>
            </a:r>
            <a:r>
              <a:rPr lang="en-GB" baseline="-25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380312" y="4839543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G</a:t>
            </a:r>
            <a:r>
              <a:rPr lang="en-GB" baseline="-25000" dirty="0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100" grpId="0"/>
      <p:bldP spid="101" grpId="0"/>
      <p:bldP spid="102" grpId="0"/>
      <p:bldP spid="10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(or five) things to prove: </a:t>
            </a:r>
            <a:br>
              <a:rPr lang="en-GB" dirty="0"/>
            </a:br>
            <a:r>
              <a:rPr lang="en-GB" dirty="0"/>
              <a:t>this is a parameterised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GB" dirty="0"/>
              <a:t>The result is a d-regular graph</a:t>
            </a:r>
          </a:p>
          <a:p>
            <a:pPr lvl="1"/>
            <a:r>
              <a:rPr lang="en-GB" dirty="0"/>
              <a:t>That is: every vertex has degree d.</a:t>
            </a:r>
          </a:p>
          <a:p>
            <a:pPr lvl="1"/>
            <a:r>
              <a:rPr lang="en-GB" dirty="0"/>
              <a:t>True for vertices in </a:t>
            </a:r>
            <a:r>
              <a:rPr lang="en-GB" dirty="0" err="1"/>
              <a:t>G</a:t>
            </a:r>
            <a:r>
              <a:rPr lang="en-GB" baseline="-25000" dirty="0" err="1"/>
              <a:t>i</a:t>
            </a:r>
            <a:r>
              <a:rPr lang="en-GB" baseline="-25000" dirty="0"/>
              <a:t> </a:t>
            </a:r>
            <a:r>
              <a:rPr lang="en-GB" dirty="0"/>
              <a:t>because of the extra edges. True for the new vertices as they have degree d by construction.</a:t>
            </a:r>
          </a:p>
          <a:p>
            <a:pPr lvl="1"/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The construction is a parameterised reduction.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(</a:t>
            </a:r>
            <a:r>
              <a:rPr lang="en-GB" dirty="0" err="1"/>
              <a:t>G,k</a:t>
            </a:r>
            <a:r>
              <a:rPr lang="en-GB" dirty="0"/>
              <a:t>) is a yes-instance, if and only if, (</a:t>
            </a:r>
            <a:r>
              <a:rPr lang="en-GB" dirty="0" err="1"/>
              <a:t>G’,k</a:t>
            </a:r>
            <a:r>
              <a:rPr lang="en-GB" dirty="0"/>
              <a:t>’) is a yes instance.</a:t>
            </a:r>
          </a:p>
          <a:p>
            <a:pPr marL="1200150" lvl="2" indent="-342900">
              <a:buFont typeface="Wingdings" pitchFamily="2" charset="2"/>
              <a:buChar char="Ø"/>
            </a:pPr>
            <a:r>
              <a:rPr lang="en-GB" dirty="0"/>
              <a:t>If G has a clique of size k, clearly G’ has as it contains copies of G.</a:t>
            </a:r>
          </a:p>
          <a:p>
            <a:pPr marL="1200150" lvl="2" indent="-342900">
              <a:buFont typeface="Wingdings" pitchFamily="2" charset="2"/>
              <a:buChar char="Ø"/>
            </a:pPr>
            <a:r>
              <a:rPr lang="en-GB" dirty="0"/>
              <a:t>If G’ has a clique of size k </a:t>
            </a:r>
            <a:r>
              <a:rPr lang="en-GB" dirty="0">
                <a:latin typeface="cmsy10"/>
              </a:rPr>
              <a:t>¸</a:t>
            </a:r>
            <a:r>
              <a:rPr lang="en-GB" dirty="0"/>
              <a:t> 3, it cannot involve the new vertices as they are not contained in triangles, thus G must have it also.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k‘ </a:t>
            </a:r>
            <a:r>
              <a:rPr lang="en-GB" dirty="0">
                <a:latin typeface="cmsy10"/>
              </a:rPr>
              <a:t>·</a:t>
            </a:r>
            <a:r>
              <a:rPr lang="en-GB" dirty="0"/>
              <a:t> g(k) for some computable function g.</a:t>
            </a:r>
          </a:p>
          <a:p>
            <a:pPr marL="1200150" lvl="2" indent="-342900">
              <a:buFont typeface="Wingdings" pitchFamily="2" charset="2"/>
              <a:buChar char="Ø"/>
            </a:pPr>
            <a:r>
              <a:rPr lang="en-GB" dirty="0"/>
              <a:t>k‘ = k.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R runs in f(k)poly(|G|) time, for some computable function f.</a:t>
            </a:r>
          </a:p>
          <a:p>
            <a:pPr marL="1200150" lvl="2" indent="-342900">
              <a:buFont typeface="Wingdings" pitchFamily="2" charset="2"/>
              <a:buChar char="Ø"/>
            </a:pPr>
            <a:r>
              <a:rPr lang="en-GB" dirty="0"/>
              <a:t>R requires polynomial time.</a:t>
            </a:r>
          </a:p>
          <a:p>
            <a:pPr lvl="1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Clique on regular graphs: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772400" cy="3962400"/>
          </a:xfrm>
        </p:spPr>
        <p:txBody>
          <a:bodyPr/>
          <a:lstStyle/>
          <a:p>
            <a:r>
              <a:rPr lang="en-GB" dirty="0"/>
              <a:t>We have a parameterised reduction from clique to clique on regular graphs.</a:t>
            </a:r>
          </a:p>
          <a:p>
            <a:pPr lvl="1"/>
            <a:r>
              <a:rPr lang="en-GB" dirty="0"/>
              <a:t>Thus, assuming </a:t>
            </a:r>
            <a:r>
              <a:rPr lang="en-GB" b="1" dirty="0"/>
              <a:t>FPT</a:t>
            </a:r>
            <a:r>
              <a:rPr lang="en-GB" dirty="0"/>
              <a:t> </a:t>
            </a:r>
            <a:r>
              <a:rPr lang="en-GB" dirty="0">
                <a:latin typeface="Symbol"/>
                <a:sym typeface="Symbol"/>
              </a:rPr>
              <a:t></a:t>
            </a:r>
            <a:r>
              <a:rPr lang="en-GB" dirty="0"/>
              <a:t> </a:t>
            </a:r>
            <a:r>
              <a:rPr lang="en-GB" b="1" dirty="0"/>
              <a:t>W[1]</a:t>
            </a:r>
            <a:r>
              <a:rPr lang="en-GB" dirty="0"/>
              <a:t>, clique on regular graphs in not in </a:t>
            </a:r>
            <a:r>
              <a:rPr lang="en-GB" b="1" dirty="0"/>
              <a:t>FPT </a:t>
            </a:r>
            <a:r>
              <a:rPr lang="en-GB" dirty="0"/>
              <a:t>(as so for clique).</a:t>
            </a:r>
          </a:p>
          <a:p>
            <a:endParaRPr lang="en-GB" dirty="0"/>
          </a:p>
          <a:p>
            <a:r>
              <a:rPr lang="en-GB" dirty="0"/>
              <a:t>Next, we can use clique on regular graphs to reduce from.</a:t>
            </a:r>
          </a:p>
          <a:p>
            <a:pPr lvl="1"/>
            <a:r>
              <a:rPr lang="en-GB" dirty="0"/>
              <a:t>Using that: if B is in </a:t>
            </a:r>
            <a:r>
              <a:rPr lang="en-GB" b="1" dirty="0"/>
              <a:t>FPT </a:t>
            </a:r>
            <a:r>
              <a:rPr lang="en-GB" dirty="0"/>
              <a:t>and there is a parameterised reduction from A to B, then A is in </a:t>
            </a:r>
            <a:r>
              <a:rPr lang="en-GB" b="1" dirty="0"/>
              <a:t>FPT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I.e.: assuming that A is not in </a:t>
            </a:r>
            <a:r>
              <a:rPr lang="en-GB" b="1" dirty="0"/>
              <a:t>FPT</a:t>
            </a:r>
            <a:r>
              <a:rPr lang="en-GB" dirty="0"/>
              <a:t>, then B is not in </a:t>
            </a:r>
            <a:r>
              <a:rPr lang="en-GB" b="1" dirty="0"/>
              <a:t>FPT</a:t>
            </a:r>
            <a:r>
              <a:rPr lang="en-GB" dirty="0"/>
              <a:t> either.</a:t>
            </a:r>
          </a:p>
          <a:p>
            <a:pPr lvl="1"/>
            <a:endParaRPr lang="en-GB" dirty="0"/>
          </a:p>
          <a:p>
            <a:r>
              <a:rPr lang="en-GB" dirty="0"/>
              <a:t>What about independent set on regular graphs?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clique on regular graphs to</a:t>
            </a:r>
            <a:br>
              <a:rPr lang="en-GB" dirty="0"/>
            </a:br>
            <a:r>
              <a:rPr lang="en-GB" dirty="0"/>
              <a:t>multicoloured clique on regular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520880" cy="3962400"/>
          </a:xfrm>
        </p:spPr>
        <p:txBody>
          <a:bodyPr/>
          <a:lstStyle/>
          <a:p>
            <a:r>
              <a:rPr lang="en-GB" b="1" dirty="0"/>
              <a:t>Multicoloured clique on regular graphs</a:t>
            </a:r>
          </a:p>
          <a:p>
            <a:pPr lvl="1"/>
            <a:r>
              <a:rPr lang="en-GB" u="sng" dirty="0"/>
              <a:t>Instance</a:t>
            </a:r>
            <a:r>
              <a:rPr lang="en-GB" dirty="0"/>
              <a:t>: graph G=(V,E) where every vertex has degree d, and a colouring of the vertices in k colour classes V</a:t>
            </a:r>
            <a:r>
              <a:rPr lang="en-GB" baseline="-25000" dirty="0"/>
              <a:t>1</a:t>
            </a:r>
            <a:r>
              <a:rPr lang="en-GB" dirty="0"/>
              <a:t>,V</a:t>
            </a:r>
            <a:r>
              <a:rPr lang="en-GB" baseline="-25000" dirty="0"/>
              <a:t>2</a:t>
            </a:r>
            <a:r>
              <a:rPr lang="en-GB" dirty="0"/>
              <a:t>,..,V</a:t>
            </a:r>
            <a:r>
              <a:rPr lang="en-GB" baseline="-25000" dirty="0"/>
              <a:t>k</a:t>
            </a:r>
            <a:r>
              <a:rPr lang="en-GB" dirty="0"/>
              <a:t>.</a:t>
            </a:r>
          </a:p>
          <a:p>
            <a:pPr lvl="1"/>
            <a:r>
              <a:rPr lang="en-GB" u="sng" dirty="0"/>
              <a:t>Parameter</a:t>
            </a:r>
            <a:r>
              <a:rPr lang="en-GB" dirty="0"/>
              <a:t>: integer k.</a:t>
            </a:r>
          </a:p>
          <a:p>
            <a:pPr lvl="1"/>
            <a:r>
              <a:rPr lang="en-GB" u="sng" dirty="0"/>
              <a:t>Question</a:t>
            </a:r>
            <a:r>
              <a:rPr lang="en-GB" dirty="0"/>
              <a:t>: does G have a clique of size k where each vertex has a different colour?</a:t>
            </a:r>
          </a:p>
          <a:p>
            <a:endParaRPr lang="en-GB" dirty="0"/>
          </a:p>
          <a:p>
            <a:r>
              <a:rPr lang="en-GB" u="sng" dirty="0"/>
              <a:t>Parameterised reduction:</a:t>
            </a:r>
            <a:r>
              <a:rPr lang="en-GB" dirty="0"/>
              <a:t> from clique on regular graphs.</a:t>
            </a:r>
            <a:endParaRPr lang="en-GB" u="sng" dirty="0"/>
          </a:p>
          <a:p>
            <a:pPr lvl="1"/>
            <a:r>
              <a:rPr lang="en-GB" dirty="0"/>
              <a:t>Let G be the d-regular input graph, and k the input parameter.</a:t>
            </a:r>
          </a:p>
          <a:p>
            <a:pPr lvl="1"/>
            <a:r>
              <a:rPr lang="en-GB" dirty="0"/>
              <a:t>Construct an instance as follows: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For every vertex v in G, create k vertices v</a:t>
            </a:r>
            <a:r>
              <a:rPr lang="en-GB" baseline="-25000" dirty="0"/>
              <a:t>1</a:t>
            </a:r>
            <a:r>
              <a:rPr lang="en-GB" dirty="0"/>
              <a:t>,v</a:t>
            </a:r>
            <a:r>
              <a:rPr lang="en-GB" baseline="-25000" dirty="0"/>
              <a:t>2</a:t>
            </a:r>
            <a:r>
              <a:rPr lang="en-GB" dirty="0"/>
              <a:t>,..,v</a:t>
            </a:r>
            <a:r>
              <a:rPr lang="en-GB" baseline="-25000" dirty="0"/>
              <a:t>k</a:t>
            </a:r>
            <a:r>
              <a:rPr lang="en-GB" dirty="0"/>
              <a:t>, one of each colour.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Add edges between vertices v</a:t>
            </a:r>
            <a:r>
              <a:rPr lang="en-GB" baseline="-25000" dirty="0"/>
              <a:t>i</a:t>
            </a:r>
            <a:r>
              <a:rPr lang="en-GB" dirty="0"/>
              <a:t> and </a:t>
            </a:r>
            <a:r>
              <a:rPr lang="en-GB" dirty="0" err="1"/>
              <a:t>u</a:t>
            </a:r>
            <a:r>
              <a:rPr lang="en-GB" baseline="-25000" dirty="0" err="1"/>
              <a:t>j</a:t>
            </a:r>
            <a:r>
              <a:rPr lang="en-GB" dirty="0"/>
              <a:t>, if and only if, </a:t>
            </a:r>
            <a:r>
              <a:rPr lang="en-GB" dirty="0" err="1"/>
              <a:t>i</a:t>
            </a:r>
            <a:r>
              <a:rPr lang="en-GB" dirty="0" err="1">
                <a:latin typeface="Symbol"/>
                <a:sym typeface="Symbol"/>
              </a:rPr>
              <a:t></a:t>
            </a:r>
            <a:r>
              <a:rPr lang="en-GB" dirty="0" err="1"/>
              <a:t>j</a:t>
            </a:r>
            <a:r>
              <a:rPr lang="en-GB" dirty="0"/>
              <a:t> and u and v are adjacent in G.</a:t>
            </a:r>
          </a:p>
          <a:p>
            <a:pPr marL="800100" lvl="1" indent="-342900"/>
            <a:r>
              <a:rPr lang="en-GB" dirty="0"/>
              <a:t>Set the new parameter k’ equal to 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Proving correctness of the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391400" cy="4192488"/>
          </a:xfrm>
        </p:spPr>
        <p:txBody>
          <a:bodyPr/>
          <a:lstStyle/>
          <a:p>
            <a:r>
              <a:rPr lang="en-GB" u="sng" dirty="0"/>
              <a:t>Parameterised reduction:</a:t>
            </a:r>
            <a:r>
              <a:rPr lang="en-GB" dirty="0"/>
              <a:t> from clique on regular graphs.</a:t>
            </a:r>
            <a:endParaRPr lang="en-GB" u="sng" dirty="0"/>
          </a:p>
          <a:p>
            <a:pPr lvl="1"/>
            <a:r>
              <a:rPr lang="en-GB" dirty="0"/>
              <a:t>Let G be the d-regular input graph, and k the input parameter.</a:t>
            </a:r>
          </a:p>
          <a:p>
            <a:pPr lvl="1"/>
            <a:r>
              <a:rPr lang="en-GB" dirty="0"/>
              <a:t>Construct an instance as follows: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For every vertex v in G, create k vertices v</a:t>
            </a:r>
            <a:r>
              <a:rPr lang="en-GB" baseline="-25000" dirty="0"/>
              <a:t>1</a:t>
            </a:r>
            <a:r>
              <a:rPr lang="en-GB" dirty="0"/>
              <a:t>,v</a:t>
            </a:r>
            <a:r>
              <a:rPr lang="en-GB" baseline="-25000" dirty="0"/>
              <a:t>2</a:t>
            </a:r>
            <a:r>
              <a:rPr lang="en-GB" dirty="0"/>
              <a:t>,..,v</a:t>
            </a:r>
            <a:r>
              <a:rPr lang="en-GB" baseline="-25000" dirty="0"/>
              <a:t>k</a:t>
            </a:r>
            <a:r>
              <a:rPr lang="en-GB" dirty="0"/>
              <a:t>, one of each colour.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Add edges between vertices v</a:t>
            </a:r>
            <a:r>
              <a:rPr lang="en-GB" baseline="-25000" dirty="0"/>
              <a:t>i</a:t>
            </a:r>
            <a:r>
              <a:rPr lang="en-GB" dirty="0"/>
              <a:t> and </a:t>
            </a:r>
            <a:r>
              <a:rPr lang="en-GB" dirty="0" err="1"/>
              <a:t>u</a:t>
            </a:r>
            <a:r>
              <a:rPr lang="en-GB" baseline="-25000" dirty="0" err="1"/>
              <a:t>j</a:t>
            </a:r>
            <a:r>
              <a:rPr lang="en-GB" dirty="0"/>
              <a:t>, if and only if, </a:t>
            </a:r>
            <a:r>
              <a:rPr lang="en-GB" dirty="0" err="1"/>
              <a:t>i</a:t>
            </a:r>
            <a:r>
              <a:rPr lang="en-GB" dirty="0" err="1">
                <a:latin typeface="Symbol"/>
                <a:sym typeface="Symbol"/>
              </a:rPr>
              <a:t></a:t>
            </a:r>
            <a:r>
              <a:rPr lang="en-GB" dirty="0" err="1"/>
              <a:t>j</a:t>
            </a:r>
            <a:r>
              <a:rPr lang="en-GB" dirty="0"/>
              <a:t> and u and v are adjacent in G.</a:t>
            </a:r>
          </a:p>
          <a:p>
            <a:pPr marL="800100" lvl="1" indent="-342900"/>
            <a:r>
              <a:rPr lang="en-GB" dirty="0"/>
              <a:t>Set the new parameter k’ equal to k.</a:t>
            </a:r>
          </a:p>
          <a:p>
            <a:endParaRPr lang="en-GB" dirty="0"/>
          </a:p>
          <a:p>
            <a:r>
              <a:rPr lang="en-GB" dirty="0"/>
              <a:t>The result is a (k-1)d-regular graph.</a:t>
            </a:r>
          </a:p>
          <a:p>
            <a:pPr lvl="1"/>
            <a:r>
              <a:rPr lang="en-GB" dirty="0"/>
              <a:t>So the result is an instance of multicoloured clique on regular graphs.</a:t>
            </a:r>
          </a:p>
          <a:p>
            <a:r>
              <a:rPr lang="en-GB" dirty="0"/>
              <a:t>G has a k-clique, if and only if, the resulting graph has a k-clique using k different colours.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Multicoloured clique: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592888" cy="4192488"/>
          </a:xfrm>
        </p:spPr>
        <p:txBody>
          <a:bodyPr/>
          <a:lstStyle/>
          <a:p>
            <a:r>
              <a:rPr lang="en-GB" dirty="0"/>
              <a:t>It indeed is a parameterised reduction.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G has a k-clique, if and only if, the resulting graph has a k-clique using k different colours.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k‘ = k (thus k’ </a:t>
            </a:r>
            <a:r>
              <a:rPr lang="en-GB" dirty="0">
                <a:latin typeface="cmsy10"/>
              </a:rPr>
              <a:t>·</a:t>
            </a:r>
            <a:r>
              <a:rPr lang="en-GB" dirty="0"/>
              <a:t> g(k) for some computable function g)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The reduction uses polynomial time (thus f(k)poly(n) time).</a:t>
            </a:r>
          </a:p>
          <a:p>
            <a:pPr marL="400050"/>
            <a:endParaRPr lang="en-GB" dirty="0"/>
          </a:p>
          <a:p>
            <a:pPr marL="400050"/>
            <a:r>
              <a:rPr lang="en-GB" dirty="0"/>
              <a:t>Thus, assuming </a:t>
            </a:r>
            <a:r>
              <a:rPr lang="en-GB" b="1" dirty="0"/>
              <a:t>FPT</a:t>
            </a:r>
            <a:r>
              <a:rPr lang="en-GB" dirty="0"/>
              <a:t> </a:t>
            </a:r>
            <a:r>
              <a:rPr lang="en-GB" dirty="0">
                <a:latin typeface="Symbol"/>
                <a:sym typeface="Symbol"/>
              </a:rPr>
              <a:t></a:t>
            </a:r>
            <a:r>
              <a:rPr lang="en-GB" dirty="0"/>
              <a:t> </a:t>
            </a:r>
            <a:r>
              <a:rPr lang="en-GB" b="1" dirty="0"/>
              <a:t>W[1]</a:t>
            </a:r>
            <a:r>
              <a:rPr lang="en-GB" dirty="0"/>
              <a:t>, multicoloured clique on regular graphs is not in </a:t>
            </a:r>
            <a:r>
              <a:rPr lang="en-GB" b="1" dirty="0"/>
              <a:t>FPT</a:t>
            </a:r>
            <a:r>
              <a:rPr lang="en-GB" dirty="0"/>
              <a:t>.</a:t>
            </a:r>
          </a:p>
          <a:p>
            <a:pPr marL="800100" lvl="1"/>
            <a:r>
              <a:rPr lang="en-GB" dirty="0"/>
              <a:t>Also, assuming </a:t>
            </a:r>
            <a:r>
              <a:rPr lang="en-GB" b="1" dirty="0"/>
              <a:t>FPT</a:t>
            </a:r>
            <a:r>
              <a:rPr lang="en-GB" dirty="0"/>
              <a:t> </a:t>
            </a:r>
            <a:r>
              <a:rPr lang="en-GB" dirty="0">
                <a:latin typeface="Symbol"/>
                <a:sym typeface="Symbol"/>
              </a:rPr>
              <a:t></a:t>
            </a:r>
            <a:r>
              <a:rPr lang="en-GB" dirty="0"/>
              <a:t> </a:t>
            </a:r>
            <a:r>
              <a:rPr lang="en-GB" b="1" dirty="0"/>
              <a:t>W[1]</a:t>
            </a:r>
            <a:r>
              <a:rPr lang="en-GB" dirty="0"/>
              <a:t>, multicoloured clique is not in </a:t>
            </a:r>
            <a:r>
              <a:rPr lang="en-GB" b="1" dirty="0"/>
              <a:t>FPT</a:t>
            </a:r>
            <a:r>
              <a:rPr lang="en-GB" dirty="0"/>
              <a:t>.</a:t>
            </a:r>
          </a:p>
          <a:p>
            <a:pPr marL="800100" lvl="1"/>
            <a:r>
              <a:rPr lang="en-GB" dirty="0"/>
              <a:t>Why?</a:t>
            </a:r>
          </a:p>
          <a:p>
            <a:pPr marL="800100" lvl="1"/>
            <a:endParaRPr lang="en-GB" dirty="0"/>
          </a:p>
          <a:p>
            <a:pPr marL="400050"/>
            <a:r>
              <a:rPr lang="en-GB" dirty="0"/>
              <a:t>And multicoloured independent set?</a:t>
            </a:r>
          </a:p>
          <a:p>
            <a:pPr marL="800100" lvl="1"/>
            <a:r>
              <a:rPr lang="en-GB" dirty="0"/>
              <a:t>Where every vertex in the independent set must have a different colour.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Last reduction: </a:t>
            </a:r>
            <a:br>
              <a:rPr lang="en-GB" dirty="0"/>
            </a:br>
            <a:r>
              <a:rPr lang="en-GB" dirty="0"/>
              <a:t>multicoloured independent set </a:t>
            </a:r>
            <a:br>
              <a:rPr lang="en-GB" dirty="0"/>
            </a:br>
            <a:r>
              <a:rPr lang="en-GB" dirty="0"/>
              <a:t>to dominating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520880" cy="3962400"/>
          </a:xfrm>
        </p:spPr>
        <p:txBody>
          <a:bodyPr/>
          <a:lstStyle/>
          <a:p>
            <a:r>
              <a:rPr lang="en-GB" dirty="0"/>
              <a:t>Given an instance of multicoloured independent set G=(V,E) with colour classes V</a:t>
            </a:r>
            <a:r>
              <a:rPr lang="en-GB" baseline="-25000" dirty="0"/>
              <a:t>1</a:t>
            </a:r>
            <a:r>
              <a:rPr lang="en-GB" dirty="0"/>
              <a:t>,V</a:t>
            </a:r>
            <a:r>
              <a:rPr lang="en-GB" baseline="-25000" dirty="0"/>
              <a:t>2</a:t>
            </a:r>
            <a:r>
              <a:rPr lang="en-GB" dirty="0"/>
              <a:t>,...,</a:t>
            </a:r>
            <a:r>
              <a:rPr lang="en-GB" dirty="0" err="1"/>
              <a:t>V</a:t>
            </a:r>
            <a:r>
              <a:rPr lang="en-GB" baseline="-25000" dirty="0" err="1"/>
              <a:t>k</a:t>
            </a:r>
            <a:r>
              <a:rPr lang="en-GB" dirty="0"/>
              <a:t>, with parameter k.</a:t>
            </a:r>
          </a:p>
          <a:p>
            <a:pPr lvl="1"/>
            <a:r>
              <a:rPr lang="en-GB" dirty="0"/>
              <a:t>Construct an instance of dominating set as follows: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Create a vertex for every vertex in G, and add edges so that every colour class V</a:t>
            </a:r>
            <a:r>
              <a:rPr lang="en-GB" baseline="-25000" dirty="0"/>
              <a:t>i</a:t>
            </a:r>
            <a:r>
              <a:rPr lang="en-GB" dirty="0"/>
              <a:t> becomes a clique.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For every colour class V</a:t>
            </a:r>
            <a:r>
              <a:rPr lang="en-GB" baseline="-25000" dirty="0"/>
              <a:t>i</a:t>
            </a:r>
            <a:r>
              <a:rPr lang="en-GB" dirty="0"/>
              <a:t> add two new vertices x</a:t>
            </a:r>
            <a:r>
              <a:rPr lang="en-GB" baseline="-25000" dirty="0"/>
              <a:t>i</a:t>
            </a:r>
            <a:r>
              <a:rPr lang="en-GB" dirty="0"/>
              <a:t>, </a:t>
            </a:r>
            <a:r>
              <a:rPr lang="en-GB" dirty="0" err="1"/>
              <a:t>y</a:t>
            </a:r>
            <a:r>
              <a:rPr lang="en-GB" baseline="-25000" dirty="0" err="1"/>
              <a:t>i</a:t>
            </a:r>
            <a:r>
              <a:rPr lang="en-GB" dirty="0"/>
              <a:t> adjacent to all vertices in V</a:t>
            </a:r>
            <a:r>
              <a:rPr lang="en-GB" baseline="-25000" dirty="0"/>
              <a:t>i</a:t>
            </a:r>
            <a:r>
              <a:rPr lang="en-GB" dirty="0"/>
              <a:t> but not to each other.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For every edge {</a:t>
            </a:r>
            <a:r>
              <a:rPr lang="en-GB" dirty="0" err="1"/>
              <a:t>u,v</a:t>
            </a:r>
            <a:r>
              <a:rPr lang="en-GB" dirty="0"/>
              <a:t>}</a:t>
            </a:r>
            <a:r>
              <a:rPr lang="en-GB" dirty="0">
                <a:latin typeface="cmsy10"/>
              </a:rPr>
              <a:t>2</a:t>
            </a:r>
            <a:r>
              <a:rPr lang="en-GB" dirty="0"/>
              <a:t>E, with u</a:t>
            </a:r>
            <a:r>
              <a:rPr lang="en-GB" dirty="0">
                <a:latin typeface="cmsy10"/>
              </a:rPr>
              <a:t>2</a:t>
            </a:r>
            <a:r>
              <a:rPr lang="en-GB" dirty="0"/>
              <a:t>V</a:t>
            </a:r>
            <a:r>
              <a:rPr lang="en-GB" baseline="-25000" dirty="0"/>
              <a:t>i</a:t>
            </a:r>
            <a:r>
              <a:rPr lang="en-GB" dirty="0"/>
              <a:t>, v</a:t>
            </a:r>
            <a:r>
              <a:rPr lang="en-GB" dirty="0">
                <a:latin typeface="cmsy10"/>
              </a:rPr>
              <a:t>2</a:t>
            </a:r>
            <a:r>
              <a:rPr lang="en-GB" dirty="0"/>
              <a:t>V</a:t>
            </a:r>
            <a:r>
              <a:rPr lang="en-GB" baseline="-25000" dirty="0"/>
              <a:t>j </a:t>
            </a:r>
            <a:r>
              <a:rPr lang="en-GB" dirty="0"/>
              <a:t>add a vertex w</a:t>
            </a:r>
            <a:r>
              <a:rPr lang="en-GB" baseline="-25000" dirty="0"/>
              <a:t>{</a:t>
            </a:r>
            <a:r>
              <a:rPr lang="en-GB" baseline="-25000" dirty="0" err="1"/>
              <a:t>u,v</a:t>
            </a:r>
            <a:r>
              <a:rPr lang="en-GB" baseline="-25000" dirty="0"/>
              <a:t>}</a:t>
            </a:r>
            <a:r>
              <a:rPr lang="en-GB" dirty="0"/>
              <a:t> adjacent to all vertices in V</a:t>
            </a:r>
            <a:r>
              <a:rPr lang="en-GB" baseline="-25000" dirty="0"/>
              <a:t>i</a:t>
            </a:r>
            <a:r>
              <a:rPr lang="en-GB" dirty="0"/>
              <a:t> and </a:t>
            </a:r>
            <a:r>
              <a:rPr lang="en-GB" dirty="0" err="1"/>
              <a:t>V</a:t>
            </a:r>
            <a:r>
              <a:rPr lang="en-GB" baseline="-25000" dirty="0" err="1"/>
              <a:t>j</a:t>
            </a:r>
            <a:r>
              <a:rPr lang="en-GB" dirty="0"/>
              <a:t> except u and v.</a:t>
            </a:r>
          </a:p>
          <a:p>
            <a:pPr marL="800100" lvl="1" indent="-342900"/>
            <a:r>
              <a:rPr lang="en-GB" dirty="0"/>
              <a:t>Set the new parameter k’ to k.</a:t>
            </a:r>
          </a:p>
        </p:txBody>
      </p:sp>
      <p:sp>
        <p:nvSpPr>
          <p:cNvPr id="4" name="Rounded Rectangle 3"/>
          <p:cNvSpPr/>
          <p:nvPr/>
        </p:nvSpPr>
        <p:spPr bwMode="auto">
          <a:xfrm>
            <a:off x="2915816" y="4653136"/>
            <a:ext cx="576064" cy="216024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V</a:t>
            </a:r>
            <a:r>
              <a:rPr kumimoji="0" lang="en-GB" sz="2400" b="0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1</a:t>
            </a:r>
          </a:p>
        </p:txBody>
      </p:sp>
      <p:sp>
        <p:nvSpPr>
          <p:cNvPr id="5" name="Oval 4"/>
          <p:cNvSpPr/>
          <p:nvPr/>
        </p:nvSpPr>
        <p:spPr bwMode="auto">
          <a:xfrm>
            <a:off x="2195736" y="4941168"/>
            <a:ext cx="432048" cy="43204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x</a:t>
            </a:r>
            <a:r>
              <a:rPr kumimoji="0" lang="en-GB" sz="1200" b="0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1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2195736" y="5733256"/>
            <a:ext cx="432048" cy="43204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200" dirty="0">
                <a:solidFill>
                  <a:schemeClr val="bg1"/>
                </a:solidFill>
                <a:latin typeface="Calibri" pitchFamily="34" charset="0"/>
              </a:rPr>
              <a:t>y</a:t>
            </a:r>
            <a:r>
              <a:rPr kumimoji="0" lang="en-GB" sz="1200" b="0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1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2987824" y="4725144"/>
            <a:ext cx="360040" cy="36004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sz="12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2987824" y="6021288"/>
            <a:ext cx="360040" cy="36004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0" i="0" u="none" strike="noStrike" cap="none" normalizeH="0" baseline="-25000" dirty="0">
              <a:ln>
                <a:noFill/>
              </a:ln>
              <a:solidFill>
                <a:schemeClr val="bg1"/>
              </a:solidFill>
              <a:effectLst/>
              <a:latin typeface="Calibri" pitchFamily="34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987824" y="5157192"/>
            <a:ext cx="360040" cy="36004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200" dirty="0">
                <a:latin typeface="Calibri" pitchFamily="34" charset="0"/>
              </a:rPr>
              <a:t>v</a:t>
            </a:r>
          </a:p>
        </p:txBody>
      </p:sp>
      <p:sp>
        <p:nvSpPr>
          <p:cNvPr id="10" name="Oval 9"/>
          <p:cNvSpPr/>
          <p:nvPr/>
        </p:nvSpPr>
        <p:spPr bwMode="auto">
          <a:xfrm>
            <a:off x="2987824" y="5589240"/>
            <a:ext cx="360040" cy="36004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0" i="0" u="none" strike="noStrike" cap="none" normalizeH="0" baseline="-25000" dirty="0">
              <a:ln>
                <a:noFill/>
              </a:ln>
              <a:solidFill>
                <a:schemeClr val="bg1"/>
              </a:solidFill>
              <a:effectLst/>
              <a:latin typeface="Calibri" pitchFamily="34" charset="0"/>
            </a:endParaRPr>
          </a:p>
        </p:txBody>
      </p:sp>
      <p:cxnSp>
        <p:nvCxnSpPr>
          <p:cNvPr id="12" name="Straight Connector 11"/>
          <p:cNvCxnSpPr>
            <a:stCxn id="5" idx="7"/>
            <a:endCxn id="7" idx="2"/>
          </p:cNvCxnSpPr>
          <p:nvPr/>
        </p:nvCxnSpPr>
        <p:spPr bwMode="auto">
          <a:xfrm flipV="1">
            <a:off x="2564512" y="4905164"/>
            <a:ext cx="423312" cy="992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>
            <a:stCxn id="5" idx="6"/>
            <a:endCxn id="9" idx="2"/>
          </p:cNvCxnSpPr>
          <p:nvPr/>
        </p:nvCxnSpPr>
        <p:spPr bwMode="auto">
          <a:xfrm>
            <a:off x="2627784" y="5157192"/>
            <a:ext cx="360040" cy="1800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>
            <a:stCxn id="5" idx="5"/>
            <a:endCxn id="10" idx="2"/>
          </p:cNvCxnSpPr>
          <p:nvPr/>
        </p:nvCxnSpPr>
        <p:spPr bwMode="auto">
          <a:xfrm>
            <a:off x="2564512" y="5309944"/>
            <a:ext cx="423312" cy="45931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>
            <a:stCxn id="5" idx="4"/>
            <a:endCxn id="8" idx="2"/>
          </p:cNvCxnSpPr>
          <p:nvPr/>
        </p:nvCxnSpPr>
        <p:spPr bwMode="auto">
          <a:xfrm>
            <a:off x="2411760" y="5373216"/>
            <a:ext cx="576064" cy="8280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stCxn id="6" idx="0"/>
            <a:endCxn id="7" idx="3"/>
          </p:cNvCxnSpPr>
          <p:nvPr/>
        </p:nvCxnSpPr>
        <p:spPr bwMode="auto">
          <a:xfrm flipV="1">
            <a:off x="2411760" y="5032457"/>
            <a:ext cx="628791" cy="70079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stCxn id="6" idx="7"/>
            <a:endCxn id="9" idx="3"/>
          </p:cNvCxnSpPr>
          <p:nvPr/>
        </p:nvCxnSpPr>
        <p:spPr bwMode="auto">
          <a:xfrm flipV="1">
            <a:off x="2564512" y="5464505"/>
            <a:ext cx="476039" cy="33202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stCxn id="6" idx="6"/>
            <a:endCxn id="10" idx="3"/>
          </p:cNvCxnSpPr>
          <p:nvPr/>
        </p:nvCxnSpPr>
        <p:spPr bwMode="auto">
          <a:xfrm flipV="1">
            <a:off x="2627784" y="5896553"/>
            <a:ext cx="412767" cy="527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>
            <a:endCxn id="8" idx="3"/>
          </p:cNvCxnSpPr>
          <p:nvPr/>
        </p:nvCxnSpPr>
        <p:spPr bwMode="auto">
          <a:xfrm>
            <a:off x="2555776" y="6093296"/>
            <a:ext cx="484775" cy="2353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Rounded Rectangle 27"/>
          <p:cNvSpPr/>
          <p:nvPr/>
        </p:nvSpPr>
        <p:spPr bwMode="auto">
          <a:xfrm>
            <a:off x="5508104" y="4653136"/>
            <a:ext cx="576064" cy="1728192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V</a:t>
            </a:r>
            <a:r>
              <a:rPr lang="en-GB" baseline="-25000" dirty="0">
                <a:solidFill>
                  <a:schemeClr val="bg1"/>
                </a:solidFill>
                <a:latin typeface="Calibri" pitchFamily="34" charset="0"/>
              </a:rPr>
              <a:t>2</a:t>
            </a:r>
            <a:endParaRPr kumimoji="0" lang="en-GB" sz="2400" b="0" i="0" u="none" strike="noStrike" cap="none" normalizeH="0" baseline="-25000" dirty="0">
              <a:ln>
                <a:noFill/>
              </a:ln>
              <a:solidFill>
                <a:schemeClr val="bg1"/>
              </a:solidFill>
              <a:effectLst/>
              <a:latin typeface="Calibri" pitchFamily="34" charset="0"/>
            </a:endParaRPr>
          </a:p>
        </p:txBody>
      </p:sp>
      <p:sp>
        <p:nvSpPr>
          <p:cNvPr id="29" name="Oval 28"/>
          <p:cNvSpPr/>
          <p:nvPr/>
        </p:nvSpPr>
        <p:spPr bwMode="auto">
          <a:xfrm>
            <a:off x="6300192" y="4941168"/>
            <a:ext cx="432048" cy="43204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x</a:t>
            </a:r>
            <a:r>
              <a:rPr kumimoji="0" lang="en-GB" sz="1200" b="0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2</a:t>
            </a:r>
          </a:p>
        </p:txBody>
      </p:sp>
      <p:sp>
        <p:nvSpPr>
          <p:cNvPr id="30" name="Oval 29"/>
          <p:cNvSpPr/>
          <p:nvPr/>
        </p:nvSpPr>
        <p:spPr bwMode="auto">
          <a:xfrm>
            <a:off x="6300192" y="5661248"/>
            <a:ext cx="432048" cy="43204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200" dirty="0">
                <a:solidFill>
                  <a:schemeClr val="bg1"/>
                </a:solidFill>
                <a:latin typeface="Calibri" pitchFamily="34" charset="0"/>
              </a:rPr>
              <a:t>y</a:t>
            </a:r>
            <a:r>
              <a:rPr lang="en-GB" sz="1200" baseline="-25000" dirty="0">
                <a:solidFill>
                  <a:schemeClr val="bg1"/>
                </a:solidFill>
                <a:latin typeface="Calibri" pitchFamily="34" charset="0"/>
              </a:rPr>
              <a:t>2</a:t>
            </a:r>
            <a:endParaRPr kumimoji="0" lang="en-GB" sz="1200" b="0" i="0" u="none" strike="noStrike" cap="none" normalizeH="0" baseline="-25000" dirty="0">
              <a:ln>
                <a:noFill/>
              </a:ln>
              <a:solidFill>
                <a:schemeClr val="bg1"/>
              </a:solidFill>
              <a:effectLst/>
              <a:latin typeface="Calibri" pitchFamily="34" charset="0"/>
            </a:endParaRPr>
          </a:p>
        </p:txBody>
      </p:sp>
      <p:sp>
        <p:nvSpPr>
          <p:cNvPr id="31" name="Oval 30"/>
          <p:cNvSpPr/>
          <p:nvPr/>
        </p:nvSpPr>
        <p:spPr bwMode="auto">
          <a:xfrm>
            <a:off x="5580112" y="4725144"/>
            <a:ext cx="360040" cy="36004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sz="12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33" name="Oval 32"/>
          <p:cNvSpPr/>
          <p:nvPr/>
        </p:nvSpPr>
        <p:spPr bwMode="auto">
          <a:xfrm>
            <a:off x="5580112" y="5157192"/>
            <a:ext cx="360040" cy="36004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sz="1200" dirty="0">
              <a:latin typeface="Calibri" pitchFamily="34" charset="0"/>
            </a:endParaRPr>
          </a:p>
        </p:txBody>
      </p:sp>
      <p:sp>
        <p:nvSpPr>
          <p:cNvPr id="34" name="Oval 33"/>
          <p:cNvSpPr/>
          <p:nvPr/>
        </p:nvSpPr>
        <p:spPr bwMode="auto">
          <a:xfrm>
            <a:off x="5580112" y="5589240"/>
            <a:ext cx="360040" cy="36004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200" dirty="0">
                <a:latin typeface="Calibri" pitchFamily="34" charset="0"/>
              </a:rPr>
              <a:t>u</a:t>
            </a:r>
            <a:endParaRPr kumimoji="0" lang="en-GB" sz="1200" b="0" i="0" u="none" strike="noStrike" cap="none" normalizeH="0" baseline="-25000" dirty="0">
              <a:ln>
                <a:noFill/>
              </a:ln>
              <a:solidFill>
                <a:schemeClr val="bg1"/>
              </a:solidFill>
              <a:effectLst/>
              <a:latin typeface="Calibri" pitchFamily="34" charset="0"/>
            </a:endParaRPr>
          </a:p>
        </p:txBody>
      </p:sp>
      <p:cxnSp>
        <p:nvCxnSpPr>
          <p:cNvPr id="35" name="Straight Connector 34"/>
          <p:cNvCxnSpPr>
            <a:stCxn id="29" idx="1"/>
            <a:endCxn id="31" idx="6"/>
          </p:cNvCxnSpPr>
          <p:nvPr/>
        </p:nvCxnSpPr>
        <p:spPr bwMode="auto">
          <a:xfrm flipH="1" flipV="1">
            <a:off x="5940152" y="4905164"/>
            <a:ext cx="423312" cy="992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/>
          <p:cNvCxnSpPr>
            <a:stCxn id="29" idx="2"/>
            <a:endCxn id="33" idx="7"/>
          </p:cNvCxnSpPr>
          <p:nvPr/>
        </p:nvCxnSpPr>
        <p:spPr bwMode="auto">
          <a:xfrm flipH="1">
            <a:off x="5887425" y="5157192"/>
            <a:ext cx="412767" cy="527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Connector 36"/>
          <p:cNvCxnSpPr>
            <a:stCxn id="29" idx="3"/>
            <a:endCxn id="34" idx="7"/>
          </p:cNvCxnSpPr>
          <p:nvPr/>
        </p:nvCxnSpPr>
        <p:spPr bwMode="auto">
          <a:xfrm flipH="1">
            <a:off x="5887425" y="5309944"/>
            <a:ext cx="476039" cy="33202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Straight Connector 38"/>
          <p:cNvCxnSpPr>
            <a:stCxn id="30" idx="0"/>
            <a:endCxn id="31" idx="5"/>
          </p:cNvCxnSpPr>
          <p:nvPr/>
        </p:nvCxnSpPr>
        <p:spPr bwMode="auto">
          <a:xfrm flipH="1" flipV="1">
            <a:off x="5887425" y="5032457"/>
            <a:ext cx="628791" cy="6287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/>
          <p:cNvCxnSpPr>
            <a:stCxn id="30" idx="1"/>
            <a:endCxn id="33" idx="6"/>
          </p:cNvCxnSpPr>
          <p:nvPr/>
        </p:nvCxnSpPr>
        <p:spPr bwMode="auto">
          <a:xfrm flipH="1" flipV="1">
            <a:off x="5940152" y="5337212"/>
            <a:ext cx="423312" cy="3873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/>
          <p:cNvCxnSpPr>
            <a:stCxn id="30" idx="2"/>
            <a:endCxn id="34" idx="6"/>
          </p:cNvCxnSpPr>
          <p:nvPr/>
        </p:nvCxnSpPr>
        <p:spPr bwMode="auto">
          <a:xfrm flipH="1" flipV="1">
            <a:off x="5940152" y="5769260"/>
            <a:ext cx="360040" cy="10801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9" name="Oval 68"/>
          <p:cNvSpPr/>
          <p:nvPr/>
        </p:nvSpPr>
        <p:spPr bwMode="auto">
          <a:xfrm>
            <a:off x="4211960" y="5229200"/>
            <a:ext cx="720080" cy="720080"/>
          </a:xfrm>
          <a:prstGeom prst="ellipse">
            <a:avLst/>
          </a:prstGeom>
          <a:solidFill>
            <a:srgbClr val="C00000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W</a:t>
            </a:r>
            <a:r>
              <a:rPr kumimoji="0" lang="en-GB" sz="1200" b="0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{</a:t>
            </a:r>
            <a:r>
              <a:rPr kumimoji="0" lang="en-GB" sz="1200" b="0" i="0" u="none" strike="noStrike" cap="none" normalizeH="0" baseline="-25000" dirty="0" err="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u,v</a:t>
            </a:r>
            <a:r>
              <a:rPr kumimoji="0" lang="en-GB" sz="1200" b="0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}</a:t>
            </a:r>
          </a:p>
        </p:txBody>
      </p:sp>
      <p:cxnSp>
        <p:nvCxnSpPr>
          <p:cNvPr id="71" name="Straight Connector 70"/>
          <p:cNvCxnSpPr>
            <a:stCxn id="7" idx="6"/>
            <a:endCxn id="69" idx="1"/>
          </p:cNvCxnSpPr>
          <p:nvPr/>
        </p:nvCxnSpPr>
        <p:spPr bwMode="auto">
          <a:xfrm>
            <a:off x="3347864" y="4905164"/>
            <a:ext cx="969549" cy="42948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Straight Connector 72"/>
          <p:cNvCxnSpPr>
            <a:stCxn id="10" idx="6"/>
            <a:endCxn id="69" idx="2"/>
          </p:cNvCxnSpPr>
          <p:nvPr/>
        </p:nvCxnSpPr>
        <p:spPr bwMode="auto">
          <a:xfrm flipV="1">
            <a:off x="3347864" y="5589240"/>
            <a:ext cx="864096" cy="1800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Straight Connector 76"/>
          <p:cNvCxnSpPr>
            <a:stCxn id="69" idx="3"/>
            <a:endCxn id="8" idx="6"/>
          </p:cNvCxnSpPr>
          <p:nvPr/>
        </p:nvCxnSpPr>
        <p:spPr bwMode="auto">
          <a:xfrm flipH="1">
            <a:off x="3347864" y="5843827"/>
            <a:ext cx="969549" cy="35748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Straight Connector 78"/>
          <p:cNvCxnSpPr>
            <a:stCxn id="31" idx="2"/>
            <a:endCxn id="69" idx="7"/>
          </p:cNvCxnSpPr>
          <p:nvPr/>
        </p:nvCxnSpPr>
        <p:spPr bwMode="auto">
          <a:xfrm flipH="1">
            <a:off x="4826587" y="4905164"/>
            <a:ext cx="753525" cy="42948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Straight Connector 81"/>
          <p:cNvCxnSpPr>
            <a:stCxn id="33" idx="2"/>
            <a:endCxn id="69" idx="6"/>
          </p:cNvCxnSpPr>
          <p:nvPr/>
        </p:nvCxnSpPr>
        <p:spPr bwMode="auto">
          <a:xfrm flipH="1">
            <a:off x="4932040" y="5337212"/>
            <a:ext cx="648072" cy="25202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6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Last reduction: </a:t>
            </a:r>
            <a:br>
              <a:rPr lang="en-GB" dirty="0"/>
            </a:br>
            <a:r>
              <a:rPr lang="en-GB" dirty="0"/>
              <a:t>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520880" cy="3962400"/>
          </a:xfrm>
        </p:spPr>
        <p:txBody>
          <a:bodyPr/>
          <a:lstStyle/>
          <a:p>
            <a:r>
              <a:rPr lang="en-GB" dirty="0"/>
              <a:t>The intuition of the reduction:</a:t>
            </a:r>
          </a:p>
          <a:p>
            <a:pPr lvl="1"/>
            <a:r>
              <a:rPr lang="en-GB" dirty="0"/>
              <a:t>The vertices x</a:t>
            </a:r>
            <a:r>
              <a:rPr lang="en-GB" baseline="-25000" dirty="0"/>
              <a:t>i</a:t>
            </a:r>
            <a:r>
              <a:rPr lang="en-GB" dirty="0"/>
              <a:t> and </a:t>
            </a:r>
            <a:r>
              <a:rPr lang="en-GB" dirty="0" err="1"/>
              <a:t>y</a:t>
            </a:r>
            <a:r>
              <a:rPr lang="en-GB" baseline="-25000" dirty="0" err="1"/>
              <a:t>i</a:t>
            </a:r>
            <a:r>
              <a:rPr lang="en-GB" dirty="0"/>
              <a:t> ensure that a dominating set of size k in the constructed graph must take one vertex from each set V</a:t>
            </a:r>
            <a:r>
              <a:rPr lang="en-GB" baseline="-25000" dirty="0"/>
              <a:t>i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The vertices w</a:t>
            </a:r>
            <a:r>
              <a:rPr lang="en-GB" baseline="-25000" dirty="0"/>
              <a:t>{</a:t>
            </a:r>
            <a:r>
              <a:rPr lang="en-GB" baseline="-25000" dirty="0" err="1"/>
              <a:t>u,v</a:t>
            </a:r>
            <a:r>
              <a:rPr lang="en-GB" baseline="-25000" dirty="0"/>
              <a:t>} </a:t>
            </a:r>
            <a:r>
              <a:rPr lang="en-GB" dirty="0"/>
              <a:t>ensure that the selected vertices form an independent set in the original graph G: if both sides of an edge in {</a:t>
            </a:r>
            <a:r>
              <a:rPr lang="en-GB" dirty="0" err="1"/>
              <a:t>u,v</a:t>
            </a:r>
            <a:r>
              <a:rPr lang="en-GB" dirty="0"/>
              <a:t>} are selected, then w</a:t>
            </a:r>
            <a:r>
              <a:rPr lang="en-GB" baseline="-25000" dirty="0"/>
              <a:t>{</a:t>
            </a:r>
            <a:r>
              <a:rPr lang="en-GB" baseline="-25000" dirty="0" err="1"/>
              <a:t>u,v</a:t>
            </a:r>
            <a:r>
              <a:rPr lang="en-GB" baseline="-25000" dirty="0"/>
              <a:t>}</a:t>
            </a:r>
            <a:r>
              <a:rPr lang="en-GB" dirty="0"/>
              <a:t> is not dominated.</a:t>
            </a:r>
          </a:p>
          <a:p>
            <a:r>
              <a:rPr lang="en-GB" dirty="0"/>
              <a:t>Formal proof that this is a parameterised reduction is not so difficult using the above intuition.</a:t>
            </a:r>
          </a:p>
        </p:txBody>
      </p:sp>
      <p:sp>
        <p:nvSpPr>
          <p:cNvPr id="4" name="Rounded Rectangle 3"/>
          <p:cNvSpPr/>
          <p:nvPr/>
        </p:nvSpPr>
        <p:spPr bwMode="auto">
          <a:xfrm>
            <a:off x="2915816" y="4437112"/>
            <a:ext cx="576064" cy="216024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V</a:t>
            </a:r>
            <a:r>
              <a:rPr kumimoji="0" lang="en-GB" sz="2400" b="0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1</a:t>
            </a:r>
          </a:p>
        </p:txBody>
      </p:sp>
      <p:sp>
        <p:nvSpPr>
          <p:cNvPr id="5" name="Oval 4"/>
          <p:cNvSpPr/>
          <p:nvPr/>
        </p:nvSpPr>
        <p:spPr bwMode="auto">
          <a:xfrm>
            <a:off x="2195736" y="4725144"/>
            <a:ext cx="432048" cy="43204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x</a:t>
            </a:r>
            <a:r>
              <a:rPr kumimoji="0" lang="en-GB" sz="1200" b="0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1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2195736" y="5517232"/>
            <a:ext cx="432048" cy="43204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200" dirty="0">
                <a:solidFill>
                  <a:schemeClr val="bg1"/>
                </a:solidFill>
                <a:latin typeface="Calibri" pitchFamily="34" charset="0"/>
              </a:rPr>
              <a:t>y</a:t>
            </a:r>
            <a:r>
              <a:rPr kumimoji="0" lang="en-GB" sz="1200" b="0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1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2987824" y="4509120"/>
            <a:ext cx="360040" cy="36004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sz="12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2987824" y="5805264"/>
            <a:ext cx="360040" cy="36004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0" i="0" u="none" strike="noStrike" cap="none" normalizeH="0" baseline="-25000" dirty="0">
              <a:ln>
                <a:noFill/>
              </a:ln>
              <a:solidFill>
                <a:schemeClr val="bg1"/>
              </a:solidFill>
              <a:effectLst/>
              <a:latin typeface="Calibri" pitchFamily="34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987824" y="4941168"/>
            <a:ext cx="360040" cy="36004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200" dirty="0">
                <a:latin typeface="Calibri" pitchFamily="34" charset="0"/>
              </a:rPr>
              <a:t>v</a:t>
            </a:r>
          </a:p>
        </p:txBody>
      </p:sp>
      <p:sp>
        <p:nvSpPr>
          <p:cNvPr id="10" name="Oval 9"/>
          <p:cNvSpPr/>
          <p:nvPr/>
        </p:nvSpPr>
        <p:spPr bwMode="auto">
          <a:xfrm>
            <a:off x="2987824" y="5373216"/>
            <a:ext cx="360040" cy="36004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0" i="0" u="none" strike="noStrike" cap="none" normalizeH="0" baseline="-25000" dirty="0">
              <a:ln>
                <a:noFill/>
              </a:ln>
              <a:solidFill>
                <a:schemeClr val="bg1"/>
              </a:solidFill>
              <a:effectLst/>
              <a:latin typeface="Calibri" pitchFamily="34" charset="0"/>
            </a:endParaRPr>
          </a:p>
        </p:txBody>
      </p:sp>
      <p:cxnSp>
        <p:nvCxnSpPr>
          <p:cNvPr id="12" name="Straight Connector 11"/>
          <p:cNvCxnSpPr>
            <a:stCxn id="5" idx="7"/>
            <a:endCxn id="7" idx="2"/>
          </p:cNvCxnSpPr>
          <p:nvPr/>
        </p:nvCxnSpPr>
        <p:spPr bwMode="auto">
          <a:xfrm flipV="1">
            <a:off x="2564512" y="4689140"/>
            <a:ext cx="423312" cy="992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>
            <a:stCxn id="5" idx="6"/>
            <a:endCxn id="9" idx="2"/>
          </p:cNvCxnSpPr>
          <p:nvPr/>
        </p:nvCxnSpPr>
        <p:spPr bwMode="auto">
          <a:xfrm>
            <a:off x="2627784" y="4941168"/>
            <a:ext cx="360040" cy="1800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>
            <a:stCxn id="5" idx="5"/>
            <a:endCxn id="10" idx="2"/>
          </p:cNvCxnSpPr>
          <p:nvPr/>
        </p:nvCxnSpPr>
        <p:spPr bwMode="auto">
          <a:xfrm>
            <a:off x="2564512" y="5093920"/>
            <a:ext cx="423312" cy="45931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>
            <a:stCxn id="5" idx="4"/>
            <a:endCxn id="8" idx="2"/>
          </p:cNvCxnSpPr>
          <p:nvPr/>
        </p:nvCxnSpPr>
        <p:spPr bwMode="auto">
          <a:xfrm>
            <a:off x="2411760" y="5157192"/>
            <a:ext cx="576064" cy="8280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stCxn id="6" idx="0"/>
            <a:endCxn id="7" idx="3"/>
          </p:cNvCxnSpPr>
          <p:nvPr/>
        </p:nvCxnSpPr>
        <p:spPr bwMode="auto">
          <a:xfrm flipV="1">
            <a:off x="2411760" y="4816433"/>
            <a:ext cx="628791" cy="70079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stCxn id="6" idx="7"/>
            <a:endCxn id="9" idx="3"/>
          </p:cNvCxnSpPr>
          <p:nvPr/>
        </p:nvCxnSpPr>
        <p:spPr bwMode="auto">
          <a:xfrm flipV="1">
            <a:off x="2564512" y="5248481"/>
            <a:ext cx="476039" cy="33202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stCxn id="6" idx="6"/>
            <a:endCxn id="10" idx="3"/>
          </p:cNvCxnSpPr>
          <p:nvPr/>
        </p:nvCxnSpPr>
        <p:spPr bwMode="auto">
          <a:xfrm flipV="1">
            <a:off x="2627784" y="5680529"/>
            <a:ext cx="412767" cy="527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>
            <a:endCxn id="8" idx="3"/>
          </p:cNvCxnSpPr>
          <p:nvPr/>
        </p:nvCxnSpPr>
        <p:spPr bwMode="auto">
          <a:xfrm>
            <a:off x="2555776" y="5877272"/>
            <a:ext cx="484775" cy="2353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Rounded Rectangle 27"/>
          <p:cNvSpPr/>
          <p:nvPr/>
        </p:nvSpPr>
        <p:spPr bwMode="auto">
          <a:xfrm>
            <a:off x="5508104" y="4437112"/>
            <a:ext cx="576064" cy="1728192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V</a:t>
            </a:r>
            <a:r>
              <a:rPr lang="en-GB" baseline="-25000" dirty="0">
                <a:solidFill>
                  <a:schemeClr val="bg1"/>
                </a:solidFill>
                <a:latin typeface="Calibri" pitchFamily="34" charset="0"/>
              </a:rPr>
              <a:t>2</a:t>
            </a:r>
            <a:endParaRPr kumimoji="0" lang="en-GB" sz="2400" b="0" i="0" u="none" strike="noStrike" cap="none" normalizeH="0" baseline="-25000" dirty="0">
              <a:ln>
                <a:noFill/>
              </a:ln>
              <a:solidFill>
                <a:schemeClr val="bg1"/>
              </a:solidFill>
              <a:effectLst/>
              <a:latin typeface="Calibri" pitchFamily="34" charset="0"/>
            </a:endParaRPr>
          </a:p>
        </p:txBody>
      </p:sp>
      <p:sp>
        <p:nvSpPr>
          <p:cNvPr id="29" name="Oval 28"/>
          <p:cNvSpPr/>
          <p:nvPr/>
        </p:nvSpPr>
        <p:spPr bwMode="auto">
          <a:xfrm>
            <a:off x="6300192" y="4725144"/>
            <a:ext cx="432048" cy="43204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x</a:t>
            </a:r>
            <a:r>
              <a:rPr kumimoji="0" lang="en-GB" sz="1200" b="0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2</a:t>
            </a:r>
          </a:p>
        </p:txBody>
      </p:sp>
      <p:sp>
        <p:nvSpPr>
          <p:cNvPr id="30" name="Oval 29"/>
          <p:cNvSpPr/>
          <p:nvPr/>
        </p:nvSpPr>
        <p:spPr bwMode="auto">
          <a:xfrm>
            <a:off x="6300192" y="5445224"/>
            <a:ext cx="432048" cy="43204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200" dirty="0">
                <a:solidFill>
                  <a:schemeClr val="bg1"/>
                </a:solidFill>
                <a:latin typeface="Calibri" pitchFamily="34" charset="0"/>
              </a:rPr>
              <a:t>y</a:t>
            </a:r>
            <a:r>
              <a:rPr lang="en-GB" sz="1200" baseline="-25000" dirty="0">
                <a:solidFill>
                  <a:schemeClr val="bg1"/>
                </a:solidFill>
                <a:latin typeface="Calibri" pitchFamily="34" charset="0"/>
              </a:rPr>
              <a:t>2</a:t>
            </a:r>
            <a:endParaRPr kumimoji="0" lang="en-GB" sz="1200" b="0" i="0" u="none" strike="noStrike" cap="none" normalizeH="0" baseline="-25000" dirty="0">
              <a:ln>
                <a:noFill/>
              </a:ln>
              <a:solidFill>
                <a:schemeClr val="bg1"/>
              </a:solidFill>
              <a:effectLst/>
              <a:latin typeface="Calibri" pitchFamily="34" charset="0"/>
            </a:endParaRPr>
          </a:p>
        </p:txBody>
      </p:sp>
      <p:sp>
        <p:nvSpPr>
          <p:cNvPr id="31" name="Oval 30"/>
          <p:cNvSpPr/>
          <p:nvPr/>
        </p:nvSpPr>
        <p:spPr bwMode="auto">
          <a:xfrm>
            <a:off x="5580112" y="4509120"/>
            <a:ext cx="360040" cy="36004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sz="12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33" name="Oval 32"/>
          <p:cNvSpPr/>
          <p:nvPr/>
        </p:nvSpPr>
        <p:spPr bwMode="auto">
          <a:xfrm>
            <a:off x="5580112" y="4941168"/>
            <a:ext cx="360040" cy="36004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sz="1200" dirty="0">
              <a:latin typeface="Calibri" pitchFamily="34" charset="0"/>
            </a:endParaRPr>
          </a:p>
        </p:txBody>
      </p:sp>
      <p:sp>
        <p:nvSpPr>
          <p:cNvPr id="34" name="Oval 33"/>
          <p:cNvSpPr/>
          <p:nvPr/>
        </p:nvSpPr>
        <p:spPr bwMode="auto">
          <a:xfrm>
            <a:off x="5580112" y="5373216"/>
            <a:ext cx="360040" cy="36004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200" dirty="0">
                <a:latin typeface="Calibri" pitchFamily="34" charset="0"/>
              </a:rPr>
              <a:t>u</a:t>
            </a:r>
            <a:endParaRPr kumimoji="0" lang="en-GB" sz="1200" b="0" i="0" u="none" strike="noStrike" cap="none" normalizeH="0" baseline="-25000" dirty="0">
              <a:ln>
                <a:noFill/>
              </a:ln>
              <a:solidFill>
                <a:schemeClr val="bg1"/>
              </a:solidFill>
              <a:effectLst/>
              <a:latin typeface="Calibri" pitchFamily="34" charset="0"/>
            </a:endParaRPr>
          </a:p>
        </p:txBody>
      </p:sp>
      <p:cxnSp>
        <p:nvCxnSpPr>
          <p:cNvPr id="35" name="Straight Connector 34"/>
          <p:cNvCxnSpPr>
            <a:stCxn id="29" idx="1"/>
            <a:endCxn id="31" idx="6"/>
          </p:cNvCxnSpPr>
          <p:nvPr/>
        </p:nvCxnSpPr>
        <p:spPr bwMode="auto">
          <a:xfrm flipH="1" flipV="1">
            <a:off x="5940152" y="4689140"/>
            <a:ext cx="423312" cy="992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/>
          <p:cNvCxnSpPr>
            <a:stCxn id="29" idx="2"/>
            <a:endCxn id="33" idx="7"/>
          </p:cNvCxnSpPr>
          <p:nvPr/>
        </p:nvCxnSpPr>
        <p:spPr bwMode="auto">
          <a:xfrm flipH="1">
            <a:off x="5887425" y="4941168"/>
            <a:ext cx="412767" cy="527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Connector 36"/>
          <p:cNvCxnSpPr>
            <a:stCxn id="29" idx="3"/>
            <a:endCxn id="34" idx="7"/>
          </p:cNvCxnSpPr>
          <p:nvPr/>
        </p:nvCxnSpPr>
        <p:spPr bwMode="auto">
          <a:xfrm flipH="1">
            <a:off x="5887425" y="5093920"/>
            <a:ext cx="476039" cy="33202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Straight Connector 38"/>
          <p:cNvCxnSpPr>
            <a:stCxn id="30" idx="0"/>
            <a:endCxn id="31" idx="5"/>
          </p:cNvCxnSpPr>
          <p:nvPr/>
        </p:nvCxnSpPr>
        <p:spPr bwMode="auto">
          <a:xfrm flipH="1" flipV="1">
            <a:off x="5887425" y="4816433"/>
            <a:ext cx="628791" cy="6287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/>
          <p:cNvCxnSpPr>
            <a:stCxn id="30" idx="1"/>
            <a:endCxn id="33" idx="6"/>
          </p:cNvCxnSpPr>
          <p:nvPr/>
        </p:nvCxnSpPr>
        <p:spPr bwMode="auto">
          <a:xfrm flipH="1" flipV="1">
            <a:off x="5940152" y="5121188"/>
            <a:ext cx="423312" cy="3873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/>
          <p:cNvCxnSpPr>
            <a:stCxn id="30" idx="2"/>
            <a:endCxn id="34" idx="6"/>
          </p:cNvCxnSpPr>
          <p:nvPr/>
        </p:nvCxnSpPr>
        <p:spPr bwMode="auto">
          <a:xfrm flipH="1" flipV="1">
            <a:off x="5940152" y="5553236"/>
            <a:ext cx="360040" cy="10801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9" name="Oval 68"/>
          <p:cNvSpPr/>
          <p:nvPr/>
        </p:nvSpPr>
        <p:spPr bwMode="auto">
          <a:xfrm>
            <a:off x="4211960" y="5013176"/>
            <a:ext cx="720080" cy="720080"/>
          </a:xfrm>
          <a:prstGeom prst="ellipse">
            <a:avLst/>
          </a:prstGeom>
          <a:solidFill>
            <a:srgbClr val="C00000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W</a:t>
            </a:r>
            <a:r>
              <a:rPr kumimoji="0" lang="en-GB" sz="1200" b="0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{</a:t>
            </a:r>
            <a:r>
              <a:rPr kumimoji="0" lang="en-GB" sz="1200" b="0" i="0" u="none" strike="noStrike" cap="none" normalizeH="0" baseline="-25000" dirty="0" err="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u,v</a:t>
            </a:r>
            <a:r>
              <a:rPr kumimoji="0" lang="en-GB" sz="1200" b="0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</a:rPr>
              <a:t>}</a:t>
            </a:r>
          </a:p>
        </p:txBody>
      </p:sp>
      <p:cxnSp>
        <p:nvCxnSpPr>
          <p:cNvPr id="71" name="Straight Connector 70"/>
          <p:cNvCxnSpPr>
            <a:stCxn id="7" idx="6"/>
            <a:endCxn id="69" idx="1"/>
          </p:cNvCxnSpPr>
          <p:nvPr/>
        </p:nvCxnSpPr>
        <p:spPr bwMode="auto">
          <a:xfrm>
            <a:off x="3347864" y="4689140"/>
            <a:ext cx="969549" cy="42948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Straight Connector 72"/>
          <p:cNvCxnSpPr>
            <a:stCxn id="10" idx="6"/>
            <a:endCxn id="69" idx="2"/>
          </p:cNvCxnSpPr>
          <p:nvPr/>
        </p:nvCxnSpPr>
        <p:spPr bwMode="auto">
          <a:xfrm flipV="1">
            <a:off x="3347864" y="5373216"/>
            <a:ext cx="864096" cy="1800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Straight Connector 76"/>
          <p:cNvCxnSpPr>
            <a:stCxn id="69" idx="3"/>
            <a:endCxn id="8" idx="6"/>
          </p:cNvCxnSpPr>
          <p:nvPr/>
        </p:nvCxnSpPr>
        <p:spPr bwMode="auto">
          <a:xfrm flipH="1">
            <a:off x="3347864" y="5627803"/>
            <a:ext cx="969549" cy="35748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Straight Connector 78"/>
          <p:cNvCxnSpPr>
            <a:stCxn id="31" idx="2"/>
            <a:endCxn id="69" idx="7"/>
          </p:cNvCxnSpPr>
          <p:nvPr/>
        </p:nvCxnSpPr>
        <p:spPr bwMode="auto">
          <a:xfrm flipH="1">
            <a:off x="4826587" y="4689140"/>
            <a:ext cx="753525" cy="42948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Straight Connector 81"/>
          <p:cNvCxnSpPr>
            <a:stCxn id="33" idx="2"/>
            <a:endCxn id="69" idx="6"/>
          </p:cNvCxnSpPr>
          <p:nvPr/>
        </p:nvCxnSpPr>
        <p:spPr bwMode="auto">
          <a:xfrm flipH="1">
            <a:off x="4932040" y="5121188"/>
            <a:ext cx="648072" cy="25202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2" y="4406900"/>
            <a:ext cx="8421688" cy="1362075"/>
          </a:xfrm>
        </p:spPr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Parameterised</a:t>
            </a:r>
            <a:r>
              <a:rPr lang="en-US" dirty="0"/>
              <a:t> Complexity </a:t>
            </a:r>
            <a:r>
              <a:rPr lang="en-GB" dirty="0"/>
              <a:t>– Algorithms and Networks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Concluding remarks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have shown that, assuming </a:t>
            </a:r>
            <a:r>
              <a:rPr lang="en-GB" b="1" dirty="0"/>
              <a:t>FPT</a:t>
            </a:r>
            <a:r>
              <a:rPr lang="en-GB" dirty="0"/>
              <a:t> </a:t>
            </a:r>
            <a:r>
              <a:rPr lang="en-GB" dirty="0">
                <a:latin typeface="Symbol"/>
                <a:sym typeface="Symbol"/>
              </a:rPr>
              <a:t></a:t>
            </a:r>
            <a:r>
              <a:rPr lang="en-GB" dirty="0"/>
              <a:t> </a:t>
            </a:r>
            <a:r>
              <a:rPr lang="en-GB" b="1" dirty="0"/>
              <a:t>W[1]</a:t>
            </a:r>
            <a:r>
              <a:rPr lang="en-GB" dirty="0"/>
              <a:t>, the following problems are not in </a:t>
            </a:r>
            <a:r>
              <a:rPr lang="en-GB" b="1" dirty="0"/>
              <a:t>FPT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Independent set</a:t>
            </a:r>
          </a:p>
          <a:p>
            <a:pPr lvl="1"/>
            <a:r>
              <a:rPr lang="en-GB" dirty="0"/>
              <a:t>Clique on regular graphs</a:t>
            </a:r>
          </a:p>
          <a:p>
            <a:pPr lvl="1"/>
            <a:r>
              <a:rPr lang="en-GB" dirty="0"/>
              <a:t>Multicoloured clique</a:t>
            </a:r>
          </a:p>
          <a:p>
            <a:pPr lvl="1"/>
            <a:r>
              <a:rPr lang="en-GB" dirty="0"/>
              <a:t>Multicoloured clique on regular graphs</a:t>
            </a:r>
          </a:p>
          <a:p>
            <a:pPr lvl="1"/>
            <a:r>
              <a:rPr lang="en-GB" dirty="0"/>
              <a:t>Multicoloured independent set</a:t>
            </a:r>
          </a:p>
          <a:p>
            <a:pPr lvl="1"/>
            <a:r>
              <a:rPr lang="en-GB" dirty="0"/>
              <a:t>Multicoloured independent set on regular graphs</a:t>
            </a:r>
          </a:p>
          <a:p>
            <a:pPr lvl="1"/>
            <a:r>
              <a:rPr lang="en-GB" dirty="0"/>
              <a:t>Dominating Set</a:t>
            </a:r>
          </a:p>
          <a:p>
            <a:pPr lvl="1"/>
            <a:endParaRPr lang="en-GB" dirty="0"/>
          </a:p>
          <a:p>
            <a:r>
              <a:rPr lang="en-GB" dirty="0"/>
              <a:t>A good exercise to do yourself.</a:t>
            </a:r>
          </a:p>
          <a:p>
            <a:pPr lvl="1"/>
            <a:r>
              <a:rPr lang="en-GB" dirty="0"/>
              <a:t>Prove that if </a:t>
            </a:r>
            <a:r>
              <a:rPr lang="en-GB" b="1" dirty="0"/>
              <a:t>FPT</a:t>
            </a:r>
            <a:r>
              <a:rPr lang="en-GB" dirty="0"/>
              <a:t> </a:t>
            </a:r>
            <a:r>
              <a:rPr lang="en-GB" dirty="0">
                <a:latin typeface="Symbol"/>
                <a:sym typeface="Symbol"/>
              </a:rPr>
              <a:t></a:t>
            </a:r>
            <a:r>
              <a:rPr lang="en-GB" dirty="0"/>
              <a:t> </a:t>
            </a:r>
            <a:r>
              <a:rPr lang="en-GB" b="1" dirty="0"/>
              <a:t>W[1]</a:t>
            </a:r>
            <a:r>
              <a:rPr lang="en-GB" dirty="0"/>
              <a:t>, then set cover with the number of sets to choose as parameter is not in </a:t>
            </a:r>
            <a:r>
              <a:rPr lang="en-GB" b="1" dirty="0"/>
              <a:t>FPT</a:t>
            </a:r>
            <a:endParaRPr lang="en-GB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Concluding remarks: W[1] and W[2]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520880" cy="4192488"/>
          </a:xfrm>
        </p:spPr>
        <p:txBody>
          <a:bodyPr/>
          <a:lstStyle/>
          <a:p>
            <a:r>
              <a:rPr lang="en-GB" dirty="0"/>
              <a:t>Stacking the reductions gives a parameterised reduction from independent set to dominating set.</a:t>
            </a:r>
          </a:p>
          <a:p>
            <a:r>
              <a:rPr lang="en-GB" dirty="0"/>
              <a:t>You will not find a parameterised reduction from dominating set back to independent set.</a:t>
            </a:r>
          </a:p>
          <a:p>
            <a:pPr lvl="1"/>
            <a:r>
              <a:rPr lang="en-GB" dirty="0"/>
              <a:t>This is different from polynomial-time reductions, where you can make a reduction between any two </a:t>
            </a:r>
            <a:r>
              <a:rPr lang="en-GB" b="1" dirty="0"/>
              <a:t>NP</a:t>
            </a:r>
            <a:r>
              <a:rPr lang="en-GB" dirty="0"/>
              <a:t>-complete problems.</a:t>
            </a:r>
          </a:p>
          <a:p>
            <a:pPr lvl="1"/>
            <a:endParaRPr lang="en-GB" dirty="0"/>
          </a:p>
          <a:p>
            <a:r>
              <a:rPr lang="en-GB" dirty="0"/>
              <a:t>The reason is that:</a:t>
            </a:r>
          </a:p>
          <a:p>
            <a:pPr lvl="1"/>
            <a:r>
              <a:rPr lang="en-GB" dirty="0"/>
              <a:t>Independent set is </a:t>
            </a:r>
            <a:r>
              <a:rPr lang="en-GB" b="1" dirty="0"/>
              <a:t>W[1]</a:t>
            </a:r>
            <a:r>
              <a:rPr lang="en-GB" dirty="0"/>
              <a:t>-complete.</a:t>
            </a:r>
          </a:p>
          <a:p>
            <a:pPr lvl="1"/>
            <a:r>
              <a:rPr lang="en-GB" dirty="0"/>
              <a:t>Dominating set is </a:t>
            </a:r>
            <a:r>
              <a:rPr lang="en-GB" b="1" dirty="0"/>
              <a:t>W[2]</a:t>
            </a:r>
            <a:r>
              <a:rPr lang="en-GB" dirty="0"/>
              <a:t>-complete.</a:t>
            </a:r>
          </a:p>
          <a:p>
            <a:pPr lvl="1"/>
            <a:r>
              <a:rPr lang="en-GB" b="1" dirty="0"/>
              <a:t>FPT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µ</a:t>
            </a:r>
            <a:r>
              <a:rPr lang="en-GB" dirty="0"/>
              <a:t> </a:t>
            </a:r>
            <a:r>
              <a:rPr lang="en-GB" b="1" dirty="0"/>
              <a:t>W[1]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µ</a:t>
            </a:r>
            <a:r>
              <a:rPr lang="en-GB" dirty="0"/>
              <a:t> </a:t>
            </a:r>
            <a:r>
              <a:rPr lang="en-GB" b="1" dirty="0"/>
              <a:t>W[2]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µ </a:t>
            </a:r>
            <a:r>
              <a:rPr lang="en-GB" dirty="0"/>
              <a:t>... </a:t>
            </a:r>
            <a:r>
              <a:rPr lang="en-GB" dirty="0">
                <a:latin typeface="cmsy10"/>
              </a:rPr>
              <a:t>µ</a:t>
            </a:r>
            <a:r>
              <a:rPr lang="en-GB" dirty="0"/>
              <a:t> </a:t>
            </a:r>
            <a:r>
              <a:rPr lang="en-GB" b="1" dirty="0"/>
              <a:t>XP</a:t>
            </a:r>
            <a:r>
              <a:rPr lang="en-GB" dirty="0"/>
              <a:t>.</a:t>
            </a:r>
          </a:p>
          <a:p>
            <a:r>
              <a:rPr lang="en-GB" dirty="0"/>
              <a:t>I don’t want you to understand the details of the </a:t>
            </a:r>
            <a:r>
              <a:rPr lang="en-GB" b="1" dirty="0"/>
              <a:t>W</a:t>
            </a:r>
            <a:r>
              <a:rPr lang="en-GB" dirty="0"/>
              <a:t>-hierarchy, just remember this as background information.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Approximation Complexity</a:t>
            </a:r>
            <a:endParaRPr lang="en-US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Advanced Algorithms 2024/2025</a:t>
            </a:r>
          </a:p>
          <a:p>
            <a:r>
              <a:rPr lang="en-GB" dirty="0"/>
              <a:t>Johan M. M. van Rooij</a:t>
            </a:r>
          </a:p>
          <a:p>
            <a:r>
              <a:rPr lang="en-GB" dirty="0"/>
              <a:t>Jesper Nederlof</a:t>
            </a: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7112000"/>
            <a:ext cx="914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TexPoint fonts used in EMF. </a:t>
            </a:r>
          </a:p>
          <a:p>
            <a:r>
              <a:rPr lang="en-US"/>
              <a:t>Read the TexPoint manual before you delete this box.: </a:t>
            </a:r>
            <a:r>
              <a:rPr lang="en-US">
                <a:latin typeface="CMSY10ORIG"/>
              </a:rPr>
              <a:t>A</a:t>
            </a:r>
            <a:r>
              <a:rPr lang="en-US">
                <a:latin typeface="CMR10"/>
              </a:rPr>
              <a:t>A</a:t>
            </a:r>
            <a:r>
              <a:rPr lang="en-US">
                <a:latin typeface="CMEX10"/>
              </a:rPr>
              <a:t>A</a:t>
            </a:r>
            <a:r>
              <a:rPr lang="en-US">
                <a:latin typeface="CMMI7"/>
              </a:rPr>
              <a:t>A</a:t>
            </a:r>
            <a:r>
              <a:rPr lang="en-US">
                <a:latin typeface="CMSY7"/>
              </a:rPr>
              <a:t>A</a:t>
            </a:r>
            <a:r>
              <a:rPr lang="en-US">
                <a:latin typeface="CMMI10"/>
              </a:rPr>
              <a:t>A</a:t>
            </a:r>
            <a:r>
              <a:rPr lang="en-US">
                <a:latin typeface="CMSY5"/>
              </a:rPr>
              <a:t>A</a:t>
            </a:r>
            <a:r>
              <a:rPr lang="en-US">
                <a:latin typeface="CMR7"/>
              </a:rPr>
              <a:t>A</a:t>
            </a:r>
            <a:r>
              <a:rPr lang="en-US">
                <a:latin typeface="CMMI5"/>
              </a:rPr>
              <a:t>A</a:t>
            </a:r>
            <a:r>
              <a:rPr lang="en-US">
                <a:latin typeface="CMR5"/>
              </a:rPr>
              <a:t>A</a:t>
            </a:r>
            <a:endParaRPr lang="en-GB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B69CE-F9A0-3C15-D62E-9C09D3BF3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C122A-902A-CB5E-E732-0607DDE63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D8EEC-EDD1-950A-3A76-B2908A4E1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8800"/>
            <a:ext cx="7391400" cy="376064"/>
          </a:xfrm>
        </p:spPr>
        <p:txBody>
          <a:bodyPr/>
          <a:lstStyle/>
          <a:p>
            <a:r>
              <a:rPr lang="en-GB" dirty="0"/>
              <a:t>Classical complexity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2D49B3-7F3F-612D-82E8-3CBB82786322}"/>
              </a:ext>
            </a:extLst>
          </p:cNvPr>
          <p:cNvSpPr txBox="1">
            <a:spLocks/>
          </p:cNvSpPr>
          <p:nvPr/>
        </p:nvSpPr>
        <p:spPr bwMode="auto">
          <a:xfrm>
            <a:off x="1371600" y="2142904"/>
            <a:ext cx="7391400" cy="3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sz="1800" kern="0" dirty="0"/>
              <a:t>Parameterised complexity basics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A2D454-35C1-C087-64C3-2D91EBCA9543}"/>
              </a:ext>
            </a:extLst>
          </p:cNvPr>
          <p:cNvSpPr txBox="1">
            <a:spLocks/>
          </p:cNvSpPr>
          <p:nvPr/>
        </p:nvSpPr>
        <p:spPr bwMode="auto">
          <a:xfrm>
            <a:off x="1371600" y="2457008"/>
            <a:ext cx="7391400" cy="3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sz="1800" kern="0" dirty="0"/>
              <a:t>Parameterised reductions / hardness proofs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833423C-951B-CF59-8678-42BCD78E2053}"/>
              </a:ext>
            </a:extLst>
          </p:cNvPr>
          <p:cNvSpPr txBox="1">
            <a:spLocks/>
          </p:cNvSpPr>
          <p:nvPr/>
        </p:nvSpPr>
        <p:spPr bwMode="auto">
          <a:xfrm>
            <a:off x="1371600" y="2897184"/>
            <a:ext cx="7391400" cy="3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sz="1800" kern="0" dirty="0"/>
              <a:t>Approximation Complexity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9C7E4D-843A-7A96-5314-70DB778EB429}"/>
              </a:ext>
            </a:extLst>
          </p:cNvPr>
          <p:cNvCxnSpPr/>
          <p:nvPr/>
        </p:nvCxnSpPr>
        <p:spPr bwMode="auto">
          <a:xfrm>
            <a:off x="1259632" y="2883312"/>
            <a:ext cx="770485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9455063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71D08-EE95-4D51-491B-6A286B00D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16EA8-B04C-190C-57DA-88D92C501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lecture: first half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D4770-FC62-A718-E1C2-AA6B552CB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8800"/>
            <a:ext cx="7391400" cy="376064"/>
          </a:xfrm>
        </p:spPr>
        <p:txBody>
          <a:bodyPr/>
          <a:lstStyle/>
          <a:p>
            <a:r>
              <a:rPr lang="en-GB" dirty="0"/>
              <a:t>Classical complexity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318B1C-5B7B-8836-43A1-4D35359BE6AC}"/>
              </a:ext>
            </a:extLst>
          </p:cNvPr>
          <p:cNvSpPr txBox="1">
            <a:spLocks/>
          </p:cNvSpPr>
          <p:nvPr/>
        </p:nvSpPr>
        <p:spPr bwMode="auto">
          <a:xfrm>
            <a:off x="1371600" y="2730704"/>
            <a:ext cx="7391400" cy="3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sz="1800" kern="0" dirty="0"/>
              <a:t>Parameterised complexity basics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FF3045-4ADF-DADD-F40E-F0B00D6A121E}"/>
              </a:ext>
            </a:extLst>
          </p:cNvPr>
          <p:cNvSpPr txBox="1">
            <a:spLocks/>
          </p:cNvSpPr>
          <p:nvPr/>
        </p:nvSpPr>
        <p:spPr bwMode="auto">
          <a:xfrm>
            <a:off x="1371600" y="4216616"/>
            <a:ext cx="7391400" cy="3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sz="1800" kern="0" dirty="0"/>
              <a:t>Parameterised reductions / hardness proofs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4B81AC-BFAB-9FF8-8814-17055BEC2BA8}"/>
              </a:ext>
            </a:extLst>
          </p:cNvPr>
          <p:cNvSpPr txBox="1">
            <a:spLocks/>
          </p:cNvSpPr>
          <p:nvPr/>
        </p:nvSpPr>
        <p:spPr bwMode="auto">
          <a:xfrm>
            <a:off x="1371600" y="5501208"/>
            <a:ext cx="7391400" cy="3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sz="1800" kern="0" dirty="0"/>
              <a:t>Approximation Complexity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EC7F20-E297-638E-687B-A6B13EB6A8DA}"/>
              </a:ext>
            </a:extLst>
          </p:cNvPr>
          <p:cNvCxnSpPr/>
          <p:nvPr/>
        </p:nvCxnSpPr>
        <p:spPr bwMode="auto">
          <a:xfrm>
            <a:off x="1259632" y="5487336"/>
            <a:ext cx="770485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DDBD7EB-F8B5-2B27-AF31-C0EBDB4E5ED3}"/>
              </a:ext>
            </a:extLst>
          </p:cNvPr>
          <p:cNvSpPr txBox="1">
            <a:spLocks/>
          </p:cNvSpPr>
          <p:nvPr/>
        </p:nvSpPr>
        <p:spPr bwMode="auto">
          <a:xfrm>
            <a:off x="1371600" y="2135969"/>
            <a:ext cx="7391400" cy="58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pPr lvl="1"/>
            <a:r>
              <a:rPr lang="en-GB" b="1" kern="0" dirty="0"/>
              <a:t>P</a:t>
            </a:r>
            <a:r>
              <a:rPr lang="en-GB" kern="0" dirty="0"/>
              <a:t> vs </a:t>
            </a:r>
            <a:r>
              <a:rPr lang="en-GB" b="1" kern="0" dirty="0"/>
              <a:t>NP</a:t>
            </a:r>
            <a:endParaRPr lang="en-GB" kern="0" dirty="0"/>
          </a:p>
          <a:p>
            <a:pPr lvl="1"/>
            <a:r>
              <a:rPr lang="en-GB" kern="0" dirty="0"/>
              <a:t>Conditional non-existence proofs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8297CAC-C613-BDDE-60D9-1F6F6FEE935A}"/>
              </a:ext>
            </a:extLst>
          </p:cNvPr>
          <p:cNvSpPr txBox="1">
            <a:spLocks/>
          </p:cNvSpPr>
          <p:nvPr/>
        </p:nvSpPr>
        <p:spPr bwMode="auto">
          <a:xfrm>
            <a:off x="1371600" y="3030288"/>
            <a:ext cx="7391400" cy="1262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pPr lvl="1"/>
            <a:r>
              <a:rPr lang="en-GB" b="1" dirty="0"/>
              <a:t>FTP</a:t>
            </a:r>
          </a:p>
          <a:p>
            <a:pPr lvl="1"/>
            <a:r>
              <a:rPr lang="en-GB" b="1" dirty="0"/>
              <a:t>XP</a:t>
            </a:r>
            <a:endParaRPr lang="en-GB" dirty="0"/>
          </a:p>
          <a:p>
            <a:pPr lvl="1"/>
            <a:r>
              <a:rPr lang="en-GB" dirty="0"/>
              <a:t>The </a:t>
            </a:r>
            <a:r>
              <a:rPr lang="en-GB" b="1" dirty="0"/>
              <a:t>W</a:t>
            </a:r>
            <a:r>
              <a:rPr lang="en-GB" dirty="0"/>
              <a:t>-hierarchy (no details)</a:t>
            </a:r>
          </a:p>
          <a:p>
            <a:pPr lvl="1"/>
            <a:r>
              <a:rPr lang="en-GB" dirty="0"/>
              <a:t>Clique is not in </a:t>
            </a:r>
            <a:r>
              <a:rPr lang="en-GB" b="1" dirty="0"/>
              <a:t>FPT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40BD02F-6AEE-3111-6493-D8A222E4563F}"/>
              </a:ext>
            </a:extLst>
          </p:cNvPr>
          <p:cNvSpPr txBox="1">
            <a:spLocks/>
          </p:cNvSpPr>
          <p:nvPr/>
        </p:nvSpPr>
        <p:spPr bwMode="auto">
          <a:xfrm>
            <a:off x="1357064" y="4507288"/>
            <a:ext cx="7391400" cy="865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pPr lvl="1"/>
            <a:r>
              <a:rPr lang="en-GB" dirty="0"/>
              <a:t>Clique on regular graphs</a:t>
            </a:r>
          </a:p>
          <a:p>
            <a:pPr lvl="1"/>
            <a:r>
              <a:rPr lang="en-GB" dirty="0"/>
              <a:t>Multicoloured clique on regular graphs</a:t>
            </a:r>
          </a:p>
          <a:p>
            <a:pPr lvl="1"/>
            <a:r>
              <a:rPr lang="en-GB" dirty="0"/>
              <a:t>Dominating set</a:t>
            </a:r>
          </a:p>
        </p:txBody>
      </p:sp>
    </p:spTree>
    <p:extLst>
      <p:ext uri="{BB962C8B-B14F-4D97-AF65-F5344CB8AC3E}">
        <p14:creationId xmlns:p14="http://schemas.microsoft.com/office/powerpoint/2010/main" val="17842390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Approximation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know how to prove that a problem can be solved in polynomial time</a:t>
            </a:r>
          </a:p>
          <a:p>
            <a:pPr lvl="1"/>
            <a:r>
              <a:rPr lang="en-GB" dirty="0"/>
              <a:t>Give a polynomial-time algorithm and prove correctness</a:t>
            </a:r>
          </a:p>
          <a:p>
            <a:r>
              <a:rPr lang="en-GB" dirty="0"/>
              <a:t>We also know how to prove that a problem ‘most likely’ cannot be solved in polynomial time</a:t>
            </a:r>
          </a:p>
          <a:p>
            <a:pPr lvl="1"/>
            <a:r>
              <a:rPr lang="en-GB" dirty="0"/>
              <a:t>Prove </a:t>
            </a:r>
            <a:r>
              <a:rPr lang="en-GB" b="1" dirty="0"/>
              <a:t>NP</a:t>
            </a:r>
            <a:r>
              <a:rPr lang="en-GB" dirty="0"/>
              <a:t>-hardness: give a polynomial-time reduction from a known </a:t>
            </a:r>
            <a:r>
              <a:rPr lang="en-GB" b="1" dirty="0"/>
              <a:t>NP</a:t>
            </a:r>
            <a:r>
              <a:rPr lang="en-GB" dirty="0"/>
              <a:t>-compete / </a:t>
            </a:r>
            <a:r>
              <a:rPr lang="en-GB" b="1" dirty="0"/>
              <a:t>NP</a:t>
            </a:r>
            <a:r>
              <a:rPr lang="en-GB" dirty="0"/>
              <a:t>-hard problem</a:t>
            </a:r>
          </a:p>
          <a:p>
            <a:pPr lvl="1"/>
            <a:r>
              <a:rPr lang="en-GB" b="1" dirty="0"/>
              <a:t>NP</a:t>
            </a:r>
            <a:r>
              <a:rPr lang="en-GB" dirty="0"/>
              <a:t>-complete: in </a:t>
            </a:r>
            <a:r>
              <a:rPr lang="en-GB" b="1" dirty="0"/>
              <a:t>NP</a:t>
            </a:r>
            <a:r>
              <a:rPr lang="en-GB" dirty="0"/>
              <a:t> and </a:t>
            </a:r>
            <a:r>
              <a:rPr lang="en-GB" b="1" dirty="0"/>
              <a:t>NP</a:t>
            </a:r>
            <a:r>
              <a:rPr lang="en-GB" dirty="0"/>
              <a:t>-hard</a:t>
            </a:r>
          </a:p>
          <a:p>
            <a:endParaRPr lang="en-GB" dirty="0"/>
          </a:p>
          <a:p>
            <a:r>
              <a:rPr lang="en-GB" b="1" dirty="0"/>
              <a:t>How does this work for approximation algorithms?</a:t>
            </a:r>
          </a:p>
          <a:p>
            <a:pPr lvl="1"/>
            <a:r>
              <a:rPr lang="en-GB" dirty="0"/>
              <a:t>Positive results: give algorithm and prove that it is the appropriate type of approximation algorithm</a:t>
            </a:r>
          </a:p>
          <a:p>
            <a:pPr lvl="1"/>
            <a:r>
              <a:rPr lang="en-GB" dirty="0"/>
              <a:t>Negative results?? Well... we have seen some of them already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prove that an algorithm from one of the categories does not exist?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772400" cy="3962400"/>
          </a:xfrm>
        </p:spPr>
        <p:txBody>
          <a:bodyPr/>
          <a:lstStyle/>
          <a:p>
            <a:pPr>
              <a:buNone/>
            </a:pPr>
            <a:r>
              <a:rPr lang="en-GB" b="1" dirty="0"/>
              <a:t>Qualities of polynomial-time approximation algorithms: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/>
              <a:t>​</a:t>
            </a:r>
            <a:r>
              <a:rPr lang="en-GB" dirty="0"/>
              <a:t>​​Absolute constant difference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FPTAS</a:t>
            </a:r>
            <a:r>
              <a:rPr lang="en-GB" dirty="0"/>
              <a:t>: Fully polynomial-time approximation scheme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PTAS</a:t>
            </a:r>
            <a:r>
              <a:rPr lang="en-GB" dirty="0"/>
              <a:t>: Polynomial-time approximation scheme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APX</a:t>
            </a:r>
            <a:r>
              <a:rPr lang="en-GB" dirty="0"/>
              <a:t>: Constant-factor approximation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f(n)-APX</a:t>
            </a:r>
            <a:r>
              <a:rPr lang="en-GB" dirty="0"/>
              <a:t>: Approximation by a factor of f(n)</a:t>
            </a:r>
          </a:p>
          <a:p>
            <a:pPr>
              <a:buFont typeface="+mj-lt"/>
              <a:buAutoNum type="arabicPeriod"/>
            </a:pPr>
            <a:endParaRPr lang="en-GB" dirty="0"/>
          </a:p>
          <a:p>
            <a:r>
              <a:rPr lang="en-GB" dirty="0"/>
              <a:t>We have already proved that ‘most likely’:</a:t>
            </a:r>
          </a:p>
          <a:p>
            <a:pPr lvl="1"/>
            <a:r>
              <a:rPr lang="en-GB" dirty="0"/>
              <a:t>Absolute constant difference approximation is not possible for maximum independent set and knapsack</a:t>
            </a:r>
          </a:p>
          <a:p>
            <a:pPr lvl="1"/>
            <a:r>
              <a:rPr lang="en-GB" dirty="0"/>
              <a:t>There also is no (F)PTAS for maximum independent set</a:t>
            </a:r>
          </a:p>
          <a:p>
            <a:pPr lvl="1"/>
            <a:r>
              <a:rPr lang="en-GB" dirty="0"/>
              <a:t>TSP without triangle inequality is not in APX</a:t>
            </a:r>
          </a:p>
          <a:p>
            <a:r>
              <a:rPr lang="en-GB" dirty="0"/>
              <a:t>But can we do more?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prove that an algorithm from one of the categories does not exist?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772400" cy="3962400"/>
          </a:xfrm>
        </p:spPr>
        <p:txBody>
          <a:bodyPr/>
          <a:lstStyle/>
          <a:p>
            <a:r>
              <a:rPr lang="en-GB" dirty="0"/>
              <a:t>We have already proved that ‘most likely’:</a:t>
            </a:r>
          </a:p>
          <a:p>
            <a:pPr lvl="1"/>
            <a:r>
              <a:rPr lang="en-GB" dirty="0"/>
              <a:t>Absolute constant difference approximation is not possible for maximum independent set and knapsack</a:t>
            </a:r>
          </a:p>
          <a:p>
            <a:pPr lvl="1"/>
            <a:r>
              <a:rPr lang="en-GB" dirty="0"/>
              <a:t>There also is no (F)PTAS for maximum independent set</a:t>
            </a:r>
          </a:p>
          <a:p>
            <a:pPr lvl="1"/>
            <a:r>
              <a:rPr lang="en-GB" dirty="0"/>
              <a:t>TSP without triangle inequality is not in APX</a:t>
            </a:r>
            <a:endParaRPr lang="en-GB" sz="800" dirty="0"/>
          </a:p>
          <a:p>
            <a:r>
              <a:rPr lang="en-GB" dirty="0"/>
              <a:t>To obtain these results we used:</a:t>
            </a:r>
          </a:p>
          <a:p>
            <a:pPr lvl="1"/>
            <a:r>
              <a:rPr lang="en-GB" dirty="0"/>
              <a:t>The gap technique</a:t>
            </a:r>
          </a:p>
          <a:p>
            <a:pPr lvl="1"/>
            <a:r>
              <a:rPr lang="en-GB" dirty="0"/>
              <a:t>The polynomial-bound technique</a:t>
            </a:r>
          </a:p>
          <a:p>
            <a:r>
              <a:rPr lang="en-GB" dirty="0"/>
              <a:t>Both already seen in earlier lecture</a:t>
            </a:r>
          </a:p>
          <a:p>
            <a:endParaRPr lang="en-GB" sz="1100" dirty="0"/>
          </a:p>
          <a:p>
            <a:r>
              <a:rPr lang="en-GB" dirty="0"/>
              <a:t>Now:</a:t>
            </a:r>
          </a:p>
          <a:p>
            <a:pPr lvl="1"/>
            <a:r>
              <a:rPr lang="en-GB" dirty="0"/>
              <a:t>We consider proving that for problem with a c-approximation most likely no PTAS exists through APX-Completeness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APX and</a:t>
            </a:r>
            <a:br>
              <a:rPr lang="en-GB" dirty="0"/>
            </a:br>
            <a:r>
              <a:rPr lang="en-GB" dirty="0"/>
              <a:t>APX-completeness</a:t>
            </a:r>
          </a:p>
        </p:txBody>
      </p:sp>
      <p:sp>
        <p:nvSpPr>
          <p:cNvPr id="1536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dirty="0"/>
              <a:t>Approximation algorithms – Advanced Algorithms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APX and APX-completeness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772400" cy="3962400"/>
          </a:xfrm>
        </p:spPr>
        <p:txBody>
          <a:bodyPr/>
          <a:lstStyle/>
          <a:p>
            <a:r>
              <a:rPr lang="en-GB" b="1" dirty="0"/>
              <a:t>APX</a:t>
            </a:r>
            <a:r>
              <a:rPr lang="en-GB" dirty="0"/>
              <a:t>: class of problems for which approximation algorithms exists with a </a:t>
            </a:r>
            <a:r>
              <a:rPr lang="en-GB" u="sng" dirty="0"/>
              <a:t>constant approximation ratio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Thus, problems with an (F)PTAS are also in </a:t>
            </a:r>
            <a:r>
              <a:rPr lang="en-GB" b="1" dirty="0"/>
              <a:t>APX</a:t>
            </a:r>
            <a:endParaRPr lang="en-GB" dirty="0"/>
          </a:p>
          <a:p>
            <a:endParaRPr lang="en-GB" dirty="0"/>
          </a:p>
          <a:p>
            <a:r>
              <a:rPr lang="en-GB" b="1" dirty="0"/>
              <a:t>APX</a:t>
            </a:r>
            <a:r>
              <a:rPr lang="en-GB" dirty="0"/>
              <a:t>-completeness: </a:t>
            </a:r>
          </a:p>
          <a:p>
            <a:pPr lvl="1"/>
            <a:r>
              <a:rPr lang="en-GB" dirty="0"/>
              <a:t>Hardest problems in </a:t>
            </a:r>
            <a:r>
              <a:rPr lang="en-GB" b="1" dirty="0"/>
              <a:t>APX</a:t>
            </a:r>
            <a:r>
              <a:rPr lang="en-GB" dirty="0"/>
              <a:t> with respect to having a PTAS</a:t>
            </a:r>
          </a:p>
          <a:p>
            <a:pPr lvl="1"/>
            <a:r>
              <a:rPr lang="en-GB" dirty="0"/>
              <a:t>If one </a:t>
            </a:r>
            <a:r>
              <a:rPr lang="en-GB" b="1" dirty="0"/>
              <a:t>APX</a:t>
            </a:r>
            <a:r>
              <a:rPr lang="en-GB" dirty="0"/>
              <a:t>-complete problem has a PTAS, then all </a:t>
            </a:r>
            <a:r>
              <a:rPr lang="en-GB" b="1" dirty="0"/>
              <a:t>APX</a:t>
            </a:r>
            <a:r>
              <a:rPr lang="en-GB" dirty="0"/>
              <a:t>-complete problems have a PTAS</a:t>
            </a:r>
          </a:p>
          <a:p>
            <a:pPr lvl="1"/>
            <a:endParaRPr lang="en-GB" dirty="0"/>
          </a:p>
          <a:p>
            <a:r>
              <a:rPr lang="en-GB" dirty="0"/>
              <a:t>Max-3SAT is </a:t>
            </a:r>
            <a:r>
              <a:rPr lang="en-GB" b="1" dirty="0"/>
              <a:t>APX</a:t>
            </a:r>
            <a:r>
              <a:rPr lang="en-GB" dirty="0"/>
              <a:t>-complete</a:t>
            </a:r>
          </a:p>
          <a:p>
            <a:pPr lvl="1"/>
            <a:r>
              <a:rPr lang="en-GB" dirty="0"/>
              <a:t>Consequence of the famous PCP theorem, that we will not discuss further</a:t>
            </a:r>
          </a:p>
          <a:p>
            <a:pPr lvl="1"/>
            <a:r>
              <a:rPr lang="en-GB" dirty="0"/>
              <a:t>Corollary: any </a:t>
            </a:r>
            <a:r>
              <a:rPr lang="en-GB" b="1" dirty="0"/>
              <a:t>APX</a:t>
            </a:r>
            <a:r>
              <a:rPr lang="en-GB" dirty="0"/>
              <a:t>-complete problem has no PTAS unless </a:t>
            </a:r>
            <a:r>
              <a:rPr lang="en-GB" b="1" dirty="0"/>
              <a:t>P</a:t>
            </a:r>
            <a:r>
              <a:rPr lang="en-GB" dirty="0"/>
              <a:t>=</a:t>
            </a:r>
            <a:r>
              <a:rPr lang="en-GB" b="1" dirty="0"/>
              <a:t>NP</a:t>
            </a:r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L-reduction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</a:t>
            </a:r>
            <a:r>
              <a:rPr lang="en-GB" baseline="-25000" dirty="0"/>
              <a:t>1</a:t>
            </a:r>
            <a:r>
              <a:rPr lang="en-GB" dirty="0"/>
              <a:t> is L-reducible to P</a:t>
            </a:r>
            <a:r>
              <a:rPr lang="en-GB" baseline="-25000" dirty="0"/>
              <a:t>2</a:t>
            </a:r>
            <a:r>
              <a:rPr lang="en-GB" dirty="0"/>
              <a:t> (</a:t>
            </a:r>
            <a:r>
              <a:rPr lang="en-US" altLang="en-US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US" altLang="en-US" dirty="0">
                <a:latin typeface="Symbol" pitchFamily="18" charset="2"/>
              </a:rPr>
              <a:t>£</a:t>
            </a:r>
            <a:r>
              <a:rPr lang="en-US" altLang="en-US" baseline="-25000" dirty="0"/>
              <a:t>L</a:t>
            </a:r>
            <a:r>
              <a:rPr lang="en-US" altLang="en-US" dirty="0"/>
              <a:t> P</a:t>
            </a:r>
            <a:r>
              <a:rPr lang="en-US" altLang="en-US" baseline="-25000" dirty="0"/>
              <a:t>2</a:t>
            </a:r>
            <a:r>
              <a:rPr lang="en-US" altLang="en-US" dirty="0"/>
              <a:t>) if there exist:</a:t>
            </a:r>
          </a:p>
          <a:p>
            <a:pPr lvl="1"/>
            <a:r>
              <a:rPr lang="en-US" altLang="en-US" dirty="0"/>
              <a:t>a function </a:t>
            </a:r>
            <a:r>
              <a:rPr lang="en-US" altLang="en-US" dirty="0">
                <a:solidFill>
                  <a:srgbClr val="C00000"/>
                </a:solidFill>
              </a:rPr>
              <a:t>f</a:t>
            </a:r>
            <a:r>
              <a:rPr lang="en-US" altLang="en-US" dirty="0"/>
              <a:t> mapping instances x of </a:t>
            </a:r>
            <a:r>
              <a:rPr lang="en-GB" dirty="0"/>
              <a:t>P</a:t>
            </a:r>
            <a:r>
              <a:rPr lang="en-GB" baseline="-25000" dirty="0"/>
              <a:t>1</a:t>
            </a:r>
            <a:r>
              <a:rPr lang="en-GB" dirty="0"/>
              <a:t> to instances </a:t>
            </a:r>
            <a:r>
              <a:rPr lang="en-GB" dirty="0">
                <a:solidFill>
                  <a:srgbClr val="C00000"/>
                </a:solidFill>
              </a:rPr>
              <a:t>f</a:t>
            </a:r>
            <a:r>
              <a:rPr lang="en-GB" dirty="0"/>
              <a:t>(x) of P</a:t>
            </a:r>
            <a:r>
              <a:rPr lang="en-GB" baseline="-25000" dirty="0"/>
              <a:t>2</a:t>
            </a:r>
            <a:r>
              <a:rPr lang="en-US" altLang="en-US" dirty="0"/>
              <a:t>,</a:t>
            </a:r>
            <a:endParaRPr lang="en-GB" dirty="0"/>
          </a:p>
          <a:p>
            <a:pPr lvl="1"/>
            <a:r>
              <a:rPr lang="en-GB" dirty="0"/>
              <a:t>a function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C00000"/>
                </a:solidFill>
              </a:rPr>
              <a:t>g</a:t>
            </a:r>
            <a:r>
              <a:rPr lang="en-US" altLang="en-US" dirty="0"/>
              <a:t> mapping solutions of </a:t>
            </a:r>
            <a:r>
              <a:rPr lang="en-US" altLang="en-US" dirty="0">
                <a:solidFill>
                  <a:srgbClr val="C00000"/>
                </a:solidFill>
              </a:rPr>
              <a:t>f</a:t>
            </a:r>
            <a:r>
              <a:rPr lang="en-US" altLang="en-US" dirty="0"/>
              <a:t>(x) to solutions of x,</a:t>
            </a:r>
          </a:p>
          <a:p>
            <a:pPr lvl="1"/>
            <a:r>
              <a:rPr lang="en-US" altLang="en-US" dirty="0"/>
              <a:t>two constants </a:t>
            </a:r>
            <a:r>
              <a:rPr lang="en-US" altLang="en-US" dirty="0">
                <a:solidFill>
                  <a:srgbClr val="C00000"/>
                </a:solidFill>
              </a:rPr>
              <a:t>a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rgbClr val="C00000"/>
                </a:solidFill>
              </a:rPr>
              <a:t>b</a:t>
            </a:r>
            <a:r>
              <a:rPr lang="en-US" altLang="en-US" dirty="0"/>
              <a:t> such that: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f and g are computable in polynomial-time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For any instance </a:t>
            </a:r>
            <a:r>
              <a:rPr lang="en-US" altLang="en-US" dirty="0"/>
              <a:t>x of </a:t>
            </a:r>
            <a:r>
              <a:rPr lang="en-GB" dirty="0"/>
              <a:t>P</a:t>
            </a:r>
            <a:r>
              <a:rPr lang="en-GB" baseline="-25000" dirty="0"/>
              <a:t>1</a:t>
            </a:r>
            <a:r>
              <a:rPr lang="en-GB" dirty="0"/>
              <a:t>: OPT( </a:t>
            </a:r>
            <a:r>
              <a:rPr lang="en-GB" dirty="0">
                <a:solidFill>
                  <a:srgbClr val="C00000"/>
                </a:solidFill>
              </a:rPr>
              <a:t>f</a:t>
            </a:r>
            <a:r>
              <a:rPr lang="en-GB" dirty="0"/>
              <a:t>(x) ) </a:t>
            </a:r>
            <a:r>
              <a:rPr lang="en-GB" dirty="0">
                <a:latin typeface="cmsy10"/>
              </a:rPr>
              <a:t>·</a:t>
            </a:r>
            <a:r>
              <a:rPr lang="en-GB" dirty="0"/>
              <a:t> </a:t>
            </a:r>
            <a:r>
              <a:rPr lang="en-GB" dirty="0">
                <a:solidFill>
                  <a:srgbClr val="C00000"/>
                </a:solidFill>
              </a:rPr>
              <a:t>a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¢ </a:t>
            </a:r>
            <a:r>
              <a:rPr lang="en-GB" dirty="0"/>
              <a:t>OPT(x)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For any instance</a:t>
            </a:r>
            <a:r>
              <a:rPr lang="en-US" altLang="en-US" dirty="0"/>
              <a:t> x of </a:t>
            </a:r>
            <a:r>
              <a:rPr lang="en-GB" dirty="0"/>
              <a:t>P</a:t>
            </a:r>
            <a:r>
              <a:rPr lang="en-GB" baseline="-25000" dirty="0"/>
              <a:t>1</a:t>
            </a:r>
            <a:r>
              <a:rPr lang="en-GB" dirty="0"/>
              <a:t> and any solution y of </a:t>
            </a:r>
            <a:r>
              <a:rPr lang="en-GB" dirty="0">
                <a:solidFill>
                  <a:srgbClr val="C00000"/>
                </a:solidFill>
              </a:rPr>
              <a:t>f</a:t>
            </a:r>
            <a:r>
              <a:rPr lang="en-GB" dirty="0"/>
              <a:t>(x):</a:t>
            </a:r>
          </a:p>
          <a:p>
            <a:pPr marL="800100" lvl="1" indent="-342900">
              <a:buNone/>
            </a:pPr>
            <a:r>
              <a:rPr lang="en-GB" dirty="0"/>
              <a:t>	|OPT(x) – VAL(</a:t>
            </a:r>
            <a:r>
              <a:rPr lang="en-GB" dirty="0">
                <a:solidFill>
                  <a:srgbClr val="C00000"/>
                </a:solidFill>
              </a:rPr>
              <a:t>g</a:t>
            </a:r>
            <a:r>
              <a:rPr lang="en-GB" dirty="0"/>
              <a:t>(y))| </a:t>
            </a:r>
            <a:r>
              <a:rPr lang="en-GB" dirty="0">
                <a:latin typeface="cmsy10"/>
              </a:rPr>
              <a:t>·</a:t>
            </a:r>
            <a:r>
              <a:rPr lang="en-GB" dirty="0"/>
              <a:t> </a:t>
            </a:r>
            <a:r>
              <a:rPr lang="en-GB" dirty="0">
                <a:solidFill>
                  <a:srgbClr val="C00000"/>
                </a:solidFill>
              </a:rPr>
              <a:t>b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¢ </a:t>
            </a:r>
            <a:r>
              <a:rPr lang="en-GB" dirty="0"/>
              <a:t>|OPT(</a:t>
            </a:r>
            <a:r>
              <a:rPr lang="en-GB" dirty="0">
                <a:solidFill>
                  <a:srgbClr val="C00000"/>
                </a:solidFill>
              </a:rPr>
              <a:t>f</a:t>
            </a:r>
            <a:r>
              <a:rPr lang="en-GB" dirty="0"/>
              <a:t>(x)) – VAL(y)|</a:t>
            </a:r>
          </a:p>
          <a:p>
            <a:pPr marL="800100" lvl="1" indent="-342900">
              <a:buNone/>
            </a:pPr>
            <a:endParaRPr lang="en-GB" dirty="0"/>
          </a:p>
          <a:p>
            <a:pPr>
              <a:buNone/>
            </a:pPr>
            <a:r>
              <a:rPr lang="en-US" altLang="en-US" b="1" dirty="0"/>
              <a:t>Lemma:</a:t>
            </a:r>
            <a:r>
              <a:rPr lang="en-US" altLang="en-US" b="1" dirty="0">
                <a:solidFill>
                  <a:srgbClr val="C00000"/>
                </a:solidFill>
              </a:rPr>
              <a:t>  </a:t>
            </a:r>
          </a:p>
          <a:p>
            <a:r>
              <a:rPr lang="en-US" altLang="en-US" dirty="0"/>
              <a:t>If P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US" altLang="en-US" dirty="0">
                <a:latin typeface="Symbol" pitchFamily="18" charset="2"/>
              </a:rPr>
              <a:t>£</a:t>
            </a:r>
            <a:r>
              <a:rPr lang="en-US" altLang="en-US" baseline="-25000" dirty="0"/>
              <a:t>L</a:t>
            </a:r>
            <a:r>
              <a:rPr lang="en-US" altLang="en-US" dirty="0"/>
              <a:t> P</a:t>
            </a:r>
            <a:r>
              <a:rPr lang="en-US" altLang="en-US" baseline="-25000" dirty="0"/>
              <a:t>2 </a:t>
            </a:r>
            <a:r>
              <a:rPr lang="en-US" altLang="en-US" dirty="0"/>
              <a:t>then: if P</a:t>
            </a:r>
            <a:r>
              <a:rPr lang="en-US" altLang="en-US" baseline="-25000" dirty="0"/>
              <a:t>2</a:t>
            </a:r>
            <a:r>
              <a:rPr lang="en-US" altLang="en-US" dirty="0"/>
              <a:t> has a PTAS, then P</a:t>
            </a:r>
            <a:r>
              <a:rPr lang="en-US" altLang="en-US" baseline="-25000" dirty="0"/>
              <a:t>1</a:t>
            </a:r>
            <a:r>
              <a:rPr lang="en-US" altLang="en-US" dirty="0"/>
              <a:t> has a PTAS</a:t>
            </a:r>
          </a:p>
          <a:p>
            <a:pPr lvl="1"/>
            <a:r>
              <a:rPr lang="en-US" altLang="en-US" dirty="0"/>
              <a:t>Run an algorithm for P</a:t>
            </a:r>
            <a:r>
              <a:rPr lang="en-US" altLang="en-US" baseline="-25000" dirty="0"/>
              <a:t>2</a:t>
            </a:r>
            <a:r>
              <a:rPr lang="en-US" altLang="en-US" dirty="0"/>
              <a:t> on f(x) for instance x for problem P</a:t>
            </a:r>
            <a:r>
              <a:rPr lang="en-US" altLang="en-US" baseline="-25000" dirty="0"/>
              <a:t>1</a:t>
            </a:r>
            <a:endParaRPr lang="en-US" altLang="en-US" dirty="0"/>
          </a:p>
          <a:p>
            <a:pPr lvl="1"/>
            <a:r>
              <a:rPr lang="en-US" altLang="en-US" dirty="0"/>
              <a:t>L-Reduction preserves approximation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L-reduction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7520880" cy="3962400"/>
              </a:xfrm>
            </p:spPr>
            <p:txBody>
              <a:bodyPr/>
              <a:lstStyle/>
              <a:p>
                <a:pPr>
                  <a:buNone/>
                </a:pPr>
                <a:r>
                  <a:rPr lang="en-US" altLang="en-US" b="1" dirty="0"/>
                  <a:t>Lemma:</a:t>
                </a:r>
                <a:r>
                  <a:rPr lang="en-US" altLang="en-US" b="1" dirty="0">
                    <a:solidFill>
                      <a:srgbClr val="C00000"/>
                    </a:solidFill>
                  </a:rPr>
                  <a:t>  </a:t>
                </a:r>
              </a:p>
              <a:p>
                <a:r>
                  <a:rPr lang="en-US" altLang="en-US" dirty="0"/>
                  <a:t>If P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 </a:t>
                </a:r>
                <a:r>
                  <a:rPr lang="en-US" altLang="en-US" dirty="0">
                    <a:latin typeface="Symbol" pitchFamily="18" charset="2"/>
                  </a:rPr>
                  <a:t>£</a:t>
                </a:r>
                <a:r>
                  <a:rPr lang="en-US" altLang="en-US" baseline="-25000" dirty="0"/>
                  <a:t>L</a:t>
                </a:r>
                <a:r>
                  <a:rPr lang="en-US" altLang="en-US" dirty="0"/>
                  <a:t> P</a:t>
                </a:r>
                <a:r>
                  <a:rPr lang="en-US" altLang="en-US" baseline="-25000" dirty="0"/>
                  <a:t>2 </a:t>
                </a:r>
                <a:r>
                  <a:rPr lang="en-US" altLang="en-US" dirty="0"/>
                  <a:t>then: if P</a:t>
                </a:r>
                <a:r>
                  <a:rPr lang="en-US" altLang="en-US" baseline="-25000" dirty="0"/>
                  <a:t>2</a:t>
                </a:r>
                <a:r>
                  <a:rPr lang="en-US" altLang="en-US" dirty="0"/>
                  <a:t> has a PTAS, then P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 has a PTAS</a:t>
                </a:r>
              </a:p>
              <a:p>
                <a:pPr lvl="1"/>
                <a:r>
                  <a:rPr lang="en-US" altLang="en-US" dirty="0"/>
                  <a:t>Run an algorithm for P</a:t>
                </a:r>
                <a:r>
                  <a:rPr lang="en-US" altLang="en-US" baseline="-25000" dirty="0"/>
                  <a:t>2</a:t>
                </a:r>
                <a:r>
                  <a:rPr lang="en-US" altLang="en-US" dirty="0"/>
                  <a:t> on f(x) for instance x for problem P</a:t>
                </a:r>
                <a:r>
                  <a:rPr lang="en-US" altLang="en-US" baseline="-25000" dirty="0"/>
                  <a:t>1</a:t>
                </a:r>
                <a:endParaRPr lang="en-US" altLang="en-US" dirty="0"/>
              </a:p>
              <a:p>
                <a:pPr lvl="1"/>
                <a:r>
                  <a:rPr lang="en-US" altLang="en-US" dirty="0"/>
                  <a:t>L-Reduction preserves approximation</a:t>
                </a:r>
              </a:p>
              <a:p>
                <a:pPr lvl="1"/>
                <a:endParaRPr lang="en-US" altLang="en-US" dirty="0"/>
              </a:p>
              <a:p>
                <a:r>
                  <a:rPr lang="en-GB" dirty="0"/>
                  <a:t>For a minimisation problem:</a:t>
                </a:r>
              </a:p>
              <a:p>
                <a:pPr lvl="1"/>
                <a:r>
                  <a:rPr lang="en-GB" dirty="0"/>
                  <a:t>Absolute value symbols make it work for max en min problems:</a:t>
                </a:r>
              </a:p>
              <a:p>
                <a:pPr marL="800100" lvl="1" indent="-342900">
                  <a:buFont typeface="+mj-lt"/>
                  <a:buAutoNum type="arabicPeriod"/>
                  <a:tabLst>
                    <a:tab pos="5557838" algn="l"/>
                  </a:tabLst>
                </a:pPr>
                <a14:m>
                  <m:oMath xmlns:m="http://schemas.openxmlformats.org/officeDocument/2006/math">
                    <m:r>
                      <a:rPr lang="en-US" b="0" dirty="0" smtClean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​​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𝑉𝐴𝐿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)) −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𝑂𝑃𝑇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)≤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(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𝑉𝐴𝐿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 −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𝑂𝑃𝑇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)) )	</m:t>
                    </m:r>
                  </m:oMath>
                </a14:m>
                <a:r>
                  <a:rPr lang="en-GB" dirty="0"/>
                  <a:t>  [by def part 3]</a:t>
                </a:r>
              </a:p>
              <a:p>
                <a:pPr marL="800100" lvl="1" indent="-342900">
                  <a:buFont typeface="+mj-lt"/>
                  <a:buAutoNum type="arabicPeriod"/>
                  <a:tabLst>
                    <a:tab pos="5557838" algn="l"/>
                  </a:tabLst>
                </a:pPr>
                <a:r>
                  <a:rPr lang="en-GB" dirty="0">
                    <a:ea typeface="Cambria Math" panose="02040503050406030204" pitchFamily="18" charset="0"/>
                  </a:rPr>
                  <a:t>   ​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( (1+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𝑂𝑃𝑇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𝑂𝑃𝑇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)) )</m:t>
                    </m:r>
                  </m:oMath>
                </a14:m>
                <a:r>
                  <a:rPr lang="en-GB" dirty="0"/>
                  <a:t>	[by def PTAS]</a:t>
                </a:r>
              </a:p>
              <a:p>
                <a:pPr marL="800100" lvl="1" indent="-342900">
                  <a:buFont typeface="+mj-lt"/>
                  <a:buAutoNum type="arabicPeriod"/>
                  <a:tabLst>
                    <a:tab pos="5557838" algn="l"/>
                  </a:tabLst>
                </a:pPr>
                <a:r>
                  <a:rPr lang="en-GB" dirty="0">
                    <a:ea typeface="Cambria Math" panose="02040503050406030204" pitchFamily="18" charset="0"/>
                  </a:rPr>
                  <a:t>​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𝑂𝑃𝑇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	[simplify]</a:t>
                </a:r>
              </a:p>
              <a:p>
                <a:pPr marL="800100" lvl="1" indent="-342900">
                  <a:buFont typeface="+mj-lt"/>
                  <a:buAutoNum type="arabicPeriod"/>
                  <a:tabLst>
                    <a:tab pos="5557838" algn="l"/>
                  </a:tabLst>
                </a:pPr>
                <a:r>
                  <a:rPr lang="en-GB" dirty="0">
                    <a:ea typeface="Cambria Math" panose="02040503050406030204" pitchFamily="18" charset="0"/>
                  </a:rPr>
                  <a:t>   ​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𝑂𝑃𝑇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	[by def part 2]</a:t>
                </a:r>
              </a:p>
              <a:p>
                <a:pPr marL="361950" indent="-361950"/>
                <a:r>
                  <a:rPr lang="en-GB" dirty="0"/>
                  <a:t>Thus a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(1 +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-approximation as:</a:t>
                </a:r>
              </a:p>
              <a:p>
                <a:pPr marL="762000" lvl="1" indent="-361950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𝑉𝐴𝐿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)) −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𝑂𝑃𝑇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)≤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𝑂𝑃𝑇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marL="762000" lvl="1" indent="-361950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𝑉𝐴𝐿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))≤( 1 +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)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𝑂𝑃𝑇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endParaRPr lang="en-US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7520880" cy="3962400"/>
              </a:xfrm>
              <a:blipFill>
                <a:blip r:embed="rId3"/>
                <a:stretch>
                  <a:fillRect l="-648" t="-769" b="-923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L-reduction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</a:t>
            </a:r>
            <a:r>
              <a:rPr lang="en-GB" baseline="-25000" dirty="0"/>
              <a:t>1</a:t>
            </a:r>
            <a:r>
              <a:rPr lang="en-GB" dirty="0"/>
              <a:t> is L-reducible to P</a:t>
            </a:r>
            <a:r>
              <a:rPr lang="en-GB" baseline="-25000" dirty="0"/>
              <a:t>2</a:t>
            </a:r>
            <a:r>
              <a:rPr lang="en-GB" dirty="0"/>
              <a:t> (</a:t>
            </a:r>
            <a:r>
              <a:rPr lang="en-US" altLang="en-US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US" altLang="en-US" dirty="0">
                <a:latin typeface="Symbol" pitchFamily="18" charset="2"/>
              </a:rPr>
              <a:t>£</a:t>
            </a:r>
            <a:r>
              <a:rPr lang="en-US" altLang="en-US" baseline="-25000" dirty="0"/>
              <a:t>L</a:t>
            </a:r>
            <a:r>
              <a:rPr lang="en-US" altLang="en-US" dirty="0"/>
              <a:t> P</a:t>
            </a:r>
            <a:r>
              <a:rPr lang="en-US" altLang="en-US" baseline="-25000" dirty="0"/>
              <a:t>2</a:t>
            </a:r>
            <a:r>
              <a:rPr lang="en-US" altLang="en-US" dirty="0"/>
              <a:t>) if there exist:</a:t>
            </a:r>
          </a:p>
          <a:p>
            <a:pPr lvl="1"/>
            <a:r>
              <a:rPr lang="en-US" altLang="en-US" dirty="0"/>
              <a:t>a function </a:t>
            </a:r>
            <a:r>
              <a:rPr lang="en-US" altLang="en-US" dirty="0">
                <a:solidFill>
                  <a:srgbClr val="C00000"/>
                </a:solidFill>
              </a:rPr>
              <a:t>f</a:t>
            </a:r>
            <a:r>
              <a:rPr lang="en-US" altLang="en-US" dirty="0"/>
              <a:t> mapping instances x of </a:t>
            </a:r>
            <a:r>
              <a:rPr lang="en-GB" dirty="0"/>
              <a:t>P</a:t>
            </a:r>
            <a:r>
              <a:rPr lang="en-GB" baseline="-25000" dirty="0"/>
              <a:t>1</a:t>
            </a:r>
            <a:r>
              <a:rPr lang="en-GB" dirty="0"/>
              <a:t> to instances </a:t>
            </a:r>
            <a:r>
              <a:rPr lang="en-GB" dirty="0">
                <a:solidFill>
                  <a:srgbClr val="C00000"/>
                </a:solidFill>
              </a:rPr>
              <a:t>f</a:t>
            </a:r>
            <a:r>
              <a:rPr lang="en-GB" dirty="0"/>
              <a:t>(x) of P</a:t>
            </a:r>
            <a:r>
              <a:rPr lang="en-GB" baseline="-25000" dirty="0"/>
              <a:t>2</a:t>
            </a:r>
            <a:r>
              <a:rPr lang="en-GB" dirty="0"/>
              <a:t>,</a:t>
            </a:r>
          </a:p>
          <a:p>
            <a:pPr lvl="1"/>
            <a:r>
              <a:rPr lang="en-GB" dirty="0"/>
              <a:t>a function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C00000"/>
                </a:solidFill>
              </a:rPr>
              <a:t>g</a:t>
            </a:r>
            <a:r>
              <a:rPr lang="en-US" altLang="en-US" dirty="0"/>
              <a:t> mapping solutions of </a:t>
            </a:r>
            <a:r>
              <a:rPr lang="en-US" altLang="en-US" dirty="0">
                <a:solidFill>
                  <a:srgbClr val="C00000"/>
                </a:solidFill>
              </a:rPr>
              <a:t>f</a:t>
            </a:r>
            <a:r>
              <a:rPr lang="en-US" altLang="en-US" dirty="0"/>
              <a:t>(x) to solutions of x,</a:t>
            </a:r>
          </a:p>
          <a:p>
            <a:pPr lvl="1"/>
            <a:r>
              <a:rPr lang="en-US" altLang="en-US" dirty="0"/>
              <a:t>two constants </a:t>
            </a:r>
            <a:r>
              <a:rPr lang="en-US" altLang="en-US" dirty="0">
                <a:solidFill>
                  <a:srgbClr val="C00000"/>
                </a:solidFill>
              </a:rPr>
              <a:t>a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rgbClr val="C00000"/>
                </a:solidFill>
              </a:rPr>
              <a:t>b</a:t>
            </a:r>
            <a:r>
              <a:rPr lang="en-US" altLang="en-US" dirty="0"/>
              <a:t> such that: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solidFill>
                  <a:srgbClr val="C00000"/>
                </a:solidFill>
              </a:rPr>
              <a:t>f</a:t>
            </a:r>
            <a:r>
              <a:rPr lang="en-GB" dirty="0"/>
              <a:t> and </a:t>
            </a:r>
            <a:r>
              <a:rPr lang="en-GB" dirty="0">
                <a:solidFill>
                  <a:srgbClr val="C00000"/>
                </a:solidFill>
              </a:rPr>
              <a:t>g</a:t>
            </a:r>
            <a:r>
              <a:rPr lang="en-GB" dirty="0"/>
              <a:t> are computable in polynomial-time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For any instance </a:t>
            </a:r>
            <a:r>
              <a:rPr lang="en-US" altLang="en-US" dirty="0"/>
              <a:t>x of </a:t>
            </a:r>
            <a:r>
              <a:rPr lang="en-GB" dirty="0"/>
              <a:t>P</a:t>
            </a:r>
            <a:r>
              <a:rPr lang="en-GB" baseline="-25000" dirty="0"/>
              <a:t>1</a:t>
            </a:r>
            <a:r>
              <a:rPr lang="en-GB" dirty="0"/>
              <a:t>: OPT( </a:t>
            </a:r>
            <a:r>
              <a:rPr lang="en-GB" dirty="0">
                <a:solidFill>
                  <a:srgbClr val="C00000"/>
                </a:solidFill>
              </a:rPr>
              <a:t>f</a:t>
            </a:r>
            <a:r>
              <a:rPr lang="en-GB" dirty="0"/>
              <a:t>(x) ) </a:t>
            </a:r>
            <a:r>
              <a:rPr lang="en-GB" dirty="0">
                <a:latin typeface="cmsy10"/>
              </a:rPr>
              <a:t>·</a:t>
            </a:r>
            <a:r>
              <a:rPr lang="en-GB" dirty="0"/>
              <a:t> </a:t>
            </a:r>
            <a:r>
              <a:rPr lang="en-GB" dirty="0">
                <a:solidFill>
                  <a:srgbClr val="C00000"/>
                </a:solidFill>
              </a:rPr>
              <a:t>a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¢ </a:t>
            </a:r>
            <a:r>
              <a:rPr lang="en-GB" dirty="0"/>
              <a:t>OPT(x)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For any instance</a:t>
            </a:r>
            <a:r>
              <a:rPr lang="en-US" altLang="en-US" dirty="0"/>
              <a:t> x of </a:t>
            </a:r>
            <a:r>
              <a:rPr lang="en-GB" dirty="0"/>
              <a:t>P</a:t>
            </a:r>
            <a:r>
              <a:rPr lang="en-GB" baseline="-25000" dirty="0"/>
              <a:t>1</a:t>
            </a:r>
            <a:r>
              <a:rPr lang="en-GB" dirty="0"/>
              <a:t> and any solution y of </a:t>
            </a:r>
            <a:r>
              <a:rPr lang="en-GB" dirty="0">
                <a:solidFill>
                  <a:srgbClr val="C00000"/>
                </a:solidFill>
              </a:rPr>
              <a:t>f</a:t>
            </a:r>
            <a:r>
              <a:rPr lang="en-GB" dirty="0"/>
              <a:t>(x):</a:t>
            </a:r>
          </a:p>
          <a:p>
            <a:pPr marL="800100" lvl="1" indent="-342900">
              <a:buNone/>
            </a:pPr>
            <a:r>
              <a:rPr lang="en-GB" dirty="0"/>
              <a:t>	|OPT(x) – VAL(</a:t>
            </a:r>
            <a:r>
              <a:rPr lang="en-GB" dirty="0">
                <a:solidFill>
                  <a:srgbClr val="C00000"/>
                </a:solidFill>
              </a:rPr>
              <a:t>g</a:t>
            </a:r>
            <a:r>
              <a:rPr lang="en-GB" dirty="0"/>
              <a:t>(y))| </a:t>
            </a:r>
            <a:r>
              <a:rPr lang="en-GB" dirty="0">
                <a:latin typeface="cmsy10"/>
              </a:rPr>
              <a:t>·</a:t>
            </a:r>
            <a:r>
              <a:rPr lang="en-GB" dirty="0"/>
              <a:t> </a:t>
            </a:r>
            <a:r>
              <a:rPr lang="en-GB" dirty="0">
                <a:solidFill>
                  <a:srgbClr val="C00000"/>
                </a:solidFill>
              </a:rPr>
              <a:t>b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¢ </a:t>
            </a:r>
            <a:r>
              <a:rPr lang="en-GB" dirty="0"/>
              <a:t>|OPT(</a:t>
            </a:r>
            <a:r>
              <a:rPr lang="en-GB" dirty="0">
                <a:solidFill>
                  <a:srgbClr val="C00000"/>
                </a:solidFill>
              </a:rPr>
              <a:t>f</a:t>
            </a:r>
            <a:r>
              <a:rPr lang="en-GB" dirty="0"/>
              <a:t>(x)) – VAL(y)|</a:t>
            </a:r>
          </a:p>
          <a:p>
            <a:pPr marL="800100" lvl="1" indent="-342900">
              <a:buNone/>
            </a:pPr>
            <a:endParaRPr lang="nl-NL" altLang="en-US" dirty="0"/>
          </a:p>
          <a:p>
            <a:pPr>
              <a:buNone/>
            </a:pPr>
            <a:r>
              <a:rPr lang="en-US" altLang="en-US" b="1" dirty="0"/>
              <a:t>Lemma:</a:t>
            </a:r>
            <a:r>
              <a:rPr lang="en-US" altLang="en-US" b="1" dirty="0">
                <a:solidFill>
                  <a:srgbClr val="C00000"/>
                </a:solidFill>
              </a:rPr>
              <a:t>  </a:t>
            </a:r>
          </a:p>
          <a:p>
            <a:r>
              <a:rPr lang="en-US" altLang="en-US" dirty="0"/>
              <a:t>If P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US" altLang="en-US" dirty="0">
                <a:latin typeface="Symbol" pitchFamily="18" charset="2"/>
              </a:rPr>
              <a:t>£</a:t>
            </a:r>
            <a:r>
              <a:rPr lang="en-US" altLang="en-US" baseline="-25000" dirty="0"/>
              <a:t>L</a:t>
            </a:r>
            <a:r>
              <a:rPr lang="en-US" altLang="en-US" dirty="0"/>
              <a:t> P</a:t>
            </a:r>
            <a:r>
              <a:rPr lang="en-US" altLang="en-US" baseline="-25000" dirty="0"/>
              <a:t>2 </a:t>
            </a:r>
            <a:r>
              <a:rPr lang="en-US" altLang="en-US" dirty="0"/>
              <a:t>and P</a:t>
            </a:r>
            <a:r>
              <a:rPr lang="en-US" altLang="en-US" baseline="-25000" dirty="0"/>
              <a:t>2</a:t>
            </a:r>
            <a:r>
              <a:rPr lang="en-US" altLang="en-US" dirty="0"/>
              <a:t> </a:t>
            </a:r>
            <a:r>
              <a:rPr lang="en-US" altLang="en-US" dirty="0">
                <a:latin typeface="Symbol" pitchFamily="18" charset="2"/>
              </a:rPr>
              <a:t>£</a:t>
            </a:r>
            <a:r>
              <a:rPr lang="en-US" altLang="en-US" baseline="-25000" dirty="0"/>
              <a:t>L</a:t>
            </a:r>
            <a:r>
              <a:rPr lang="en-US" altLang="en-US" dirty="0"/>
              <a:t> P</a:t>
            </a:r>
            <a:r>
              <a:rPr lang="en-US" altLang="en-US" baseline="-25000" dirty="0"/>
              <a:t>3 </a:t>
            </a:r>
            <a:r>
              <a:rPr lang="en-US" altLang="en-US" dirty="0"/>
              <a:t>then: P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US" altLang="en-US" dirty="0">
                <a:latin typeface="Symbol" pitchFamily="18" charset="2"/>
              </a:rPr>
              <a:t>£</a:t>
            </a:r>
            <a:r>
              <a:rPr lang="en-US" altLang="en-US" baseline="-25000" dirty="0"/>
              <a:t>L</a:t>
            </a:r>
            <a:r>
              <a:rPr lang="en-US" altLang="en-US" dirty="0"/>
              <a:t> P</a:t>
            </a:r>
            <a:r>
              <a:rPr lang="en-US" altLang="en-US" baseline="-25000" dirty="0"/>
              <a:t>3</a:t>
            </a:r>
            <a:endParaRPr lang="en-US" altLang="en-US" dirty="0"/>
          </a:p>
          <a:p>
            <a:pPr lvl="1"/>
            <a:r>
              <a:rPr lang="en-US" altLang="en-US" dirty="0"/>
              <a:t>Reductions can be composed together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Proving APX-completeness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Proving </a:t>
            </a:r>
            <a:r>
              <a:rPr lang="en-GB" b="1" dirty="0"/>
              <a:t>APX</a:t>
            </a:r>
            <a:r>
              <a:rPr lang="en-GB" dirty="0"/>
              <a:t>-completeness of problem P:</a:t>
            </a:r>
          </a:p>
          <a:p>
            <a:pPr lvl="1"/>
            <a:r>
              <a:rPr lang="en-GB" dirty="0"/>
              <a:t>Give a c-approximation (prove that P is in </a:t>
            </a:r>
            <a:r>
              <a:rPr lang="en-GB" b="1" dirty="0"/>
              <a:t>APX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Give an L-reduction from an </a:t>
            </a:r>
            <a:r>
              <a:rPr lang="en-GB" b="1" dirty="0"/>
              <a:t>APX</a:t>
            </a:r>
            <a:r>
              <a:rPr lang="en-GB" dirty="0"/>
              <a:t>-complete problem to P</a:t>
            </a:r>
          </a:p>
          <a:p>
            <a:pPr lvl="1"/>
            <a:endParaRPr lang="en-GB" dirty="0"/>
          </a:p>
          <a:p>
            <a:r>
              <a:rPr lang="en-GB" dirty="0"/>
              <a:t>Proving </a:t>
            </a:r>
            <a:r>
              <a:rPr lang="en-GB" b="1" dirty="0"/>
              <a:t>APX</a:t>
            </a:r>
            <a:r>
              <a:rPr lang="en-GB" dirty="0"/>
              <a:t>-hardness of problem P:</a:t>
            </a:r>
          </a:p>
          <a:p>
            <a:pPr lvl="1"/>
            <a:r>
              <a:rPr lang="en-GB" dirty="0"/>
              <a:t>Give an L-reduction from an </a:t>
            </a:r>
            <a:r>
              <a:rPr lang="en-GB" b="1" dirty="0"/>
              <a:t>APX</a:t>
            </a:r>
            <a:r>
              <a:rPr lang="en-GB" dirty="0"/>
              <a:t>-hard problem to P</a:t>
            </a:r>
          </a:p>
          <a:p>
            <a:pPr lvl="1"/>
            <a:endParaRPr lang="en-GB" dirty="0"/>
          </a:p>
          <a:p>
            <a:r>
              <a:rPr lang="en-GB" dirty="0"/>
              <a:t>Similar to </a:t>
            </a:r>
            <a:r>
              <a:rPr lang="en-GB" b="1" dirty="0"/>
              <a:t>NP</a:t>
            </a:r>
            <a:r>
              <a:rPr lang="en-GB" dirty="0"/>
              <a:t>-completeness</a:t>
            </a:r>
          </a:p>
          <a:p>
            <a:r>
              <a:rPr lang="en-GB" b="1" dirty="0"/>
              <a:t>P</a:t>
            </a:r>
            <a:r>
              <a:rPr lang="en-GB" dirty="0">
                <a:latin typeface="Symbol"/>
                <a:sym typeface="Symbol"/>
              </a:rPr>
              <a:t></a:t>
            </a:r>
            <a:r>
              <a:rPr lang="en-GB" b="1" dirty="0"/>
              <a:t>NP</a:t>
            </a:r>
            <a:r>
              <a:rPr lang="en-GB" dirty="0"/>
              <a:t> implies </a:t>
            </a:r>
            <a:r>
              <a:rPr lang="en-GB" b="1" dirty="0"/>
              <a:t>PTAS</a:t>
            </a:r>
            <a:r>
              <a:rPr lang="en-GB" dirty="0">
                <a:latin typeface="Symbol"/>
                <a:sym typeface="Symbol"/>
              </a:rPr>
              <a:t>  </a:t>
            </a:r>
            <a:r>
              <a:rPr lang="en-GB" b="1" dirty="0"/>
              <a:t>APX</a:t>
            </a:r>
            <a:endParaRPr lang="en-GB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NP-completeness and APX-completeness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NP-completeness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u="sng" dirty="0"/>
              <a:t>NP</a:t>
            </a:r>
            <a:r>
              <a:rPr lang="en-GB" u="sng" dirty="0"/>
              <a:t>-complete</a:t>
            </a:r>
            <a:r>
              <a:rPr lang="en-GB" dirty="0"/>
              <a:t>: if one problem is polynomial-time solvable, then all are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Polynomial-time reductions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Cook’s theorem: SAT is </a:t>
            </a:r>
            <a:r>
              <a:rPr lang="en-GB" b="1" dirty="0"/>
              <a:t>NP</a:t>
            </a:r>
            <a:r>
              <a:rPr lang="en-GB" dirty="0"/>
              <a:t>-complete</a:t>
            </a:r>
          </a:p>
          <a:p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APX-completeness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u="sng" dirty="0"/>
              <a:t>APX</a:t>
            </a:r>
            <a:r>
              <a:rPr lang="en-GB" u="sng" dirty="0"/>
              <a:t>-complete</a:t>
            </a:r>
            <a:r>
              <a:rPr lang="en-GB" dirty="0"/>
              <a:t>: if one problem has a PTAS, then all have</a:t>
            </a:r>
          </a:p>
          <a:p>
            <a:pPr marL="457200" indent="-457200">
              <a:buFont typeface="+mj-lt"/>
              <a:buAutoNum type="arabicPeriod"/>
            </a:pPr>
            <a:endParaRPr lang="en-GB" sz="1800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L-reductions</a:t>
            </a:r>
          </a:p>
          <a:p>
            <a:pPr marL="457200" indent="-457200">
              <a:buFont typeface="+mj-lt"/>
              <a:buAutoNum type="arabicPeriod"/>
            </a:pPr>
            <a:endParaRPr lang="en-GB" sz="1800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PCP theorem implies Max 3-SAT is </a:t>
            </a:r>
            <a:r>
              <a:rPr lang="en-GB" b="1" dirty="0"/>
              <a:t>APX</a:t>
            </a:r>
            <a:r>
              <a:rPr lang="en-GB" dirty="0"/>
              <a:t>-complete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L-reduction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371600" y="1828800"/>
            <a:ext cx="7772400" cy="3962400"/>
          </a:xfrm>
        </p:spPr>
        <p:txBody>
          <a:bodyPr/>
          <a:lstStyle/>
          <a:p>
            <a:pPr>
              <a:buNone/>
            </a:pPr>
            <a:r>
              <a:rPr lang="nl-NL" b="1" dirty="0" err="1"/>
              <a:t>Theorem</a:t>
            </a:r>
            <a:r>
              <a:rPr lang="nl-NL" b="1" dirty="0"/>
              <a:t>: </a:t>
            </a:r>
            <a:r>
              <a:rPr lang="nl-NL" dirty="0"/>
              <a:t>Max 3-SAT </a:t>
            </a:r>
            <a:r>
              <a:rPr lang="en-US" altLang="en-US" dirty="0">
                <a:latin typeface="Symbol" pitchFamily="18" charset="2"/>
              </a:rPr>
              <a:t>£</a:t>
            </a:r>
            <a:r>
              <a:rPr lang="en-US" altLang="en-US" baseline="-25000" dirty="0"/>
              <a:t>L</a:t>
            </a:r>
            <a:r>
              <a:rPr lang="en-US" altLang="en-US" dirty="0"/>
              <a:t> Max 2-SAT</a:t>
            </a:r>
            <a:endParaRPr lang="en-US" dirty="0"/>
          </a:p>
          <a:p>
            <a:pPr>
              <a:buNone/>
            </a:pPr>
            <a:r>
              <a:rPr lang="en-US" b="1" dirty="0"/>
              <a:t>Proof:</a:t>
            </a:r>
          </a:p>
          <a:p>
            <a:r>
              <a:rPr lang="en-US" dirty="0"/>
              <a:t>Transformation f: replace any clause (</a:t>
            </a:r>
            <a:r>
              <a:rPr lang="en-US" dirty="0" err="1"/>
              <a:t>x,y,z</a:t>
            </a:r>
            <a:r>
              <a:rPr lang="en-US" dirty="0"/>
              <a:t>) by:</a:t>
            </a:r>
          </a:p>
          <a:p>
            <a:pPr lvl="1"/>
            <a:r>
              <a:rPr lang="en-US" dirty="0"/>
              <a:t>(x), (y), (z), (v), (</a:t>
            </a:r>
            <a:r>
              <a:rPr lang="en-US" dirty="0">
                <a:latin typeface="cmsy10"/>
              </a:rPr>
              <a:t>:</a:t>
            </a:r>
            <a:r>
              <a:rPr lang="en-US" dirty="0" err="1"/>
              <a:t>x,</a:t>
            </a:r>
            <a:r>
              <a:rPr lang="en-US" dirty="0" err="1">
                <a:latin typeface="cmsy10"/>
              </a:rPr>
              <a:t>:</a:t>
            </a:r>
            <a:r>
              <a:rPr lang="en-US" dirty="0" err="1"/>
              <a:t>y</a:t>
            </a:r>
            <a:r>
              <a:rPr lang="en-US" dirty="0"/>
              <a:t>), (</a:t>
            </a:r>
            <a:r>
              <a:rPr lang="en-US" dirty="0">
                <a:latin typeface="cmsy10"/>
              </a:rPr>
              <a:t>:</a:t>
            </a:r>
            <a:r>
              <a:rPr lang="en-US" dirty="0" err="1"/>
              <a:t>x,</a:t>
            </a:r>
            <a:r>
              <a:rPr lang="en-US" dirty="0" err="1">
                <a:latin typeface="cmsy10"/>
              </a:rPr>
              <a:t>:</a:t>
            </a:r>
            <a:r>
              <a:rPr lang="en-US" dirty="0" err="1"/>
              <a:t>z</a:t>
            </a:r>
            <a:r>
              <a:rPr lang="en-US" dirty="0"/>
              <a:t>), (</a:t>
            </a:r>
            <a:r>
              <a:rPr lang="en-US" dirty="0">
                <a:latin typeface="cmsy10"/>
              </a:rPr>
              <a:t>:</a:t>
            </a:r>
            <a:r>
              <a:rPr lang="en-US" dirty="0" err="1"/>
              <a:t>y,</a:t>
            </a:r>
            <a:r>
              <a:rPr lang="en-US" dirty="0" err="1">
                <a:latin typeface="cmsy10"/>
              </a:rPr>
              <a:t>:</a:t>
            </a:r>
            <a:r>
              <a:rPr lang="en-US" dirty="0" err="1"/>
              <a:t>z</a:t>
            </a:r>
            <a:r>
              <a:rPr lang="en-US" dirty="0"/>
              <a:t>), (</a:t>
            </a:r>
            <a:r>
              <a:rPr lang="en-US" dirty="0" err="1"/>
              <a:t>x,</a:t>
            </a:r>
            <a:r>
              <a:rPr lang="en-US" dirty="0" err="1">
                <a:latin typeface="cmsy10"/>
              </a:rPr>
              <a:t>:</a:t>
            </a:r>
            <a:r>
              <a:rPr lang="en-US" dirty="0" err="1"/>
              <a:t>v</a:t>
            </a:r>
            <a:r>
              <a:rPr lang="en-US" dirty="0"/>
              <a:t>), (</a:t>
            </a:r>
            <a:r>
              <a:rPr lang="en-US" dirty="0" err="1"/>
              <a:t>y,</a:t>
            </a:r>
            <a:r>
              <a:rPr lang="en-US" dirty="0" err="1">
                <a:latin typeface="cmsy10"/>
              </a:rPr>
              <a:t>:</a:t>
            </a:r>
            <a:r>
              <a:rPr lang="en-US" dirty="0" err="1"/>
              <a:t>v</a:t>
            </a:r>
            <a:r>
              <a:rPr lang="en-US" dirty="0"/>
              <a:t>), (z,</a:t>
            </a:r>
            <a:r>
              <a:rPr lang="en-US" dirty="0">
                <a:latin typeface="cmsy10"/>
              </a:rPr>
              <a:t> :</a:t>
            </a:r>
            <a:r>
              <a:rPr lang="en-US" dirty="0"/>
              <a:t>v)</a:t>
            </a:r>
          </a:p>
          <a:p>
            <a:pPr lvl="1"/>
            <a:r>
              <a:rPr lang="en-US" dirty="0"/>
              <a:t>Here v is a new variable (each clause gets a different one)</a:t>
            </a:r>
          </a:p>
          <a:p>
            <a:r>
              <a:rPr lang="en-US" dirty="0"/>
              <a:t>Transformation g: restrict the truth assignment to the original variables</a:t>
            </a:r>
          </a:p>
          <a:p>
            <a:r>
              <a:rPr lang="en-US" dirty="0"/>
              <a:t>a=13, b=1</a:t>
            </a:r>
          </a:p>
          <a:p>
            <a:r>
              <a:rPr lang="en-US" u="sng" dirty="0"/>
              <a:t>To prove:</a:t>
            </a:r>
          </a:p>
          <a:p>
            <a:pPr marL="400050">
              <a:buFont typeface="+mj-lt"/>
              <a:buAutoNum type="arabicPeriod"/>
            </a:pPr>
            <a:r>
              <a:rPr lang="en-GB" dirty="0"/>
              <a:t>For any instance </a:t>
            </a:r>
            <a:r>
              <a:rPr lang="en-US" altLang="en-US" dirty="0"/>
              <a:t>I of </a:t>
            </a:r>
            <a:r>
              <a:rPr lang="en-GB" dirty="0"/>
              <a:t>P</a:t>
            </a:r>
            <a:r>
              <a:rPr lang="en-GB" baseline="-25000" dirty="0"/>
              <a:t>1</a:t>
            </a:r>
            <a:r>
              <a:rPr lang="en-GB" dirty="0"/>
              <a:t>: OPT( </a:t>
            </a:r>
            <a:r>
              <a:rPr lang="en-GB" dirty="0">
                <a:solidFill>
                  <a:srgbClr val="C00000"/>
                </a:solidFill>
              </a:rPr>
              <a:t>f</a:t>
            </a:r>
            <a:r>
              <a:rPr lang="en-GB" dirty="0"/>
              <a:t>(I) ) </a:t>
            </a:r>
            <a:r>
              <a:rPr lang="en-GB" dirty="0">
                <a:latin typeface="cmsy10"/>
              </a:rPr>
              <a:t>·</a:t>
            </a:r>
            <a:r>
              <a:rPr lang="en-GB" dirty="0"/>
              <a:t> </a:t>
            </a:r>
            <a:r>
              <a:rPr lang="en-GB" dirty="0">
                <a:solidFill>
                  <a:srgbClr val="C00000"/>
                </a:solidFill>
              </a:rPr>
              <a:t>a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¢ </a:t>
            </a:r>
            <a:r>
              <a:rPr lang="en-GB" dirty="0"/>
              <a:t>OPT(I)</a:t>
            </a:r>
          </a:p>
          <a:p>
            <a:pPr marL="400050">
              <a:buFont typeface="+mj-lt"/>
              <a:buAutoNum type="arabicPeriod"/>
            </a:pPr>
            <a:r>
              <a:rPr lang="en-GB" dirty="0"/>
              <a:t>For any instance</a:t>
            </a:r>
            <a:r>
              <a:rPr lang="en-US" altLang="en-US" dirty="0"/>
              <a:t> x of </a:t>
            </a:r>
            <a:r>
              <a:rPr lang="en-GB" dirty="0"/>
              <a:t>P</a:t>
            </a:r>
            <a:r>
              <a:rPr lang="en-GB" baseline="-25000" dirty="0"/>
              <a:t>1</a:t>
            </a:r>
            <a:r>
              <a:rPr lang="en-GB" dirty="0"/>
              <a:t> and any solution y of </a:t>
            </a:r>
            <a:r>
              <a:rPr lang="en-GB" dirty="0">
                <a:solidFill>
                  <a:srgbClr val="C00000"/>
                </a:solidFill>
              </a:rPr>
              <a:t>f</a:t>
            </a:r>
            <a:r>
              <a:rPr lang="en-GB" dirty="0"/>
              <a:t>(x):</a:t>
            </a:r>
            <a:br>
              <a:rPr lang="en-GB" dirty="0"/>
            </a:br>
            <a:r>
              <a:rPr lang="en-GB" dirty="0"/>
              <a:t>|OPT(x) – VAL(</a:t>
            </a:r>
            <a:r>
              <a:rPr lang="en-GB" dirty="0">
                <a:solidFill>
                  <a:srgbClr val="C00000"/>
                </a:solidFill>
              </a:rPr>
              <a:t>g</a:t>
            </a:r>
            <a:r>
              <a:rPr lang="en-GB" dirty="0"/>
              <a:t>(y))| </a:t>
            </a:r>
            <a:r>
              <a:rPr lang="en-GB" dirty="0">
                <a:latin typeface="cmsy10"/>
              </a:rPr>
              <a:t>·</a:t>
            </a:r>
            <a:r>
              <a:rPr lang="en-GB" dirty="0"/>
              <a:t> </a:t>
            </a:r>
            <a:r>
              <a:rPr lang="en-GB" dirty="0">
                <a:solidFill>
                  <a:srgbClr val="C00000"/>
                </a:solidFill>
              </a:rPr>
              <a:t>b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¢ </a:t>
            </a:r>
            <a:r>
              <a:rPr lang="en-GB" dirty="0"/>
              <a:t>|OPT(</a:t>
            </a:r>
            <a:r>
              <a:rPr lang="en-GB" dirty="0">
                <a:solidFill>
                  <a:srgbClr val="C00000"/>
                </a:solidFill>
              </a:rPr>
              <a:t>f</a:t>
            </a:r>
            <a:r>
              <a:rPr lang="en-GB" dirty="0"/>
              <a:t>(x)) – VAL(y)|</a:t>
            </a:r>
          </a:p>
          <a:p>
            <a:pPr lvl="1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L-reduction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371600" y="1828800"/>
            <a:ext cx="7772400" cy="3962400"/>
          </a:xfrm>
        </p:spPr>
        <p:txBody>
          <a:bodyPr/>
          <a:lstStyle/>
          <a:p>
            <a:r>
              <a:rPr lang="en-US" dirty="0"/>
              <a:t>Transformation f: replace any clause (</a:t>
            </a:r>
            <a:r>
              <a:rPr lang="en-US" dirty="0" err="1"/>
              <a:t>x,y,z</a:t>
            </a:r>
            <a:r>
              <a:rPr lang="en-US" dirty="0"/>
              <a:t>) by:</a:t>
            </a:r>
          </a:p>
          <a:p>
            <a:pPr lvl="1"/>
            <a:r>
              <a:rPr lang="en-US" dirty="0"/>
              <a:t>(x), (y), (z), (v), (</a:t>
            </a:r>
            <a:r>
              <a:rPr lang="en-US" dirty="0">
                <a:latin typeface="cmsy10"/>
              </a:rPr>
              <a:t>:</a:t>
            </a:r>
            <a:r>
              <a:rPr lang="en-US" dirty="0" err="1"/>
              <a:t>x,</a:t>
            </a:r>
            <a:r>
              <a:rPr lang="en-US" dirty="0" err="1">
                <a:latin typeface="cmsy10"/>
              </a:rPr>
              <a:t>:</a:t>
            </a:r>
            <a:r>
              <a:rPr lang="en-US" dirty="0" err="1"/>
              <a:t>y</a:t>
            </a:r>
            <a:r>
              <a:rPr lang="en-US" dirty="0"/>
              <a:t>), (</a:t>
            </a:r>
            <a:r>
              <a:rPr lang="en-US" dirty="0">
                <a:latin typeface="cmsy10"/>
              </a:rPr>
              <a:t>:</a:t>
            </a:r>
            <a:r>
              <a:rPr lang="en-US" dirty="0" err="1"/>
              <a:t>x,</a:t>
            </a:r>
            <a:r>
              <a:rPr lang="en-US" dirty="0" err="1">
                <a:latin typeface="cmsy10"/>
              </a:rPr>
              <a:t>:</a:t>
            </a:r>
            <a:r>
              <a:rPr lang="en-US" dirty="0" err="1"/>
              <a:t>z</a:t>
            </a:r>
            <a:r>
              <a:rPr lang="en-US" dirty="0"/>
              <a:t>), (</a:t>
            </a:r>
            <a:r>
              <a:rPr lang="en-US" dirty="0">
                <a:latin typeface="cmsy10"/>
              </a:rPr>
              <a:t>:</a:t>
            </a:r>
            <a:r>
              <a:rPr lang="en-US" dirty="0" err="1"/>
              <a:t>y,</a:t>
            </a:r>
            <a:r>
              <a:rPr lang="en-US" dirty="0" err="1">
                <a:latin typeface="cmsy10"/>
              </a:rPr>
              <a:t>:</a:t>
            </a:r>
            <a:r>
              <a:rPr lang="en-US" dirty="0" err="1"/>
              <a:t>z</a:t>
            </a:r>
            <a:r>
              <a:rPr lang="en-US" dirty="0"/>
              <a:t>), (</a:t>
            </a:r>
            <a:r>
              <a:rPr lang="en-US" dirty="0" err="1"/>
              <a:t>x,</a:t>
            </a:r>
            <a:r>
              <a:rPr lang="en-US" dirty="0" err="1">
                <a:latin typeface="cmsy10"/>
              </a:rPr>
              <a:t>:</a:t>
            </a:r>
            <a:r>
              <a:rPr lang="en-US" dirty="0" err="1"/>
              <a:t>v</a:t>
            </a:r>
            <a:r>
              <a:rPr lang="en-US" dirty="0"/>
              <a:t>), (</a:t>
            </a:r>
            <a:r>
              <a:rPr lang="en-US" dirty="0" err="1"/>
              <a:t>y,</a:t>
            </a:r>
            <a:r>
              <a:rPr lang="en-US" dirty="0" err="1">
                <a:latin typeface="cmsy10"/>
              </a:rPr>
              <a:t>:</a:t>
            </a:r>
            <a:r>
              <a:rPr lang="en-US" dirty="0" err="1"/>
              <a:t>v</a:t>
            </a:r>
            <a:r>
              <a:rPr lang="en-US" dirty="0"/>
              <a:t>), (z,</a:t>
            </a:r>
            <a:r>
              <a:rPr lang="en-US" dirty="0">
                <a:latin typeface="cmsy10"/>
              </a:rPr>
              <a:t> :</a:t>
            </a:r>
            <a:r>
              <a:rPr lang="en-US" dirty="0"/>
              <a:t>v)</a:t>
            </a:r>
          </a:p>
          <a:p>
            <a:r>
              <a:rPr lang="en-US" dirty="0"/>
              <a:t>Transformation g: restrict the truth assignment to the original variables</a:t>
            </a:r>
          </a:p>
          <a:p>
            <a:r>
              <a:rPr lang="en-US" dirty="0"/>
              <a:t>a=13, b=1</a:t>
            </a:r>
          </a:p>
          <a:p>
            <a:pPr marL="400050">
              <a:buFont typeface="+mj-lt"/>
              <a:buAutoNum type="arabicPeriod"/>
            </a:pPr>
            <a:r>
              <a:rPr lang="en-GB" dirty="0"/>
              <a:t>For any instance </a:t>
            </a:r>
            <a:r>
              <a:rPr lang="en-US" altLang="en-US" dirty="0"/>
              <a:t>I of </a:t>
            </a:r>
            <a:r>
              <a:rPr lang="en-GB" dirty="0"/>
              <a:t>P</a:t>
            </a:r>
            <a:r>
              <a:rPr lang="en-GB" baseline="-25000" dirty="0"/>
              <a:t>1</a:t>
            </a:r>
            <a:r>
              <a:rPr lang="en-GB" dirty="0"/>
              <a:t>: OPT( </a:t>
            </a:r>
            <a:r>
              <a:rPr lang="en-GB" dirty="0">
                <a:solidFill>
                  <a:srgbClr val="C00000"/>
                </a:solidFill>
              </a:rPr>
              <a:t>f</a:t>
            </a:r>
            <a:r>
              <a:rPr lang="en-GB" dirty="0"/>
              <a:t>(I) ) </a:t>
            </a:r>
            <a:r>
              <a:rPr lang="en-GB" dirty="0">
                <a:latin typeface="cmsy10"/>
              </a:rPr>
              <a:t>·</a:t>
            </a:r>
            <a:r>
              <a:rPr lang="en-GB" dirty="0"/>
              <a:t> </a:t>
            </a:r>
            <a:r>
              <a:rPr lang="en-GB" dirty="0">
                <a:solidFill>
                  <a:srgbClr val="C00000"/>
                </a:solidFill>
              </a:rPr>
              <a:t>a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¢ </a:t>
            </a:r>
            <a:r>
              <a:rPr lang="en-GB" dirty="0"/>
              <a:t>OPT(I)</a:t>
            </a:r>
          </a:p>
          <a:p>
            <a:pPr marL="800100" lvl="1"/>
            <a:r>
              <a:rPr lang="en-GB" dirty="0"/>
              <a:t>OPT(f(I)) = 6|C| + OPT(I) </a:t>
            </a:r>
            <a:r>
              <a:rPr lang="en-GB" dirty="0">
                <a:latin typeface="cmsy10"/>
              </a:rPr>
              <a:t>· </a:t>
            </a:r>
            <a:r>
              <a:rPr lang="en-GB" dirty="0"/>
              <a:t>12 OPT(I) + OPT(I) = 13 OPT(I)</a:t>
            </a:r>
          </a:p>
          <a:p>
            <a:pPr marL="857250" lvl="1" indent="-342900">
              <a:buFont typeface="+mj-lt"/>
              <a:buAutoNum type="arabicPeriod"/>
            </a:pPr>
            <a:r>
              <a:rPr lang="en-GB" dirty="0"/>
              <a:t>OPT(f(I)) = 6|C| + OPT(I) follows from truth tables</a:t>
            </a:r>
          </a:p>
          <a:p>
            <a:pPr marL="857250" lvl="1" indent="-342900">
              <a:buFont typeface="+mj-lt"/>
              <a:buAutoNum type="arabicPeriod"/>
            </a:pPr>
            <a:r>
              <a:rPr lang="en-GB" dirty="0"/>
              <a:t>6|C| </a:t>
            </a:r>
            <a:r>
              <a:rPr lang="en-GB" dirty="0">
                <a:latin typeface="cmsy10"/>
              </a:rPr>
              <a:t>· </a:t>
            </a:r>
            <a:r>
              <a:rPr lang="en-GB" dirty="0"/>
              <a:t>12 OPT(I) because the optimum always satisfies half the clauses</a:t>
            </a:r>
          </a:p>
          <a:p>
            <a:pPr marL="400050">
              <a:buFont typeface="+mj-lt"/>
              <a:buAutoNum type="arabicPeriod"/>
            </a:pPr>
            <a:r>
              <a:rPr lang="en-GB" dirty="0"/>
              <a:t>For any instance</a:t>
            </a:r>
            <a:r>
              <a:rPr lang="en-US" altLang="en-US" dirty="0"/>
              <a:t> x of </a:t>
            </a:r>
            <a:r>
              <a:rPr lang="en-GB" dirty="0"/>
              <a:t>P</a:t>
            </a:r>
            <a:r>
              <a:rPr lang="en-GB" baseline="-25000" dirty="0"/>
              <a:t>1</a:t>
            </a:r>
            <a:r>
              <a:rPr lang="en-GB" dirty="0"/>
              <a:t> and any solution y of </a:t>
            </a:r>
            <a:r>
              <a:rPr lang="en-GB" dirty="0">
                <a:solidFill>
                  <a:srgbClr val="C00000"/>
                </a:solidFill>
              </a:rPr>
              <a:t>f</a:t>
            </a:r>
            <a:r>
              <a:rPr lang="en-GB" dirty="0"/>
              <a:t>(x):</a:t>
            </a:r>
            <a:br>
              <a:rPr lang="en-GB" dirty="0"/>
            </a:br>
            <a:r>
              <a:rPr lang="en-GB" dirty="0"/>
              <a:t>|OPT(x) – VAL(</a:t>
            </a:r>
            <a:r>
              <a:rPr lang="en-GB" dirty="0">
                <a:solidFill>
                  <a:srgbClr val="C00000"/>
                </a:solidFill>
              </a:rPr>
              <a:t>g</a:t>
            </a:r>
            <a:r>
              <a:rPr lang="en-GB" dirty="0"/>
              <a:t>(y))| </a:t>
            </a:r>
            <a:r>
              <a:rPr lang="en-GB" dirty="0">
                <a:latin typeface="cmsy10"/>
              </a:rPr>
              <a:t>·</a:t>
            </a:r>
            <a:r>
              <a:rPr lang="en-GB" dirty="0"/>
              <a:t> </a:t>
            </a:r>
            <a:r>
              <a:rPr lang="en-GB" dirty="0">
                <a:solidFill>
                  <a:srgbClr val="C00000"/>
                </a:solidFill>
              </a:rPr>
              <a:t>b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¢ </a:t>
            </a:r>
            <a:r>
              <a:rPr lang="en-GB" dirty="0"/>
              <a:t>|OPT(</a:t>
            </a:r>
            <a:r>
              <a:rPr lang="en-GB" dirty="0">
                <a:solidFill>
                  <a:srgbClr val="C00000"/>
                </a:solidFill>
              </a:rPr>
              <a:t>f</a:t>
            </a:r>
            <a:r>
              <a:rPr lang="en-GB" dirty="0"/>
              <a:t>(x)) – VAL(y)|</a:t>
            </a:r>
          </a:p>
          <a:p>
            <a:pPr marL="800100" lvl="1"/>
            <a:r>
              <a:rPr lang="en-GB" dirty="0"/>
              <a:t>|OPT(x) – VAL(g(y))| = |OPT(f(x)) – VAL(y)|, the transformation goes from 1 true clause to 7 or from 0 to 6 (truth tables)</a:t>
            </a:r>
          </a:p>
          <a:p>
            <a:pPr lvl="1"/>
            <a:endParaRPr lang="en-GB" dirty="0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APX-completeness of Max 2-SAT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/>
              <a:t>Corollary: </a:t>
            </a:r>
          </a:p>
          <a:p>
            <a:r>
              <a:rPr lang="en-GB" dirty="0"/>
              <a:t>Max 2-SAT is </a:t>
            </a:r>
            <a:r>
              <a:rPr lang="en-GB" b="1" dirty="0"/>
              <a:t>APX</a:t>
            </a:r>
            <a:r>
              <a:rPr lang="en-GB" dirty="0"/>
              <a:t>-complete</a:t>
            </a:r>
          </a:p>
          <a:p>
            <a:pPr lvl="1"/>
            <a:r>
              <a:rPr lang="en-GB" dirty="0"/>
              <a:t>APX-hard by the L-reduction from Max 3-SAT</a:t>
            </a:r>
          </a:p>
          <a:p>
            <a:pPr lvl="1"/>
            <a:r>
              <a:rPr lang="en-GB" dirty="0"/>
              <a:t>There is a 2-approximation for </a:t>
            </a:r>
            <a:r>
              <a:rPr lang="en-GB" dirty="0" err="1"/>
              <a:t>MaxSat</a:t>
            </a:r>
            <a:r>
              <a:rPr lang="en-GB" dirty="0"/>
              <a:t> that we have seen in an earlier lecture</a:t>
            </a:r>
          </a:p>
          <a:p>
            <a:pPr lvl="1"/>
            <a:r>
              <a:rPr lang="en-GB" dirty="0"/>
              <a:t>Hence, there also is a 2-approximation for Max 2-SAT, i.e., Max 2-SAT is in </a:t>
            </a:r>
            <a:r>
              <a:rPr lang="en-GB" b="1" dirty="0"/>
              <a:t>APX</a:t>
            </a:r>
            <a:endParaRPr lang="en-GB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INAPPROXIMABILITY OF MAX INDEPENDENT SET</a:t>
            </a:r>
          </a:p>
        </p:txBody>
      </p:sp>
      <p:sp>
        <p:nvSpPr>
          <p:cNvPr id="1536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dirty="0"/>
              <a:t>Approximation algorithms – Advanced Algorithms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Inapproximability of maximum independent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have seen that max independent set does not allow absolute constant difference approximation, nor an FPTAS</a:t>
            </a:r>
          </a:p>
          <a:p>
            <a:endParaRPr lang="en-GB" dirty="0"/>
          </a:p>
          <a:p>
            <a:r>
              <a:rPr lang="en-GB" dirty="0"/>
              <a:t>Next, we show that there also is no PTAS, by proving </a:t>
            </a:r>
            <a:r>
              <a:rPr lang="en-GB" b="1" dirty="0"/>
              <a:t>APX</a:t>
            </a:r>
            <a:r>
              <a:rPr lang="en-GB" dirty="0"/>
              <a:t>-hardness</a:t>
            </a:r>
          </a:p>
          <a:p>
            <a:pPr lvl="1"/>
            <a:r>
              <a:rPr lang="en-GB" dirty="0"/>
              <a:t>L-reduction from Max 2-SAT:</a:t>
            </a:r>
          </a:p>
          <a:p>
            <a:endParaRPr lang="en-GB" dirty="0"/>
          </a:p>
          <a:p>
            <a:r>
              <a:rPr lang="en-GB" dirty="0"/>
              <a:t>No, we will not prove </a:t>
            </a:r>
            <a:r>
              <a:rPr lang="en-GB" b="1" dirty="0"/>
              <a:t>APX</a:t>
            </a:r>
            <a:r>
              <a:rPr lang="en-GB" dirty="0"/>
              <a:t>-completeness</a:t>
            </a:r>
          </a:p>
          <a:p>
            <a:pPr lvl="1"/>
            <a:r>
              <a:rPr lang="en-GB" dirty="0"/>
              <a:t>Max independent set also not in </a:t>
            </a:r>
            <a:r>
              <a:rPr lang="en-GB" b="1" dirty="0"/>
              <a:t>APX</a:t>
            </a:r>
            <a:r>
              <a:rPr lang="en-GB" dirty="0"/>
              <a:t> as we will conclude thereafter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L-reduction from max 2-SAT to</a:t>
            </a:r>
            <a:br>
              <a:rPr lang="en-GB" dirty="0"/>
            </a:br>
            <a:r>
              <a:rPr lang="en-GB" dirty="0"/>
              <a:t>maximum independent set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371600" y="1828800"/>
            <a:ext cx="7772400" cy="3962400"/>
          </a:xfrm>
        </p:spPr>
        <p:txBody>
          <a:bodyPr/>
          <a:lstStyle/>
          <a:p>
            <a:pPr>
              <a:buNone/>
            </a:pPr>
            <a:r>
              <a:rPr lang="nl-NL" b="1" dirty="0" err="1"/>
              <a:t>L-Reduction</a:t>
            </a:r>
            <a:r>
              <a:rPr lang="nl-NL" b="1" dirty="0"/>
              <a:t>: </a:t>
            </a:r>
            <a:r>
              <a:rPr lang="nl-NL" dirty="0"/>
              <a:t>Max 2-SAT </a:t>
            </a:r>
            <a:r>
              <a:rPr lang="en-US" altLang="en-US" dirty="0">
                <a:latin typeface="Symbol" pitchFamily="18" charset="2"/>
              </a:rPr>
              <a:t>£</a:t>
            </a:r>
            <a:r>
              <a:rPr lang="en-US" altLang="en-US" baseline="-25000" dirty="0"/>
              <a:t>L</a:t>
            </a:r>
            <a:r>
              <a:rPr lang="en-US" altLang="en-US" dirty="0"/>
              <a:t> Maximum Independent Set</a:t>
            </a:r>
            <a:endParaRPr lang="en-US" dirty="0"/>
          </a:p>
          <a:p>
            <a:r>
              <a:rPr lang="en-US" dirty="0"/>
              <a:t>Transformation f: </a:t>
            </a:r>
          </a:p>
          <a:p>
            <a:pPr lvl="1"/>
            <a:r>
              <a:rPr lang="en-US" dirty="0"/>
              <a:t>Replace any clause (</a:t>
            </a:r>
            <a:r>
              <a:rPr lang="en-US" dirty="0" err="1"/>
              <a:t>x,y</a:t>
            </a:r>
            <a:r>
              <a:rPr lang="en-US" dirty="0"/>
              <a:t>) by two vertices x and y connected by an edge</a:t>
            </a:r>
          </a:p>
          <a:p>
            <a:pPr lvl="1"/>
            <a:r>
              <a:rPr lang="en-US" dirty="0"/>
              <a:t>For all variables x: connect all pairs (</a:t>
            </a:r>
            <a:r>
              <a:rPr lang="en-US" dirty="0" err="1"/>
              <a:t>x,</a:t>
            </a:r>
            <a:r>
              <a:rPr lang="en-US" dirty="0" err="1">
                <a:latin typeface="cmsy10"/>
              </a:rPr>
              <a:t>:</a:t>
            </a:r>
            <a:r>
              <a:rPr lang="en-US" dirty="0" err="1"/>
              <a:t>x</a:t>
            </a:r>
            <a:r>
              <a:rPr lang="en-US" dirty="0"/>
              <a:t>) by an edge</a:t>
            </a:r>
          </a:p>
          <a:p>
            <a:r>
              <a:rPr lang="en-US" dirty="0"/>
              <a:t>Transformation g:</a:t>
            </a:r>
          </a:p>
          <a:p>
            <a:pPr lvl="1"/>
            <a:r>
              <a:rPr lang="en-US" dirty="0"/>
              <a:t>Set x to true if any x vertex in the solution, to false if any </a:t>
            </a:r>
            <a:r>
              <a:rPr lang="en-US" dirty="0">
                <a:latin typeface="cmsy10"/>
              </a:rPr>
              <a:t>:</a:t>
            </a:r>
            <a:r>
              <a:rPr lang="en-US" dirty="0"/>
              <a:t>x vertex in the solution. Choose arbitrarily otherwise</a:t>
            </a:r>
          </a:p>
          <a:p>
            <a:r>
              <a:rPr lang="en-US" dirty="0"/>
              <a:t>a=1, b=1</a:t>
            </a:r>
          </a:p>
          <a:p>
            <a:r>
              <a:rPr lang="en-US" u="sng" dirty="0"/>
              <a:t>To prove:</a:t>
            </a:r>
          </a:p>
          <a:p>
            <a:pPr marL="400050">
              <a:buFont typeface="+mj-lt"/>
              <a:buAutoNum type="arabicPeriod"/>
            </a:pPr>
            <a:r>
              <a:rPr lang="en-GB" dirty="0"/>
              <a:t>For any instance </a:t>
            </a:r>
            <a:r>
              <a:rPr lang="en-US" altLang="en-US" dirty="0"/>
              <a:t>I of </a:t>
            </a:r>
            <a:r>
              <a:rPr lang="en-GB" dirty="0"/>
              <a:t>P</a:t>
            </a:r>
            <a:r>
              <a:rPr lang="en-GB" baseline="-25000" dirty="0"/>
              <a:t>1</a:t>
            </a:r>
            <a:r>
              <a:rPr lang="en-GB" dirty="0"/>
              <a:t>: OPT( </a:t>
            </a:r>
            <a:r>
              <a:rPr lang="en-GB" dirty="0">
                <a:solidFill>
                  <a:srgbClr val="C00000"/>
                </a:solidFill>
              </a:rPr>
              <a:t>f</a:t>
            </a:r>
            <a:r>
              <a:rPr lang="en-GB" dirty="0"/>
              <a:t>(I) ) </a:t>
            </a:r>
            <a:r>
              <a:rPr lang="en-GB" dirty="0">
                <a:latin typeface="cmsy10"/>
              </a:rPr>
              <a:t>·</a:t>
            </a:r>
            <a:r>
              <a:rPr lang="en-GB" dirty="0"/>
              <a:t> </a:t>
            </a:r>
            <a:r>
              <a:rPr lang="en-GB" dirty="0">
                <a:solidFill>
                  <a:srgbClr val="C00000"/>
                </a:solidFill>
              </a:rPr>
              <a:t>a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¢ </a:t>
            </a:r>
            <a:r>
              <a:rPr lang="en-GB" dirty="0"/>
              <a:t>OPT(I)</a:t>
            </a:r>
          </a:p>
          <a:p>
            <a:pPr marL="400050">
              <a:buFont typeface="+mj-lt"/>
              <a:buAutoNum type="arabicPeriod"/>
            </a:pPr>
            <a:r>
              <a:rPr lang="en-GB" dirty="0"/>
              <a:t>For any instance</a:t>
            </a:r>
            <a:r>
              <a:rPr lang="en-US" altLang="en-US" dirty="0"/>
              <a:t> x of </a:t>
            </a:r>
            <a:r>
              <a:rPr lang="en-GB" dirty="0"/>
              <a:t>P</a:t>
            </a:r>
            <a:r>
              <a:rPr lang="en-GB" baseline="-25000" dirty="0"/>
              <a:t>1</a:t>
            </a:r>
            <a:r>
              <a:rPr lang="en-GB" dirty="0"/>
              <a:t> and any solution y of </a:t>
            </a:r>
            <a:r>
              <a:rPr lang="en-GB" dirty="0">
                <a:solidFill>
                  <a:srgbClr val="C00000"/>
                </a:solidFill>
              </a:rPr>
              <a:t>f</a:t>
            </a:r>
            <a:r>
              <a:rPr lang="en-GB" dirty="0"/>
              <a:t>(x):</a:t>
            </a:r>
            <a:br>
              <a:rPr lang="en-GB" dirty="0"/>
            </a:br>
            <a:r>
              <a:rPr lang="en-GB" dirty="0"/>
              <a:t>|OPT(x) – VAL(</a:t>
            </a:r>
            <a:r>
              <a:rPr lang="en-GB" dirty="0">
                <a:solidFill>
                  <a:srgbClr val="C00000"/>
                </a:solidFill>
              </a:rPr>
              <a:t>g</a:t>
            </a:r>
            <a:r>
              <a:rPr lang="en-GB" dirty="0"/>
              <a:t>(y))| </a:t>
            </a:r>
            <a:r>
              <a:rPr lang="en-GB" dirty="0">
                <a:latin typeface="cmsy10"/>
              </a:rPr>
              <a:t>·</a:t>
            </a:r>
            <a:r>
              <a:rPr lang="en-GB" dirty="0"/>
              <a:t> </a:t>
            </a:r>
            <a:r>
              <a:rPr lang="en-GB" dirty="0">
                <a:solidFill>
                  <a:srgbClr val="C00000"/>
                </a:solidFill>
              </a:rPr>
              <a:t>b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¢ </a:t>
            </a:r>
            <a:r>
              <a:rPr lang="en-GB" dirty="0"/>
              <a:t>|OPT(</a:t>
            </a:r>
            <a:r>
              <a:rPr lang="en-GB" dirty="0">
                <a:solidFill>
                  <a:srgbClr val="C00000"/>
                </a:solidFill>
              </a:rPr>
              <a:t>f</a:t>
            </a:r>
            <a:r>
              <a:rPr lang="en-GB" dirty="0"/>
              <a:t>(x)) – VAL(y)|</a:t>
            </a:r>
          </a:p>
          <a:p>
            <a:pPr lvl="1"/>
            <a:endParaRPr lang="en-GB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L-reduction from max 2-SAT to</a:t>
            </a:r>
            <a:br>
              <a:rPr lang="en-GB" dirty="0"/>
            </a:br>
            <a:r>
              <a:rPr lang="en-GB" dirty="0"/>
              <a:t>maximum independent set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371600" y="1828800"/>
            <a:ext cx="7772400" cy="4336504"/>
          </a:xfrm>
        </p:spPr>
        <p:txBody>
          <a:bodyPr/>
          <a:lstStyle/>
          <a:p>
            <a:r>
              <a:rPr lang="en-US" dirty="0"/>
              <a:t>Transformation f: </a:t>
            </a:r>
          </a:p>
          <a:p>
            <a:pPr lvl="1"/>
            <a:r>
              <a:rPr lang="en-US" dirty="0"/>
              <a:t>Replace clause (</a:t>
            </a:r>
            <a:r>
              <a:rPr lang="en-US" dirty="0" err="1"/>
              <a:t>x,y</a:t>
            </a:r>
            <a:r>
              <a:rPr lang="en-US" dirty="0"/>
              <a:t>) by vertices x and y connected by an edge</a:t>
            </a:r>
          </a:p>
          <a:p>
            <a:pPr lvl="1"/>
            <a:r>
              <a:rPr lang="en-US" dirty="0"/>
              <a:t>For all variables x: connect all pairs (</a:t>
            </a:r>
            <a:r>
              <a:rPr lang="en-US" dirty="0" err="1"/>
              <a:t>x,</a:t>
            </a:r>
            <a:r>
              <a:rPr lang="en-US" dirty="0" err="1">
                <a:latin typeface="cmsy10"/>
              </a:rPr>
              <a:t>:</a:t>
            </a:r>
            <a:r>
              <a:rPr lang="en-US" dirty="0" err="1"/>
              <a:t>x</a:t>
            </a:r>
            <a:r>
              <a:rPr lang="en-US" dirty="0"/>
              <a:t>) by an edge</a:t>
            </a:r>
          </a:p>
          <a:p>
            <a:r>
              <a:rPr lang="en-US" dirty="0"/>
              <a:t>Transformation g:</a:t>
            </a:r>
          </a:p>
          <a:p>
            <a:pPr lvl="1"/>
            <a:r>
              <a:rPr lang="en-US" dirty="0"/>
              <a:t>Set x to true if any x vertex in the solution, to false if any </a:t>
            </a:r>
            <a:r>
              <a:rPr lang="en-US" dirty="0">
                <a:latin typeface="cmsy10"/>
              </a:rPr>
              <a:t>:</a:t>
            </a:r>
            <a:r>
              <a:rPr lang="en-US" dirty="0"/>
              <a:t>x vertex in the solution. Choose arbitrarily otherwise</a:t>
            </a:r>
          </a:p>
          <a:p>
            <a:r>
              <a:rPr lang="en-US" dirty="0"/>
              <a:t>a=1, b=1</a:t>
            </a:r>
          </a:p>
          <a:p>
            <a:pPr marL="400050">
              <a:buFont typeface="+mj-lt"/>
              <a:buAutoNum type="arabicPeriod"/>
            </a:pPr>
            <a:r>
              <a:rPr lang="en-GB" dirty="0"/>
              <a:t>For any instance </a:t>
            </a:r>
            <a:r>
              <a:rPr lang="en-US" altLang="en-US" dirty="0"/>
              <a:t>I of </a:t>
            </a:r>
            <a:r>
              <a:rPr lang="en-GB" dirty="0"/>
              <a:t>P</a:t>
            </a:r>
            <a:r>
              <a:rPr lang="en-GB" baseline="-25000" dirty="0"/>
              <a:t>1</a:t>
            </a:r>
            <a:r>
              <a:rPr lang="en-GB" dirty="0"/>
              <a:t>: OPT( </a:t>
            </a:r>
            <a:r>
              <a:rPr lang="en-GB" dirty="0">
                <a:solidFill>
                  <a:srgbClr val="C00000"/>
                </a:solidFill>
              </a:rPr>
              <a:t>f</a:t>
            </a:r>
            <a:r>
              <a:rPr lang="en-GB" dirty="0"/>
              <a:t>(I) ) </a:t>
            </a:r>
            <a:r>
              <a:rPr lang="en-GB" dirty="0">
                <a:latin typeface="cmsy10"/>
              </a:rPr>
              <a:t>·</a:t>
            </a:r>
            <a:r>
              <a:rPr lang="en-GB" dirty="0"/>
              <a:t> </a:t>
            </a:r>
            <a:r>
              <a:rPr lang="en-GB" dirty="0">
                <a:solidFill>
                  <a:srgbClr val="C00000"/>
                </a:solidFill>
              </a:rPr>
              <a:t>a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¢ </a:t>
            </a:r>
            <a:r>
              <a:rPr lang="en-GB" dirty="0"/>
              <a:t>OPT(I)</a:t>
            </a:r>
          </a:p>
          <a:p>
            <a:pPr marL="800100" lvl="1"/>
            <a:r>
              <a:rPr lang="en-GB" dirty="0"/>
              <a:t>In f(I) we can choose vertices corresponding to a truth assignment, or choose less vertices, never more</a:t>
            </a:r>
          </a:p>
          <a:p>
            <a:pPr marL="400050">
              <a:buFont typeface="+mj-lt"/>
              <a:buAutoNum type="arabicPeriod"/>
            </a:pPr>
            <a:r>
              <a:rPr lang="en-GB" dirty="0"/>
              <a:t>For any instance</a:t>
            </a:r>
            <a:r>
              <a:rPr lang="en-US" altLang="en-US" dirty="0"/>
              <a:t> x of </a:t>
            </a:r>
            <a:r>
              <a:rPr lang="en-GB" dirty="0"/>
              <a:t>P</a:t>
            </a:r>
            <a:r>
              <a:rPr lang="en-GB" baseline="-25000" dirty="0"/>
              <a:t>1</a:t>
            </a:r>
            <a:r>
              <a:rPr lang="en-GB" dirty="0"/>
              <a:t> and any solution y of </a:t>
            </a:r>
            <a:r>
              <a:rPr lang="en-GB" dirty="0">
                <a:solidFill>
                  <a:srgbClr val="C00000"/>
                </a:solidFill>
              </a:rPr>
              <a:t>f</a:t>
            </a:r>
            <a:r>
              <a:rPr lang="en-GB" dirty="0"/>
              <a:t>(x):</a:t>
            </a:r>
            <a:br>
              <a:rPr lang="en-GB" dirty="0"/>
            </a:br>
            <a:r>
              <a:rPr lang="en-GB" dirty="0"/>
              <a:t>|OPT(x) – VAL(</a:t>
            </a:r>
            <a:r>
              <a:rPr lang="en-GB" dirty="0">
                <a:solidFill>
                  <a:srgbClr val="C00000"/>
                </a:solidFill>
              </a:rPr>
              <a:t>g</a:t>
            </a:r>
            <a:r>
              <a:rPr lang="en-GB" dirty="0"/>
              <a:t>(y))| </a:t>
            </a:r>
            <a:r>
              <a:rPr lang="en-GB" dirty="0">
                <a:latin typeface="cmsy10"/>
              </a:rPr>
              <a:t>·</a:t>
            </a:r>
            <a:r>
              <a:rPr lang="en-GB" dirty="0"/>
              <a:t> </a:t>
            </a:r>
            <a:r>
              <a:rPr lang="en-GB" dirty="0">
                <a:solidFill>
                  <a:srgbClr val="C00000"/>
                </a:solidFill>
              </a:rPr>
              <a:t>b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¢ </a:t>
            </a:r>
            <a:r>
              <a:rPr lang="en-GB" dirty="0"/>
              <a:t>|OPT(</a:t>
            </a:r>
            <a:r>
              <a:rPr lang="en-GB" dirty="0">
                <a:solidFill>
                  <a:srgbClr val="C00000"/>
                </a:solidFill>
              </a:rPr>
              <a:t>f</a:t>
            </a:r>
            <a:r>
              <a:rPr lang="en-GB" dirty="0"/>
              <a:t>(x)) – VAL(y)|</a:t>
            </a:r>
          </a:p>
          <a:p>
            <a:pPr marL="800100" lvl="1"/>
            <a:r>
              <a:rPr lang="en-GB" dirty="0"/>
              <a:t>OPT(x) = OPT(f(x))</a:t>
            </a:r>
          </a:p>
          <a:p>
            <a:pPr marL="800100" lvl="1"/>
            <a:r>
              <a:rPr lang="en-GB" dirty="0"/>
              <a:t>VAL(g(y)) </a:t>
            </a:r>
            <a:r>
              <a:rPr lang="en-GB" dirty="0">
                <a:latin typeface="cmsy10"/>
              </a:rPr>
              <a:t>¸</a:t>
            </a:r>
            <a:r>
              <a:rPr lang="en-GB" dirty="0"/>
              <a:t> VAL(y), as we may have some unassigned variables</a:t>
            </a:r>
          </a:p>
          <a:p>
            <a:pPr lvl="1"/>
            <a:endParaRPr lang="en-GB" dirty="0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DENFONTSHAPE" val="true"/>
</p:tagLst>
</file>

<file path=ppt/theme/theme1.xml><?xml version="1.0" encoding="utf-8"?>
<a:theme xmlns:a="http://schemas.openxmlformats.org/drawingml/2006/main" name="PowerPoint Master CS">
  <a:themeElements>
    <a:clrScheme name="">
      <a:dk1>
        <a:srgbClr val="000000"/>
      </a:dk1>
      <a:lt1>
        <a:srgbClr val="FFFFFF"/>
      </a:lt1>
      <a:dk2>
        <a:srgbClr val="000000"/>
      </a:dk2>
      <a:lt2>
        <a:srgbClr val="89014C"/>
      </a:lt2>
      <a:accent1>
        <a:srgbClr val="008AA3"/>
      </a:accent1>
      <a:accent2>
        <a:srgbClr val="008C6B"/>
      </a:accent2>
      <a:accent3>
        <a:srgbClr val="FFFFFF"/>
      </a:accent3>
      <a:accent4>
        <a:srgbClr val="000000"/>
      </a:accent4>
      <a:accent5>
        <a:srgbClr val="AAC4CE"/>
      </a:accent5>
      <a:accent6>
        <a:srgbClr val="007E60"/>
      </a:accent6>
      <a:hlink>
        <a:srgbClr val="AA1328"/>
      </a:hlink>
      <a:folHlink>
        <a:srgbClr val="7F7F7F"/>
      </a:folHlink>
    </a:clrScheme>
    <a:fontScheme name="InformationENG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lnDef>
  </a:objectDefaults>
  <a:extraClrSchemeLst>
    <a:extraClrScheme>
      <a:clrScheme name="InformationE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Master CS</Template>
  <TotalTime>12749</TotalTime>
  <Words>5577</Words>
  <Application>Microsoft Office PowerPoint</Application>
  <PresentationFormat>On-screen Show (4:3)</PresentationFormat>
  <Paragraphs>550</Paragraphs>
  <Slides>50</Slides>
  <Notes>19</Notes>
  <HiddenSlides>3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9" baseType="lpstr">
      <vt:lpstr>CMR10</vt:lpstr>
      <vt:lpstr>Verdana</vt:lpstr>
      <vt:lpstr>CMSY10ORIG</vt:lpstr>
      <vt:lpstr>Calibri</vt:lpstr>
      <vt:lpstr>CMMI10</vt:lpstr>
      <vt:lpstr>Symbol</vt:lpstr>
      <vt:lpstr>CMR7</vt:lpstr>
      <vt:lpstr>Webdings</vt:lpstr>
      <vt:lpstr>CMEX10</vt:lpstr>
      <vt:lpstr>CMMI7</vt:lpstr>
      <vt:lpstr>CMSY7</vt:lpstr>
      <vt:lpstr>Times</vt:lpstr>
      <vt:lpstr>CMR5</vt:lpstr>
      <vt:lpstr>Cambria Math</vt:lpstr>
      <vt:lpstr>CMMI5</vt:lpstr>
      <vt:lpstr>CMSY5</vt:lpstr>
      <vt:lpstr>Wingdings</vt:lpstr>
      <vt:lpstr>cmsy10</vt:lpstr>
      <vt:lpstr>PowerPoint Master CS</vt:lpstr>
      <vt:lpstr>Parameterised Complexity</vt:lpstr>
      <vt:lpstr>This lecture</vt:lpstr>
      <vt:lpstr>This lecture: first half</vt:lpstr>
      <vt:lpstr>Classical complexity and conditional proofs</vt:lpstr>
      <vt:lpstr>Classical complexity: P</vt:lpstr>
      <vt:lpstr>Classical complexity: NP</vt:lpstr>
      <vt:lpstr>Classical complexity: P vs NP</vt:lpstr>
      <vt:lpstr>Conditional non-existence proofs</vt:lpstr>
      <vt:lpstr>Parameterised complexity</vt:lpstr>
      <vt:lpstr>Parameterised complexity</vt:lpstr>
      <vt:lpstr>Parameterised complexity</vt:lpstr>
      <vt:lpstr>Parameterised reductions</vt:lpstr>
      <vt:lpstr>Parameterised reduction: definition</vt:lpstr>
      <vt:lpstr>Parameterised clique problem</vt:lpstr>
      <vt:lpstr>Parameterised complexity and conditional non-existence proofs</vt:lpstr>
      <vt:lpstr>Independent set</vt:lpstr>
      <vt:lpstr>Vertex cover</vt:lpstr>
      <vt:lpstr>More Parameterised REDUCTIONS</vt:lpstr>
      <vt:lpstr>More parameterised reductions</vt:lpstr>
      <vt:lpstr>A parameterised reduction to  clique on regular graphs</vt:lpstr>
      <vt:lpstr>Two (or five) things to prove:  this is a parameterised reduction</vt:lpstr>
      <vt:lpstr>Clique on regular graphs: conclusion</vt:lpstr>
      <vt:lpstr>From clique on regular graphs to multicoloured clique on regular graphs</vt:lpstr>
      <vt:lpstr>Proving correctness of the reduction</vt:lpstr>
      <vt:lpstr>Multicoloured clique: conclusion</vt:lpstr>
      <vt:lpstr>Last reduction:  multicoloured independent set  to dominating set</vt:lpstr>
      <vt:lpstr>Last reduction:  intuition</vt:lpstr>
      <vt:lpstr>Conclusion</vt:lpstr>
      <vt:lpstr>Concluding remarks</vt:lpstr>
      <vt:lpstr>Concluding remarks: W[1] and W[2]</vt:lpstr>
      <vt:lpstr>Approximation Complexity</vt:lpstr>
      <vt:lpstr>This lecture</vt:lpstr>
      <vt:lpstr>This lecture: first half</vt:lpstr>
      <vt:lpstr>Approximation complexity</vt:lpstr>
      <vt:lpstr>How to prove that an algorithm from one of the categories does not exist?</vt:lpstr>
      <vt:lpstr>How to prove that an algorithm from one of the categories does not exist?</vt:lpstr>
      <vt:lpstr>APX and APX-completeness</vt:lpstr>
      <vt:lpstr>APX and APX-completeness</vt:lpstr>
      <vt:lpstr>L-reduction</vt:lpstr>
      <vt:lpstr>L-reduction</vt:lpstr>
      <vt:lpstr>L-reduction</vt:lpstr>
      <vt:lpstr>Proving APX-completeness</vt:lpstr>
      <vt:lpstr>NP-completeness and APX-completeness</vt:lpstr>
      <vt:lpstr>Example L-reduction</vt:lpstr>
      <vt:lpstr>Example L-reduction</vt:lpstr>
      <vt:lpstr>APX-completeness of Max 2-SAT</vt:lpstr>
      <vt:lpstr>INAPPROXIMABILITY OF MAX INDEPENDENT SET</vt:lpstr>
      <vt:lpstr>Inapproximability of maximum independent set</vt:lpstr>
      <vt:lpstr>L-reduction from max 2-SAT to maximum independent set</vt:lpstr>
      <vt:lpstr>L-reduction from max 2-SAT to maximum independent set</vt:lpstr>
    </vt:vector>
  </TitlesOfParts>
  <Company>CQM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vrj</dc:creator>
  <cp:lastModifiedBy>Johan van Rooij</cp:lastModifiedBy>
  <cp:revision>83</cp:revision>
  <dcterms:created xsi:type="dcterms:W3CDTF">2016-12-30T19:34:52Z</dcterms:created>
  <dcterms:modified xsi:type="dcterms:W3CDTF">2025-04-01T06:58:29Z</dcterms:modified>
</cp:coreProperties>
</file>