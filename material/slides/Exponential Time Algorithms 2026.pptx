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9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tags/tag3.xml" ContentType="application/vnd.openxmlformats-officedocument.presentationml.tags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60" r:id="rId1"/>
  </p:sldMasterIdLst>
  <p:notesMasterIdLst>
    <p:notesMasterId r:id="rId77"/>
  </p:notesMasterIdLst>
  <p:handoutMasterIdLst>
    <p:handoutMasterId r:id="rId78"/>
  </p:handoutMasterIdLst>
  <p:sldIdLst>
    <p:sldId id="256" r:id="rId2"/>
    <p:sldId id="452" r:id="rId3"/>
    <p:sldId id="453" r:id="rId4"/>
    <p:sldId id="257" r:id="rId5"/>
    <p:sldId id="349" r:id="rId6"/>
    <p:sldId id="316" r:id="rId7"/>
    <p:sldId id="258" r:id="rId8"/>
    <p:sldId id="351" r:id="rId9"/>
    <p:sldId id="352" r:id="rId10"/>
    <p:sldId id="354" r:id="rId11"/>
    <p:sldId id="353" r:id="rId12"/>
    <p:sldId id="359" r:id="rId13"/>
    <p:sldId id="504" r:id="rId14"/>
    <p:sldId id="501" r:id="rId15"/>
    <p:sldId id="358" r:id="rId16"/>
    <p:sldId id="318" r:id="rId17"/>
    <p:sldId id="276" r:id="rId18"/>
    <p:sldId id="320" r:id="rId19"/>
    <p:sldId id="319" r:id="rId20"/>
    <p:sldId id="496" r:id="rId21"/>
    <p:sldId id="260" r:id="rId22"/>
    <p:sldId id="261" r:id="rId23"/>
    <p:sldId id="263" r:id="rId24"/>
    <p:sldId id="265" r:id="rId25"/>
    <p:sldId id="264" r:id="rId26"/>
    <p:sldId id="357" r:id="rId27"/>
    <p:sldId id="494" r:id="rId28"/>
    <p:sldId id="495" r:id="rId29"/>
    <p:sldId id="311" r:id="rId30"/>
    <p:sldId id="317" r:id="rId31"/>
    <p:sldId id="454" r:id="rId32"/>
    <p:sldId id="455" r:id="rId33"/>
    <p:sldId id="492" r:id="rId34"/>
    <p:sldId id="456" r:id="rId35"/>
    <p:sldId id="457" r:id="rId36"/>
    <p:sldId id="458" r:id="rId37"/>
    <p:sldId id="459" r:id="rId38"/>
    <p:sldId id="460" r:id="rId39"/>
    <p:sldId id="338" r:id="rId40"/>
    <p:sldId id="339" r:id="rId41"/>
    <p:sldId id="340" r:id="rId42"/>
    <p:sldId id="382" r:id="rId43"/>
    <p:sldId id="383" r:id="rId44"/>
    <p:sldId id="394" r:id="rId45"/>
    <p:sldId id="384" r:id="rId46"/>
    <p:sldId id="385" r:id="rId47"/>
    <p:sldId id="386" r:id="rId48"/>
    <p:sldId id="396" r:id="rId49"/>
    <p:sldId id="397" r:id="rId50"/>
    <p:sldId id="417" r:id="rId51"/>
    <p:sldId id="413" r:id="rId52"/>
    <p:sldId id="499" r:id="rId53"/>
    <p:sldId id="392" r:id="rId54"/>
    <p:sldId id="461" r:id="rId55"/>
    <p:sldId id="462" r:id="rId56"/>
    <p:sldId id="463" r:id="rId57"/>
    <p:sldId id="464" r:id="rId58"/>
    <p:sldId id="465" r:id="rId59"/>
    <p:sldId id="466" r:id="rId60"/>
    <p:sldId id="467" r:id="rId61"/>
    <p:sldId id="468" r:id="rId62"/>
    <p:sldId id="469" r:id="rId63"/>
    <p:sldId id="471" r:id="rId64"/>
    <p:sldId id="472" r:id="rId65"/>
    <p:sldId id="478" r:id="rId66"/>
    <p:sldId id="479" r:id="rId67"/>
    <p:sldId id="480" r:id="rId68"/>
    <p:sldId id="481" r:id="rId69"/>
    <p:sldId id="473" r:id="rId70"/>
    <p:sldId id="474" r:id="rId71"/>
    <p:sldId id="475" r:id="rId72"/>
    <p:sldId id="476" r:id="rId73"/>
    <p:sldId id="477" r:id="rId74"/>
    <p:sldId id="491" r:id="rId75"/>
    <p:sldId id="502" r:id="rId76"/>
  </p:sldIdLst>
  <p:sldSz cx="9144000" cy="6858000" type="screen4x3"/>
  <p:notesSz cx="6769100" cy="9906000"/>
  <p:embeddedFontLst>
    <p:embeddedFont>
      <p:font typeface="Arial Unicode MS" panose="020B0604020202020204" charset="-128"/>
      <p:regular r:id="rId79"/>
    </p:embeddedFont>
    <p:embeddedFont>
      <p:font typeface="Cambria Math" panose="02040503050406030204" pitchFamily="18" charset="0"/>
      <p:regular r:id="rId80"/>
    </p:embeddedFont>
    <p:embeddedFont>
      <p:font typeface="CMEX10" panose="020B0604020202020204"/>
      <p:regular r:id="rId81"/>
    </p:embeddedFont>
    <p:embeddedFont>
      <p:font typeface="CMMI10" panose="020B0604020202020204"/>
      <p:regular r:id="rId82"/>
    </p:embeddedFont>
    <p:embeddedFont>
      <p:font typeface="CMMI10" panose="020B0604020202020204"/>
      <p:regular r:id="rId82"/>
    </p:embeddedFont>
    <p:embeddedFont>
      <p:font typeface="CMMI7" panose="020B0604020202020204"/>
      <p:regular r:id="rId83"/>
    </p:embeddedFont>
    <p:embeddedFont>
      <p:font typeface="CMR10" panose="020B0604020202020204"/>
      <p:regular r:id="rId84"/>
    </p:embeddedFont>
    <p:embeddedFont>
      <p:font typeface="CMR5" panose="020B0604020202020204"/>
      <p:regular r:id="rId85"/>
    </p:embeddedFont>
    <p:embeddedFont>
      <p:font typeface="CMR7" panose="020B0604020202020204"/>
      <p:regular r:id="rId86"/>
    </p:embeddedFont>
    <p:embeddedFont>
      <p:font typeface="cmsy10" panose="020B0604020202020204"/>
      <p:regular r:id="rId87"/>
    </p:embeddedFont>
    <p:embeddedFont>
      <p:font typeface="CMSY10ORIG" panose="020B0604020202020204"/>
      <p:regular r:id="rId88"/>
    </p:embeddedFont>
    <p:embeddedFont>
      <p:font typeface="CMSY7" panose="020B0604020202020204"/>
      <p:regular r:id="rId89"/>
    </p:embeddedFont>
    <p:embeddedFont>
      <p:font typeface="Times" panose="02020603050405020304" pitchFamily="18" charset="0"/>
      <p:regular r:id="rId90"/>
      <p:bold r:id="rId91"/>
      <p:italic r:id="rId92"/>
      <p:boldItalic r:id="rId93"/>
    </p:embeddedFont>
    <p:embeddedFont>
      <p:font typeface="Verdana" panose="020B0604030504040204" pitchFamily="34" charset="0"/>
      <p:regular r:id="rId94"/>
      <p:bold r:id="rId95"/>
      <p:italic r:id="rId96"/>
      <p:boldItalic r:id="rId97"/>
    </p:embeddedFont>
    <p:embeddedFont>
      <p:font typeface="Webdings" panose="05030102010509060703" pitchFamily="18" charset="2"/>
      <p:regular r:id="rId98"/>
    </p:embeddedFont>
  </p:embeddedFontLst>
  <p:custDataLst>
    <p:tags r:id="rId99"/>
  </p:custDataLst>
  <p:defaultTextStyle>
    <a:defPPr>
      <a:defRPr lang="nl-NL"/>
    </a:defPPr>
    <a:lvl1pPr algn="ctr" rtl="0" fontAlgn="base">
      <a:spcBef>
        <a:spcPct val="0"/>
      </a:spcBef>
      <a:spcAft>
        <a:spcPct val="0"/>
      </a:spcAft>
      <a:defRPr sz="2400" i="1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2400" i="1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2400" i="1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2400" i="1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2400" i="1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i="1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i="1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i="1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i="1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54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FFCCFF"/>
    <a:srgbClr val="FF00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36" autoAdjust="0"/>
    <p:restoredTop sz="85862" autoAdjust="0"/>
  </p:normalViewPr>
  <p:slideViewPr>
    <p:cSldViewPr>
      <p:cViewPr varScale="1">
        <p:scale>
          <a:sx n="94" d="100"/>
          <a:sy n="94" d="100"/>
        </p:scale>
        <p:origin x="1374" y="48"/>
      </p:cViewPr>
      <p:guideLst>
        <p:guide orient="horz" pos="2160"/>
        <p:guide pos="2544"/>
      </p:guideLst>
    </p:cSldViewPr>
  </p:slideViewPr>
  <p:outlineViewPr>
    <p:cViewPr>
      <p:scale>
        <a:sx n="33" d="100"/>
        <a:sy n="33" d="100"/>
      </p:scale>
      <p:origin x="30" y="889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52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6.fntdata"/><Relationship Id="rId89" Type="http://schemas.openxmlformats.org/officeDocument/2006/relationships/font" Target="fonts/font11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font" Target="fonts/font1.fntdata"/><Relationship Id="rId102" Type="http://schemas.openxmlformats.org/officeDocument/2006/relationships/theme" Target="theme/theme1.xml"/><Relationship Id="rId5" Type="http://schemas.openxmlformats.org/officeDocument/2006/relationships/slide" Target="slides/slide4.xml"/><Relationship Id="rId90" Type="http://schemas.openxmlformats.org/officeDocument/2006/relationships/font" Target="fonts/font12.fntdata"/><Relationship Id="rId95" Type="http://schemas.openxmlformats.org/officeDocument/2006/relationships/font" Target="fonts/font17.fntdata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font" Target="fonts/font2.fntdata"/><Relationship Id="rId85" Type="http://schemas.openxmlformats.org/officeDocument/2006/relationships/font" Target="fonts/font7.fntdata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font" Target="fonts/font5.fntdata"/><Relationship Id="rId88" Type="http://schemas.openxmlformats.org/officeDocument/2006/relationships/font" Target="fonts/font10.fntdata"/><Relationship Id="rId91" Type="http://schemas.openxmlformats.org/officeDocument/2006/relationships/font" Target="fonts/font13.fntdata"/><Relationship Id="rId96" Type="http://schemas.openxmlformats.org/officeDocument/2006/relationships/font" Target="fonts/font1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handoutMaster" Target="handoutMasters/handoutMaster1.xml"/><Relationship Id="rId81" Type="http://schemas.openxmlformats.org/officeDocument/2006/relationships/font" Target="fonts/font3.fntdata"/><Relationship Id="rId86" Type="http://schemas.openxmlformats.org/officeDocument/2006/relationships/font" Target="fonts/font8.fntdata"/><Relationship Id="rId94" Type="http://schemas.openxmlformats.org/officeDocument/2006/relationships/font" Target="fonts/font16.fntdata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font" Target="fonts/font19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font" Target="fonts/font14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9.fntdata"/><Relationship Id="rId61" Type="http://schemas.openxmlformats.org/officeDocument/2006/relationships/slide" Target="slides/slide60.xml"/><Relationship Id="rId82" Type="http://schemas.openxmlformats.org/officeDocument/2006/relationships/font" Target="fonts/font4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notesMaster" Target="notesMasters/notesMaster1.xml"/><Relationship Id="rId100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font" Target="fonts/font15.fntdata"/><Relationship Id="rId98" Type="http://schemas.openxmlformats.org/officeDocument/2006/relationships/font" Target="fonts/font20.fntdata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6BB9ED3-39FA-4C3C-B884-FC0C82F06A50}" type="doc">
      <dgm:prSet loTypeId="urn:microsoft.com/office/officeart/2005/8/layout/venn1" loCatId="relationship" qsTypeId="urn:microsoft.com/office/officeart/2005/8/quickstyle/simple5" qsCatId="simple" csTypeId="urn:microsoft.com/office/officeart/2005/8/colors/accent1_2" csCatId="accent1" phldr="1"/>
      <dgm:spPr/>
    </dgm:pt>
    <dgm:pt modelId="{FE59BDCF-8202-4794-B644-DB3B9A6A061C}">
      <dgm:prSet phldrT="[Text]"/>
      <dgm:spPr>
        <a:solidFill>
          <a:srgbClr val="FF0000">
            <a:alpha val="50000"/>
          </a:srgbClr>
        </a:solidFill>
      </dgm:spPr>
      <dgm:t>
        <a:bodyPr/>
        <a:lstStyle/>
        <a:p>
          <a:r>
            <a:rPr lang="en-GB" dirty="0"/>
            <a:t>P</a:t>
          </a:r>
          <a:r>
            <a:rPr lang="en-GB" baseline="-25000" dirty="0"/>
            <a:t>2</a:t>
          </a:r>
        </a:p>
      </dgm:t>
    </dgm:pt>
    <dgm:pt modelId="{DBE7B5CB-B5ED-4EB2-BABA-C396AFC7BC88}" type="parTrans" cxnId="{9A1AA3FE-A0B2-4B33-9E9A-E7B099E76BBD}">
      <dgm:prSet/>
      <dgm:spPr/>
      <dgm:t>
        <a:bodyPr/>
        <a:lstStyle/>
        <a:p>
          <a:endParaRPr lang="en-GB"/>
        </a:p>
      </dgm:t>
    </dgm:pt>
    <dgm:pt modelId="{CAB2F695-1A22-4E0A-8169-EBFC27103482}" type="sibTrans" cxnId="{9A1AA3FE-A0B2-4B33-9E9A-E7B099E76BBD}">
      <dgm:prSet/>
      <dgm:spPr/>
      <dgm:t>
        <a:bodyPr/>
        <a:lstStyle/>
        <a:p>
          <a:endParaRPr lang="en-GB"/>
        </a:p>
      </dgm:t>
    </dgm:pt>
    <dgm:pt modelId="{C8BC5FFB-D807-42DE-BD53-EB08E9E952A0}">
      <dgm:prSet phldrT="[Text]"/>
      <dgm:spPr>
        <a:solidFill>
          <a:srgbClr val="0070C0">
            <a:alpha val="50000"/>
          </a:srgbClr>
        </a:solidFill>
      </dgm:spPr>
      <dgm:t>
        <a:bodyPr/>
        <a:lstStyle/>
        <a:p>
          <a:r>
            <a:rPr lang="en-GB" dirty="0"/>
            <a:t>P</a:t>
          </a:r>
          <a:r>
            <a:rPr lang="en-GB" baseline="-25000" dirty="0"/>
            <a:t>5</a:t>
          </a:r>
        </a:p>
      </dgm:t>
    </dgm:pt>
    <dgm:pt modelId="{7927AFA0-673E-4975-94E6-BF3B80B51D19}" type="parTrans" cxnId="{6715DC80-73D2-465D-A4EC-E5F614BB655E}">
      <dgm:prSet/>
      <dgm:spPr/>
      <dgm:t>
        <a:bodyPr/>
        <a:lstStyle/>
        <a:p>
          <a:endParaRPr lang="en-GB"/>
        </a:p>
      </dgm:t>
    </dgm:pt>
    <dgm:pt modelId="{7ECE5B2A-C0F4-4D02-946C-524845B5A8B9}" type="sibTrans" cxnId="{6715DC80-73D2-465D-A4EC-E5F614BB655E}">
      <dgm:prSet/>
      <dgm:spPr/>
      <dgm:t>
        <a:bodyPr/>
        <a:lstStyle/>
        <a:p>
          <a:endParaRPr lang="en-GB"/>
        </a:p>
      </dgm:t>
    </dgm:pt>
    <dgm:pt modelId="{D38600E4-6DDC-4424-ACF6-BF8D2397B863}">
      <dgm:prSet phldrT="[Text]"/>
      <dgm:spPr>
        <a:solidFill>
          <a:srgbClr val="00B050">
            <a:alpha val="50000"/>
          </a:srgbClr>
        </a:solidFill>
      </dgm:spPr>
      <dgm:t>
        <a:bodyPr/>
        <a:lstStyle/>
        <a:p>
          <a:r>
            <a:rPr lang="en-GB" dirty="0"/>
            <a:t>P</a:t>
          </a:r>
          <a:r>
            <a:rPr lang="en-GB" baseline="-25000" dirty="0"/>
            <a:t>3</a:t>
          </a:r>
        </a:p>
      </dgm:t>
    </dgm:pt>
    <dgm:pt modelId="{7FCEAF6A-9D4A-4DC5-B8EA-4D3D1F5A6270}" type="parTrans" cxnId="{37611EF5-AD0C-4319-9678-34AF0CDC7C9A}">
      <dgm:prSet/>
      <dgm:spPr/>
      <dgm:t>
        <a:bodyPr/>
        <a:lstStyle/>
        <a:p>
          <a:endParaRPr lang="en-GB"/>
        </a:p>
      </dgm:t>
    </dgm:pt>
    <dgm:pt modelId="{09CE0E58-00A5-4077-A3E1-1EB2E297DAA7}" type="sibTrans" cxnId="{37611EF5-AD0C-4319-9678-34AF0CDC7C9A}">
      <dgm:prSet/>
      <dgm:spPr/>
      <dgm:t>
        <a:bodyPr/>
        <a:lstStyle/>
        <a:p>
          <a:endParaRPr lang="en-GB"/>
        </a:p>
      </dgm:t>
    </dgm:pt>
    <dgm:pt modelId="{92DA865E-4EEC-41C8-8030-0B03138A7BDB}" type="pres">
      <dgm:prSet presAssocID="{56BB9ED3-39FA-4C3C-B884-FC0C82F06A50}" presName="compositeShape" presStyleCnt="0">
        <dgm:presLayoutVars>
          <dgm:chMax val="7"/>
          <dgm:dir/>
          <dgm:resizeHandles val="exact"/>
        </dgm:presLayoutVars>
      </dgm:prSet>
      <dgm:spPr/>
    </dgm:pt>
    <dgm:pt modelId="{11B0A44C-B968-4FAB-AA7C-DBC0F19C8254}" type="pres">
      <dgm:prSet presAssocID="{FE59BDCF-8202-4794-B644-DB3B9A6A061C}" presName="circ1" presStyleLbl="vennNode1" presStyleIdx="0" presStyleCnt="3" custScaleX="133055" custScaleY="117465"/>
      <dgm:spPr/>
    </dgm:pt>
    <dgm:pt modelId="{0E4418FE-2166-48B9-AAFF-4366DB915837}" type="pres">
      <dgm:prSet presAssocID="{FE59BDCF-8202-4794-B644-DB3B9A6A061C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E39E2CC-8009-42AB-B9CA-F25811DDD700}" type="pres">
      <dgm:prSet presAssocID="{C8BC5FFB-D807-42DE-BD53-EB08E9E952A0}" presName="circ2" presStyleLbl="vennNode1" presStyleIdx="1" presStyleCnt="3" custScaleX="133055" custScaleY="117465"/>
      <dgm:spPr/>
    </dgm:pt>
    <dgm:pt modelId="{36B66612-5789-4F31-AE1D-FA0F77E1F8D6}" type="pres">
      <dgm:prSet presAssocID="{C8BC5FFB-D807-42DE-BD53-EB08E9E952A0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BC1C421A-290B-4733-A061-721E9F05CA29}" type="pres">
      <dgm:prSet presAssocID="{D38600E4-6DDC-4424-ACF6-BF8D2397B863}" presName="circ3" presStyleLbl="vennNode1" presStyleIdx="2" presStyleCnt="3" custScaleX="133055" custScaleY="117465"/>
      <dgm:spPr/>
    </dgm:pt>
    <dgm:pt modelId="{EC66DC2B-F4F0-4B9E-8034-915E7D26A76A}" type="pres">
      <dgm:prSet presAssocID="{D38600E4-6DDC-4424-ACF6-BF8D2397B863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E774360A-5119-45A2-B189-777FB19DC623}" type="presOf" srcId="{C8BC5FFB-D807-42DE-BD53-EB08E9E952A0}" destId="{2E39E2CC-8009-42AB-B9CA-F25811DDD700}" srcOrd="0" destOrd="0" presId="urn:microsoft.com/office/officeart/2005/8/layout/venn1"/>
    <dgm:cxn modelId="{26019215-E471-4103-99AD-D1A100B77DC6}" type="presOf" srcId="{FE59BDCF-8202-4794-B644-DB3B9A6A061C}" destId="{11B0A44C-B968-4FAB-AA7C-DBC0F19C8254}" srcOrd="0" destOrd="0" presId="urn:microsoft.com/office/officeart/2005/8/layout/venn1"/>
    <dgm:cxn modelId="{3C89B03B-D05A-46EF-9379-8681ABCC65F9}" type="presOf" srcId="{C8BC5FFB-D807-42DE-BD53-EB08E9E952A0}" destId="{36B66612-5789-4F31-AE1D-FA0F77E1F8D6}" srcOrd="1" destOrd="0" presId="urn:microsoft.com/office/officeart/2005/8/layout/venn1"/>
    <dgm:cxn modelId="{F43D8450-EF27-46ED-929F-F2CBE30A4C99}" type="presOf" srcId="{D38600E4-6DDC-4424-ACF6-BF8D2397B863}" destId="{EC66DC2B-F4F0-4B9E-8034-915E7D26A76A}" srcOrd="1" destOrd="0" presId="urn:microsoft.com/office/officeart/2005/8/layout/venn1"/>
    <dgm:cxn modelId="{6715DC80-73D2-465D-A4EC-E5F614BB655E}" srcId="{56BB9ED3-39FA-4C3C-B884-FC0C82F06A50}" destId="{C8BC5FFB-D807-42DE-BD53-EB08E9E952A0}" srcOrd="1" destOrd="0" parTransId="{7927AFA0-673E-4975-94E6-BF3B80B51D19}" sibTransId="{7ECE5B2A-C0F4-4D02-946C-524845B5A8B9}"/>
    <dgm:cxn modelId="{9657CFB4-856F-48D4-A59F-1ECD2557DD73}" type="presOf" srcId="{56BB9ED3-39FA-4C3C-B884-FC0C82F06A50}" destId="{92DA865E-4EEC-41C8-8030-0B03138A7BDB}" srcOrd="0" destOrd="0" presId="urn:microsoft.com/office/officeart/2005/8/layout/venn1"/>
    <dgm:cxn modelId="{04EE36BE-7228-4A4F-BE01-718FF2248B3B}" type="presOf" srcId="{FE59BDCF-8202-4794-B644-DB3B9A6A061C}" destId="{0E4418FE-2166-48B9-AAFF-4366DB915837}" srcOrd="1" destOrd="0" presId="urn:microsoft.com/office/officeart/2005/8/layout/venn1"/>
    <dgm:cxn modelId="{ECBB9BD2-21ED-4F67-A79E-A8994C32576E}" type="presOf" srcId="{D38600E4-6DDC-4424-ACF6-BF8D2397B863}" destId="{BC1C421A-290B-4733-A061-721E9F05CA29}" srcOrd="0" destOrd="0" presId="urn:microsoft.com/office/officeart/2005/8/layout/venn1"/>
    <dgm:cxn modelId="{37611EF5-AD0C-4319-9678-34AF0CDC7C9A}" srcId="{56BB9ED3-39FA-4C3C-B884-FC0C82F06A50}" destId="{D38600E4-6DDC-4424-ACF6-BF8D2397B863}" srcOrd="2" destOrd="0" parTransId="{7FCEAF6A-9D4A-4DC5-B8EA-4D3D1F5A6270}" sibTransId="{09CE0E58-00A5-4077-A3E1-1EB2E297DAA7}"/>
    <dgm:cxn modelId="{9A1AA3FE-A0B2-4B33-9E9A-E7B099E76BBD}" srcId="{56BB9ED3-39FA-4C3C-B884-FC0C82F06A50}" destId="{FE59BDCF-8202-4794-B644-DB3B9A6A061C}" srcOrd="0" destOrd="0" parTransId="{DBE7B5CB-B5ED-4EB2-BABA-C396AFC7BC88}" sibTransId="{CAB2F695-1A22-4E0A-8169-EBFC27103482}"/>
    <dgm:cxn modelId="{0CF4CCF5-13FA-403C-9EF9-A8141B701B42}" type="presParOf" srcId="{92DA865E-4EEC-41C8-8030-0B03138A7BDB}" destId="{11B0A44C-B968-4FAB-AA7C-DBC0F19C8254}" srcOrd="0" destOrd="0" presId="urn:microsoft.com/office/officeart/2005/8/layout/venn1"/>
    <dgm:cxn modelId="{4085B0C4-DAD2-402F-8B0E-BD241DB4EB5B}" type="presParOf" srcId="{92DA865E-4EEC-41C8-8030-0B03138A7BDB}" destId="{0E4418FE-2166-48B9-AAFF-4366DB915837}" srcOrd="1" destOrd="0" presId="urn:microsoft.com/office/officeart/2005/8/layout/venn1"/>
    <dgm:cxn modelId="{39C3F251-CE2D-4980-A9C5-2142CEF37418}" type="presParOf" srcId="{92DA865E-4EEC-41C8-8030-0B03138A7BDB}" destId="{2E39E2CC-8009-42AB-B9CA-F25811DDD700}" srcOrd="2" destOrd="0" presId="urn:microsoft.com/office/officeart/2005/8/layout/venn1"/>
    <dgm:cxn modelId="{697F8DCB-D2EC-4941-9174-74ADF7B10B34}" type="presParOf" srcId="{92DA865E-4EEC-41C8-8030-0B03138A7BDB}" destId="{36B66612-5789-4F31-AE1D-FA0F77E1F8D6}" srcOrd="3" destOrd="0" presId="urn:microsoft.com/office/officeart/2005/8/layout/venn1"/>
    <dgm:cxn modelId="{2EE34B39-409D-4D35-8A08-8B84DAD50CC0}" type="presParOf" srcId="{92DA865E-4EEC-41C8-8030-0B03138A7BDB}" destId="{BC1C421A-290B-4733-A061-721E9F05CA29}" srcOrd="4" destOrd="0" presId="urn:microsoft.com/office/officeart/2005/8/layout/venn1"/>
    <dgm:cxn modelId="{F325B728-0A60-401D-B6B7-254030902C5D}" type="presParOf" srcId="{92DA865E-4EEC-41C8-8030-0B03138A7BDB}" destId="{EC66DC2B-F4F0-4B9E-8034-915E7D26A76A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6BB9ED3-39FA-4C3C-B884-FC0C82F06A50}" type="doc">
      <dgm:prSet loTypeId="urn:microsoft.com/office/officeart/2005/8/layout/venn1" loCatId="relationship" qsTypeId="urn:microsoft.com/office/officeart/2005/8/quickstyle/simple5" qsCatId="simple" csTypeId="urn:microsoft.com/office/officeart/2005/8/colors/accent1_2" csCatId="accent1" phldr="1"/>
      <dgm:spPr/>
    </dgm:pt>
    <dgm:pt modelId="{FE59BDCF-8202-4794-B644-DB3B9A6A061C}">
      <dgm:prSet phldrT="[Text]"/>
      <dgm:spPr>
        <a:solidFill>
          <a:srgbClr val="FF0000">
            <a:alpha val="50000"/>
          </a:srgbClr>
        </a:solidFill>
      </dgm:spPr>
      <dgm:t>
        <a:bodyPr/>
        <a:lstStyle/>
        <a:p>
          <a:r>
            <a:rPr lang="en-GB" dirty="0"/>
            <a:t>P</a:t>
          </a:r>
          <a:r>
            <a:rPr lang="en-GB" baseline="-25000" dirty="0"/>
            <a:t>2</a:t>
          </a:r>
        </a:p>
      </dgm:t>
    </dgm:pt>
    <dgm:pt modelId="{DBE7B5CB-B5ED-4EB2-BABA-C396AFC7BC88}" type="parTrans" cxnId="{9A1AA3FE-A0B2-4B33-9E9A-E7B099E76BBD}">
      <dgm:prSet/>
      <dgm:spPr/>
      <dgm:t>
        <a:bodyPr/>
        <a:lstStyle/>
        <a:p>
          <a:endParaRPr lang="en-GB"/>
        </a:p>
      </dgm:t>
    </dgm:pt>
    <dgm:pt modelId="{CAB2F695-1A22-4E0A-8169-EBFC27103482}" type="sibTrans" cxnId="{9A1AA3FE-A0B2-4B33-9E9A-E7B099E76BBD}">
      <dgm:prSet/>
      <dgm:spPr/>
      <dgm:t>
        <a:bodyPr/>
        <a:lstStyle/>
        <a:p>
          <a:endParaRPr lang="en-GB"/>
        </a:p>
      </dgm:t>
    </dgm:pt>
    <dgm:pt modelId="{C8BC5FFB-D807-42DE-BD53-EB08E9E952A0}">
      <dgm:prSet phldrT="[Text]"/>
      <dgm:spPr>
        <a:solidFill>
          <a:srgbClr val="0070C0">
            <a:alpha val="50000"/>
          </a:srgbClr>
        </a:solidFill>
      </dgm:spPr>
      <dgm:t>
        <a:bodyPr/>
        <a:lstStyle/>
        <a:p>
          <a:r>
            <a:rPr lang="en-GB" dirty="0"/>
            <a:t>P</a:t>
          </a:r>
          <a:r>
            <a:rPr lang="en-GB" baseline="-25000" dirty="0"/>
            <a:t>5</a:t>
          </a:r>
        </a:p>
      </dgm:t>
    </dgm:pt>
    <dgm:pt modelId="{7927AFA0-673E-4975-94E6-BF3B80B51D19}" type="parTrans" cxnId="{6715DC80-73D2-465D-A4EC-E5F614BB655E}">
      <dgm:prSet/>
      <dgm:spPr/>
      <dgm:t>
        <a:bodyPr/>
        <a:lstStyle/>
        <a:p>
          <a:endParaRPr lang="en-GB"/>
        </a:p>
      </dgm:t>
    </dgm:pt>
    <dgm:pt modelId="{7ECE5B2A-C0F4-4D02-946C-524845B5A8B9}" type="sibTrans" cxnId="{6715DC80-73D2-465D-A4EC-E5F614BB655E}">
      <dgm:prSet/>
      <dgm:spPr/>
      <dgm:t>
        <a:bodyPr/>
        <a:lstStyle/>
        <a:p>
          <a:endParaRPr lang="en-GB"/>
        </a:p>
      </dgm:t>
    </dgm:pt>
    <dgm:pt modelId="{D38600E4-6DDC-4424-ACF6-BF8D2397B863}">
      <dgm:prSet phldrT="[Text]"/>
      <dgm:spPr>
        <a:solidFill>
          <a:srgbClr val="00B050">
            <a:alpha val="50000"/>
          </a:srgbClr>
        </a:solidFill>
      </dgm:spPr>
      <dgm:t>
        <a:bodyPr/>
        <a:lstStyle/>
        <a:p>
          <a:r>
            <a:rPr lang="en-GB" dirty="0"/>
            <a:t>P</a:t>
          </a:r>
          <a:r>
            <a:rPr lang="en-GB" baseline="-25000" dirty="0"/>
            <a:t>3</a:t>
          </a:r>
        </a:p>
      </dgm:t>
    </dgm:pt>
    <dgm:pt modelId="{7FCEAF6A-9D4A-4DC5-B8EA-4D3D1F5A6270}" type="parTrans" cxnId="{37611EF5-AD0C-4319-9678-34AF0CDC7C9A}">
      <dgm:prSet/>
      <dgm:spPr/>
      <dgm:t>
        <a:bodyPr/>
        <a:lstStyle/>
        <a:p>
          <a:endParaRPr lang="en-GB"/>
        </a:p>
      </dgm:t>
    </dgm:pt>
    <dgm:pt modelId="{09CE0E58-00A5-4077-A3E1-1EB2E297DAA7}" type="sibTrans" cxnId="{37611EF5-AD0C-4319-9678-34AF0CDC7C9A}">
      <dgm:prSet/>
      <dgm:spPr/>
      <dgm:t>
        <a:bodyPr/>
        <a:lstStyle/>
        <a:p>
          <a:endParaRPr lang="en-GB"/>
        </a:p>
      </dgm:t>
    </dgm:pt>
    <dgm:pt modelId="{92DA865E-4EEC-41C8-8030-0B03138A7BDB}" type="pres">
      <dgm:prSet presAssocID="{56BB9ED3-39FA-4C3C-B884-FC0C82F06A50}" presName="compositeShape" presStyleCnt="0">
        <dgm:presLayoutVars>
          <dgm:chMax val="7"/>
          <dgm:dir/>
          <dgm:resizeHandles val="exact"/>
        </dgm:presLayoutVars>
      </dgm:prSet>
      <dgm:spPr/>
    </dgm:pt>
    <dgm:pt modelId="{11B0A44C-B968-4FAB-AA7C-DBC0F19C8254}" type="pres">
      <dgm:prSet presAssocID="{FE59BDCF-8202-4794-B644-DB3B9A6A061C}" presName="circ1" presStyleLbl="vennNode1" presStyleIdx="0" presStyleCnt="3" custScaleX="133055" custScaleY="117465"/>
      <dgm:spPr/>
    </dgm:pt>
    <dgm:pt modelId="{0E4418FE-2166-48B9-AAFF-4366DB915837}" type="pres">
      <dgm:prSet presAssocID="{FE59BDCF-8202-4794-B644-DB3B9A6A061C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E39E2CC-8009-42AB-B9CA-F25811DDD700}" type="pres">
      <dgm:prSet presAssocID="{C8BC5FFB-D807-42DE-BD53-EB08E9E952A0}" presName="circ2" presStyleLbl="vennNode1" presStyleIdx="1" presStyleCnt="3" custScaleX="133055" custScaleY="117465" custLinFactNeighborX="1577"/>
      <dgm:spPr/>
    </dgm:pt>
    <dgm:pt modelId="{36B66612-5789-4F31-AE1D-FA0F77E1F8D6}" type="pres">
      <dgm:prSet presAssocID="{C8BC5FFB-D807-42DE-BD53-EB08E9E952A0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BC1C421A-290B-4733-A061-721E9F05CA29}" type="pres">
      <dgm:prSet presAssocID="{D38600E4-6DDC-4424-ACF6-BF8D2397B863}" presName="circ3" presStyleLbl="vennNode1" presStyleIdx="2" presStyleCnt="3" custScaleX="133055" custScaleY="117465"/>
      <dgm:spPr/>
    </dgm:pt>
    <dgm:pt modelId="{EC66DC2B-F4F0-4B9E-8034-915E7D26A76A}" type="pres">
      <dgm:prSet presAssocID="{D38600E4-6DDC-4424-ACF6-BF8D2397B863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84DB5463-4A1A-4DD7-9ACB-E4A92D1AFA38}" type="presOf" srcId="{C8BC5FFB-D807-42DE-BD53-EB08E9E952A0}" destId="{2E39E2CC-8009-42AB-B9CA-F25811DDD700}" srcOrd="0" destOrd="0" presId="urn:microsoft.com/office/officeart/2005/8/layout/venn1"/>
    <dgm:cxn modelId="{A1492A66-65D6-40CB-B404-66DE7FEE8D4F}" type="presOf" srcId="{C8BC5FFB-D807-42DE-BD53-EB08E9E952A0}" destId="{36B66612-5789-4F31-AE1D-FA0F77E1F8D6}" srcOrd="1" destOrd="0" presId="urn:microsoft.com/office/officeart/2005/8/layout/venn1"/>
    <dgm:cxn modelId="{D3F73F67-C74C-40A7-AB88-D852C084B1EB}" type="presOf" srcId="{FE59BDCF-8202-4794-B644-DB3B9A6A061C}" destId="{0E4418FE-2166-48B9-AAFF-4366DB915837}" srcOrd="1" destOrd="0" presId="urn:microsoft.com/office/officeart/2005/8/layout/venn1"/>
    <dgm:cxn modelId="{C0156C50-8EE1-41E1-BBC9-19D63B735DA7}" type="presOf" srcId="{D38600E4-6DDC-4424-ACF6-BF8D2397B863}" destId="{EC66DC2B-F4F0-4B9E-8034-915E7D26A76A}" srcOrd="1" destOrd="0" presId="urn:microsoft.com/office/officeart/2005/8/layout/venn1"/>
    <dgm:cxn modelId="{6715DC80-73D2-465D-A4EC-E5F614BB655E}" srcId="{56BB9ED3-39FA-4C3C-B884-FC0C82F06A50}" destId="{C8BC5FFB-D807-42DE-BD53-EB08E9E952A0}" srcOrd="1" destOrd="0" parTransId="{7927AFA0-673E-4975-94E6-BF3B80B51D19}" sibTransId="{7ECE5B2A-C0F4-4D02-946C-524845B5A8B9}"/>
    <dgm:cxn modelId="{3C52DBB7-4B5E-4BF6-8A5A-72C23AE51F79}" type="presOf" srcId="{FE59BDCF-8202-4794-B644-DB3B9A6A061C}" destId="{11B0A44C-B968-4FAB-AA7C-DBC0F19C8254}" srcOrd="0" destOrd="0" presId="urn:microsoft.com/office/officeart/2005/8/layout/venn1"/>
    <dgm:cxn modelId="{277A40D1-0F80-413F-AC13-2443F0264257}" type="presOf" srcId="{D38600E4-6DDC-4424-ACF6-BF8D2397B863}" destId="{BC1C421A-290B-4733-A061-721E9F05CA29}" srcOrd="0" destOrd="0" presId="urn:microsoft.com/office/officeart/2005/8/layout/venn1"/>
    <dgm:cxn modelId="{B625A6D8-E619-460E-9D59-961201DBEE06}" type="presOf" srcId="{56BB9ED3-39FA-4C3C-B884-FC0C82F06A50}" destId="{92DA865E-4EEC-41C8-8030-0B03138A7BDB}" srcOrd="0" destOrd="0" presId="urn:microsoft.com/office/officeart/2005/8/layout/venn1"/>
    <dgm:cxn modelId="{37611EF5-AD0C-4319-9678-34AF0CDC7C9A}" srcId="{56BB9ED3-39FA-4C3C-B884-FC0C82F06A50}" destId="{D38600E4-6DDC-4424-ACF6-BF8D2397B863}" srcOrd="2" destOrd="0" parTransId="{7FCEAF6A-9D4A-4DC5-B8EA-4D3D1F5A6270}" sibTransId="{09CE0E58-00A5-4077-A3E1-1EB2E297DAA7}"/>
    <dgm:cxn modelId="{9A1AA3FE-A0B2-4B33-9E9A-E7B099E76BBD}" srcId="{56BB9ED3-39FA-4C3C-B884-FC0C82F06A50}" destId="{FE59BDCF-8202-4794-B644-DB3B9A6A061C}" srcOrd="0" destOrd="0" parTransId="{DBE7B5CB-B5ED-4EB2-BABA-C396AFC7BC88}" sibTransId="{CAB2F695-1A22-4E0A-8169-EBFC27103482}"/>
    <dgm:cxn modelId="{98B0401F-D32F-4E45-BAD9-01322F09AD0D}" type="presParOf" srcId="{92DA865E-4EEC-41C8-8030-0B03138A7BDB}" destId="{11B0A44C-B968-4FAB-AA7C-DBC0F19C8254}" srcOrd="0" destOrd="0" presId="urn:microsoft.com/office/officeart/2005/8/layout/venn1"/>
    <dgm:cxn modelId="{638FF30E-92E3-458C-9781-20BE48BEEF7D}" type="presParOf" srcId="{92DA865E-4EEC-41C8-8030-0B03138A7BDB}" destId="{0E4418FE-2166-48B9-AAFF-4366DB915837}" srcOrd="1" destOrd="0" presId="urn:microsoft.com/office/officeart/2005/8/layout/venn1"/>
    <dgm:cxn modelId="{18C326C6-DABD-4F73-AB19-045E77848653}" type="presParOf" srcId="{92DA865E-4EEC-41C8-8030-0B03138A7BDB}" destId="{2E39E2CC-8009-42AB-B9CA-F25811DDD700}" srcOrd="2" destOrd="0" presId="urn:microsoft.com/office/officeart/2005/8/layout/venn1"/>
    <dgm:cxn modelId="{47A1C1BA-8332-459D-990F-665C42F42DB0}" type="presParOf" srcId="{92DA865E-4EEC-41C8-8030-0B03138A7BDB}" destId="{36B66612-5789-4F31-AE1D-FA0F77E1F8D6}" srcOrd="3" destOrd="0" presId="urn:microsoft.com/office/officeart/2005/8/layout/venn1"/>
    <dgm:cxn modelId="{6419B1BB-2AEE-4561-9D8B-3C3CD4417EE2}" type="presParOf" srcId="{92DA865E-4EEC-41C8-8030-0B03138A7BDB}" destId="{BC1C421A-290B-4733-A061-721E9F05CA29}" srcOrd="4" destOrd="0" presId="urn:microsoft.com/office/officeart/2005/8/layout/venn1"/>
    <dgm:cxn modelId="{225F7ADC-E0A1-492A-93F5-F36FBFF9A230}" type="presParOf" srcId="{92DA865E-4EEC-41C8-8030-0B03138A7BDB}" destId="{EC66DC2B-F4F0-4B9E-8034-915E7D26A76A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6BB9ED3-39FA-4C3C-B884-FC0C82F06A50}" type="doc">
      <dgm:prSet loTypeId="urn:microsoft.com/office/officeart/2005/8/layout/venn1" loCatId="relationship" qsTypeId="urn:microsoft.com/office/officeart/2005/8/quickstyle/simple5" qsCatId="simple" csTypeId="urn:microsoft.com/office/officeart/2005/8/colors/accent1_2" csCatId="accent1" phldr="1"/>
      <dgm:spPr/>
    </dgm:pt>
    <dgm:pt modelId="{FE59BDCF-8202-4794-B644-DB3B9A6A061C}">
      <dgm:prSet phldrT="[Text]"/>
      <dgm:spPr>
        <a:solidFill>
          <a:srgbClr val="FF0000">
            <a:alpha val="50000"/>
          </a:srgbClr>
        </a:solidFill>
      </dgm:spPr>
      <dgm:t>
        <a:bodyPr/>
        <a:lstStyle/>
        <a:p>
          <a:r>
            <a:rPr lang="en-GB" dirty="0"/>
            <a:t>P</a:t>
          </a:r>
          <a:r>
            <a:rPr lang="en-GB" baseline="-25000" dirty="0"/>
            <a:t>2</a:t>
          </a:r>
        </a:p>
      </dgm:t>
    </dgm:pt>
    <dgm:pt modelId="{DBE7B5CB-B5ED-4EB2-BABA-C396AFC7BC88}" type="parTrans" cxnId="{9A1AA3FE-A0B2-4B33-9E9A-E7B099E76BBD}">
      <dgm:prSet/>
      <dgm:spPr/>
      <dgm:t>
        <a:bodyPr/>
        <a:lstStyle/>
        <a:p>
          <a:endParaRPr lang="en-GB"/>
        </a:p>
      </dgm:t>
    </dgm:pt>
    <dgm:pt modelId="{CAB2F695-1A22-4E0A-8169-EBFC27103482}" type="sibTrans" cxnId="{9A1AA3FE-A0B2-4B33-9E9A-E7B099E76BBD}">
      <dgm:prSet/>
      <dgm:spPr/>
      <dgm:t>
        <a:bodyPr/>
        <a:lstStyle/>
        <a:p>
          <a:endParaRPr lang="en-GB"/>
        </a:p>
      </dgm:t>
    </dgm:pt>
    <dgm:pt modelId="{C8BC5FFB-D807-42DE-BD53-EB08E9E952A0}">
      <dgm:prSet phldrT="[Text]"/>
      <dgm:spPr>
        <a:solidFill>
          <a:srgbClr val="0070C0">
            <a:alpha val="50000"/>
          </a:srgbClr>
        </a:solidFill>
      </dgm:spPr>
      <dgm:t>
        <a:bodyPr/>
        <a:lstStyle/>
        <a:p>
          <a:r>
            <a:rPr lang="en-GB" dirty="0"/>
            <a:t>P</a:t>
          </a:r>
          <a:r>
            <a:rPr lang="en-GB" baseline="-25000" dirty="0"/>
            <a:t>5</a:t>
          </a:r>
        </a:p>
      </dgm:t>
    </dgm:pt>
    <dgm:pt modelId="{7927AFA0-673E-4975-94E6-BF3B80B51D19}" type="parTrans" cxnId="{6715DC80-73D2-465D-A4EC-E5F614BB655E}">
      <dgm:prSet/>
      <dgm:spPr/>
      <dgm:t>
        <a:bodyPr/>
        <a:lstStyle/>
        <a:p>
          <a:endParaRPr lang="en-GB"/>
        </a:p>
      </dgm:t>
    </dgm:pt>
    <dgm:pt modelId="{7ECE5B2A-C0F4-4D02-946C-524845B5A8B9}" type="sibTrans" cxnId="{6715DC80-73D2-465D-A4EC-E5F614BB655E}">
      <dgm:prSet/>
      <dgm:spPr/>
      <dgm:t>
        <a:bodyPr/>
        <a:lstStyle/>
        <a:p>
          <a:endParaRPr lang="en-GB"/>
        </a:p>
      </dgm:t>
    </dgm:pt>
    <dgm:pt modelId="{D38600E4-6DDC-4424-ACF6-BF8D2397B863}">
      <dgm:prSet phldrT="[Text]"/>
      <dgm:spPr>
        <a:solidFill>
          <a:srgbClr val="00B050">
            <a:alpha val="50000"/>
          </a:srgbClr>
        </a:solidFill>
      </dgm:spPr>
      <dgm:t>
        <a:bodyPr/>
        <a:lstStyle/>
        <a:p>
          <a:r>
            <a:rPr lang="en-GB" dirty="0"/>
            <a:t>P</a:t>
          </a:r>
          <a:r>
            <a:rPr lang="en-GB" baseline="-25000" dirty="0"/>
            <a:t>3</a:t>
          </a:r>
        </a:p>
      </dgm:t>
    </dgm:pt>
    <dgm:pt modelId="{7FCEAF6A-9D4A-4DC5-B8EA-4D3D1F5A6270}" type="parTrans" cxnId="{37611EF5-AD0C-4319-9678-34AF0CDC7C9A}">
      <dgm:prSet/>
      <dgm:spPr/>
      <dgm:t>
        <a:bodyPr/>
        <a:lstStyle/>
        <a:p>
          <a:endParaRPr lang="en-GB"/>
        </a:p>
      </dgm:t>
    </dgm:pt>
    <dgm:pt modelId="{09CE0E58-00A5-4077-A3E1-1EB2E297DAA7}" type="sibTrans" cxnId="{37611EF5-AD0C-4319-9678-34AF0CDC7C9A}">
      <dgm:prSet/>
      <dgm:spPr/>
      <dgm:t>
        <a:bodyPr/>
        <a:lstStyle/>
        <a:p>
          <a:endParaRPr lang="en-GB"/>
        </a:p>
      </dgm:t>
    </dgm:pt>
    <dgm:pt modelId="{92DA865E-4EEC-41C8-8030-0B03138A7BDB}" type="pres">
      <dgm:prSet presAssocID="{56BB9ED3-39FA-4C3C-B884-FC0C82F06A50}" presName="compositeShape" presStyleCnt="0">
        <dgm:presLayoutVars>
          <dgm:chMax val="7"/>
          <dgm:dir/>
          <dgm:resizeHandles val="exact"/>
        </dgm:presLayoutVars>
      </dgm:prSet>
      <dgm:spPr/>
    </dgm:pt>
    <dgm:pt modelId="{11B0A44C-B968-4FAB-AA7C-DBC0F19C8254}" type="pres">
      <dgm:prSet presAssocID="{FE59BDCF-8202-4794-B644-DB3B9A6A061C}" presName="circ1" presStyleLbl="vennNode1" presStyleIdx="0" presStyleCnt="3" custScaleX="133055" custScaleY="117465"/>
      <dgm:spPr/>
    </dgm:pt>
    <dgm:pt modelId="{0E4418FE-2166-48B9-AAFF-4366DB915837}" type="pres">
      <dgm:prSet presAssocID="{FE59BDCF-8202-4794-B644-DB3B9A6A061C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E39E2CC-8009-42AB-B9CA-F25811DDD700}" type="pres">
      <dgm:prSet presAssocID="{C8BC5FFB-D807-42DE-BD53-EB08E9E952A0}" presName="circ2" presStyleLbl="vennNode1" presStyleIdx="1" presStyleCnt="3" custScaleX="133055" custScaleY="117465" custLinFactNeighborX="1577"/>
      <dgm:spPr/>
    </dgm:pt>
    <dgm:pt modelId="{36B66612-5789-4F31-AE1D-FA0F77E1F8D6}" type="pres">
      <dgm:prSet presAssocID="{C8BC5FFB-D807-42DE-BD53-EB08E9E952A0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BC1C421A-290B-4733-A061-721E9F05CA29}" type="pres">
      <dgm:prSet presAssocID="{D38600E4-6DDC-4424-ACF6-BF8D2397B863}" presName="circ3" presStyleLbl="vennNode1" presStyleIdx="2" presStyleCnt="3" custScaleX="133055" custScaleY="117465"/>
      <dgm:spPr/>
    </dgm:pt>
    <dgm:pt modelId="{EC66DC2B-F4F0-4B9E-8034-915E7D26A76A}" type="pres">
      <dgm:prSet presAssocID="{D38600E4-6DDC-4424-ACF6-BF8D2397B863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CB73C11E-2FC7-4D3A-9871-86DBDDE12C51}" type="presOf" srcId="{D38600E4-6DDC-4424-ACF6-BF8D2397B863}" destId="{EC66DC2B-F4F0-4B9E-8034-915E7D26A76A}" srcOrd="1" destOrd="0" presId="urn:microsoft.com/office/officeart/2005/8/layout/venn1"/>
    <dgm:cxn modelId="{3594FB39-E6CD-4821-A19C-7E0635B0F470}" type="presOf" srcId="{D38600E4-6DDC-4424-ACF6-BF8D2397B863}" destId="{BC1C421A-290B-4733-A061-721E9F05CA29}" srcOrd="0" destOrd="0" presId="urn:microsoft.com/office/officeart/2005/8/layout/venn1"/>
    <dgm:cxn modelId="{38D37260-600D-4E9D-AD9D-218821733162}" type="presOf" srcId="{C8BC5FFB-D807-42DE-BD53-EB08E9E952A0}" destId="{36B66612-5789-4F31-AE1D-FA0F77E1F8D6}" srcOrd="1" destOrd="0" presId="urn:microsoft.com/office/officeart/2005/8/layout/venn1"/>
    <dgm:cxn modelId="{6715DC80-73D2-465D-A4EC-E5F614BB655E}" srcId="{56BB9ED3-39FA-4C3C-B884-FC0C82F06A50}" destId="{C8BC5FFB-D807-42DE-BD53-EB08E9E952A0}" srcOrd="1" destOrd="0" parTransId="{7927AFA0-673E-4975-94E6-BF3B80B51D19}" sibTransId="{7ECE5B2A-C0F4-4D02-946C-524845B5A8B9}"/>
    <dgm:cxn modelId="{2D9CC68B-B080-4CD8-BE86-B3146D6D8EA0}" type="presOf" srcId="{C8BC5FFB-D807-42DE-BD53-EB08E9E952A0}" destId="{2E39E2CC-8009-42AB-B9CA-F25811DDD700}" srcOrd="0" destOrd="0" presId="urn:microsoft.com/office/officeart/2005/8/layout/venn1"/>
    <dgm:cxn modelId="{B61FAE92-EA70-4F83-B734-10EB0E737188}" type="presOf" srcId="{FE59BDCF-8202-4794-B644-DB3B9A6A061C}" destId="{11B0A44C-B968-4FAB-AA7C-DBC0F19C8254}" srcOrd="0" destOrd="0" presId="urn:microsoft.com/office/officeart/2005/8/layout/venn1"/>
    <dgm:cxn modelId="{864877C7-B972-447E-ABC9-AD05E22791C6}" type="presOf" srcId="{FE59BDCF-8202-4794-B644-DB3B9A6A061C}" destId="{0E4418FE-2166-48B9-AAFF-4366DB915837}" srcOrd="1" destOrd="0" presId="urn:microsoft.com/office/officeart/2005/8/layout/venn1"/>
    <dgm:cxn modelId="{BD41DDD5-0BCC-444B-9301-1C615FA38FD6}" type="presOf" srcId="{56BB9ED3-39FA-4C3C-B884-FC0C82F06A50}" destId="{92DA865E-4EEC-41C8-8030-0B03138A7BDB}" srcOrd="0" destOrd="0" presId="urn:microsoft.com/office/officeart/2005/8/layout/venn1"/>
    <dgm:cxn modelId="{37611EF5-AD0C-4319-9678-34AF0CDC7C9A}" srcId="{56BB9ED3-39FA-4C3C-B884-FC0C82F06A50}" destId="{D38600E4-6DDC-4424-ACF6-BF8D2397B863}" srcOrd="2" destOrd="0" parTransId="{7FCEAF6A-9D4A-4DC5-B8EA-4D3D1F5A6270}" sibTransId="{09CE0E58-00A5-4077-A3E1-1EB2E297DAA7}"/>
    <dgm:cxn modelId="{9A1AA3FE-A0B2-4B33-9E9A-E7B099E76BBD}" srcId="{56BB9ED3-39FA-4C3C-B884-FC0C82F06A50}" destId="{FE59BDCF-8202-4794-B644-DB3B9A6A061C}" srcOrd="0" destOrd="0" parTransId="{DBE7B5CB-B5ED-4EB2-BABA-C396AFC7BC88}" sibTransId="{CAB2F695-1A22-4E0A-8169-EBFC27103482}"/>
    <dgm:cxn modelId="{7F860722-ED6C-46BC-9728-177E2C268979}" type="presParOf" srcId="{92DA865E-4EEC-41C8-8030-0B03138A7BDB}" destId="{11B0A44C-B968-4FAB-AA7C-DBC0F19C8254}" srcOrd="0" destOrd="0" presId="urn:microsoft.com/office/officeart/2005/8/layout/venn1"/>
    <dgm:cxn modelId="{B3D75B39-A6D6-4F2B-B5C9-2EE766AE8351}" type="presParOf" srcId="{92DA865E-4EEC-41C8-8030-0B03138A7BDB}" destId="{0E4418FE-2166-48B9-AAFF-4366DB915837}" srcOrd="1" destOrd="0" presId="urn:microsoft.com/office/officeart/2005/8/layout/venn1"/>
    <dgm:cxn modelId="{46F6708F-1A2C-4020-81AB-4B09BF2E2144}" type="presParOf" srcId="{92DA865E-4EEC-41C8-8030-0B03138A7BDB}" destId="{2E39E2CC-8009-42AB-B9CA-F25811DDD700}" srcOrd="2" destOrd="0" presId="urn:microsoft.com/office/officeart/2005/8/layout/venn1"/>
    <dgm:cxn modelId="{A2FC8C21-9156-4912-AD65-E4601C3930C8}" type="presParOf" srcId="{92DA865E-4EEC-41C8-8030-0B03138A7BDB}" destId="{36B66612-5789-4F31-AE1D-FA0F77E1F8D6}" srcOrd="3" destOrd="0" presId="urn:microsoft.com/office/officeart/2005/8/layout/venn1"/>
    <dgm:cxn modelId="{958F1949-677D-4E32-A8CD-871D1B3EACB4}" type="presParOf" srcId="{92DA865E-4EEC-41C8-8030-0B03138A7BDB}" destId="{BC1C421A-290B-4733-A061-721E9F05CA29}" srcOrd="4" destOrd="0" presId="urn:microsoft.com/office/officeart/2005/8/layout/venn1"/>
    <dgm:cxn modelId="{297BA5A6-1435-48D6-AA51-8B0D7B7FD715}" type="presParOf" srcId="{92DA865E-4EEC-41C8-8030-0B03138A7BDB}" destId="{EC66DC2B-F4F0-4B9E-8034-915E7D26A76A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6BB9ED3-39FA-4C3C-B884-FC0C82F06A50}" type="doc">
      <dgm:prSet loTypeId="urn:microsoft.com/office/officeart/2005/8/layout/venn1" loCatId="relationship" qsTypeId="urn:microsoft.com/office/officeart/2005/8/quickstyle/simple5" qsCatId="simple" csTypeId="urn:microsoft.com/office/officeart/2005/8/colors/accent1_2" csCatId="accent1" phldr="1"/>
      <dgm:spPr/>
    </dgm:pt>
    <dgm:pt modelId="{FE59BDCF-8202-4794-B644-DB3B9A6A061C}">
      <dgm:prSet phldrT="[Text]"/>
      <dgm:spPr>
        <a:solidFill>
          <a:srgbClr val="FF0000">
            <a:alpha val="50000"/>
          </a:srgbClr>
        </a:solidFill>
      </dgm:spPr>
      <dgm:t>
        <a:bodyPr/>
        <a:lstStyle/>
        <a:p>
          <a:r>
            <a:rPr lang="en-GB" dirty="0"/>
            <a:t>P</a:t>
          </a:r>
          <a:r>
            <a:rPr lang="en-GB" baseline="-25000" dirty="0"/>
            <a:t>2</a:t>
          </a:r>
        </a:p>
      </dgm:t>
    </dgm:pt>
    <dgm:pt modelId="{DBE7B5CB-B5ED-4EB2-BABA-C396AFC7BC88}" type="parTrans" cxnId="{9A1AA3FE-A0B2-4B33-9E9A-E7B099E76BBD}">
      <dgm:prSet/>
      <dgm:spPr/>
      <dgm:t>
        <a:bodyPr/>
        <a:lstStyle/>
        <a:p>
          <a:endParaRPr lang="en-GB"/>
        </a:p>
      </dgm:t>
    </dgm:pt>
    <dgm:pt modelId="{CAB2F695-1A22-4E0A-8169-EBFC27103482}" type="sibTrans" cxnId="{9A1AA3FE-A0B2-4B33-9E9A-E7B099E76BBD}">
      <dgm:prSet/>
      <dgm:spPr/>
      <dgm:t>
        <a:bodyPr/>
        <a:lstStyle/>
        <a:p>
          <a:endParaRPr lang="en-GB"/>
        </a:p>
      </dgm:t>
    </dgm:pt>
    <dgm:pt modelId="{C8BC5FFB-D807-42DE-BD53-EB08E9E952A0}">
      <dgm:prSet phldrT="[Text]"/>
      <dgm:spPr>
        <a:solidFill>
          <a:srgbClr val="0070C0">
            <a:alpha val="50000"/>
          </a:srgbClr>
        </a:solidFill>
      </dgm:spPr>
      <dgm:t>
        <a:bodyPr/>
        <a:lstStyle/>
        <a:p>
          <a:r>
            <a:rPr lang="en-GB" dirty="0"/>
            <a:t>P</a:t>
          </a:r>
          <a:r>
            <a:rPr lang="en-GB" baseline="-25000" dirty="0"/>
            <a:t>5</a:t>
          </a:r>
        </a:p>
      </dgm:t>
    </dgm:pt>
    <dgm:pt modelId="{7927AFA0-673E-4975-94E6-BF3B80B51D19}" type="parTrans" cxnId="{6715DC80-73D2-465D-A4EC-E5F614BB655E}">
      <dgm:prSet/>
      <dgm:spPr/>
      <dgm:t>
        <a:bodyPr/>
        <a:lstStyle/>
        <a:p>
          <a:endParaRPr lang="en-GB"/>
        </a:p>
      </dgm:t>
    </dgm:pt>
    <dgm:pt modelId="{7ECE5B2A-C0F4-4D02-946C-524845B5A8B9}" type="sibTrans" cxnId="{6715DC80-73D2-465D-A4EC-E5F614BB655E}">
      <dgm:prSet/>
      <dgm:spPr/>
      <dgm:t>
        <a:bodyPr/>
        <a:lstStyle/>
        <a:p>
          <a:endParaRPr lang="en-GB"/>
        </a:p>
      </dgm:t>
    </dgm:pt>
    <dgm:pt modelId="{D38600E4-6DDC-4424-ACF6-BF8D2397B863}">
      <dgm:prSet phldrT="[Text]"/>
      <dgm:spPr>
        <a:solidFill>
          <a:srgbClr val="00B050">
            <a:alpha val="50000"/>
          </a:srgbClr>
        </a:solidFill>
      </dgm:spPr>
      <dgm:t>
        <a:bodyPr/>
        <a:lstStyle/>
        <a:p>
          <a:r>
            <a:rPr lang="en-GB" dirty="0"/>
            <a:t>P</a:t>
          </a:r>
          <a:r>
            <a:rPr lang="en-GB" baseline="-25000" dirty="0"/>
            <a:t>3</a:t>
          </a:r>
        </a:p>
      </dgm:t>
    </dgm:pt>
    <dgm:pt modelId="{7FCEAF6A-9D4A-4DC5-B8EA-4D3D1F5A6270}" type="parTrans" cxnId="{37611EF5-AD0C-4319-9678-34AF0CDC7C9A}">
      <dgm:prSet/>
      <dgm:spPr/>
      <dgm:t>
        <a:bodyPr/>
        <a:lstStyle/>
        <a:p>
          <a:endParaRPr lang="en-GB"/>
        </a:p>
      </dgm:t>
    </dgm:pt>
    <dgm:pt modelId="{09CE0E58-00A5-4077-A3E1-1EB2E297DAA7}" type="sibTrans" cxnId="{37611EF5-AD0C-4319-9678-34AF0CDC7C9A}">
      <dgm:prSet/>
      <dgm:spPr/>
      <dgm:t>
        <a:bodyPr/>
        <a:lstStyle/>
        <a:p>
          <a:endParaRPr lang="en-GB"/>
        </a:p>
      </dgm:t>
    </dgm:pt>
    <dgm:pt modelId="{92DA865E-4EEC-41C8-8030-0B03138A7BDB}" type="pres">
      <dgm:prSet presAssocID="{56BB9ED3-39FA-4C3C-B884-FC0C82F06A50}" presName="compositeShape" presStyleCnt="0">
        <dgm:presLayoutVars>
          <dgm:chMax val="7"/>
          <dgm:dir/>
          <dgm:resizeHandles val="exact"/>
        </dgm:presLayoutVars>
      </dgm:prSet>
      <dgm:spPr/>
    </dgm:pt>
    <dgm:pt modelId="{11B0A44C-B968-4FAB-AA7C-DBC0F19C8254}" type="pres">
      <dgm:prSet presAssocID="{FE59BDCF-8202-4794-B644-DB3B9A6A061C}" presName="circ1" presStyleLbl="vennNode1" presStyleIdx="0" presStyleCnt="3" custScaleX="133055" custScaleY="117465"/>
      <dgm:spPr/>
    </dgm:pt>
    <dgm:pt modelId="{0E4418FE-2166-48B9-AAFF-4366DB915837}" type="pres">
      <dgm:prSet presAssocID="{FE59BDCF-8202-4794-B644-DB3B9A6A061C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E39E2CC-8009-42AB-B9CA-F25811DDD700}" type="pres">
      <dgm:prSet presAssocID="{C8BC5FFB-D807-42DE-BD53-EB08E9E952A0}" presName="circ2" presStyleLbl="vennNode1" presStyleIdx="1" presStyleCnt="3" custScaleX="133055" custScaleY="117465"/>
      <dgm:spPr/>
    </dgm:pt>
    <dgm:pt modelId="{36B66612-5789-4F31-AE1D-FA0F77E1F8D6}" type="pres">
      <dgm:prSet presAssocID="{C8BC5FFB-D807-42DE-BD53-EB08E9E952A0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BC1C421A-290B-4733-A061-721E9F05CA29}" type="pres">
      <dgm:prSet presAssocID="{D38600E4-6DDC-4424-ACF6-BF8D2397B863}" presName="circ3" presStyleLbl="vennNode1" presStyleIdx="2" presStyleCnt="3" custScaleX="133055" custScaleY="117465"/>
      <dgm:spPr/>
    </dgm:pt>
    <dgm:pt modelId="{EC66DC2B-F4F0-4B9E-8034-915E7D26A76A}" type="pres">
      <dgm:prSet presAssocID="{D38600E4-6DDC-4424-ACF6-BF8D2397B863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CE77FD06-AAA4-4C8C-84A9-739A588EDABD}" type="presOf" srcId="{D38600E4-6DDC-4424-ACF6-BF8D2397B863}" destId="{EC66DC2B-F4F0-4B9E-8034-915E7D26A76A}" srcOrd="1" destOrd="0" presId="urn:microsoft.com/office/officeart/2005/8/layout/venn1"/>
    <dgm:cxn modelId="{8A51A619-8734-415A-9FB5-C8191F8C9D9D}" type="presOf" srcId="{FE59BDCF-8202-4794-B644-DB3B9A6A061C}" destId="{0E4418FE-2166-48B9-AAFF-4366DB915837}" srcOrd="1" destOrd="0" presId="urn:microsoft.com/office/officeart/2005/8/layout/venn1"/>
    <dgm:cxn modelId="{DC27A32E-E618-4899-9E0E-72226D12BF5B}" type="presOf" srcId="{D38600E4-6DDC-4424-ACF6-BF8D2397B863}" destId="{BC1C421A-290B-4733-A061-721E9F05CA29}" srcOrd="0" destOrd="0" presId="urn:microsoft.com/office/officeart/2005/8/layout/venn1"/>
    <dgm:cxn modelId="{45269F3C-AF72-4D55-A667-6043BE2B0CDE}" type="presOf" srcId="{56BB9ED3-39FA-4C3C-B884-FC0C82F06A50}" destId="{92DA865E-4EEC-41C8-8030-0B03138A7BDB}" srcOrd="0" destOrd="0" presId="urn:microsoft.com/office/officeart/2005/8/layout/venn1"/>
    <dgm:cxn modelId="{6715DC80-73D2-465D-A4EC-E5F614BB655E}" srcId="{56BB9ED3-39FA-4C3C-B884-FC0C82F06A50}" destId="{C8BC5FFB-D807-42DE-BD53-EB08E9E952A0}" srcOrd="1" destOrd="0" parTransId="{7927AFA0-673E-4975-94E6-BF3B80B51D19}" sibTransId="{7ECE5B2A-C0F4-4D02-946C-524845B5A8B9}"/>
    <dgm:cxn modelId="{1D9E8785-6708-447C-9085-28440A5F4C72}" type="presOf" srcId="{C8BC5FFB-D807-42DE-BD53-EB08E9E952A0}" destId="{36B66612-5789-4F31-AE1D-FA0F77E1F8D6}" srcOrd="1" destOrd="0" presId="urn:microsoft.com/office/officeart/2005/8/layout/venn1"/>
    <dgm:cxn modelId="{48BD5CD0-C43D-49E0-B7F4-D72548F1C2BA}" type="presOf" srcId="{C8BC5FFB-D807-42DE-BD53-EB08E9E952A0}" destId="{2E39E2CC-8009-42AB-B9CA-F25811DDD700}" srcOrd="0" destOrd="0" presId="urn:microsoft.com/office/officeart/2005/8/layout/venn1"/>
    <dgm:cxn modelId="{8638D2F2-B2A5-40AB-9FBC-E2BED3F06C6A}" type="presOf" srcId="{FE59BDCF-8202-4794-B644-DB3B9A6A061C}" destId="{11B0A44C-B968-4FAB-AA7C-DBC0F19C8254}" srcOrd="0" destOrd="0" presId="urn:microsoft.com/office/officeart/2005/8/layout/venn1"/>
    <dgm:cxn modelId="{37611EF5-AD0C-4319-9678-34AF0CDC7C9A}" srcId="{56BB9ED3-39FA-4C3C-B884-FC0C82F06A50}" destId="{D38600E4-6DDC-4424-ACF6-BF8D2397B863}" srcOrd="2" destOrd="0" parTransId="{7FCEAF6A-9D4A-4DC5-B8EA-4D3D1F5A6270}" sibTransId="{09CE0E58-00A5-4077-A3E1-1EB2E297DAA7}"/>
    <dgm:cxn modelId="{9A1AA3FE-A0B2-4B33-9E9A-E7B099E76BBD}" srcId="{56BB9ED3-39FA-4C3C-B884-FC0C82F06A50}" destId="{FE59BDCF-8202-4794-B644-DB3B9A6A061C}" srcOrd="0" destOrd="0" parTransId="{DBE7B5CB-B5ED-4EB2-BABA-C396AFC7BC88}" sibTransId="{CAB2F695-1A22-4E0A-8169-EBFC27103482}"/>
    <dgm:cxn modelId="{44B872C4-6E15-48B1-A553-5866EE69FEF1}" type="presParOf" srcId="{92DA865E-4EEC-41C8-8030-0B03138A7BDB}" destId="{11B0A44C-B968-4FAB-AA7C-DBC0F19C8254}" srcOrd="0" destOrd="0" presId="urn:microsoft.com/office/officeart/2005/8/layout/venn1"/>
    <dgm:cxn modelId="{22B71942-D7F7-4E01-9BBC-B8E93461292F}" type="presParOf" srcId="{92DA865E-4EEC-41C8-8030-0B03138A7BDB}" destId="{0E4418FE-2166-48B9-AAFF-4366DB915837}" srcOrd="1" destOrd="0" presId="urn:microsoft.com/office/officeart/2005/8/layout/venn1"/>
    <dgm:cxn modelId="{28EF7555-610B-493A-949A-4078B3DDFA4E}" type="presParOf" srcId="{92DA865E-4EEC-41C8-8030-0B03138A7BDB}" destId="{2E39E2CC-8009-42AB-B9CA-F25811DDD700}" srcOrd="2" destOrd="0" presId="urn:microsoft.com/office/officeart/2005/8/layout/venn1"/>
    <dgm:cxn modelId="{331430FA-6828-41D7-B604-0A9FD24C1912}" type="presParOf" srcId="{92DA865E-4EEC-41C8-8030-0B03138A7BDB}" destId="{36B66612-5789-4F31-AE1D-FA0F77E1F8D6}" srcOrd="3" destOrd="0" presId="urn:microsoft.com/office/officeart/2005/8/layout/venn1"/>
    <dgm:cxn modelId="{A1E4882F-B4D7-43F7-B8AB-E15BE04D08C0}" type="presParOf" srcId="{92DA865E-4EEC-41C8-8030-0B03138A7BDB}" destId="{BC1C421A-290B-4733-A061-721E9F05CA29}" srcOrd="4" destOrd="0" presId="urn:microsoft.com/office/officeart/2005/8/layout/venn1"/>
    <dgm:cxn modelId="{874DC648-CC03-489E-B6F8-81D917351F6A}" type="presParOf" srcId="{92DA865E-4EEC-41C8-8030-0B03138A7BDB}" destId="{EC66DC2B-F4F0-4B9E-8034-915E7D26A76A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B0A44C-B968-4FAB-AA7C-DBC0F19C8254}">
      <dsp:nvSpPr>
        <dsp:cNvPr id="0" name=""/>
        <dsp:cNvSpPr/>
      </dsp:nvSpPr>
      <dsp:spPr>
        <a:xfrm>
          <a:off x="621860" y="-158079"/>
          <a:ext cx="3163302" cy="2792659"/>
        </a:xfrm>
        <a:prstGeom prst="ellipse">
          <a:avLst/>
        </a:prstGeom>
        <a:solidFill>
          <a:srgbClr val="FF0000">
            <a:alpha val="5000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500" kern="1200" dirty="0"/>
            <a:t>P</a:t>
          </a:r>
          <a:r>
            <a:rPr lang="en-GB" sz="6500" kern="1200" baseline="-25000" dirty="0"/>
            <a:t>2</a:t>
          </a:r>
        </a:p>
      </dsp:txBody>
      <dsp:txXfrm>
        <a:off x="1043634" y="330635"/>
        <a:ext cx="2319755" cy="1256696"/>
      </dsp:txXfrm>
    </dsp:sp>
    <dsp:sp modelId="{2E39E2CC-8009-42AB-B9CA-F25811DDD700}">
      <dsp:nvSpPr>
        <dsp:cNvPr id="0" name=""/>
        <dsp:cNvSpPr/>
      </dsp:nvSpPr>
      <dsp:spPr>
        <a:xfrm>
          <a:off x="1479720" y="1327820"/>
          <a:ext cx="3163302" cy="2792659"/>
        </a:xfrm>
        <a:prstGeom prst="ellipse">
          <a:avLst/>
        </a:prstGeom>
        <a:solidFill>
          <a:srgbClr val="0070C0">
            <a:alpha val="5000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500" kern="1200" dirty="0"/>
            <a:t>P</a:t>
          </a:r>
          <a:r>
            <a:rPr lang="en-GB" sz="6500" kern="1200" baseline="-25000" dirty="0"/>
            <a:t>5</a:t>
          </a:r>
        </a:p>
      </dsp:txBody>
      <dsp:txXfrm>
        <a:off x="2447163" y="2049257"/>
        <a:ext cx="1897981" cy="1535962"/>
      </dsp:txXfrm>
    </dsp:sp>
    <dsp:sp modelId="{BC1C421A-290B-4733-A061-721E9F05CA29}">
      <dsp:nvSpPr>
        <dsp:cNvPr id="0" name=""/>
        <dsp:cNvSpPr/>
      </dsp:nvSpPr>
      <dsp:spPr>
        <a:xfrm>
          <a:off x="-235998" y="1327820"/>
          <a:ext cx="3163302" cy="2792659"/>
        </a:xfrm>
        <a:prstGeom prst="ellipse">
          <a:avLst/>
        </a:prstGeom>
        <a:solidFill>
          <a:srgbClr val="00B050">
            <a:alpha val="5000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500" kern="1200" dirty="0"/>
            <a:t>P</a:t>
          </a:r>
          <a:r>
            <a:rPr lang="en-GB" sz="6500" kern="1200" baseline="-25000" dirty="0"/>
            <a:t>3</a:t>
          </a:r>
        </a:p>
      </dsp:txBody>
      <dsp:txXfrm>
        <a:off x="61878" y="2049257"/>
        <a:ext cx="1897981" cy="15359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B0A44C-B968-4FAB-AA7C-DBC0F19C8254}">
      <dsp:nvSpPr>
        <dsp:cNvPr id="0" name=""/>
        <dsp:cNvSpPr/>
      </dsp:nvSpPr>
      <dsp:spPr>
        <a:xfrm>
          <a:off x="621860" y="-158079"/>
          <a:ext cx="3163302" cy="2792659"/>
        </a:xfrm>
        <a:prstGeom prst="ellipse">
          <a:avLst/>
        </a:prstGeom>
        <a:solidFill>
          <a:srgbClr val="FF0000">
            <a:alpha val="5000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500" kern="1200" dirty="0"/>
            <a:t>P</a:t>
          </a:r>
          <a:r>
            <a:rPr lang="en-GB" sz="6500" kern="1200" baseline="-25000" dirty="0"/>
            <a:t>2</a:t>
          </a:r>
        </a:p>
      </dsp:txBody>
      <dsp:txXfrm>
        <a:off x="1043634" y="330635"/>
        <a:ext cx="2319755" cy="1256696"/>
      </dsp:txXfrm>
    </dsp:sp>
    <dsp:sp modelId="{2E39E2CC-8009-42AB-B9CA-F25811DDD700}">
      <dsp:nvSpPr>
        <dsp:cNvPr id="0" name=""/>
        <dsp:cNvSpPr/>
      </dsp:nvSpPr>
      <dsp:spPr>
        <a:xfrm>
          <a:off x="1479720" y="1327820"/>
          <a:ext cx="3163302" cy="2792659"/>
        </a:xfrm>
        <a:prstGeom prst="ellipse">
          <a:avLst/>
        </a:prstGeom>
        <a:solidFill>
          <a:srgbClr val="0070C0">
            <a:alpha val="5000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500" kern="1200" dirty="0"/>
            <a:t>P</a:t>
          </a:r>
          <a:r>
            <a:rPr lang="en-GB" sz="6500" kern="1200" baseline="-25000" dirty="0"/>
            <a:t>5</a:t>
          </a:r>
        </a:p>
      </dsp:txBody>
      <dsp:txXfrm>
        <a:off x="2447163" y="2049257"/>
        <a:ext cx="1897981" cy="1535962"/>
      </dsp:txXfrm>
    </dsp:sp>
    <dsp:sp modelId="{BC1C421A-290B-4733-A061-721E9F05CA29}">
      <dsp:nvSpPr>
        <dsp:cNvPr id="0" name=""/>
        <dsp:cNvSpPr/>
      </dsp:nvSpPr>
      <dsp:spPr>
        <a:xfrm>
          <a:off x="-235998" y="1327820"/>
          <a:ext cx="3163302" cy="2792659"/>
        </a:xfrm>
        <a:prstGeom prst="ellipse">
          <a:avLst/>
        </a:prstGeom>
        <a:solidFill>
          <a:srgbClr val="00B050">
            <a:alpha val="5000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500" kern="1200" dirty="0"/>
            <a:t>P</a:t>
          </a:r>
          <a:r>
            <a:rPr lang="en-GB" sz="6500" kern="1200" baseline="-25000" dirty="0"/>
            <a:t>3</a:t>
          </a:r>
        </a:p>
      </dsp:txBody>
      <dsp:txXfrm>
        <a:off x="61878" y="2049257"/>
        <a:ext cx="1897981" cy="15359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B0A44C-B968-4FAB-AA7C-DBC0F19C8254}">
      <dsp:nvSpPr>
        <dsp:cNvPr id="0" name=""/>
        <dsp:cNvSpPr/>
      </dsp:nvSpPr>
      <dsp:spPr>
        <a:xfrm>
          <a:off x="621860" y="-158079"/>
          <a:ext cx="3163302" cy="2792659"/>
        </a:xfrm>
        <a:prstGeom prst="ellipse">
          <a:avLst/>
        </a:prstGeom>
        <a:solidFill>
          <a:srgbClr val="FF0000">
            <a:alpha val="5000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500" kern="1200" dirty="0"/>
            <a:t>P</a:t>
          </a:r>
          <a:r>
            <a:rPr lang="en-GB" sz="6500" kern="1200" baseline="-25000" dirty="0"/>
            <a:t>2</a:t>
          </a:r>
        </a:p>
      </dsp:txBody>
      <dsp:txXfrm>
        <a:off x="1043634" y="330635"/>
        <a:ext cx="2319755" cy="1256696"/>
      </dsp:txXfrm>
    </dsp:sp>
    <dsp:sp modelId="{2E39E2CC-8009-42AB-B9CA-F25811DDD700}">
      <dsp:nvSpPr>
        <dsp:cNvPr id="0" name=""/>
        <dsp:cNvSpPr/>
      </dsp:nvSpPr>
      <dsp:spPr>
        <a:xfrm>
          <a:off x="1479720" y="1327820"/>
          <a:ext cx="3163302" cy="2792659"/>
        </a:xfrm>
        <a:prstGeom prst="ellipse">
          <a:avLst/>
        </a:prstGeom>
        <a:solidFill>
          <a:srgbClr val="0070C0">
            <a:alpha val="5000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500" kern="1200" dirty="0"/>
            <a:t>P</a:t>
          </a:r>
          <a:r>
            <a:rPr lang="en-GB" sz="6500" kern="1200" baseline="-25000" dirty="0"/>
            <a:t>5</a:t>
          </a:r>
        </a:p>
      </dsp:txBody>
      <dsp:txXfrm>
        <a:off x="2447163" y="2049257"/>
        <a:ext cx="1897981" cy="1535962"/>
      </dsp:txXfrm>
    </dsp:sp>
    <dsp:sp modelId="{BC1C421A-290B-4733-A061-721E9F05CA29}">
      <dsp:nvSpPr>
        <dsp:cNvPr id="0" name=""/>
        <dsp:cNvSpPr/>
      </dsp:nvSpPr>
      <dsp:spPr>
        <a:xfrm>
          <a:off x="-235998" y="1327820"/>
          <a:ext cx="3163302" cy="2792659"/>
        </a:xfrm>
        <a:prstGeom prst="ellipse">
          <a:avLst/>
        </a:prstGeom>
        <a:solidFill>
          <a:srgbClr val="00B050">
            <a:alpha val="5000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500" kern="1200" dirty="0"/>
            <a:t>P</a:t>
          </a:r>
          <a:r>
            <a:rPr lang="en-GB" sz="6500" kern="1200" baseline="-25000" dirty="0"/>
            <a:t>3</a:t>
          </a:r>
        </a:p>
      </dsp:txBody>
      <dsp:txXfrm>
        <a:off x="61878" y="2049257"/>
        <a:ext cx="1897981" cy="153596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B0A44C-B968-4FAB-AA7C-DBC0F19C8254}">
      <dsp:nvSpPr>
        <dsp:cNvPr id="0" name=""/>
        <dsp:cNvSpPr/>
      </dsp:nvSpPr>
      <dsp:spPr>
        <a:xfrm>
          <a:off x="426153" y="-134458"/>
          <a:ext cx="2690621" cy="2375362"/>
        </a:xfrm>
        <a:prstGeom prst="ellipse">
          <a:avLst/>
        </a:prstGeom>
        <a:solidFill>
          <a:srgbClr val="FF0000">
            <a:alpha val="5000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500" kern="1200" dirty="0"/>
            <a:t>P</a:t>
          </a:r>
          <a:r>
            <a:rPr lang="en-GB" sz="6500" kern="1200" baseline="-25000" dirty="0"/>
            <a:t>2</a:t>
          </a:r>
        </a:p>
      </dsp:txBody>
      <dsp:txXfrm>
        <a:off x="784902" y="281229"/>
        <a:ext cx="1973122" cy="1068912"/>
      </dsp:txXfrm>
    </dsp:sp>
    <dsp:sp modelId="{2E39E2CC-8009-42AB-B9CA-F25811DDD700}">
      <dsp:nvSpPr>
        <dsp:cNvPr id="0" name=""/>
        <dsp:cNvSpPr/>
      </dsp:nvSpPr>
      <dsp:spPr>
        <a:xfrm>
          <a:off x="1155825" y="1129408"/>
          <a:ext cx="2690621" cy="2375362"/>
        </a:xfrm>
        <a:prstGeom prst="ellipse">
          <a:avLst/>
        </a:prstGeom>
        <a:solidFill>
          <a:srgbClr val="0070C0">
            <a:alpha val="5000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500" kern="1200" dirty="0"/>
            <a:t>P</a:t>
          </a:r>
          <a:r>
            <a:rPr lang="en-GB" sz="6500" kern="1200" baseline="-25000" dirty="0"/>
            <a:t>5</a:t>
          </a:r>
        </a:p>
      </dsp:txBody>
      <dsp:txXfrm>
        <a:off x="1978707" y="1743043"/>
        <a:ext cx="1614372" cy="1306449"/>
      </dsp:txXfrm>
    </dsp:sp>
    <dsp:sp modelId="{BC1C421A-290B-4733-A061-721E9F05CA29}">
      <dsp:nvSpPr>
        <dsp:cNvPr id="0" name=""/>
        <dsp:cNvSpPr/>
      </dsp:nvSpPr>
      <dsp:spPr>
        <a:xfrm>
          <a:off x="-303519" y="1129408"/>
          <a:ext cx="2690621" cy="2375362"/>
        </a:xfrm>
        <a:prstGeom prst="ellipse">
          <a:avLst/>
        </a:prstGeom>
        <a:solidFill>
          <a:srgbClr val="00B050">
            <a:alpha val="5000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500" kern="1200" dirty="0"/>
            <a:t>P</a:t>
          </a:r>
          <a:r>
            <a:rPr lang="en-GB" sz="6500" kern="1200" baseline="-25000" dirty="0"/>
            <a:t>3</a:t>
          </a:r>
        </a:p>
      </dsp:txBody>
      <dsp:txXfrm>
        <a:off x="-50152" y="1743043"/>
        <a:ext cx="1614372" cy="13064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06713" cy="46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94" tIns="46497" rIns="92994" bIns="46497" numCol="1" anchor="t" anchorCtr="0" compatLnSpc="1">
            <a:prstTxWarp prst="textNoShape">
              <a:avLst/>
            </a:prstTxWarp>
          </a:bodyPr>
          <a:lstStyle>
            <a:lvl1pPr algn="l" defTabSz="930275">
              <a:defRPr sz="1200"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24288" y="0"/>
            <a:ext cx="2906712" cy="46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94" tIns="46497" rIns="92994" bIns="46497" numCol="1" anchor="t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225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2600"/>
            <a:ext cx="2906713" cy="54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94" tIns="46497" rIns="92994" bIns="46497" numCol="1" anchor="b" anchorCtr="0" compatLnSpc="1">
            <a:prstTxWarp prst="textNoShape">
              <a:avLst/>
            </a:prstTxWarp>
          </a:bodyPr>
          <a:lstStyle>
            <a:lvl1pPr algn="l" defTabSz="930275">
              <a:defRPr sz="1200"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24288" y="9372600"/>
            <a:ext cx="2906712" cy="54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94" tIns="46497" rIns="92994" bIns="46497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pPr>
              <a:defRPr/>
            </a:pPr>
            <a:fld id="{ED6FB5EE-E7F8-4886-8DE3-D7A12FEAB366}" type="slidenum">
              <a:rPr lang="nl-NL"/>
              <a:pPr>
                <a:defRPr/>
              </a:pPr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06713" cy="46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94" tIns="46497" rIns="92994" bIns="46497" numCol="1" anchor="t" anchorCtr="0" compatLnSpc="1">
            <a:prstTxWarp prst="textNoShape">
              <a:avLst/>
            </a:prstTxWarp>
          </a:bodyPr>
          <a:lstStyle>
            <a:lvl1pPr algn="l" defTabSz="930275">
              <a:defRPr sz="1200" baseline="-25000"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24288" y="0"/>
            <a:ext cx="2906712" cy="46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94" tIns="46497" rIns="92994" bIns="46497" numCol="1" anchor="t" anchorCtr="0" compatLnSpc="1">
            <a:prstTxWarp prst="textNoShape">
              <a:avLst/>
            </a:prstTxWarp>
          </a:bodyPr>
          <a:lstStyle>
            <a:lvl1pPr algn="r" defTabSz="930275">
              <a:defRPr sz="1200" baseline="-25000"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57263" y="781050"/>
            <a:ext cx="4894262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78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7575" y="4686300"/>
            <a:ext cx="4972050" cy="445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94" tIns="46497" rIns="92994" bIns="4649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noProof="0"/>
              <a:t>Click to edit Master text styles</a:t>
            </a:r>
          </a:p>
          <a:p>
            <a:pPr lvl="1"/>
            <a:r>
              <a:rPr lang="nl-NL" noProof="0"/>
              <a:t>Second level</a:t>
            </a:r>
          </a:p>
          <a:p>
            <a:pPr lvl="2"/>
            <a:r>
              <a:rPr lang="nl-NL" noProof="0"/>
              <a:t>Third level</a:t>
            </a:r>
          </a:p>
          <a:p>
            <a:pPr lvl="3"/>
            <a:r>
              <a:rPr lang="nl-NL" noProof="0"/>
              <a:t>Fourth level</a:t>
            </a:r>
          </a:p>
          <a:p>
            <a:pPr lvl="4"/>
            <a:r>
              <a:rPr lang="nl-NL" noProof="0"/>
              <a:t>Fifth level</a:t>
            </a:r>
          </a:p>
        </p:txBody>
      </p:sp>
      <p:sp>
        <p:nvSpPr>
          <p:cNvPr id="378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2600"/>
            <a:ext cx="2906713" cy="54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94" tIns="46497" rIns="92994" bIns="46497" numCol="1" anchor="b" anchorCtr="0" compatLnSpc="1">
            <a:prstTxWarp prst="textNoShape">
              <a:avLst/>
            </a:prstTxWarp>
          </a:bodyPr>
          <a:lstStyle>
            <a:lvl1pPr algn="l" defTabSz="930275">
              <a:defRPr sz="1200" baseline="-25000"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378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24288" y="9372600"/>
            <a:ext cx="2906712" cy="54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94" tIns="46497" rIns="92994" bIns="46497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 baseline="-25000"/>
            </a:lvl1pPr>
          </a:lstStyle>
          <a:p>
            <a:pPr>
              <a:defRPr/>
            </a:pPr>
            <a:fld id="{4848CFE1-1208-4BBC-9318-18B7954ABCA7}" type="slidenum">
              <a:rPr lang="nl-NL"/>
              <a:pPr>
                <a:defRPr/>
              </a:pPr>
              <a:t>‹#›</a:t>
            </a:fld>
            <a:endParaRPr lang="nl-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48CFE1-1208-4BBC-9318-18B7954ABCA7}" type="slidenum">
              <a:rPr lang="nl-NL" smtClean="0"/>
              <a:pPr>
                <a:defRPr/>
              </a:pPr>
              <a:t>1</a:t>
            </a:fld>
            <a:endParaRPr lang="nl-NL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I borrowed this slide from </a:t>
            </a:r>
            <a:r>
              <a:rPr lang="en-GB" dirty="0" err="1"/>
              <a:t>Marjan</a:t>
            </a:r>
            <a:r>
              <a:rPr lang="en-GB" dirty="0"/>
              <a:t> van den </a:t>
            </a:r>
            <a:r>
              <a:rPr lang="en-GB" dirty="0" err="1"/>
              <a:t>Akker</a:t>
            </a:r>
            <a:r>
              <a:rPr lang="en-GB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162D35-D002-4531-B003-5E765E25DEAE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baseline="0" dirty="0"/>
              <a:t>Explore the fundamentals of what can algorithmically be done on hard problems.</a:t>
            </a:r>
            <a:endParaRPr lang="en-GB"/>
          </a:p>
          <a:p>
            <a:r>
              <a:rPr lang="en-GB" dirty="0"/>
              <a:t>Focus on what</a:t>
            </a:r>
            <a:r>
              <a:rPr lang="en-GB" baseline="0" dirty="0"/>
              <a:t> can be done while still obtaining optimal solution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162D35-D002-4531-B003-5E765E25DEAE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Topics split over the lectures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848CFE1-1208-4BBC-9318-18B7954ABCA7}" type="slidenum">
              <a:rPr lang="nl-NL" smtClean="0"/>
              <a:pPr>
                <a:defRPr/>
              </a:pPr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763785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48CFE1-1208-4BBC-9318-18B7954ABCA7}" type="slidenum">
              <a:rPr lang="nl-NL" smtClean="0"/>
              <a:pPr>
                <a:defRPr/>
              </a:pPr>
              <a:t>7</a:t>
            </a:fld>
            <a:endParaRPr lang="nl-NL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848CFE1-1208-4BBC-9318-18B7954ABCA7}" type="slidenum">
              <a:rPr lang="nl-NL" smtClean="0"/>
              <a:pPr>
                <a:defRPr/>
              </a:pPr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092702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 err="1"/>
              <a:t>Hier</a:t>
            </a:r>
            <a:r>
              <a:rPr lang="en-GB" baseline="0" dirty="0"/>
              <a:t> </a:t>
            </a:r>
            <a:r>
              <a:rPr lang="en-GB" baseline="0" dirty="0" err="1"/>
              <a:t>bij</a:t>
            </a:r>
            <a:r>
              <a:rPr lang="en-GB" baseline="0" dirty="0"/>
              <a:t> </a:t>
            </a:r>
            <a:r>
              <a:rPr lang="en-GB" baseline="0" dirty="0" err="1"/>
              <a:t>stilstaan</a:t>
            </a:r>
            <a:r>
              <a:rPr lang="en-GB" baseline="0" dirty="0"/>
              <a:t>: check of de </a:t>
            </a:r>
            <a:r>
              <a:rPr lang="en-GB" baseline="0" dirty="0" err="1"/>
              <a:t>stof</a:t>
            </a:r>
            <a:r>
              <a:rPr lang="en-GB" baseline="0" dirty="0"/>
              <a:t> in algorithms for decision support over </a:t>
            </a:r>
            <a:r>
              <a:rPr lang="en-GB" baseline="0" dirty="0" err="1"/>
              <a:t>gekomen</a:t>
            </a:r>
            <a:r>
              <a:rPr lang="en-GB" baseline="0" dirty="0"/>
              <a:t> is.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48CFE1-1208-4BBC-9318-18B7954ABCA7}" type="slidenum">
              <a:rPr lang="nl-NL" smtClean="0"/>
              <a:pPr>
                <a:defRPr/>
              </a:pPr>
              <a:t>9</a:t>
            </a:fld>
            <a:endParaRPr lang="nl-NL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 err="1"/>
              <a:t>Dit</a:t>
            </a:r>
            <a:r>
              <a:rPr lang="en-GB" dirty="0"/>
              <a:t> </a:t>
            </a:r>
            <a:r>
              <a:rPr lang="en-GB" dirty="0" err="1"/>
              <a:t>interactief</a:t>
            </a:r>
            <a:r>
              <a:rPr lang="en-GB" dirty="0"/>
              <a:t> </a:t>
            </a:r>
            <a:r>
              <a:rPr lang="en-GB" dirty="0" err="1"/>
              <a:t>doen</a:t>
            </a:r>
            <a:r>
              <a:rPr lang="en-GB" dirty="0"/>
              <a:t>!</a:t>
            </a:r>
          </a:p>
          <a:p>
            <a:r>
              <a:rPr lang="en-GB" dirty="0"/>
              <a:t>En </a:t>
            </a:r>
            <a:r>
              <a:rPr lang="en-GB" dirty="0" err="1"/>
              <a:t>wat</a:t>
            </a:r>
            <a:r>
              <a:rPr lang="en-GB" dirty="0"/>
              <a:t> are certificates for</a:t>
            </a:r>
            <a:r>
              <a:rPr lang="en-GB" baseline="0" dirty="0"/>
              <a:t> Travelling Salesman Problem?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48CFE1-1208-4BBC-9318-18B7954ABCA7}" type="slidenum">
              <a:rPr lang="nl-NL" smtClean="0"/>
              <a:pPr>
                <a:defRPr/>
              </a:pPr>
              <a:t>10</a:t>
            </a:fld>
            <a:endParaRPr lang="nl-NL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Question: what is the</a:t>
            </a:r>
            <a:r>
              <a:rPr lang="en-GB" baseline="0" dirty="0"/>
              <a:t> number of possible certificates for:</a:t>
            </a:r>
          </a:p>
          <a:p>
            <a:pPr marL="228600" indent="-228600">
              <a:buAutoNum type="arabicPeriod"/>
            </a:pPr>
            <a:r>
              <a:rPr lang="en-GB" baseline="0" dirty="0"/>
              <a:t>Max Independent Set?</a:t>
            </a:r>
          </a:p>
          <a:p>
            <a:pPr marL="228600" indent="-228600">
              <a:buAutoNum type="arabicPeriod"/>
            </a:pPr>
            <a:r>
              <a:rPr lang="en-GB" baseline="0" dirty="0"/>
              <a:t>k-Sat?</a:t>
            </a:r>
          </a:p>
          <a:p>
            <a:pPr marL="228600" indent="-228600">
              <a:buAutoNum type="arabicPeriod"/>
            </a:pPr>
            <a:r>
              <a:rPr lang="en-GB" baseline="0" dirty="0"/>
              <a:t>TSP?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48CFE1-1208-4BBC-9318-18B7954ABCA7}" type="slidenum">
              <a:rPr lang="nl-NL" smtClean="0"/>
              <a:pPr>
                <a:defRPr/>
              </a:pPr>
              <a:t>11</a:t>
            </a:fld>
            <a:endParaRPr lang="nl-NL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nl-NL" dirty="0"/>
              <a:t>In mijn opinie zou parallellisatie</a:t>
            </a:r>
            <a:r>
              <a:rPr lang="nl-NL" baseline="0" dirty="0"/>
              <a:t> hier even belangrijk moeten zijn.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48CFE1-1208-4BBC-9318-18B7954ABCA7}" type="slidenum">
              <a:rPr lang="nl-NL" smtClean="0"/>
              <a:pPr>
                <a:defRPr/>
              </a:pPr>
              <a:t>12</a:t>
            </a:fld>
            <a:endParaRPr lang="nl-NL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Question to students: why did I omit the * in O(1.4423</a:t>
            </a:r>
            <a:r>
              <a:rPr lang="en-GB" baseline="30000" dirty="0"/>
              <a:t>n</a:t>
            </a:r>
            <a:r>
              <a:rPr lang="en-GB" dirty="0"/>
              <a:t>) , i.e., why not O*(1.4423</a:t>
            </a:r>
            <a:r>
              <a:rPr lang="en-GB" baseline="30000" dirty="0"/>
              <a:t>n</a:t>
            </a:r>
            <a:r>
              <a:rPr lang="en-GB" dirty="0"/>
              <a:t>)  -&gt; lazy and not necessary.</a:t>
            </a:r>
          </a:p>
          <a:p>
            <a:endParaRPr lang="en-GB" dirty="0"/>
          </a:p>
          <a:p>
            <a:r>
              <a:rPr lang="en-GB" dirty="0"/>
              <a:t>Why is</a:t>
            </a:r>
            <a:r>
              <a:rPr lang="en-GB" baseline="0" dirty="0"/>
              <a:t> this faster than brute force? We omit lots of possible brute-force solutions.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48CFE1-1208-4BBC-9318-18B7954ABCA7}" type="slidenum">
              <a:rPr lang="nl-NL" smtClean="0"/>
              <a:pPr>
                <a:defRPr/>
              </a:pPr>
              <a:t>17</a:t>
            </a:fld>
            <a:endParaRPr lang="nl-NL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Algorithm of the corollary</a:t>
            </a:r>
            <a:r>
              <a:rPr lang="en-GB" baseline="0" dirty="0"/>
              <a:t> on next slide!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48CFE1-1208-4BBC-9318-18B7954ABCA7}" type="slidenum">
              <a:rPr lang="nl-NL" smtClean="0"/>
              <a:pPr>
                <a:defRPr/>
              </a:pPr>
              <a:t>18</a:t>
            </a:fld>
            <a:endParaRPr lang="nl-NL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nl-NL" dirty="0"/>
              <a:t>Deze relatie tussen </a:t>
            </a:r>
            <a:r>
              <a:rPr lang="nl-NL" dirty="0" err="1"/>
              <a:t>enumeratie</a:t>
            </a:r>
            <a:r>
              <a:rPr lang="nl-NL" dirty="0"/>
              <a:t> en looptijden zien</a:t>
            </a:r>
            <a:r>
              <a:rPr lang="nl-NL" baseline="0" dirty="0"/>
              <a:t> we vaker voor complexe problemen.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48CFE1-1208-4BBC-9318-18B7954ABCA7}" type="slidenum">
              <a:rPr lang="nl-NL" smtClean="0"/>
              <a:pPr>
                <a:defRPr/>
              </a:pPr>
              <a:t>19</a:t>
            </a:fld>
            <a:endParaRPr lang="nl-NL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nl-NL" dirty="0"/>
              <a:t>Q:</a:t>
            </a:r>
            <a:r>
              <a:rPr lang="nl-NL" baseline="0" dirty="0"/>
              <a:t> </a:t>
            </a:r>
            <a:r>
              <a:rPr lang="nl-NL" baseline="0" dirty="0" err="1"/>
              <a:t>can</a:t>
            </a:r>
            <a:r>
              <a:rPr lang="nl-NL" baseline="0" dirty="0"/>
              <a:t> we colour </a:t>
            </a:r>
            <a:r>
              <a:rPr lang="nl-NL" baseline="0" dirty="0" err="1"/>
              <a:t>this</a:t>
            </a:r>
            <a:r>
              <a:rPr lang="nl-NL" baseline="0" dirty="0"/>
              <a:t> </a:t>
            </a:r>
            <a:r>
              <a:rPr lang="nl-NL" baseline="0" dirty="0" err="1"/>
              <a:t>graph</a:t>
            </a:r>
            <a:r>
              <a:rPr lang="nl-NL" baseline="0" dirty="0"/>
              <a:t> </a:t>
            </a:r>
            <a:r>
              <a:rPr lang="nl-NL" baseline="0" dirty="0" err="1"/>
              <a:t>with</a:t>
            </a:r>
            <a:r>
              <a:rPr lang="nl-NL" baseline="0" dirty="0"/>
              <a:t> 2 </a:t>
            </a:r>
            <a:r>
              <a:rPr lang="nl-NL" baseline="0" dirty="0" err="1"/>
              <a:t>colours</a:t>
            </a:r>
            <a:r>
              <a:rPr lang="nl-NL" baseline="0" dirty="0"/>
              <a:t>?</a:t>
            </a:r>
          </a:p>
          <a:p>
            <a:r>
              <a:rPr lang="nl-NL" baseline="0" dirty="0"/>
              <a:t>Q: </a:t>
            </a:r>
            <a:r>
              <a:rPr lang="nl-NL" baseline="0" dirty="0" err="1"/>
              <a:t>can</a:t>
            </a:r>
            <a:r>
              <a:rPr lang="nl-NL" baseline="0" dirty="0"/>
              <a:t> we colour </a:t>
            </a:r>
            <a:r>
              <a:rPr lang="nl-NL" baseline="0" dirty="0" err="1"/>
              <a:t>this</a:t>
            </a:r>
            <a:r>
              <a:rPr lang="nl-NL" baseline="0" dirty="0"/>
              <a:t> </a:t>
            </a:r>
            <a:r>
              <a:rPr lang="nl-NL" baseline="0" dirty="0" err="1"/>
              <a:t>graph</a:t>
            </a:r>
            <a:r>
              <a:rPr lang="nl-NL" baseline="0" dirty="0"/>
              <a:t> </a:t>
            </a:r>
            <a:r>
              <a:rPr lang="nl-NL" baseline="0" dirty="0" err="1"/>
              <a:t>with</a:t>
            </a:r>
            <a:r>
              <a:rPr lang="nl-NL" baseline="0" dirty="0"/>
              <a:t> 4 </a:t>
            </a:r>
            <a:r>
              <a:rPr lang="nl-NL" baseline="0" dirty="0" err="1"/>
              <a:t>colours</a:t>
            </a:r>
            <a:r>
              <a:rPr lang="nl-NL" baseline="0" dirty="0"/>
              <a:t>?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48CFE1-1208-4BBC-9318-18B7954ABCA7}" type="slidenum">
              <a:rPr lang="nl-NL" smtClean="0"/>
              <a:pPr>
                <a:defRPr/>
              </a:pPr>
              <a:t>20</a:t>
            </a:fld>
            <a:endParaRPr lang="nl-NL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Discuss:</a:t>
            </a:r>
          </a:p>
          <a:p>
            <a:pPr marL="228600" indent="-228600">
              <a:buAutoNum type="arabicPeriod"/>
            </a:pPr>
            <a:r>
              <a:rPr lang="en-GB" dirty="0"/>
              <a:t>How to do 2</a:t>
            </a:r>
            <a:r>
              <a:rPr lang="en-GB" baseline="0" dirty="0"/>
              <a:t> colouring?</a:t>
            </a:r>
          </a:p>
          <a:p>
            <a:pPr marL="228600" indent="-228600">
              <a:buAutoNum type="arabicPeriod"/>
            </a:pPr>
            <a:r>
              <a:rPr lang="en-GB" baseline="0" dirty="0"/>
              <a:t>NP-completeness? Hoe </a:t>
            </a:r>
            <a:r>
              <a:rPr lang="en-GB" baseline="0" dirty="0" err="1"/>
              <a:t>relateert</a:t>
            </a:r>
            <a:r>
              <a:rPr lang="en-GB" baseline="0" dirty="0"/>
              <a:t> </a:t>
            </a:r>
            <a:r>
              <a:rPr lang="en-GB" baseline="0" dirty="0" err="1"/>
              <a:t>dit</a:t>
            </a:r>
            <a:r>
              <a:rPr lang="en-GB" baseline="0" dirty="0"/>
              <a:t> </a:t>
            </a:r>
            <a:r>
              <a:rPr lang="en-GB" baseline="0" dirty="0" err="1"/>
              <a:t>zich</a:t>
            </a:r>
            <a:r>
              <a:rPr lang="en-GB" baseline="0" dirty="0"/>
              <a:t> tot de 4-colour theorem?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48CFE1-1208-4BBC-9318-18B7954ABCA7}" type="slidenum">
              <a:rPr lang="nl-NL" smtClean="0"/>
              <a:pPr>
                <a:defRPr/>
              </a:pPr>
              <a:t>21</a:t>
            </a:fld>
            <a:endParaRPr lang="nl-NL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Discuss certificates</a:t>
            </a:r>
            <a:r>
              <a:rPr lang="en-GB" baseline="0" dirty="0"/>
              <a:t> before 2</a:t>
            </a:r>
            <a:r>
              <a:rPr lang="en-GB" baseline="30000" dirty="0"/>
              <a:t>nd</a:t>
            </a:r>
            <a:r>
              <a:rPr lang="en-GB" baseline="0" dirty="0"/>
              <a:t> click.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48CFE1-1208-4BBC-9318-18B7954ABCA7}" type="slidenum">
              <a:rPr lang="nl-NL" smtClean="0"/>
              <a:pPr>
                <a:defRPr/>
              </a:pPr>
              <a:t>22</a:t>
            </a:fld>
            <a:endParaRPr lang="nl-NL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Certificates again.</a:t>
            </a:r>
            <a:r>
              <a:rPr lang="en-GB" baseline="0" dirty="0"/>
              <a:t> What is trivial here for k-colouring?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48CFE1-1208-4BBC-9318-18B7954ABCA7}" type="slidenum">
              <a:rPr lang="nl-NL" smtClean="0"/>
              <a:pPr>
                <a:defRPr/>
              </a:pPr>
              <a:t>24</a:t>
            </a:fld>
            <a:endParaRPr lang="nl-NL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Time usage</a:t>
            </a:r>
            <a:r>
              <a:rPr lang="en-GB" baseline="0" dirty="0"/>
              <a:t> on blackboard or interactive.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48CFE1-1208-4BBC-9318-18B7954ABCA7}" type="slidenum">
              <a:rPr lang="nl-NL" smtClean="0"/>
              <a:pPr>
                <a:defRPr/>
              </a:pPr>
              <a:t>27</a:t>
            </a:fld>
            <a:endParaRPr lang="nl-NL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nl-NL" dirty="0"/>
              <a:t>2.4423</a:t>
            </a:r>
            <a:r>
              <a:rPr lang="nl-NL" baseline="30000" dirty="0"/>
              <a:t>n</a:t>
            </a:r>
            <a:r>
              <a:rPr lang="nl-NL" dirty="0"/>
              <a:t> tijd kun je bewijzen</a:t>
            </a:r>
            <a:r>
              <a:rPr lang="nl-NL" baseline="0" dirty="0"/>
              <a:t> op </a:t>
            </a:r>
            <a:r>
              <a:rPr lang="nl-NL" baseline="0" dirty="0" err="1"/>
              <a:t>blackboard</a:t>
            </a:r>
            <a:r>
              <a:rPr lang="nl-NL" baseline="0" dirty="0"/>
              <a:t> via </a:t>
            </a:r>
            <a:r>
              <a:rPr lang="nl-NL" baseline="0" dirty="0" err="1"/>
              <a:t>binomium</a:t>
            </a:r>
            <a:r>
              <a:rPr lang="nl-NL" baseline="0" dirty="0"/>
              <a:t> van Newton.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48CFE1-1208-4BBC-9318-18B7954ABCA7}" type="slidenum">
              <a:rPr lang="nl-NL" smtClean="0"/>
              <a:pPr>
                <a:defRPr/>
              </a:pPr>
              <a:t>28</a:t>
            </a:fld>
            <a:endParaRPr lang="nl-NL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This algorithm should be familiar (algorithms course, algorithms for decision support course).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48CFE1-1208-4BBC-9318-18B7954ABCA7}" type="slidenum">
              <a:rPr lang="nl-NL" smtClean="0"/>
              <a:pPr>
                <a:defRPr/>
              </a:pPr>
              <a:t>29</a:t>
            </a:fld>
            <a:endParaRPr lang="nl-NL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Different from algorithms</a:t>
            </a:r>
            <a:r>
              <a:rPr lang="en-GB" baseline="0" dirty="0"/>
              <a:t> course one does not use the Master Theorem here to analyse recurrences.</a:t>
            </a:r>
          </a:p>
          <a:p>
            <a:r>
              <a:rPr lang="en-GB" baseline="0" dirty="0"/>
              <a:t>Not of the form T(n) &lt; a T(n/b) + f(n)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48CFE1-1208-4BBC-9318-18B7954ABCA7}" type="slidenum">
              <a:rPr lang="nl-NL" smtClean="0"/>
              <a:pPr>
                <a:defRPr/>
              </a:pPr>
              <a:t>32</a:t>
            </a:fld>
            <a:endParaRPr lang="nl-NL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nl-NL" dirty="0" err="1"/>
              <a:t>Why</a:t>
            </a:r>
            <a:r>
              <a:rPr lang="nl-NL" dirty="0"/>
              <a:t> is </a:t>
            </a:r>
            <a:r>
              <a:rPr lang="nl-NL" dirty="0" err="1"/>
              <a:t>this</a:t>
            </a:r>
            <a:r>
              <a:rPr lang="nl-NL" dirty="0"/>
              <a:t> the </a:t>
            </a:r>
            <a:r>
              <a:rPr lang="nl-NL" dirty="0" err="1"/>
              <a:t>trivial</a:t>
            </a:r>
            <a:r>
              <a:rPr lang="nl-NL" dirty="0"/>
              <a:t> </a:t>
            </a:r>
            <a:r>
              <a:rPr lang="nl-NL" dirty="0" err="1"/>
              <a:t>algorithm</a:t>
            </a:r>
            <a:r>
              <a:rPr lang="nl-NL" dirty="0"/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48CFE1-1208-4BBC-9318-18B7954ABCA7}" type="slidenum">
              <a:rPr lang="nl-NL" smtClean="0"/>
              <a:pPr>
                <a:defRPr/>
              </a:pPr>
              <a:t>33</a:t>
            </a:fld>
            <a:endParaRPr lang="nl-NL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Example 1: not possible:</a:t>
            </a:r>
            <a:r>
              <a:rPr lang="en-GB" baseline="0" dirty="0"/>
              <a:t> 27 + 3 + 2 + 1 is too little, yet 27 + 8 to big. Without 27, need 15 (rest too small), but 15 without 12 too small and 15+12+ 8 to big, 15+12+3+2+1 too small.</a:t>
            </a:r>
          </a:p>
          <a:p>
            <a:r>
              <a:rPr lang="en-GB" baseline="0" dirty="0"/>
              <a:t>Example 2: 27 + 3 + 2 + 1, or 15 + 12 + 3 + 2 + 1.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48CFE1-1208-4BBC-9318-18B7954ABCA7}" type="slidenum">
              <a:rPr lang="nl-NL" smtClean="0"/>
              <a:pPr>
                <a:defRPr/>
              </a:pPr>
              <a:t>43</a:t>
            </a:fld>
            <a:endParaRPr lang="nl-NL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nl-NL" dirty="0" err="1"/>
              <a:t>Ask</a:t>
            </a:r>
            <a:r>
              <a:rPr lang="nl-NL" dirty="0"/>
              <a:t> </a:t>
            </a:r>
            <a:r>
              <a:rPr lang="nl-NL" dirty="0" err="1"/>
              <a:t>students</a:t>
            </a:r>
            <a:r>
              <a:rPr lang="nl-NL" dirty="0"/>
              <a:t>: </a:t>
            </a:r>
            <a:r>
              <a:rPr lang="nl-NL" dirty="0" err="1"/>
              <a:t>why</a:t>
            </a:r>
            <a:r>
              <a:rPr lang="nl-NL" dirty="0"/>
              <a:t> correct?</a:t>
            </a:r>
            <a:r>
              <a:rPr lang="nl-NL" baseline="0" dirty="0"/>
              <a:t> Running time?</a:t>
            </a:r>
          </a:p>
          <a:p>
            <a:endParaRPr lang="nl-NL" baseline="0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48CFE1-1208-4BBC-9318-18B7954ABCA7}" type="slidenum">
              <a:rPr lang="nl-NL" smtClean="0"/>
              <a:pPr>
                <a:defRPr/>
              </a:pPr>
              <a:t>44</a:t>
            </a:fld>
            <a:endParaRPr lang="nl-NL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nl-NL" dirty="0" err="1"/>
              <a:t>When</a:t>
            </a:r>
            <a:r>
              <a:rPr lang="nl-NL" dirty="0"/>
              <a:t> short in time: </a:t>
            </a:r>
            <a:r>
              <a:rPr lang="nl-NL" dirty="0" err="1"/>
              <a:t>skip</a:t>
            </a:r>
            <a:r>
              <a:rPr lang="nl-NL" dirty="0"/>
              <a:t> </a:t>
            </a:r>
            <a:r>
              <a:rPr lang="nl-NL" dirty="0" err="1"/>
              <a:t>this</a:t>
            </a:r>
            <a:r>
              <a:rPr lang="nl-NL" dirty="0"/>
              <a:t>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48CFE1-1208-4BBC-9318-18B7954ABCA7}" type="slidenum">
              <a:rPr lang="nl-NL" smtClean="0"/>
              <a:pPr>
                <a:defRPr/>
              </a:pPr>
              <a:t>47</a:t>
            </a:fld>
            <a:endParaRPr lang="nl-NL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Why is this correct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48CFE1-1208-4BBC-9318-18B7954ABCA7}" type="slidenum">
              <a:rPr lang="nl-NL" smtClean="0"/>
              <a:pPr>
                <a:defRPr/>
              </a:pPr>
              <a:t>48</a:t>
            </a:fld>
            <a:endParaRPr lang="nl-NL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Copy</a:t>
            </a:r>
            <a:r>
              <a:rPr lang="nl-NL" baseline="0" dirty="0"/>
              <a:t> question on </a:t>
            </a:r>
            <a:r>
              <a:rPr lang="nl-NL" baseline="0" dirty="0" err="1"/>
              <a:t>couting</a:t>
            </a:r>
            <a:r>
              <a:rPr lang="nl-NL" baseline="0" dirty="0"/>
              <a:t> integers </a:t>
            </a:r>
            <a:r>
              <a:rPr lang="nl-NL" baseline="0" dirty="0" err="1"/>
              <a:t>to</a:t>
            </a:r>
            <a:r>
              <a:rPr lang="nl-NL" baseline="0" dirty="0"/>
              <a:t> </a:t>
            </a:r>
            <a:r>
              <a:rPr lang="nl-NL" baseline="0" dirty="0" err="1"/>
              <a:t>blackboard</a:t>
            </a:r>
            <a:r>
              <a:rPr lang="nl-NL" baseline="0" dirty="0"/>
              <a:t>: </a:t>
            </a:r>
            <a:r>
              <a:rPr lang="nl-NL" baseline="0" dirty="0" err="1"/>
              <a:t>nice</a:t>
            </a:r>
            <a:r>
              <a:rPr lang="nl-NL" baseline="0" dirty="0"/>
              <a:t> </a:t>
            </a:r>
            <a:r>
              <a:rPr lang="nl-NL" baseline="0" dirty="0" err="1"/>
              <a:t>reference</a:t>
            </a:r>
            <a:r>
              <a:rPr lang="nl-NL" baseline="0" dirty="0"/>
              <a:t> </a:t>
            </a:r>
            <a:r>
              <a:rPr lang="nl-NL" baseline="0" dirty="0" err="1"/>
              <a:t>when</a:t>
            </a:r>
            <a:r>
              <a:rPr lang="nl-NL" baseline="0" dirty="0"/>
              <a:t> </a:t>
            </a:r>
            <a:r>
              <a:rPr lang="nl-NL" baseline="0" dirty="0" err="1"/>
              <a:t>proving</a:t>
            </a:r>
            <a:r>
              <a:rPr lang="nl-NL" baseline="0" dirty="0"/>
              <a:t> </a:t>
            </a:r>
            <a:r>
              <a:rPr lang="nl-NL" baseline="0" dirty="0" err="1"/>
              <a:t>the</a:t>
            </a:r>
            <a:r>
              <a:rPr lang="nl-NL" baseline="0" dirty="0"/>
              <a:t> </a:t>
            </a:r>
            <a:r>
              <a:rPr lang="nl-NL" baseline="0" dirty="0" err="1"/>
              <a:t>theorems</a:t>
            </a:r>
            <a:r>
              <a:rPr lang="nl-NL" baseline="0" dirty="0"/>
              <a:t>.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48CFE1-1208-4BBC-9318-18B7954ABCA7}" type="slidenum">
              <a:rPr lang="nl-NL" smtClean="0"/>
              <a:pPr>
                <a:defRPr/>
              </a:pPr>
              <a:t>54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5553416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If I would let the student puzzle for 5</a:t>
            </a:r>
            <a:r>
              <a:rPr lang="en-GB" baseline="0" dirty="0"/>
              <a:t> minutes, I guess some proportion of them would give the correct answer.</a:t>
            </a:r>
          </a:p>
          <a:p>
            <a:r>
              <a:rPr lang="en-GB" baseline="0" dirty="0"/>
              <a:t>But, let us do this in a step-by-step fashion.</a:t>
            </a:r>
          </a:p>
          <a:p>
            <a:endParaRPr lang="en-GB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48CFE1-1208-4BBC-9318-18B7954ABCA7}" type="slidenum">
              <a:rPr lang="nl-NL" smtClean="0"/>
              <a:pPr>
                <a:defRPr/>
              </a:pPr>
              <a:t>56</a:t>
            </a:fld>
            <a:endParaRPr lang="nl-NL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This is the principle of inclusion exclusion.</a:t>
            </a:r>
          </a:p>
          <a:p>
            <a:endParaRPr lang="en-GB" dirty="0"/>
          </a:p>
          <a:p>
            <a:r>
              <a:rPr lang="en-GB" dirty="0"/>
              <a:t>Copy 10.000 - |P</a:t>
            </a:r>
            <a:r>
              <a:rPr lang="en-GB" baseline="-25000" dirty="0"/>
              <a:t>2</a:t>
            </a:r>
            <a:r>
              <a:rPr lang="en-GB" dirty="0"/>
              <a:t>| - |P</a:t>
            </a:r>
            <a:r>
              <a:rPr lang="en-GB" baseline="-25000" dirty="0"/>
              <a:t>3</a:t>
            </a:r>
            <a:r>
              <a:rPr lang="en-GB" dirty="0"/>
              <a:t>| - |P</a:t>
            </a:r>
            <a:r>
              <a:rPr lang="en-GB" baseline="-25000" dirty="0"/>
              <a:t>5</a:t>
            </a:r>
            <a:r>
              <a:rPr lang="en-GB" dirty="0"/>
              <a:t>| + |P</a:t>
            </a:r>
            <a:r>
              <a:rPr lang="en-GB" baseline="-25000" dirty="0"/>
              <a:t>2</a:t>
            </a:r>
            <a:r>
              <a:rPr lang="en-GB" dirty="0"/>
              <a:t> </a:t>
            </a:r>
            <a:r>
              <a:rPr lang="en-GB" dirty="0">
                <a:latin typeface="cmsy10"/>
              </a:rPr>
              <a:t>and</a:t>
            </a:r>
            <a:r>
              <a:rPr lang="en-GB" dirty="0"/>
              <a:t> P</a:t>
            </a:r>
            <a:r>
              <a:rPr lang="en-GB" baseline="-25000" dirty="0"/>
              <a:t>3</a:t>
            </a:r>
            <a:r>
              <a:rPr lang="en-GB" dirty="0"/>
              <a:t>| + |P</a:t>
            </a:r>
            <a:r>
              <a:rPr lang="en-GB" baseline="-25000" dirty="0"/>
              <a:t>2</a:t>
            </a:r>
            <a:r>
              <a:rPr lang="en-GB" dirty="0"/>
              <a:t> </a:t>
            </a:r>
            <a:r>
              <a:rPr lang="en-GB" dirty="0">
                <a:latin typeface="cmsy10"/>
              </a:rPr>
              <a:t>and</a:t>
            </a:r>
            <a:r>
              <a:rPr lang="en-GB" dirty="0"/>
              <a:t> P</a:t>
            </a:r>
            <a:r>
              <a:rPr lang="en-GB" baseline="-25000" dirty="0"/>
              <a:t>5</a:t>
            </a:r>
            <a:r>
              <a:rPr lang="en-GB" dirty="0"/>
              <a:t>| + |P</a:t>
            </a:r>
            <a:r>
              <a:rPr lang="en-GB" baseline="-25000" dirty="0"/>
              <a:t>3</a:t>
            </a:r>
            <a:r>
              <a:rPr lang="en-GB" dirty="0"/>
              <a:t> </a:t>
            </a:r>
            <a:r>
              <a:rPr lang="en-GB" dirty="0">
                <a:latin typeface="cmsy10"/>
              </a:rPr>
              <a:t>and</a:t>
            </a:r>
            <a:r>
              <a:rPr lang="en-GB" dirty="0"/>
              <a:t> P</a:t>
            </a:r>
            <a:r>
              <a:rPr lang="en-GB" baseline="-25000" dirty="0"/>
              <a:t>5</a:t>
            </a:r>
            <a:r>
              <a:rPr lang="en-GB" dirty="0"/>
              <a:t>| - |P</a:t>
            </a:r>
            <a:r>
              <a:rPr lang="en-GB" baseline="-25000" dirty="0"/>
              <a:t>2</a:t>
            </a:r>
            <a:r>
              <a:rPr lang="en-GB" dirty="0"/>
              <a:t> </a:t>
            </a:r>
            <a:r>
              <a:rPr lang="en-GB" dirty="0">
                <a:latin typeface="cmsy10"/>
              </a:rPr>
              <a:t>and</a:t>
            </a:r>
            <a:r>
              <a:rPr lang="en-GB" dirty="0"/>
              <a:t> P</a:t>
            </a:r>
            <a:r>
              <a:rPr lang="en-GB" baseline="-25000" dirty="0"/>
              <a:t>3</a:t>
            </a:r>
            <a:r>
              <a:rPr lang="en-GB" dirty="0"/>
              <a:t> </a:t>
            </a:r>
            <a:r>
              <a:rPr lang="en-GB" dirty="0">
                <a:latin typeface="cmsy10"/>
              </a:rPr>
              <a:t>and</a:t>
            </a:r>
            <a:r>
              <a:rPr lang="en-GB" dirty="0"/>
              <a:t> P</a:t>
            </a:r>
            <a:r>
              <a:rPr lang="en-GB" baseline="-25000" dirty="0"/>
              <a:t>5</a:t>
            </a:r>
            <a:r>
              <a:rPr lang="en-GB" dirty="0"/>
              <a:t>| to</a:t>
            </a:r>
            <a:r>
              <a:rPr lang="en-GB" baseline="0" dirty="0"/>
              <a:t> blackboard.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48CFE1-1208-4BBC-9318-18B7954ABCA7}" type="slidenum">
              <a:rPr lang="nl-NL" smtClean="0"/>
              <a:pPr>
                <a:defRPr/>
              </a:pPr>
              <a:t>59</a:t>
            </a:fld>
            <a:endParaRPr lang="nl-NL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Click: link to counting example.</a:t>
            </a:r>
          </a:p>
          <a:p>
            <a:r>
              <a:rPr lang="en-GB" dirty="0"/>
              <a:t>Next:</a:t>
            </a:r>
            <a:r>
              <a:rPr lang="en-GB" baseline="0" dirty="0"/>
              <a:t> proof.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48CFE1-1208-4BBC-9318-18B7954ABCA7}" type="slidenum">
              <a:rPr lang="nl-NL" smtClean="0"/>
              <a:pPr>
                <a:defRPr/>
              </a:pPr>
              <a:t>62</a:t>
            </a:fld>
            <a:endParaRPr lang="nl-NL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Click: link to counting example.</a:t>
            </a:r>
          </a:p>
          <a:p>
            <a:r>
              <a:rPr lang="en-GB" dirty="0"/>
              <a:t>Next:</a:t>
            </a:r>
            <a:r>
              <a:rPr lang="en-GB" baseline="0" dirty="0"/>
              <a:t> proof.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48CFE1-1208-4BBC-9318-18B7954ABCA7}" type="slidenum">
              <a:rPr lang="nl-NL" smtClean="0"/>
              <a:pPr>
                <a:defRPr/>
              </a:pPr>
              <a:t>63</a:t>
            </a:fld>
            <a:endParaRPr lang="nl-NL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On the blackboard:</a:t>
            </a:r>
            <a:r>
              <a:rPr lang="en-GB" baseline="0" dirty="0"/>
              <a:t> example “</a:t>
            </a:r>
            <a:r>
              <a:rPr lang="en-GB" dirty="0"/>
              <a:t>How many integers 1,2,...,10.000  not divisible by 2,3, 5.”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48CFE1-1208-4BBC-9318-18B7954ABCA7}" type="slidenum">
              <a:rPr lang="nl-NL" smtClean="0"/>
              <a:pPr>
                <a:defRPr/>
              </a:pPr>
              <a:t>64</a:t>
            </a:fld>
            <a:endParaRPr lang="nl-NL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In het</a:t>
            </a:r>
            <a:r>
              <a:rPr lang="en-GB" baseline="0" dirty="0"/>
              <a:t> </a:t>
            </a:r>
            <a:r>
              <a:rPr lang="en-GB" baseline="0" dirty="0" err="1"/>
              <a:t>Nederlands</a:t>
            </a:r>
            <a:r>
              <a:rPr lang="en-GB" baseline="0" dirty="0"/>
              <a:t> </a:t>
            </a:r>
            <a:r>
              <a:rPr lang="en-GB" baseline="0" dirty="0" err="1"/>
              <a:t>noem</a:t>
            </a:r>
            <a:r>
              <a:rPr lang="en-GB" baseline="0" dirty="0"/>
              <a:t> </a:t>
            </a:r>
            <a:r>
              <a:rPr lang="en-GB" baseline="0" dirty="0" err="1"/>
              <a:t>ik</a:t>
            </a:r>
            <a:r>
              <a:rPr lang="en-GB" baseline="0" dirty="0"/>
              <a:t> </a:t>
            </a:r>
            <a:r>
              <a:rPr lang="en-GB" baseline="0" dirty="0" err="1"/>
              <a:t>dit</a:t>
            </a:r>
            <a:r>
              <a:rPr lang="en-GB" baseline="0" dirty="0"/>
              <a:t> </a:t>
            </a:r>
            <a:r>
              <a:rPr lang="en-GB" baseline="0" dirty="0" err="1"/>
              <a:t>wel</a:t>
            </a:r>
            <a:r>
              <a:rPr lang="en-GB" baseline="0" dirty="0"/>
              <a:t> </a:t>
            </a:r>
            <a:r>
              <a:rPr lang="en-GB" baseline="0" dirty="0" err="1"/>
              <a:t>eens</a:t>
            </a:r>
            <a:r>
              <a:rPr lang="en-GB" baseline="0" dirty="0"/>
              <a:t> de </a:t>
            </a:r>
            <a:r>
              <a:rPr lang="en-GB" baseline="0" dirty="0" err="1"/>
              <a:t>dronken</a:t>
            </a:r>
            <a:r>
              <a:rPr lang="en-GB" baseline="0" dirty="0"/>
              <a:t> </a:t>
            </a:r>
            <a:r>
              <a:rPr lang="en-GB" baseline="0" dirty="0" err="1"/>
              <a:t>handelsreiziger</a:t>
            </a:r>
            <a:r>
              <a:rPr lang="en-GB" baseline="0" dirty="0"/>
              <a:t>: </a:t>
            </a:r>
            <a:r>
              <a:rPr lang="en-GB" baseline="0" dirty="0" err="1"/>
              <a:t>tel</a:t>
            </a:r>
            <a:r>
              <a:rPr lang="en-GB" baseline="0" dirty="0"/>
              <a:t> het </a:t>
            </a:r>
            <a:r>
              <a:rPr lang="en-GB" baseline="0" dirty="0" err="1"/>
              <a:t>aantal</a:t>
            </a:r>
            <a:r>
              <a:rPr lang="en-GB" baseline="0" dirty="0"/>
              <a:t> </a:t>
            </a:r>
            <a:r>
              <a:rPr lang="en-GB" baseline="0" dirty="0" err="1"/>
              <a:t>mogelijke</a:t>
            </a:r>
            <a:r>
              <a:rPr lang="en-GB" baseline="0" dirty="0"/>
              <a:t> </a:t>
            </a:r>
            <a:r>
              <a:rPr lang="en-GB" baseline="0" dirty="0" err="1"/>
              <a:t>mogelijke</a:t>
            </a:r>
            <a:r>
              <a:rPr lang="en-GB" baseline="0" dirty="0"/>
              <a:t> </a:t>
            </a:r>
            <a:r>
              <a:rPr lang="en-GB" baseline="0" dirty="0" err="1"/>
              <a:t>manieren</a:t>
            </a:r>
            <a:r>
              <a:rPr lang="en-GB" baseline="0" dirty="0"/>
              <a:t> </a:t>
            </a:r>
            <a:r>
              <a:rPr lang="en-GB" baseline="0" dirty="0" err="1"/>
              <a:t>waarop</a:t>
            </a:r>
            <a:r>
              <a:rPr lang="en-GB" baseline="0" dirty="0"/>
              <a:t> </a:t>
            </a:r>
            <a:r>
              <a:rPr lang="en-GB" baseline="0" dirty="0" err="1"/>
              <a:t>hij</a:t>
            </a:r>
            <a:r>
              <a:rPr lang="en-GB" baseline="0" dirty="0"/>
              <a:t> </a:t>
            </a:r>
            <a:r>
              <a:rPr lang="en-GB" baseline="0" dirty="0" err="1"/>
              <a:t>rond</a:t>
            </a:r>
            <a:r>
              <a:rPr lang="en-GB" baseline="0" dirty="0"/>
              <a:t> </a:t>
            </a:r>
            <a:r>
              <a:rPr lang="en-GB" baseline="0" dirty="0" err="1"/>
              <a:t>zwalkt</a:t>
            </a:r>
            <a:r>
              <a:rPr lang="en-GB" baseline="0" dirty="0"/>
              <a:t>.</a:t>
            </a:r>
          </a:p>
          <a:p>
            <a:endParaRPr lang="en-GB" baseline="0" dirty="0"/>
          </a:p>
          <a:p>
            <a:r>
              <a:rPr lang="en-GB" baseline="0" dirty="0"/>
              <a:t>O(n) space.... </a:t>
            </a:r>
            <a:r>
              <a:rPr lang="en-GB" baseline="0" dirty="0" err="1"/>
              <a:t>Waarom</a:t>
            </a:r>
            <a:r>
              <a:rPr lang="en-GB" baseline="0" dirty="0"/>
              <a:t>? </a:t>
            </a:r>
            <a:r>
              <a:rPr lang="en-GB" baseline="0" dirty="0" err="1"/>
              <a:t>Slechts</a:t>
            </a:r>
            <a:r>
              <a:rPr lang="en-GB" baseline="0" dirty="0"/>
              <a:t> 2 </a:t>
            </a:r>
            <a:r>
              <a:rPr lang="en-GB" baseline="0" dirty="0" err="1"/>
              <a:t>waarden</a:t>
            </a:r>
            <a:r>
              <a:rPr lang="en-GB" baseline="0" dirty="0"/>
              <a:t> van k </a:t>
            </a:r>
            <a:r>
              <a:rPr lang="en-GB" baseline="0" dirty="0" err="1"/>
              <a:t>hoeven</a:t>
            </a:r>
            <a:r>
              <a:rPr lang="en-GB" baseline="0" dirty="0"/>
              <a:t> </a:t>
            </a:r>
            <a:r>
              <a:rPr lang="en-GB" baseline="0" dirty="0" err="1"/>
              <a:t>bijgehouden</a:t>
            </a:r>
            <a:r>
              <a:rPr lang="en-GB" baseline="0" dirty="0"/>
              <a:t> </a:t>
            </a:r>
            <a:r>
              <a:rPr lang="en-GB" baseline="0" dirty="0" err="1"/>
              <a:t>te</a:t>
            </a:r>
            <a:r>
              <a:rPr lang="en-GB" baseline="0" dirty="0"/>
              <a:t> </a:t>
            </a:r>
            <a:r>
              <a:rPr lang="en-GB" baseline="0" dirty="0" err="1"/>
              <a:t>worden</a:t>
            </a:r>
            <a:r>
              <a:rPr lang="en-GB" baseline="0" dirty="0"/>
              <a:t>!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48CFE1-1208-4BBC-9318-18B7954ABCA7}" type="slidenum">
              <a:rPr lang="nl-NL" smtClean="0"/>
              <a:pPr>
                <a:defRPr/>
              </a:pPr>
              <a:t>67</a:t>
            </a:fld>
            <a:endParaRPr lang="nl-NL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Click </a:t>
            </a:r>
            <a:r>
              <a:rPr lang="nl-NL" dirty="0" err="1"/>
              <a:t>for</a:t>
            </a:r>
            <a:r>
              <a:rPr lang="nl-NL" dirty="0"/>
              <a:t> IE </a:t>
            </a:r>
            <a:r>
              <a:rPr lang="nl-NL" dirty="0" err="1"/>
              <a:t>formula</a:t>
            </a:r>
            <a:r>
              <a:rPr lang="nl-NL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48CFE1-1208-4BBC-9318-18B7954ABCA7}" type="slidenum">
              <a:rPr lang="nl-NL" smtClean="0"/>
              <a:pPr>
                <a:defRPr/>
              </a:pPr>
              <a:t>68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5288681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 err="1"/>
              <a:t>Deze</a:t>
            </a:r>
            <a:r>
              <a:rPr lang="en-GB" dirty="0"/>
              <a:t> slide heel </a:t>
            </a:r>
            <a:r>
              <a:rPr lang="en-GB" dirty="0" err="1"/>
              <a:t>rustig</a:t>
            </a:r>
            <a:r>
              <a:rPr lang="en-GB" dirty="0"/>
              <a:t> op bord </a:t>
            </a:r>
            <a:r>
              <a:rPr lang="en-GB" dirty="0" err="1"/>
              <a:t>opbouwen</a:t>
            </a:r>
            <a:r>
              <a:rPr lang="en-GB" dirty="0"/>
              <a:t>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48CFE1-1208-4BBC-9318-18B7954ABCA7}" type="slidenum">
              <a:rPr lang="nl-NL" smtClean="0"/>
              <a:pPr>
                <a:defRPr/>
              </a:pPr>
              <a:t>71</a:t>
            </a:fld>
            <a:endParaRPr lang="nl-NL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BA9F405B-6DC6-437C-911A-282120B82516}" type="slidenum">
              <a:rPr lang="nl-NL" smtClean="0"/>
              <a:pPr/>
              <a:t>72</a:t>
            </a:fld>
            <a:endParaRPr lang="nl-NL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76200" y="6477000"/>
            <a:ext cx="533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defRPr/>
            </a:pPr>
            <a:fld id="{FED3ACFC-F68F-4434-88C6-F3A02B344ED6}" type="slidenum">
              <a:rPr lang="en-US" sz="1200">
                <a:latin typeface="Verdana" pitchFamily="34" charset="0"/>
              </a:rPr>
              <a:pPr algn="r">
                <a:defRPr/>
              </a:pPr>
              <a:t>‹#›</a:t>
            </a:fld>
            <a:endParaRPr lang="en-US" sz="1400">
              <a:latin typeface="Verdana" pitchFamily="34" charset="0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588"/>
            <a:ext cx="9144000" cy="6861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752600" y="2057400"/>
            <a:ext cx="7010400" cy="1676400"/>
          </a:xfrm>
        </p:spPr>
        <p:txBody>
          <a:bodyPr/>
          <a:lstStyle>
            <a:lvl1pPr algn="r">
              <a:lnSpc>
                <a:spcPts val="4400"/>
              </a:lnSpc>
              <a:spcAft>
                <a:spcPts val="300"/>
              </a:spcAft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3013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2362200" y="3962400"/>
            <a:ext cx="6400800" cy="1752600"/>
          </a:xfrm>
        </p:spPr>
        <p:txBody>
          <a:bodyPr/>
          <a:lstStyle>
            <a:lvl1pPr marL="0" indent="0" algn="r">
              <a:buFont typeface="Webdings" pitchFamily="18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303060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10035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23055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828800"/>
            <a:ext cx="3619500" cy="3962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3500" y="1828800"/>
            <a:ext cx="3619500" cy="3962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14300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85596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95629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9321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17420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06075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87981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5150" y="304800"/>
            <a:ext cx="184785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304800"/>
            <a:ext cx="539115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858477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304800"/>
            <a:ext cx="7391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371600" y="1828800"/>
            <a:ext cx="36195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3500" y="1828800"/>
            <a:ext cx="36195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718241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588"/>
            <a:ext cx="9144000" cy="6861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7" name="Rectangle 3"/>
          <p:cNvSpPr>
            <a:spLocks noChangeArrowheads="1"/>
          </p:cNvSpPr>
          <p:nvPr/>
        </p:nvSpPr>
        <p:spPr bwMode="auto">
          <a:xfrm>
            <a:off x="0" y="6477000"/>
            <a:ext cx="533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defRPr/>
            </a:pPr>
            <a:fld id="{5FF67B07-126B-4D69-A42B-E9989D2C4318}" type="slidenum">
              <a:rPr lang="en-US" sz="1200">
                <a:latin typeface="Verdana" pitchFamily="34" charset="0"/>
              </a:rPr>
              <a:pPr algn="r">
                <a:defRPr/>
              </a:pPr>
              <a:t>‹#›</a:t>
            </a:fld>
            <a:endParaRPr lang="en-US" sz="1400">
              <a:latin typeface="Verdana" pitchFamily="34" charset="0"/>
            </a:endParaRP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1371600" y="304800"/>
            <a:ext cx="7391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71600" y="1828800"/>
            <a:ext cx="73914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ebdings" charset="2"/>
        <a:buChar char="g"/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5000"/>
        <a:buFont typeface="Webdings" charset="2"/>
        <a:buChar char="g"/>
        <a:defRPr sz="16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3pPr>
      <a:lvl4pPr marL="15621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200">
          <a:solidFill>
            <a:schemeClr val="tx1"/>
          </a:solidFill>
          <a:latin typeface="+mn-lt"/>
        </a:defRPr>
      </a:lvl4pPr>
      <a:lvl5pPr marL="1981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000">
          <a:solidFill>
            <a:schemeClr val="tx1"/>
          </a:solidFill>
          <a:latin typeface="+mn-lt"/>
        </a:defRPr>
      </a:lvl5pPr>
      <a:lvl6pPr marL="2438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000">
          <a:solidFill>
            <a:schemeClr val="tx1"/>
          </a:solidFill>
          <a:latin typeface="+mn-lt"/>
        </a:defRPr>
      </a:lvl6pPr>
      <a:lvl7pPr marL="2895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000">
          <a:solidFill>
            <a:schemeClr val="tx1"/>
          </a:solidFill>
          <a:latin typeface="+mn-lt"/>
        </a:defRPr>
      </a:lvl7pPr>
      <a:lvl8pPr marL="3352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000">
          <a:solidFill>
            <a:schemeClr val="tx1"/>
          </a:solidFill>
          <a:latin typeface="+mn-lt"/>
        </a:defRPr>
      </a:lvl8pPr>
      <a:lvl9pPr marL="3810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wm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4" Type="http://schemas.openxmlformats.org/officeDocument/2006/relationships/image" Target="../media/image8.wmf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wmf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00.png"/><Relationship Id="rId4" Type="http://schemas.openxmlformats.org/officeDocument/2006/relationships/image" Target="../media/image10.wmf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 Exact Exponential-Time Algorithms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nl-NL" dirty="0"/>
              <a:t>Advanced Algorithms 2025/2026</a:t>
            </a:r>
          </a:p>
          <a:p>
            <a:r>
              <a:rPr lang="en-US" altLang="nl-NL" dirty="0"/>
              <a:t>Johan M. M. van Rooij</a:t>
            </a:r>
          </a:p>
          <a:p>
            <a:r>
              <a:rPr lang="en-US" altLang="nl-NL" dirty="0"/>
              <a:t>Til Miltzow</a:t>
            </a:r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0" y="7112000"/>
            <a:ext cx="91440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TexPoint fonts used in EMF. </a:t>
            </a:r>
          </a:p>
          <a:p>
            <a:r>
              <a:rPr lang="en-US"/>
              <a:t>Read the TexPoint manual before you delete this box.: </a:t>
            </a:r>
            <a:r>
              <a:rPr lang="en-US">
                <a:latin typeface="CMMI10"/>
              </a:rPr>
              <a:t>A</a:t>
            </a:r>
            <a:r>
              <a:rPr lang="en-US">
                <a:latin typeface="CMR10"/>
              </a:rPr>
              <a:t>A</a:t>
            </a:r>
            <a:r>
              <a:rPr lang="en-US">
                <a:latin typeface="CMSY7"/>
              </a:rPr>
              <a:t>A</a:t>
            </a:r>
            <a:r>
              <a:rPr lang="en-US">
                <a:latin typeface="CMEX10"/>
              </a:rPr>
              <a:t>A</a:t>
            </a:r>
            <a:r>
              <a:rPr lang="en-US">
                <a:latin typeface="CMMI7"/>
              </a:rPr>
              <a:t>A</a:t>
            </a:r>
            <a:r>
              <a:rPr lang="en-US">
                <a:latin typeface="CMR7"/>
              </a:rPr>
              <a:t>A</a:t>
            </a:r>
            <a:r>
              <a:rPr lang="en-US">
                <a:latin typeface="CMSY10ORIG"/>
              </a:rPr>
              <a:t>A</a:t>
            </a:r>
            <a:r>
              <a:rPr lang="en-US">
                <a:latin typeface="CMR5"/>
              </a:rPr>
              <a:t>A</a:t>
            </a:r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5359444"/>
              </p:ext>
            </p:extLst>
          </p:nvPr>
        </p:nvGraphicFramePr>
        <p:xfrm>
          <a:off x="395536" y="548680"/>
          <a:ext cx="8039472" cy="598316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442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3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7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872">
                <a:tc>
                  <a:txBody>
                    <a:bodyPr/>
                    <a:lstStyle/>
                    <a:p>
                      <a:pPr algn="r"/>
                      <a:r>
                        <a:rPr lang="en-GB" noProof="0"/>
                        <a:t>Solution</a:t>
                      </a:r>
                      <a:r>
                        <a:rPr lang="en-GB" baseline="0" noProof="0"/>
                        <a:t> quality</a:t>
                      </a:r>
                    </a:p>
                    <a:p>
                      <a:endParaRPr lang="en-GB" baseline="0" noProof="0"/>
                    </a:p>
                    <a:p>
                      <a:r>
                        <a:rPr lang="en-GB" baseline="0" noProof="0"/>
                        <a:t>Computation time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GB" noProof="0"/>
                        <a:t>Optimal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noProof="0"/>
                        <a:t>Bound</a:t>
                      </a:r>
                      <a:r>
                        <a:rPr lang="en-GB" baseline="0" noProof="0"/>
                        <a:t> on quality</a:t>
                      </a:r>
                      <a:endParaRPr lang="en-GB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noProof="0"/>
                        <a:t>Good</a:t>
                      </a:r>
                      <a:r>
                        <a:rPr lang="en-GB" baseline="0" noProof="0"/>
                        <a:t> solution, no quality guarantee</a:t>
                      </a:r>
                      <a:endParaRPr lang="en-GB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7432">
                <a:tc>
                  <a:txBody>
                    <a:bodyPr/>
                    <a:lstStyle/>
                    <a:p>
                      <a:r>
                        <a:rPr lang="en-GB" noProof="0"/>
                        <a:t>Polynomial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noProof="0" dirty="0"/>
                        <a:t>Polynomial-time</a:t>
                      </a:r>
                      <a:r>
                        <a:rPr lang="en-GB" sz="1800" baseline="0" noProof="0" dirty="0"/>
                        <a:t> solution algorithms</a:t>
                      </a:r>
                      <a:endParaRPr lang="en-GB" sz="18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noProof="0"/>
                        <a:t>Approximation </a:t>
                      </a:r>
                    </a:p>
                    <a:p>
                      <a:r>
                        <a:rPr lang="en-GB" noProof="0"/>
                        <a:t>algorithms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noProof="0"/>
                        <a:t>Construction</a:t>
                      </a:r>
                    </a:p>
                    <a:p>
                      <a:r>
                        <a:rPr lang="en-GB" noProof="0"/>
                        <a:t>heuristics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2696">
                <a:tc>
                  <a:txBody>
                    <a:bodyPr/>
                    <a:lstStyle/>
                    <a:p>
                      <a:r>
                        <a:rPr lang="en-GB" noProof="0"/>
                        <a:t>Super polynomial</a:t>
                      </a:r>
                    </a:p>
                    <a:p>
                      <a:r>
                        <a:rPr lang="en-GB" noProof="0"/>
                        <a:t>and/or no guarantee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noProof="0"/>
                        <a:t>Exact algorithms: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noProof="0"/>
                        <a:t>Tree search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noProof="0"/>
                        <a:t>Dynamic</a:t>
                      </a:r>
                      <a:r>
                        <a:rPr lang="en-GB" baseline="0" noProof="0"/>
                        <a:t>  programming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baseline="0" noProof="0"/>
                        <a:t>Integer linear programming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baseline="0" noProof="0"/>
                        <a:t>……</a:t>
                      </a:r>
                      <a:endParaRPr lang="en-GB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GB" baseline="0" noProof="0" dirty="0"/>
                        <a:t>Hybrid algorithms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baseline="0" noProof="0" dirty="0"/>
                        <a:t>Column generation without complete branch-and-price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noProof="0" dirty="0"/>
                        <a:t>Meta heuristics: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noProof="0" dirty="0"/>
                        <a:t>Local search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noProof="0" dirty="0"/>
                        <a:t>Genetic algorithms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2034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3585920"/>
              </p:ext>
            </p:extLst>
          </p:nvPr>
        </p:nvGraphicFramePr>
        <p:xfrm>
          <a:off x="395536" y="548680"/>
          <a:ext cx="8039472" cy="598316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442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3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7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872">
                <a:tc>
                  <a:txBody>
                    <a:bodyPr/>
                    <a:lstStyle/>
                    <a:p>
                      <a:pPr algn="r"/>
                      <a:r>
                        <a:rPr lang="en-GB" noProof="0"/>
                        <a:t>Solution</a:t>
                      </a:r>
                      <a:r>
                        <a:rPr lang="en-GB" baseline="0" noProof="0"/>
                        <a:t> quality</a:t>
                      </a:r>
                    </a:p>
                    <a:p>
                      <a:endParaRPr lang="en-GB" baseline="0" noProof="0"/>
                    </a:p>
                    <a:p>
                      <a:r>
                        <a:rPr lang="en-GB" baseline="0" noProof="0"/>
                        <a:t>Computation time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GB" noProof="0"/>
                        <a:t>Optimal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noProof="0"/>
                        <a:t>Bound</a:t>
                      </a:r>
                      <a:r>
                        <a:rPr lang="en-GB" baseline="0" noProof="0"/>
                        <a:t> on quality</a:t>
                      </a:r>
                      <a:endParaRPr lang="en-GB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noProof="0"/>
                        <a:t>Good</a:t>
                      </a:r>
                      <a:r>
                        <a:rPr lang="en-GB" baseline="0" noProof="0"/>
                        <a:t> solution, no quality guarantee</a:t>
                      </a:r>
                      <a:endParaRPr lang="en-GB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7432">
                <a:tc>
                  <a:txBody>
                    <a:bodyPr/>
                    <a:lstStyle/>
                    <a:p>
                      <a:r>
                        <a:rPr lang="en-GB" noProof="0"/>
                        <a:t>Polynomial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noProof="0"/>
                        <a:t>Polynomial-time</a:t>
                      </a:r>
                      <a:r>
                        <a:rPr lang="en-GB" sz="1800" baseline="0" noProof="0"/>
                        <a:t> solution algorithms</a:t>
                      </a:r>
                      <a:endParaRPr lang="en-GB" sz="1800" noProof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noProof="0"/>
                        <a:t>Approximation </a:t>
                      </a:r>
                    </a:p>
                    <a:p>
                      <a:r>
                        <a:rPr lang="en-GB" noProof="0"/>
                        <a:t>algorithms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noProof="0"/>
                        <a:t>Construction</a:t>
                      </a:r>
                    </a:p>
                    <a:p>
                      <a:r>
                        <a:rPr lang="en-GB" noProof="0"/>
                        <a:t>heuristics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2696">
                <a:tc>
                  <a:txBody>
                    <a:bodyPr/>
                    <a:lstStyle/>
                    <a:p>
                      <a:r>
                        <a:rPr lang="en-GB" noProof="0"/>
                        <a:t>Super polynomial</a:t>
                      </a:r>
                    </a:p>
                    <a:p>
                      <a:r>
                        <a:rPr lang="en-GB" noProof="0"/>
                        <a:t>and/or no guarantee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noProof="0"/>
                        <a:t>Exact algorithms: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noProof="0"/>
                        <a:t>Tree search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noProof="0"/>
                        <a:t>Dynamic</a:t>
                      </a:r>
                      <a:r>
                        <a:rPr lang="en-GB" baseline="0" noProof="0"/>
                        <a:t>  programming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baseline="0" noProof="0"/>
                        <a:t>Integer linear programming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baseline="0" noProof="0"/>
                        <a:t>……</a:t>
                      </a:r>
                      <a:endParaRPr lang="en-GB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GB" baseline="0" noProof="0"/>
                        <a:t>Hybrid algorithms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baseline="0" noProof="0"/>
                        <a:t>Column generation without complete branch-and-price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noProof="0" dirty="0"/>
                        <a:t>Meta heuristics: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noProof="0" dirty="0"/>
                        <a:t>Local search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noProof="0" dirty="0"/>
                        <a:t>Genetic algorithms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Rechthoek 2"/>
          <p:cNvSpPr/>
          <p:nvPr/>
        </p:nvSpPr>
        <p:spPr bwMode="auto">
          <a:xfrm>
            <a:off x="2339752" y="3573016"/>
            <a:ext cx="2304256" cy="1656184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Algorithms</a:t>
            </a:r>
            <a:r>
              <a:rPr kumimoji="0" lang="en-GB" sz="2000" b="0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2000" i="0">
                <a:latin typeface="+mn-lt"/>
              </a:rPr>
              <a:t>a</a:t>
            </a:r>
            <a:r>
              <a:rPr lang="en-GB" sz="2000" i="0" baseline="0">
                <a:latin typeface="+mn-lt"/>
              </a:rPr>
              <a:t>nd</a:t>
            </a:r>
            <a:r>
              <a:rPr lang="en-GB" sz="2000" i="0">
                <a:latin typeface="+mn-lt"/>
              </a:rPr>
              <a:t> networks</a:t>
            </a:r>
            <a:endParaRPr kumimoji="0" lang="en-GB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5" name="Rechthoek 4"/>
          <p:cNvSpPr/>
          <p:nvPr/>
        </p:nvSpPr>
        <p:spPr bwMode="auto">
          <a:xfrm>
            <a:off x="4644008" y="1988840"/>
            <a:ext cx="1944216" cy="2088232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 eaLnBrk="0" hangingPunct="0"/>
            <a:endParaRPr lang="en-GB" sz="2000" i="0">
              <a:latin typeface="+mn-lt"/>
            </a:endParaRPr>
          </a:p>
          <a:p>
            <a:pPr algn="l" eaLnBrk="0" hangingPunct="0"/>
            <a:endParaRPr lang="en-GB" sz="2000" i="0">
              <a:latin typeface="+mn-lt"/>
            </a:endParaRPr>
          </a:p>
          <a:p>
            <a:pPr algn="l" eaLnBrk="0" hangingPunct="0"/>
            <a:r>
              <a:rPr lang="en-GB" sz="2000" i="0">
                <a:latin typeface="+mn-lt"/>
              </a:rPr>
              <a:t>Algorithms </a:t>
            </a:r>
          </a:p>
          <a:p>
            <a:pPr algn="l" eaLnBrk="0" hangingPunct="0"/>
            <a:r>
              <a:rPr lang="en-GB" sz="2000" i="0">
                <a:latin typeface="+mn-lt"/>
              </a:rPr>
              <a:t>and networks</a:t>
            </a:r>
          </a:p>
        </p:txBody>
      </p:sp>
    </p:spTree>
    <p:extLst>
      <p:ext uri="{BB962C8B-B14F-4D97-AF65-F5344CB8AC3E}">
        <p14:creationId xmlns:p14="http://schemas.microsoft.com/office/powerpoint/2010/main" val="3780835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to do if a problem is</a:t>
            </a:r>
            <a:br>
              <a:rPr lang="en-US"/>
            </a:br>
            <a:r>
              <a:rPr lang="en-US"/>
              <a:t> NP-complete?</a:t>
            </a:r>
          </a:p>
        </p:txBody>
      </p:sp>
      <p:sp>
        <p:nvSpPr>
          <p:cNvPr id="4101" name="Rectangle 3"/>
          <p:cNvSpPr>
            <a:spLocks noGrp="1" noChangeArrowheads="1"/>
          </p:cNvSpPr>
          <p:nvPr>
            <p:ph idx="1"/>
          </p:nvPr>
        </p:nvSpPr>
        <p:spPr>
          <a:xfrm>
            <a:off x="1371600" y="1828800"/>
            <a:ext cx="7391400" cy="4192488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US" dirty="0"/>
              <a:t>Solve on special cases (graph classes)</a:t>
            </a:r>
          </a:p>
          <a:p>
            <a:pPr>
              <a:buFont typeface="+mj-lt"/>
              <a:buAutoNum type="arabicPeriod"/>
            </a:pPr>
            <a:r>
              <a:rPr lang="en-US" dirty="0"/>
              <a:t>Heuristics and approximations</a:t>
            </a:r>
          </a:p>
          <a:p>
            <a:pPr>
              <a:buFont typeface="+mj-lt"/>
              <a:buAutoNum type="arabicPeriod"/>
            </a:pPr>
            <a:r>
              <a:rPr lang="en-US" dirty="0"/>
              <a:t>Algorithms that are fast on average</a:t>
            </a:r>
          </a:p>
          <a:p>
            <a:pPr>
              <a:buFont typeface="+mj-lt"/>
              <a:buAutoNum type="arabicPeriod"/>
            </a:pPr>
            <a:r>
              <a:rPr lang="en-US" dirty="0"/>
              <a:t>Good exponential-time algorithms</a:t>
            </a:r>
          </a:p>
          <a:p>
            <a:pPr>
              <a:buFont typeface="+mj-lt"/>
              <a:buAutoNum type="arabicPeriod"/>
            </a:pPr>
            <a:r>
              <a:rPr lang="en-US" dirty="0"/>
              <a:t>…</a:t>
            </a:r>
          </a:p>
          <a:p>
            <a:endParaRPr lang="en-US" dirty="0"/>
          </a:p>
          <a:p>
            <a:r>
              <a:rPr lang="en-US" dirty="0"/>
              <a:t>Exact exponential-time algorithms are one of many options</a:t>
            </a:r>
          </a:p>
          <a:p>
            <a:r>
              <a:rPr lang="en-US" dirty="0"/>
              <a:t>Practical applications exist</a:t>
            </a:r>
          </a:p>
          <a:p>
            <a:pPr lvl="1"/>
            <a:r>
              <a:rPr lang="en-US" dirty="0"/>
              <a:t>If the instance is small, and a simple exponential-time algorithm exist, then why not use it?</a:t>
            </a:r>
          </a:p>
          <a:p>
            <a:pPr lvl="1"/>
            <a:r>
              <a:rPr lang="en-US" dirty="0"/>
              <a:t>Sometimes useful as a quick way to solve small subproblems</a:t>
            </a:r>
          </a:p>
          <a:p>
            <a:r>
              <a:rPr lang="en-US" dirty="0"/>
              <a:t>If one needs the guarantee that an optimal solution is always to be found one has little other choice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10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10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10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10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0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0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10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10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Exact exponential-time algorithms </a:t>
            </a:r>
            <a:br>
              <a:rPr lang="en-US" dirty="0"/>
            </a:br>
            <a:r>
              <a:rPr lang="en-US" dirty="0"/>
              <a:t>in this course</a:t>
            </a:r>
          </a:p>
        </p:txBody>
      </p:sp>
      <p:sp>
        <p:nvSpPr>
          <p:cNvPr id="307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GB" b="1" dirty="0">
                <a:solidFill>
                  <a:srgbClr val="C00000"/>
                </a:solidFill>
              </a:rPr>
              <a:t>Three Topics</a:t>
            </a:r>
          </a:p>
          <a:p>
            <a:pPr>
              <a:buFont typeface="+mj-lt"/>
              <a:buAutoNum type="arabicPeriod"/>
            </a:pPr>
            <a:r>
              <a:rPr lang="en-GB" dirty="0"/>
              <a:t>Introduction to exponential-time algorithms</a:t>
            </a:r>
          </a:p>
          <a:p>
            <a:pPr>
              <a:buFont typeface="+mj-lt"/>
              <a:buAutoNum type="arabicPeriod"/>
            </a:pPr>
            <a:r>
              <a:rPr lang="en-GB" dirty="0"/>
              <a:t>Overview of some techniques</a:t>
            </a:r>
          </a:p>
          <a:p>
            <a:pPr>
              <a:buFont typeface="+mj-lt"/>
              <a:buAutoNum type="arabicPeriod"/>
            </a:pPr>
            <a:r>
              <a:rPr lang="en-GB" dirty="0"/>
              <a:t>Inclusion/Exclusion</a:t>
            </a:r>
          </a:p>
          <a:p>
            <a:pPr>
              <a:buFont typeface="+mj-lt"/>
              <a:buAutoNum type="arabicPeriod"/>
            </a:pPr>
            <a:endParaRPr lang="en-GB" dirty="0"/>
          </a:p>
          <a:p>
            <a:pPr marL="0" indent="0">
              <a:buNone/>
            </a:pPr>
            <a:r>
              <a:rPr lang="en-GB" dirty="0"/>
              <a:t>Many ideas from exact exponential-time algorithms are also related/applicable to parameterised algorithms (FPT)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INTRODUCTION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Exponential-time algorithms </a:t>
            </a:r>
            <a:r>
              <a:rPr lang="en-GB" dirty="0"/>
              <a:t>– Advanced Algorithms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Good exponential-time algorithms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9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pPr eaLnBrk="1" hangingPunct="1"/>
                <a:r>
                  <a:rPr lang="en-GB" dirty="0"/>
                  <a:t>Algorithms with a running time of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 err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i="1" baseline="30000" dirty="0" err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GB" dirty="0"/>
              </a:p>
              <a:p>
                <a:pPr lvl="1" eaLnBrk="1" hangingPunct="1"/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dirty="0"/>
                  <a:t> a constant</a:t>
                </a:r>
              </a:p>
              <a:p>
                <a:pPr lvl="1" eaLnBrk="1" hangingPunct="1"/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()</m:t>
                    </m:r>
                  </m:oMath>
                </a14:m>
                <a:r>
                  <a:rPr lang="en-GB" dirty="0"/>
                  <a:t> a polynomial</a:t>
                </a:r>
              </a:p>
              <a:p>
                <a:pPr lvl="1" eaLnBrk="1" hangingPunct="1"/>
                <a:r>
                  <a:rPr lang="en-GB" dirty="0"/>
                  <a:t>Notation: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p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 err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i="1" baseline="30000" dirty="0" err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  <a:p>
                <a:pPr eaLnBrk="1" hangingPunct="1"/>
                <a:r>
                  <a:rPr lang="en-GB" dirty="0"/>
                  <a:t>Smaller c helps a lot!</a:t>
                </a:r>
              </a:p>
              <a:p>
                <a:pPr eaLnBrk="1" hangingPunct="1"/>
                <a:endParaRPr lang="en-GB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p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GB" dirty="0"/>
                  <a:t>: hides polynomial factors, that is: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p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)) = 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GB" dirty="0"/>
                  <a:t> for some polynomial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GB" dirty="0"/>
              </a:p>
              <a:p>
                <a:pPr eaLnBrk="1" hangingPunct="1"/>
                <a:endParaRPr lang="en-GB" dirty="0"/>
              </a:p>
            </p:txBody>
          </p:sp>
        </mc:Choice>
        <mc:Fallback xmlns="">
          <p:sp>
            <p:nvSpPr>
              <p:cNvPr id="614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65" t="-76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Good exponential-time algorithms improve upon the trivial algorithm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828800"/>
            <a:ext cx="7520880" cy="3962400"/>
          </a:xfrm>
        </p:spPr>
        <p:txBody>
          <a:bodyPr/>
          <a:lstStyle/>
          <a:p>
            <a:r>
              <a:rPr lang="en-GB" dirty="0"/>
              <a:t>What would be a trivial algorithm for the following problem?</a:t>
            </a:r>
          </a:p>
          <a:p>
            <a:endParaRPr lang="en-GB" dirty="0"/>
          </a:p>
          <a:p>
            <a:r>
              <a:rPr lang="en-GB" b="1" dirty="0"/>
              <a:t>Maximum Independent Set:</a:t>
            </a:r>
          </a:p>
          <a:p>
            <a:pPr lvl="1"/>
            <a:r>
              <a:rPr lang="en-GB" u="sng" dirty="0"/>
              <a:t>Instance</a:t>
            </a:r>
            <a:r>
              <a:rPr lang="en-GB" dirty="0"/>
              <a:t>: graph G = (V,E), integer k.</a:t>
            </a:r>
          </a:p>
          <a:p>
            <a:pPr lvl="1"/>
            <a:r>
              <a:rPr lang="en-GB" u="sng" dirty="0"/>
              <a:t>Question</a:t>
            </a:r>
            <a:r>
              <a:rPr lang="en-GB" dirty="0"/>
              <a:t>: does G have an independent set of size </a:t>
            </a:r>
            <a:r>
              <a:rPr lang="en-GB" dirty="0">
                <a:latin typeface="cmsy10"/>
              </a:rPr>
              <a:t>¸</a:t>
            </a:r>
            <a:r>
              <a:rPr lang="en-GB" dirty="0"/>
              <a:t> k?</a:t>
            </a:r>
          </a:p>
          <a:p>
            <a:r>
              <a:rPr lang="en-GB" dirty="0"/>
              <a:t>An Independent set is a subset of the vertices </a:t>
            </a:r>
            <a:r>
              <a:rPr lang="en-GB" dirty="0" err="1"/>
              <a:t>s.t.</a:t>
            </a:r>
            <a:r>
              <a:rPr lang="en-GB" dirty="0"/>
              <a:t> no two vertices are adjacent</a:t>
            </a:r>
          </a:p>
          <a:p>
            <a:endParaRPr lang="en-GB" dirty="0"/>
          </a:p>
          <a:p>
            <a:r>
              <a:rPr lang="en-GB" dirty="0"/>
              <a:t>What would we consider a trivial algorithm in general?</a:t>
            </a:r>
          </a:p>
          <a:p>
            <a:pPr lvl="1"/>
            <a:r>
              <a:rPr lang="en-GB" dirty="0"/>
              <a:t>For problems in NP (e.g. NP-Complete problems), the answer involves the definition of P and NP:</a:t>
            </a:r>
          </a:p>
          <a:p>
            <a:pPr lvl="1">
              <a:buNone/>
            </a:pPr>
            <a:r>
              <a:rPr lang="en-GB" dirty="0"/>
              <a:t>	</a:t>
            </a:r>
          </a:p>
          <a:p>
            <a:pPr lvl="1">
              <a:buNone/>
            </a:pPr>
            <a:r>
              <a:rPr lang="en-GB" dirty="0"/>
              <a:t>	... I give the answer after a short recap on </a:t>
            </a:r>
            <a:r>
              <a:rPr lang="en-GB" b="1" dirty="0"/>
              <a:t>P</a:t>
            </a:r>
            <a:r>
              <a:rPr lang="en-GB" dirty="0"/>
              <a:t> and </a:t>
            </a:r>
            <a:r>
              <a:rPr lang="en-GB" b="1" dirty="0"/>
              <a:t>NP</a:t>
            </a: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 and NP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828800"/>
            <a:ext cx="7391400" cy="4192488"/>
          </a:xfrm>
        </p:spPr>
        <p:txBody>
          <a:bodyPr/>
          <a:lstStyle/>
          <a:p>
            <a:r>
              <a:rPr lang="en-US" dirty="0"/>
              <a:t>A decision problem belongs to the class </a:t>
            </a:r>
            <a:r>
              <a:rPr lang="en-US" b="1" dirty="0"/>
              <a:t>P</a:t>
            </a:r>
            <a:r>
              <a:rPr lang="en-US" dirty="0"/>
              <a:t> if there is a algorithm solving the problem with a running time that is polynomial in the input size</a:t>
            </a:r>
          </a:p>
          <a:p>
            <a:endParaRPr lang="en-GB" sz="800" dirty="0"/>
          </a:p>
          <a:p>
            <a:r>
              <a:rPr lang="en-US" dirty="0"/>
              <a:t>A decision problem belongs to the class </a:t>
            </a:r>
            <a:r>
              <a:rPr lang="en-US" b="1" dirty="0"/>
              <a:t>NP</a:t>
            </a:r>
            <a:r>
              <a:rPr lang="en-US" dirty="0"/>
              <a:t> if:</a:t>
            </a:r>
          </a:p>
          <a:p>
            <a:pPr lvl="1"/>
            <a:r>
              <a:rPr lang="en-US" dirty="0"/>
              <a:t>Any solution y leading to ‘yes' can be encoded in polynomial space with respect to the size of the input x</a:t>
            </a:r>
          </a:p>
          <a:p>
            <a:pPr lvl="1"/>
            <a:r>
              <a:rPr lang="en-US" dirty="0"/>
              <a:t>Checking whether a given solution leads to `yes' can be done in polynomial time with respect to the size of x and y</a:t>
            </a:r>
          </a:p>
          <a:p>
            <a:endParaRPr lang="en-US" dirty="0"/>
          </a:p>
          <a:p>
            <a:pPr>
              <a:buNone/>
            </a:pPr>
            <a:r>
              <a:rPr lang="en-US" u="sng" dirty="0"/>
              <a:t>Slightly more formal: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Problem Q belongs to the class </a:t>
            </a:r>
            <a:r>
              <a:rPr lang="en-US" altLang="en-US" b="1" dirty="0"/>
              <a:t>NP</a:t>
            </a:r>
            <a:r>
              <a:rPr lang="en-US" altLang="en-US" dirty="0"/>
              <a:t>, if there exists a polynomial-time 2-argument algorithm A, such that: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For each instance i, i is a yes-instance to Q, if and only if, there is a polynomial-size certificate c for which A(</a:t>
            </a:r>
            <a:r>
              <a:rPr lang="en-US" altLang="en-US" dirty="0" err="1"/>
              <a:t>i,c</a:t>
            </a:r>
            <a:r>
              <a:rPr lang="en-US" altLang="en-US" dirty="0"/>
              <a:t>) = true</a:t>
            </a:r>
            <a:endParaRPr lang="en-GB" dirty="0"/>
          </a:p>
          <a:p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Certificates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828800"/>
            <a:ext cx="7664896" cy="4264496"/>
          </a:xfrm>
        </p:spPr>
        <p:txBody>
          <a:bodyPr/>
          <a:lstStyle/>
          <a:p>
            <a:pPr>
              <a:buNone/>
            </a:pPr>
            <a:r>
              <a:rPr lang="en-GB" b="1" dirty="0">
                <a:solidFill>
                  <a:srgbClr val="C00000"/>
                </a:solidFill>
              </a:rPr>
              <a:t>What are </a:t>
            </a:r>
            <a:r>
              <a:rPr lang="en-GB" b="1" u="sng" dirty="0">
                <a:solidFill>
                  <a:srgbClr val="C00000"/>
                </a:solidFill>
              </a:rPr>
              <a:t>natural</a:t>
            </a:r>
            <a:r>
              <a:rPr lang="en-GB" b="1" dirty="0">
                <a:solidFill>
                  <a:srgbClr val="C00000"/>
                </a:solidFill>
              </a:rPr>
              <a:t> certificates for the following problems?</a:t>
            </a:r>
          </a:p>
          <a:p>
            <a:endParaRPr lang="en-GB" dirty="0"/>
          </a:p>
          <a:p>
            <a:r>
              <a:rPr lang="en-GB" b="1" dirty="0"/>
              <a:t>Maximum Independent Set:</a:t>
            </a:r>
          </a:p>
          <a:p>
            <a:pPr lvl="1"/>
            <a:r>
              <a:rPr lang="en-GB" u="sng" dirty="0"/>
              <a:t>Instance</a:t>
            </a:r>
            <a:r>
              <a:rPr lang="en-GB" dirty="0"/>
              <a:t>: graph G = (V,E), integer k.</a:t>
            </a:r>
          </a:p>
          <a:p>
            <a:pPr lvl="1"/>
            <a:r>
              <a:rPr lang="en-GB" u="sng" dirty="0"/>
              <a:t>Question</a:t>
            </a:r>
            <a:r>
              <a:rPr lang="en-GB" dirty="0"/>
              <a:t>: does G have an independent set of size </a:t>
            </a:r>
            <a:r>
              <a:rPr lang="en-GB" dirty="0">
                <a:latin typeface="cmsy10"/>
              </a:rPr>
              <a:t>¸</a:t>
            </a:r>
            <a:r>
              <a:rPr lang="en-GB" dirty="0"/>
              <a:t> k?</a:t>
            </a:r>
          </a:p>
          <a:p>
            <a:endParaRPr lang="en-GB" dirty="0"/>
          </a:p>
          <a:p>
            <a:r>
              <a:rPr lang="en-GB" b="1" dirty="0"/>
              <a:t>Travelling Salesman Problem:</a:t>
            </a:r>
          </a:p>
          <a:p>
            <a:pPr lvl="1">
              <a:tabLst>
                <a:tab pos="1790700" algn="l"/>
              </a:tabLst>
            </a:pPr>
            <a:r>
              <a:rPr lang="en-US" u="sng" dirty="0"/>
              <a:t>Instance</a:t>
            </a:r>
            <a:r>
              <a:rPr lang="en-US" dirty="0"/>
              <a:t>:	n vertices (cities) with distance between every pair </a:t>
            </a:r>
            <a:br>
              <a:rPr lang="en-US" dirty="0"/>
            </a:br>
            <a:r>
              <a:rPr lang="en-US" dirty="0"/>
              <a:t>	of vertices, integer k.</a:t>
            </a:r>
          </a:p>
          <a:p>
            <a:pPr lvl="1">
              <a:tabLst>
                <a:tab pos="1790700" algn="l"/>
              </a:tabLst>
            </a:pPr>
            <a:r>
              <a:rPr lang="en-US" u="sng" dirty="0"/>
              <a:t>Question</a:t>
            </a:r>
            <a:r>
              <a:rPr lang="en-US" dirty="0"/>
              <a:t>:	Is there shortest (simple) cycle that visits every city of</a:t>
            </a:r>
            <a:br>
              <a:rPr lang="en-US" dirty="0"/>
            </a:br>
            <a:r>
              <a:rPr lang="en-US" dirty="0"/>
              <a:t>	total length </a:t>
            </a:r>
            <a:r>
              <a:rPr lang="en-US" dirty="0">
                <a:latin typeface="cmsy10"/>
              </a:rPr>
              <a:t>·</a:t>
            </a:r>
            <a:r>
              <a:rPr lang="en-US" dirty="0"/>
              <a:t> k?</a:t>
            </a:r>
            <a:endParaRPr lang="nl-NL" dirty="0"/>
          </a:p>
        </p:txBody>
      </p:sp>
      <p:grpSp>
        <p:nvGrpSpPr>
          <p:cNvPr id="21" name="Group 20"/>
          <p:cNvGrpSpPr/>
          <p:nvPr/>
        </p:nvGrpSpPr>
        <p:grpSpPr>
          <a:xfrm>
            <a:off x="4853285" y="4965675"/>
            <a:ext cx="2166987" cy="1828800"/>
            <a:chOff x="4853285" y="4965675"/>
            <a:chExt cx="2166987" cy="1828800"/>
          </a:xfrm>
        </p:grpSpPr>
        <p:sp>
          <p:nvSpPr>
            <p:cNvPr id="4" name="Line 32"/>
            <p:cNvSpPr>
              <a:spLocks noChangeShapeType="1"/>
            </p:cNvSpPr>
            <p:nvPr/>
          </p:nvSpPr>
          <p:spPr bwMode="auto">
            <a:xfrm flipH="1">
              <a:off x="5173960" y="5381600"/>
              <a:ext cx="990600" cy="106680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nl-NL"/>
            </a:p>
          </p:txBody>
        </p:sp>
        <p:sp>
          <p:nvSpPr>
            <p:cNvPr id="5" name="Line 33"/>
            <p:cNvSpPr>
              <a:spLocks noChangeShapeType="1"/>
            </p:cNvSpPr>
            <p:nvPr/>
          </p:nvSpPr>
          <p:spPr bwMode="auto">
            <a:xfrm>
              <a:off x="5173960" y="5381600"/>
              <a:ext cx="990600" cy="106680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nl-NL"/>
            </a:p>
          </p:txBody>
        </p:sp>
        <p:sp>
          <p:nvSpPr>
            <p:cNvPr id="6" name="Line 34"/>
            <p:cNvSpPr>
              <a:spLocks noChangeShapeType="1"/>
            </p:cNvSpPr>
            <p:nvPr/>
          </p:nvSpPr>
          <p:spPr bwMode="auto">
            <a:xfrm>
              <a:off x="6164560" y="5381600"/>
              <a:ext cx="0" cy="1066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nl-NL"/>
            </a:p>
          </p:txBody>
        </p:sp>
        <p:sp>
          <p:nvSpPr>
            <p:cNvPr id="7" name="Line 35"/>
            <p:cNvSpPr>
              <a:spLocks noChangeShapeType="1"/>
            </p:cNvSpPr>
            <p:nvPr/>
          </p:nvSpPr>
          <p:spPr bwMode="auto">
            <a:xfrm>
              <a:off x="5173960" y="5381600"/>
              <a:ext cx="0" cy="1066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nl-NL"/>
            </a:p>
          </p:txBody>
        </p:sp>
        <p:sp>
          <p:nvSpPr>
            <p:cNvPr id="8" name="Line 36"/>
            <p:cNvSpPr>
              <a:spLocks noChangeShapeType="1"/>
            </p:cNvSpPr>
            <p:nvPr/>
          </p:nvSpPr>
          <p:spPr bwMode="auto">
            <a:xfrm>
              <a:off x="5173960" y="6448400"/>
              <a:ext cx="10668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nl-NL"/>
            </a:p>
          </p:txBody>
        </p:sp>
        <p:sp>
          <p:nvSpPr>
            <p:cNvPr id="9" name="Line 37"/>
            <p:cNvSpPr>
              <a:spLocks noChangeShapeType="1"/>
            </p:cNvSpPr>
            <p:nvPr/>
          </p:nvSpPr>
          <p:spPr bwMode="auto">
            <a:xfrm>
              <a:off x="5173960" y="5381600"/>
              <a:ext cx="9906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nl-NL"/>
            </a:p>
          </p:txBody>
        </p:sp>
        <p:sp>
          <p:nvSpPr>
            <p:cNvPr id="10" name="Oval 38"/>
            <p:cNvSpPr>
              <a:spLocks noChangeArrowheads="1"/>
            </p:cNvSpPr>
            <p:nvPr/>
          </p:nvSpPr>
          <p:spPr bwMode="auto">
            <a:xfrm>
              <a:off x="5021560" y="5229200"/>
              <a:ext cx="304800" cy="304800"/>
            </a:xfrm>
            <a:prstGeom prst="ellipse">
              <a:avLst/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r>
                <a:rPr lang="en-US"/>
                <a:t>1</a:t>
              </a:r>
              <a:endParaRPr lang="nl-NL"/>
            </a:p>
          </p:txBody>
        </p:sp>
        <p:sp>
          <p:nvSpPr>
            <p:cNvPr id="11" name="Oval 39"/>
            <p:cNvSpPr>
              <a:spLocks noChangeArrowheads="1"/>
            </p:cNvSpPr>
            <p:nvPr/>
          </p:nvSpPr>
          <p:spPr bwMode="auto">
            <a:xfrm>
              <a:off x="6012160" y="5229200"/>
              <a:ext cx="304800" cy="304800"/>
            </a:xfrm>
            <a:prstGeom prst="ellipse">
              <a:avLst/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r>
                <a:rPr lang="en-US"/>
                <a:t>2</a:t>
              </a:r>
              <a:endParaRPr lang="nl-NL"/>
            </a:p>
          </p:txBody>
        </p:sp>
        <p:sp>
          <p:nvSpPr>
            <p:cNvPr id="12" name="Oval 40"/>
            <p:cNvSpPr>
              <a:spLocks noChangeArrowheads="1"/>
            </p:cNvSpPr>
            <p:nvPr/>
          </p:nvSpPr>
          <p:spPr bwMode="auto">
            <a:xfrm>
              <a:off x="5021560" y="6296000"/>
              <a:ext cx="304800" cy="304800"/>
            </a:xfrm>
            <a:prstGeom prst="ellipse">
              <a:avLst/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r>
                <a:rPr lang="en-US"/>
                <a:t>3</a:t>
              </a:r>
              <a:endParaRPr lang="nl-NL"/>
            </a:p>
          </p:txBody>
        </p:sp>
        <p:sp>
          <p:nvSpPr>
            <p:cNvPr id="13" name="Oval 41"/>
            <p:cNvSpPr>
              <a:spLocks noChangeArrowheads="1"/>
            </p:cNvSpPr>
            <p:nvPr/>
          </p:nvSpPr>
          <p:spPr bwMode="auto">
            <a:xfrm>
              <a:off x="6012160" y="6296000"/>
              <a:ext cx="304800" cy="304800"/>
            </a:xfrm>
            <a:prstGeom prst="ellipse">
              <a:avLst/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r>
                <a:rPr lang="en-US"/>
                <a:t>4</a:t>
              </a:r>
              <a:endParaRPr lang="nl-NL"/>
            </a:p>
          </p:txBody>
        </p:sp>
        <p:sp>
          <p:nvSpPr>
            <p:cNvPr id="14" name="Text Box 42"/>
            <p:cNvSpPr txBox="1">
              <a:spLocks noChangeArrowheads="1"/>
            </p:cNvSpPr>
            <p:nvPr/>
          </p:nvSpPr>
          <p:spPr bwMode="auto">
            <a:xfrm>
              <a:off x="5462885" y="4965675"/>
              <a:ext cx="33655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4</a:t>
              </a:r>
              <a:endParaRPr lang="nl-NL"/>
            </a:p>
          </p:txBody>
        </p:sp>
        <p:sp>
          <p:nvSpPr>
            <p:cNvPr id="15" name="Text Box 43"/>
            <p:cNvSpPr txBox="1">
              <a:spLocks noChangeArrowheads="1"/>
            </p:cNvSpPr>
            <p:nvPr/>
          </p:nvSpPr>
          <p:spPr bwMode="auto">
            <a:xfrm>
              <a:off x="6224885" y="5651475"/>
              <a:ext cx="33655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5</a:t>
              </a:r>
              <a:endParaRPr lang="nl-NL"/>
            </a:p>
          </p:txBody>
        </p:sp>
        <p:sp>
          <p:nvSpPr>
            <p:cNvPr id="16" name="Text Box 44"/>
            <p:cNvSpPr txBox="1">
              <a:spLocks noChangeArrowheads="1"/>
            </p:cNvSpPr>
            <p:nvPr/>
          </p:nvSpPr>
          <p:spPr bwMode="auto">
            <a:xfrm>
              <a:off x="5462885" y="6337275"/>
              <a:ext cx="33655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2</a:t>
              </a:r>
              <a:endParaRPr lang="nl-NL"/>
            </a:p>
          </p:txBody>
        </p:sp>
        <p:sp>
          <p:nvSpPr>
            <p:cNvPr id="17" name="Text Box 45"/>
            <p:cNvSpPr txBox="1">
              <a:spLocks noChangeArrowheads="1"/>
            </p:cNvSpPr>
            <p:nvPr/>
          </p:nvSpPr>
          <p:spPr bwMode="auto">
            <a:xfrm>
              <a:off x="4853285" y="5575275"/>
              <a:ext cx="33655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2</a:t>
              </a:r>
              <a:endParaRPr lang="nl-NL"/>
            </a:p>
          </p:txBody>
        </p:sp>
        <p:sp>
          <p:nvSpPr>
            <p:cNvPr id="18" name="Text Box 46"/>
            <p:cNvSpPr txBox="1">
              <a:spLocks noChangeArrowheads="1"/>
            </p:cNvSpPr>
            <p:nvPr/>
          </p:nvSpPr>
          <p:spPr bwMode="auto">
            <a:xfrm>
              <a:off x="5364088" y="5373216"/>
              <a:ext cx="33655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3</a:t>
              </a:r>
              <a:endParaRPr lang="nl-NL" dirty="0"/>
            </a:p>
          </p:txBody>
        </p:sp>
        <p:sp>
          <p:nvSpPr>
            <p:cNvPr id="19" name="Text Box 47"/>
            <p:cNvSpPr txBox="1">
              <a:spLocks noChangeArrowheads="1"/>
            </p:cNvSpPr>
            <p:nvPr/>
          </p:nvSpPr>
          <p:spPr bwMode="auto">
            <a:xfrm>
              <a:off x="5364088" y="5996136"/>
              <a:ext cx="33655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2</a:t>
              </a:r>
              <a:endParaRPr lang="nl-NL" dirty="0"/>
            </a:p>
          </p:txBody>
        </p:sp>
        <p:sp>
          <p:nvSpPr>
            <p:cNvPr id="20" name="Rounded Rectangle 19"/>
            <p:cNvSpPr/>
            <p:nvPr/>
          </p:nvSpPr>
          <p:spPr bwMode="auto">
            <a:xfrm>
              <a:off x="6444208" y="6237312"/>
              <a:ext cx="576064" cy="432048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nl-NL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Times" pitchFamily="18" charset="0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Good exponential-time algorithms improve upon the trivial algorithm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828800"/>
                <a:ext cx="7664896" cy="4336504"/>
              </a:xfrm>
            </p:spPr>
            <p:txBody>
              <a:bodyPr/>
              <a:lstStyle/>
              <a:p>
                <a:r>
                  <a:rPr lang="en-GB" b="1" dirty="0"/>
                  <a:t>Trivial algorithm</a:t>
                </a:r>
                <a:r>
                  <a:rPr lang="en-GB" dirty="0"/>
                  <a:t>:</a:t>
                </a:r>
              </a:p>
              <a:p>
                <a:pPr lvl="1"/>
                <a:r>
                  <a:rPr lang="en-GB" dirty="0"/>
                  <a:t>Brute force enumerate all certificates and check whether there exists one that proves that we have a ‘Yes’ instance</a:t>
                </a:r>
              </a:p>
              <a:p>
                <a:pPr lvl="1"/>
                <a:endParaRPr lang="en-GB" sz="700" dirty="0"/>
              </a:p>
              <a:p>
                <a:r>
                  <a:rPr lang="en-GB" dirty="0"/>
                  <a:t>There is a lot of choice in defining certificates</a:t>
                </a:r>
              </a:p>
              <a:p>
                <a:pPr lvl="1"/>
                <a:r>
                  <a:rPr lang="en-GB" dirty="0"/>
                  <a:t>Based on what parameter you use for size (nodes, edges, etc.)</a:t>
                </a:r>
              </a:p>
              <a:p>
                <a:pPr lvl="1"/>
                <a:r>
                  <a:rPr lang="en-GB" dirty="0"/>
                  <a:t>Exponential part of the running time of the trivial algorithm corresponds to the number of possible certificates</a:t>
                </a:r>
              </a:p>
              <a:p>
                <a:pPr lvl="1"/>
                <a:r>
                  <a:rPr lang="en-GB" dirty="0"/>
                  <a:t>Trivial algorithms are those that enumerate </a:t>
                </a:r>
                <a:r>
                  <a:rPr lang="en-GB" u="sng" dirty="0"/>
                  <a:t>natural</a:t>
                </a:r>
                <a:r>
                  <a:rPr lang="en-GB" dirty="0"/>
                  <a:t> certificates</a:t>
                </a:r>
              </a:p>
              <a:p>
                <a:pPr lvl="1"/>
                <a:r>
                  <a:rPr lang="en-GB" dirty="0"/>
                  <a:t>Sometimes one can use a smarter encoding than the natural encoding to make the certificates smaller</a:t>
                </a:r>
              </a:p>
              <a:p>
                <a:pPr lvl="1"/>
                <a:endParaRPr lang="en-GB" sz="700" dirty="0"/>
              </a:p>
              <a:p>
                <a:r>
                  <a:rPr lang="en-GB" dirty="0"/>
                  <a:t>Examples:</a:t>
                </a:r>
              </a:p>
              <a:p>
                <a:pPr lvl="1"/>
                <a:r>
                  <a:rPr lang="en-GB" dirty="0"/>
                  <a:t>Satisfiability: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p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i="1" dirty="0" smtClean="0">
                        <a:latin typeface="Cambria Math" panose="02040503050406030204" pitchFamily="18" charset="0"/>
                      </a:rPr>
                      <m:t>(2</m:t>
                    </m:r>
                    <m:r>
                      <a:rPr lang="en-GB" i="1" baseline="30000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  <a:p>
                <a:pPr lvl="1"/>
                <a:r>
                  <a:rPr lang="en-GB" dirty="0"/>
                  <a:t>Independent set / vertex cover: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p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i="1" dirty="0" smtClean="0">
                        <a:latin typeface="Cambria Math" panose="02040503050406030204" pitchFamily="18" charset="0"/>
                      </a:rPr>
                      <m:t>(2</m:t>
                    </m:r>
                    <m:r>
                      <a:rPr lang="en-GB" i="1" baseline="30000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  <a:p>
                <a:pPr lvl="1"/>
                <a:r>
                  <a:rPr lang="en-GB" dirty="0"/>
                  <a:t>TSP: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p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!)=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p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i="1" dirty="0" smtClean="0">
                        <a:latin typeface="Cambria Math" panose="02040503050406030204" pitchFamily="18" charset="0"/>
                      </a:rPr>
                      <m:t>(2</m:t>
                    </m:r>
                    <m:r>
                      <a:rPr lang="en-GB" i="1" baseline="30000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 baseline="30000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i="1" baseline="30000" dirty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GB" i="1" baseline="30000" dirty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n-GB" i="1" baseline="30000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r>
                  <a:rPr lang="en-GB" dirty="0"/>
                  <a:t> 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p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i="1" dirty="0" smtClean="0">
                        <a:latin typeface="Cambria Math" panose="02040503050406030204" pitchFamily="18" charset="0"/>
                      </a:rPr>
                      <m:t>(2</m:t>
                    </m:r>
                    <m:r>
                      <a:rPr lang="en-GB" i="1" baseline="30000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828800"/>
                <a:ext cx="7664896" cy="4336504"/>
              </a:xfrm>
              <a:blipFill>
                <a:blip r:embed="rId3"/>
                <a:stretch>
                  <a:fillRect l="-159" t="-703" b="-225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Time and 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828800"/>
            <a:ext cx="7391400" cy="4336504"/>
          </a:xfrm>
        </p:spPr>
        <p:txBody>
          <a:bodyPr/>
          <a:lstStyle/>
          <a:p>
            <a:r>
              <a:rPr lang="en-GB" dirty="0"/>
              <a:t>Exact exponential-time algorithms are often compared on two/three properties:</a:t>
            </a:r>
          </a:p>
          <a:p>
            <a:pPr lvl="1"/>
            <a:r>
              <a:rPr lang="en-GB" dirty="0"/>
              <a:t>Running time</a:t>
            </a:r>
          </a:p>
          <a:p>
            <a:pPr lvl="1"/>
            <a:r>
              <a:rPr lang="en-GB" dirty="0"/>
              <a:t>Space usage</a:t>
            </a:r>
          </a:p>
          <a:p>
            <a:pPr lvl="1"/>
            <a:r>
              <a:rPr lang="en-GB" dirty="0"/>
              <a:t>(Parallelization)</a:t>
            </a:r>
          </a:p>
          <a:p>
            <a:pPr marL="457200" lvl="1" indent="0">
              <a:buNone/>
            </a:pPr>
            <a:endParaRPr lang="en-GB" dirty="0"/>
          </a:p>
          <a:p>
            <a:r>
              <a:rPr lang="en-GB" dirty="0"/>
              <a:t>Exponential time is a resources we often have</a:t>
            </a:r>
          </a:p>
          <a:p>
            <a:pPr lvl="1"/>
            <a:r>
              <a:rPr lang="en-GB" dirty="0"/>
              <a:t>If the input is small and the algorithm is fast enough</a:t>
            </a:r>
          </a:p>
          <a:p>
            <a:pPr lvl="1"/>
            <a:r>
              <a:rPr lang="en-GB" dirty="0"/>
              <a:t>Just keep your computer running all night (or worse)</a:t>
            </a:r>
          </a:p>
          <a:p>
            <a:r>
              <a:rPr lang="en-GB" dirty="0"/>
              <a:t>Exponential space can be a much bigger problem</a:t>
            </a:r>
          </a:p>
          <a:p>
            <a:pPr lvl="1"/>
            <a:r>
              <a:rPr lang="en-GB" dirty="0"/>
              <a:t>One can easily use all your computer's memory</a:t>
            </a:r>
          </a:p>
          <a:p>
            <a:pPr lvl="1"/>
            <a:r>
              <a:rPr lang="en-GB" dirty="0"/>
              <a:t>Algorithms that require a lot of disk swapping often are too slow for practical usage</a:t>
            </a:r>
          </a:p>
          <a:p>
            <a:pPr>
              <a:buNone/>
            </a:pP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DBA95-A776-5CBD-19C4-9B03F48D1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9C6F2-5072-D40C-9B61-04F1CFD00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OVERVIEW OF SOME TECHNIQUES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5A68A7-AD62-C149-83F3-B6BF868A09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Exponential-time algorithms </a:t>
            </a:r>
            <a:r>
              <a:rPr lang="en-GB" dirty="0"/>
              <a:t>– Advanced Algorithms</a:t>
            </a:r>
          </a:p>
        </p:txBody>
      </p:sp>
    </p:spTree>
    <p:extLst>
      <p:ext uri="{BB962C8B-B14F-4D97-AF65-F5344CB8AC3E}">
        <p14:creationId xmlns:p14="http://schemas.microsoft.com/office/powerpoint/2010/main" val="7474492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D9AAF-6DDE-1A86-66CB-1DEA333FA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64BE886-7321-9DD7-ED9D-487A4BE90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Content of this lecture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AFC815B-3D58-D52B-5489-F6B1A8D01C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828800"/>
            <a:ext cx="7520880" cy="4192488"/>
          </a:xfrm>
        </p:spPr>
        <p:txBody>
          <a:bodyPr/>
          <a:lstStyle/>
          <a:p>
            <a:pPr>
              <a:buNone/>
            </a:pPr>
            <a:r>
              <a:rPr lang="en-GB" b="1" dirty="0">
                <a:solidFill>
                  <a:srgbClr val="C00000"/>
                </a:solidFill>
              </a:rPr>
              <a:t>Three Topics</a:t>
            </a:r>
          </a:p>
          <a:p>
            <a:pPr>
              <a:buFont typeface="+mj-lt"/>
              <a:buAutoNum type="arabicPeriod"/>
            </a:pPr>
            <a:r>
              <a:rPr lang="en-GB" dirty="0"/>
              <a:t>Introduction to exponential-time algorithms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Overview of some techniques</a:t>
            </a:r>
          </a:p>
          <a:p>
            <a:pPr lvl="1"/>
            <a:r>
              <a:rPr lang="en-GB" dirty="0"/>
              <a:t>Clever enumeration</a:t>
            </a:r>
          </a:p>
          <a:p>
            <a:pPr lvl="1"/>
            <a:r>
              <a:rPr lang="en-GB" dirty="0"/>
              <a:t>Dynamic programming</a:t>
            </a:r>
          </a:p>
          <a:p>
            <a:pPr lvl="1"/>
            <a:r>
              <a:rPr lang="en-GB" dirty="0"/>
              <a:t>Branching algorithms (divide and conquer)</a:t>
            </a:r>
          </a:p>
          <a:p>
            <a:pPr lvl="1"/>
            <a:r>
              <a:rPr lang="en-GB" dirty="0"/>
              <a:t>Meet in the middle (a.k.a. Sort and Search)</a:t>
            </a:r>
          </a:p>
          <a:p>
            <a:pPr>
              <a:buFont typeface="+mj-lt"/>
              <a:buAutoNum type="arabicPeriod"/>
            </a:pPr>
            <a:r>
              <a:rPr lang="en-GB" dirty="0"/>
              <a:t>Inclusion/Exclusion</a:t>
            </a:r>
          </a:p>
        </p:txBody>
      </p:sp>
    </p:spTree>
    <p:extLst>
      <p:ext uri="{BB962C8B-B14F-4D97-AF65-F5344CB8AC3E}">
        <p14:creationId xmlns:p14="http://schemas.microsoft.com/office/powerpoint/2010/main" val="31350919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CLEVER ENUMERATION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Exponential-time algorithms </a:t>
            </a:r>
            <a:r>
              <a:rPr lang="en-GB" dirty="0"/>
              <a:t>– Advanced Algorithms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Enumeration for </a:t>
            </a:r>
            <a:br>
              <a:rPr lang="en-US" dirty="0"/>
            </a:br>
            <a:r>
              <a:rPr lang="en-US" dirty="0"/>
              <a:t>maximum independent set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828800"/>
            <a:ext cx="7772400" cy="3962400"/>
          </a:xfrm>
        </p:spPr>
        <p:txBody>
          <a:bodyPr/>
          <a:lstStyle/>
          <a:p>
            <a:r>
              <a:rPr lang="en-GB" b="1" dirty="0"/>
              <a:t>Maximum Independent Set:</a:t>
            </a:r>
          </a:p>
          <a:p>
            <a:pPr lvl="1"/>
            <a:r>
              <a:rPr lang="en-GB" u="sng" dirty="0"/>
              <a:t>Instance</a:t>
            </a:r>
            <a:r>
              <a:rPr lang="en-GB" dirty="0"/>
              <a:t>: graph G = (V,E), integer k</a:t>
            </a:r>
          </a:p>
          <a:p>
            <a:pPr lvl="1"/>
            <a:r>
              <a:rPr lang="en-GB" u="sng" dirty="0"/>
              <a:t>Question</a:t>
            </a:r>
            <a:r>
              <a:rPr lang="en-GB" dirty="0"/>
              <a:t>: does G have an independent set of size </a:t>
            </a:r>
            <a:r>
              <a:rPr lang="en-GB" dirty="0">
                <a:latin typeface="cmsy10"/>
              </a:rPr>
              <a:t>¸</a:t>
            </a:r>
            <a:r>
              <a:rPr lang="en-GB" dirty="0"/>
              <a:t> k?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>
              <a:buNone/>
            </a:pPr>
            <a:r>
              <a:rPr lang="en-GB" b="1" dirty="0">
                <a:solidFill>
                  <a:srgbClr val="C00000"/>
                </a:solidFill>
              </a:rPr>
              <a:t>Algorithm:</a:t>
            </a:r>
          </a:p>
          <a:p>
            <a:r>
              <a:rPr lang="en-GB" dirty="0"/>
              <a:t>If |V| = 0, return 0</a:t>
            </a:r>
          </a:p>
          <a:p>
            <a:r>
              <a:rPr lang="en-GB" dirty="0"/>
              <a:t>Choose a vertex v </a:t>
            </a:r>
            <a:r>
              <a:rPr lang="en-GB" dirty="0">
                <a:latin typeface="cmsy10"/>
              </a:rPr>
              <a:t>2</a:t>
            </a:r>
            <a:r>
              <a:rPr lang="en-GB" dirty="0"/>
              <a:t> V of </a:t>
            </a:r>
            <a:r>
              <a:rPr lang="en-GB" dirty="0">
                <a:solidFill>
                  <a:srgbClr val="C00000"/>
                </a:solidFill>
              </a:rPr>
              <a:t>minimum</a:t>
            </a:r>
            <a:r>
              <a:rPr lang="en-GB" dirty="0"/>
              <a:t> degree</a:t>
            </a:r>
          </a:p>
          <a:p>
            <a:r>
              <a:rPr lang="en-GB" dirty="0"/>
              <a:t>For v and each neighbour of v: u </a:t>
            </a:r>
            <a:r>
              <a:rPr lang="en-GB" dirty="0">
                <a:latin typeface="cmsy10"/>
              </a:rPr>
              <a:t>2</a:t>
            </a:r>
            <a:r>
              <a:rPr lang="en-GB" dirty="0"/>
              <a:t> N[v]</a:t>
            </a:r>
          </a:p>
          <a:p>
            <a:pPr lvl="1"/>
            <a:r>
              <a:rPr lang="en-GB" dirty="0"/>
              <a:t>Solve the subproblem on G\N[u] (G without u and its neighbours)</a:t>
            </a:r>
          </a:p>
          <a:p>
            <a:r>
              <a:rPr lang="en-GB" dirty="0"/>
              <a:t>Return 1 + the maximum size solution found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5039544" y="1484784"/>
            <a:ext cx="4104456" cy="1584176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Webdings" charset="2"/>
              <a:buNone/>
              <a:tabLst/>
              <a:defRPr/>
            </a:pP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Algorithm: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Webdings" charset="2"/>
              <a:buChar char="g"/>
              <a:tabLst/>
              <a:defRPr/>
            </a:pP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 |V| = 0, return 0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Webdings" charset="2"/>
              <a:buChar char="g"/>
              <a:tabLst/>
              <a:defRPr/>
            </a:pP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Choose a vertex v </a:t>
            </a: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msy10"/>
                <a:ea typeface="+mn-ea"/>
                <a:cs typeface="+mn-cs"/>
              </a:rPr>
              <a:t>2</a:t>
            </a: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V of </a:t>
            </a: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minimum</a:t>
            </a: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degree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Webdings" charset="2"/>
              <a:buChar char="g"/>
              <a:tabLst/>
              <a:defRPr/>
            </a:pP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 v and each neighbour of v: u </a:t>
            </a: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msy10"/>
                <a:ea typeface="+mn-ea"/>
                <a:cs typeface="+mn-cs"/>
              </a:rPr>
              <a:t>2</a:t>
            </a: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N[v]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ebdings" charset="2"/>
              <a:buChar char="g"/>
              <a:tabLst/>
              <a:defRPr/>
            </a:pPr>
            <a:r>
              <a:rPr kumimoji="0" lang="en-GB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Solve the subproblem on G\N[u] (G without u and its neighbours)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Webdings" charset="2"/>
              <a:buChar char="g"/>
              <a:tabLst/>
              <a:defRPr/>
            </a:pP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Return 1 + the maximum size solution found</a:t>
            </a:r>
          </a:p>
        </p:txBody>
      </p:sp>
      <p:sp>
        <p:nvSpPr>
          <p:cNvPr id="317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of enumeration for </a:t>
            </a:r>
            <a:br>
              <a:rPr lang="en-US" dirty="0"/>
            </a:br>
            <a:r>
              <a:rPr lang="en-US" dirty="0"/>
              <a:t>maximum independent set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87624" y="1828800"/>
            <a:ext cx="7391400" cy="3962400"/>
          </a:xfrm>
        </p:spPr>
        <p:txBody>
          <a:bodyPr/>
          <a:lstStyle/>
          <a:p>
            <a:r>
              <a:rPr lang="en-GB" dirty="0"/>
              <a:t>We generate d(v) + 1 sub-</a:t>
            </a:r>
            <a:br>
              <a:rPr lang="en-GB" dirty="0"/>
            </a:br>
            <a:r>
              <a:rPr lang="en-GB" dirty="0"/>
              <a:t>problems, each with at least </a:t>
            </a:r>
            <a:br>
              <a:rPr lang="en-GB" dirty="0"/>
            </a:br>
            <a:r>
              <a:rPr lang="en-GB" dirty="0"/>
              <a:t>d(v) + 1 vertices removed</a:t>
            </a:r>
          </a:p>
          <a:p>
            <a:endParaRPr lang="en-GB" dirty="0"/>
          </a:p>
          <a:p>
            <a:r>
              <a:rPr lang="en-GB" dirty="0"/>
              <a:t>T(n) </a:t>
            </a:r>
            <a:r>
              <a:rPr lang="en-GB" dirty="0">
                <a:latin typeface="cmsy10"/>
              </a:rPr>
              <a:t>·</a:t>
            </a:r>
            <a:r>
              <a:rPr lang="en-GB" dirty="0"/>
              <a:t> s </a:t>
            </a:r>
            <a:r>
              <a:rPr lang="en-GB" dirty="0">
                <a:latin typeface="cmsy10"/>
              </a:rPr>
              <a:t>£</a:t>
            </a:r>
            <a:r>
              <a:rPr lang="en-GB" dirty="0"/>
              <a:t> T( n – s )</a:t>
            </a:r>
          </a:p>
          <a:p>
            <a:pPr lvl="1"/>
            <a:r>
              <a:rPr lang="en-GB" dirty="0"/>
              <a:t>Where T(n) is the number of leaves of the </a:t>
            </a:r>
            <a:r>
              <a:rPr lang="en-GB" dirty="0" err="1"/>
              <a:t>seach</a:t>
            </a:r>
            <a:r>
              <a:rPr lang="en-GB" dirty="0"/>
              <a:t> tree on a graph with n vertices, and s = d(v) + 1</a:t>
            </a:r>
          </a:p>
          <a:p>
            <a:endParaRPr lang="en-GB" dirty="0"/>
          </a:p>
          <a:p>
            <a:r>
              <a:rPr lang="en-GB" dirty="0"/>
              <a:t>One can show T(n) = O*(</a:t>
            </a:r>
            <a:r>
              <a:rPr lang="en-GB" dirty="0" err="1">
                <a:latin typeface="Verdana"/>
              </a:rPr>
              <a:t>s</a:t>
            </a:r>
            <a:r>
              <a:rPr lang="en-GB" baseline="30000" dirty="0" err="1">
                <a:latin typeface="Verdana"/>
              </a:rPr>
              <a:t>n</a:t>
            </a:r>
            <a:r>
              <a:rPr lang="en-GB" baseline="30000" dirty="0">
                <a:latin typeface="Verdana"/>
              </a:rPr>
              <a:t>/s</a:t>
            </a:r>
            <a:r>
              <a:rPr lang="en-GB" dirty="0"/>
              <a:t>)</a:t>
            </a:r>
          </a:p>
          <a:p>
            <a:pPr lvl="1"/>
            <a:r>
              <a:rPr lang="en-GB" dirty="0" err="1"/>
              <a:t>s</a:t>
            </a:r>
            <a:r>
              <a:rPr lang="en-GB" baseline="30000" dirty="0" err="1"/>
              <a:t>n</a:t>
            </a:r>
            <a:r>
              <a:rPr lang="en-GB" baseline="30000" dirty="0"/>
              <a:t>/s </a:t>
            </a:r>
            <a:r>
              <a:rPr lang="en-GB" dirty="0"/>
              <a:t>is maximal </a:t>
            </a:r>
            <a:r>
              <a:rPr lang="en-GB" dirty="0" err="1"/>
              <a:t>w.r.t.</a:t>
            </a:r>
            <a:r>
              <a:rPr lang="en-GB" dirty="0"/>
              <a:t> positive integer values s if s = 3</a:t>
            </a:r>
          </a:p>
          <a:p>
            <a:r>
              <a:rPr lang="en-GB" dirty="0"/>
              <a:t>So: T(n) = O*(</a:t>
            </a:r>
            <a:r>
              <a:rPr lang="en-GB" dirty="0">
                <a:latin typeface="Verdana"/>
              </a:rPr>
              <a:t>3</a:t>
            </a:r>
            <a:r>
              <a:rPr lang="en-GB" baseline="30000" dirty="0">
                <a:latin typeface="Verdana"/>
              </a:rPr>
              <a:t>n/3</a:t>
            </a:r>
            <a:r>
              <a:rPr lang="en-GB" dirty="0"/>
              <a:t>) = O( </a:t>
            </a:r>
            <a:r>
              <a:rPr lang="en-GB" dirty="0">
                <a:latin typeface="Verdana"/>
              </a:rPr>
              <a:t>1.4423</a:t>
            </a:r>
            <a:r>
              <a:rPr lang="en-GB" baseline="30000" dirty="0">
                <a:latin typeface="Verdana"/>
              </a:rPr>
              <a:t>n</a:t>
            </a:r>
            <a:r>
              <a:rPr lang="en-GB" dirty="0"/>
              <a:t> )</a:t>
            </a:r>
          </a:p>
          <a:p>
            <a:endParaRPr lang="en-GB" dirty="0"/>
          </a:p>
          <a:p>
            <a:r>
              <a:rPr lang="en-GB" dirty="0"/>
              <a:t>This improves the trivial O*( </a:t>
            </a:r>
            <a:r>
              <a:rPr lang="en-GB" dirty="0">
                <a:latin typeface="Verdana"/>
              </a:rPr>
              <a:t>2</a:t>
            </a:r>
            <a:r>
              <a:rPr lang="en-GB" baseline="30000" dirty="0">
                <a:latin typeface="Verdana"/>
              </a:rPr>
              <a:t>n</a:t>
            </a:r>
            <a:r>
              <a:rPr lang="en-GB" dirty="0"/>
              <a:t> ) algorithm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and maximal independent sets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828800"/>
            <a:ext cx="7391400" cy="4408512"/>
          </a:xfrm>
        </p:spPr>
        <p:txBody>
          <a:bodyPr/>
          <a:lstStyle/>
          <a:p>
            <a:r>
              <a:rPr lang="en-GB" dirty="0"/>
              <a:t>Maximum independent set: </a:t>
            </a:r>
          </a:p>
          <a:p>
            <a:pPr lvl="1"/>
            <a:r>
              <a:rPr lang="en-GB" dirty="0"/>
              <a:t>Maximum size over all independent sets in G</a:t>
            </a:r>
          </a:p>
          <a:p>
            <a:r>
              <a:rPr lang="en-GB" dirty="0"/>
              <a:t>Maximal independent set: </a:t>
            </a:r>
          </a:p>
          <a:p>
            <a:pPr lvl="1"/>
            <a:r>
              <a:rPr lang="en-GB" dirty="0"/>
              <a:t>Maximal in the sense that we cannot add a vertex to the set</a:t>
            </a:r>
          </a:p>
          <a:p>
            <a:endParaRPr lang="en-GB" dirty="0"/>
          </a:p>
          <a:p>
            <a:r>
              <a:rPr lang="en-GB" dirty="0"/>
              <a:t>We will use a slight modification of the algorithm to enumerate all maximal independent sets</a:t>
            </a:r>
          </a:p>
          <a:p>
            <a:pPr lvl="1"/>
            <a:r>
              <a:rPr lang="en-GB" dirty="0"/>
              <a:t>Because each leaf of the search tree contains at most one maximal independent set, this also proves a bound on the number of maximal independent sets in a graph</a:t>
            </a:r>
          </a:p>
          <a:p>
            <a:pPr lvl="1"/>
            <a:endParaRPr lang="en-GB" dirty="0"/>
          </a:p>
          <a:p>
            <a:r>
              <a:rPr lang="en-GB" b="1" dirty="0"/>
              <a:t>Corollary:</a:t>
            </a:r>
            <a:endParaRPr lang="en-GB" dirty="0"/>
          </a:p>
          <a:p>
            <a:pPr lvl="1"/>
            <a:r>
              <a:rPr lang="en-GB" dirty="0"/>
              <a:t>Any graph contains at most O(1.4423</a:t>
            </a:r>
            <a:r>
              <a:rPr lang="en-GB" baseline="30000" dirty="0"/>
              <a:t>n</a:t>
            </a:r>
            <a:r>
              <a:rPr lang="en-GB" dirty="0"/>
              <a:t>) maximal independent sets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enumeration algorithm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828800"/>
            <a:ext cx="7772400" cy="3962400"/>
          </a:xfrm>
        </p:spPr>
        <p:txBody>
          <a:bodyPr/>
          <a:lstStyle/>
          <a:p>
            <a:pPr>
              <a:buNone/>
            </a:pPr>
            <a:r>
              <a:rPr lang="en-GB" b="1" dirty="0">
                <a:solidFill>
                  <a:srgbClr val="C00000"/>
                </a:solidFill>
              </a:rPr>
              <a:t>Algorithm</a:t>
            </a:r>
            <a:r>
              <a:rPr lang="en-GB" dirty="0"/>
              <a:t> (for enumerating maximal independent sets):</a:t>
            </a:r>
          </a:p>
          <a:p>
            <a:pPr>
              <a:buFont typeface="+mj-lt"/>
              <a:buAutoNum type="arabicPeriod"/>
            </a:pPr>
            <a:r>
              <a:rPr lang="en-GB" dirty="0"/>
              <a:t>If |V| = 0, return </a:t>
            </a:r>
            <a:r>
              <a:rPr lang="en-GB" dirty="0">
                <a:latin typeface="cmsy10"/>
              </a:rPr>
              <a:t>;</a:t>
            </a:r>
            <a:endParaRPr lang="en-GB" dirty="0"/>
          </a:p>
          <a:p>
            <a:pPr>
              <a:buFont typeface="+mj-lt"/>
              <a:buAutoNum type="arabicPeriod"/>
            </a:pPr>
            <a:r>
              <a:rPr lang="en-GB" dirty="0"/>
              <a:t>Choose a vertex v </a:t>
            </a:r>
            <a:r>
              <a:rPr lang="en-GB" dirty="0">
                <a:latin typeface="cmsy10"/>
              </a:rPr>
              <a:t>2</a:t>
            </a:r>
            <a:r>
              <a:rPr lang="en-GB" dirty="0"/>
              <a:t> V of minimum degree</a:t>
            </a:r>
          </a:p>
          <a:p>
            <a:pPr>
              <a:buFont typeface="+mj-lt"/>
              <a:buAutoNum type="arabicPeriod"/>
            </a:pPr>
            <a:r>
              <a:rPr lang="en-GB" dirty="0"/>
              <a:t>For v and each neighbour of v: u </a:t>
            </a:r>
            <a:r>
              <a:rPr lang="en-GB" dirty="0">
                <a:latin typeface="cmsy10"/>
              </a:rPr>
              <a:t>2</a:t>
            </a:r>
            <a:r>
              <a:rPr lang="en-GB" dirty="0"/>
              <a:t> N[v]</a:t>
            </a:r>
          </a:p>
          <a:p>
            <a:pPr marL="800100" lvl="1" indent="-342900"/>
            <a:r>
              <a:rPr lang="en-GB" dirty="0"/>
              <a:t>Solve the subproblem on G\N[u] (G without u and its neighbours), add u to the generated solutions</a:t>
            </a:r>
          </a:p>
          <a:p>
            <a:pPr>
              <a:buFont typeface="+mj-lt"/>
              <a:buAutoNum type="arabicPeriod"/>
            </a:pPr>
            <a:r>
              <a:rPr lang="en-GB" dirty="0"/>
              <a:t>Return all maximal independent sets found</a:t>
            </a:r>
          </a:p>
          <a:p>
            <a:endParaRPr lang="en-GB" sz="1000" dirty="0"/>
          </a:p>
          <a:p>
            <a:r>
              <a:rPr lang="en-GB" dirty="0"/>
              <a:t>All maximal independent sets can be enumerated in O*(3</a:t>
            </a:r>
            <a:r>
              <a:rPr lang="en-GB" baseline="30000" dirty="0"/>
              <a:t>n/3</a:t>
            </a:r>
            <a:r>
              <a:rPr lang="en-GB" dirty="0"/>
              <a:t>) = O( 1.4423</a:t>
            </a:r>
            <a:r>
              <a:rPr lang="en-GB" baseline="30000" dirty="0"/>
              <a:t>n</a:t>
            </a:r>
            <a:r>
              <a:rPr lang="en-GB" dirty="0"/>
              <a:t> ) time</a:t>
            </a:r>
          </a:p>
          <a:p>
            <a:r>
              <a:rPr lang="en-GB" dirty="0"/>
              <a:t>Each leaf of the search tree at most one maximal independent set: so any graph has at most O*(3</a:t>
            </a:r>
            <a:r>
              <a:rPr lang="en-GB" baseline="30000" dirty="0"/>
              <a:t>n/3</a:t>
            </a:r>
            <a:r>
              <a:rPr lang="en-GB" dirty="0"/>
              <a:t>) = O(1.4423</a:t>
            </a:r>
            <a:r>
              <a:rPr lang="en-GB" baseline="30000" dirty="0"/>
              <a:t>n</a:t>
            </a:r>
            <a:r>
              <a:rPr lang="en-GB" dirty="0"/>
              <a:t>) maximal independent sets</a:t>
            </a:r>
          </a:p>
          <a:p>
            <a:pPr lvl="1"/>
            <a:r>
              <a:rPr lang="en-GB" dirty="0"/>
              <a:t>This bound is tight: consider a collection of triangles</a:t>
            </a:r>
          </a:p>
          <a:p>
            <a:endParaRPr lang="nl-NL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Graph colouring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Graph Colouring</a:t>
            </a:r>
          </a:p>
          <a:p>
            <a:pPr lvl="1"/>
            <a:r>
              <a:rPr lang="en-GB" u="sng" dirty="0"/>
              <a:t>Given</a:t>
            </a:r>
            <a:r>
              <a:rPr lang="en-GB" dirty="0"/>
              <a:t>: Graph G=(V,E), integer k</a:t>
            </a:r>
          </a:p>
          <a:p>
            <a:pPr lvl="1"/>
            <a:r>
              <a:rPr lang="en-GB" u="sng" dirty="0"/>
              <a:t>Question</a:t>
            </a:r>
            <a:r>
              <a:rPr lang="en-GB" dirty="0"/>
              <a:t>: Can we colour the vertices with </a:t>
            </a:r>
            <a:br>
              <a:rPr lang="en-GB" dirty="0"/>
            </a:br>
            <a:r>
              <a:rPr lang="en-GB" dirty="0"/>
              <a:t>k colours, such that for all edges {</a:t>
            </a:r>
            <a:r>
              <a:rPr lang="en-GB" dirty="0" err="1"/>
              <a:t>v,w</a:t>
            </a:r>
            <a:r>
              <a:rPr lang="en-GB" dirty="0"/>
              <a:t>} in E, </a:t>
            </a:r>
            <a:br>
              <a:rPr lang="en-GB" dirty="0"/>
            </a:br>
            <a:r>
              <a:rPr lang="en-GB" dirty="0"/>
              <a:t>the colour of v differs from the colour of w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r>
              <a:rPr lang="en-GB" b="1" dirty="0"/>
              <a:t>k-Colouring</a:t>
            </a:r>
          </a:p>
          <a:p>
            <a:pPr lvl="1"/>
            <a:r>
              <a:rPr lang="en-GB" u="sng" dirty="0"/>
              <a:t>Given</a:t>
            </a:r>
            <a:r>
              <a:rPr lang="en-GB" dirty="0"/>
              <a:t>: Graph G=(V,E)</a:t>
            </a:r>
          </a:p>
          <a:p>
            <a:pPr lvl="1"/>
            <a:r>
              <a:rPr lang="en-GB" u="sng" dirty="0"/>
              <a:t>Question</a:t>
            </a:r>
            <a:r>
              <a:rPr lang="en-GB" dirty="0"/>
              <a:t>: Can we colour the vertices with </a:t>
            </a:r>
            <a:br>
              <a:rPr lang="en-GB" dirty="0"/>
            </a:br>
            <a:r>
              <a:rPr lang="en-GB" dirty="0"/>
              <a:t>k colours, such that for all edges {</a:t>
            </a:r>
            <a:r>
              <a:rPr lang="en-GB" dirty="0" err="1"/>
              <a:t>v,w</a:t>
            </a:r>
            <a:r>
              <a:rPr lang="en-GB" dirty="0"/>
              <a:t>} in E, </a:t>
            </a:r>
            <a:br>
              <a:rPr lang="en-GB" dirty="0"/>
            </a:br>
            <a:r>
              <a:rPr lang="en-GB" dirty="0"/>
              <a:t>the colour of v differs from the colour of w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6516216" y="2132856"/>
            <a:ext cx="2353816" cy="2879576"/>
            <a:chOff x="5746576" y="2133600"/>
            <a:chExt cx="2353816" cy="2879576"/>
          </a:xfrm>
        </p:grpSpPr>
        <p:sp>
          <p:nvSpPr>
            <p:cNvPr id="50182" name="Line 2053"/>
            <p:cNvSpPr>
              <a:spLocks noChangeShapeType="1"/>
            </p:cNvSpPr>
            <p:nvPr/>
          </p:nvSpPr>
          <p:spPr bwMode="auto">
            <a:xfrm>
              <a:off x="6279976" y="2362200"/>
              <a:ext cx="1524000" cy="1143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nl-NL"/>
            </a:p>
          </p:txBody>
        </p:sp>
        <p:sp>
          <p:nvSpPr>
            <p:cNvPr id="50183" name="Line 2054"/>
            <p:cNvSpPr>
              <a:spLocks noChangeShapeType="1"/>
            </p:cNvSpPr>
            <p:nvPr/>
          </p:nvSpPr>
          <p:spPr bwMode="auto">
            <a:xfrm flipH="1">
              <a:off x="6588224" y="3284984"/>
              <a:ext cx="288032" cy="13681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nl-NL"/>
            </a:p>
          </p:txBody>
        </p:sp>
        <p:sp>
          <p:nvSpPr>
            <p:cNvPr id="50187" name="Line 2058"/>
            <p:cNvSpPr>
              <a:spLocks noChangeShapeType="1"/>
            </p:cNvSpPr>
            <p:nvPr/>
          </p:nvSpPr>
          <p:spPr bwMode="auto">
            <a:xfrm>
              <a:off x="6948264" y="3284984"/>
              <a:ext cx="855712" cy="2202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nl-NL"/>
            </a:p>
          </p:txBody>
        </p:sp>
        <p:sp>
          <p:nvSpPr>
            <p:cNvPr id="50188" name="Line 2059"/>
            <p:cNvSpPr>
              <a:spLocks noChangeShapeType="1"/>
            </p:cNvSpPr>
            <p:nvPr/>
          </p:nvSpPr>
          <p:spPr bwMode="auto">
            <a:xfrm flipH="1">
              <a:off x="7803976" y="2348880"/>
              <a:ext cx="80392" cy="11563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nl-NL"/>
            </a:p>
          </p:txBody>
        </p:sp>
        <p:sp>
          <p:nvSpPr>
            <p:cNvPr id="50189" name="Line 2060"/>
            <p:cNvSpPr>
              <a:spLocks noChangeShapeType="1"/>
            </p:cNvSpPr>
            <p:nvPr/>
          </p:nvSpPr>
          <p:spPr bwMode="auto">
            <a:xfrm flipV="1">
              <a:off x="5940152" y="3212976"/>
              <a:ext cx="936104" cy="5760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nl-NL"/>
            </a:p>
          </p:txBody>
        </p:sp>
        <p:sp>
          <p:nvSpPr>
            <p:cNvPr id="50190" name="Line 2061"/>
            <p:cNvSpPr>
              <a:spLocks noChangeShapeType="1"/>
            </p:cNvSpPr>
            <p:nvPr/>
          </p:nvSpPr>
          <p:spPr bwMode="auto">
            <a:xfrm>
              <a:off x="5898976" y="3733800"/>
              <a:ext cx="689248" cy="919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nl-NL"/>
            </a:p>
          </p:txBody>
        </p:sp>
        <p:sp>
          <p:nvSpPr>
            <p:cNvPr id="50191" name="Line 2062"/>
            <p:cNvSpPr>
              <a:spLocks noChangeShapeType="1"/>
            </p:cNvSpPr>
            <p:nvPr/>
          </p:nvSpPr>
          <p:spPr bwMode="auto">
            <a:xfrm flipH="1">
              <a:off x="6012160" y="2348880"/>
              <a:ext cx="216024" cy="14401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nl-NL"/>
            </a:p>
          </p:txBody>
        </p:sp>
        <p:sp>
          <p:nvSpPr>
            <p:cNvPr id="50192" name="Line 2063"/>
            <p:cNvSpPr>
              <a:spLocks noChangeShapeType="1"/>
            </p:cNvSpPr>
            <p:nvPr/>
          </p:nvSpPr>
          <p:spPr bwMode="auto">
            <a:xfrm>
              <a:off x="6300192" y="2348880"/>
              <a:ext cx="15841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nl-NL"/>
            </a:p>
          </p:txBody>
        </p:sp>
        <p:sp>
          <p:nvSpPr>
            <p:cNvPr id="50193" name="Oval 2064"/>
            <p:cNvSpPr>
              <a:spLocks noChangeArrowheads="1"/>
            </p:cNvSpPr>
            <p:nvPr/>
          </p:nvSpPr>
          <p:spPr bwMode="auto">
            <a:xfrm>
              <a:off x="6051376" y="2133600"/>
              <a:ext cx="448816" cy="441176"/>
            </a:xfrm>
            <a:prstGeom prst="ellipse">
              <a:avLst/>
            </a:prstGeom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r>
                <a:rPr lang="en-US" altLang="en-US" i="0">
                  <a:solidFill>
                    <a:schemeClr val="bg1"/>
                  </a:solidFill>
                </a:rPr>
                <a:t>1</a:t>
              </a:r>
              <a:endParaRPr lang="nl-NL" altLang="en-US" i="0">
                <a:solidFill>
                  <a:schemeClr val="bg1"/>
                </a:solidFill>
              </a:endParaRPr>
            </a:p>
          </p:txBody>
        </p:sp>
        <p:sp>
          <p:nvSpPr>
            <p:cNvPr id="50194" name="Oval 2065"/>
            <p:cNvSpPr>
              <a:spLocks noChangeArrowheads="1"/>
            </p:cNvSpPr>
            <p:nvPr/>
          </p:nvSpPr>
          <p:spPr bwMode="auto">
            <a:xfrm>
              <a:off x="7651576" y="2133600"/>
              <a:ext cx="448816" cy="441176"/>
            </a:xfrm>
            <a:prstGeom prst="ellipse">
              <a:avLst/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r>
                <a:rPr lang="en-US" altLang="en-US" i="0" dirty="0">
                  <a:solidFill>
                    <a:schemeClr val="bg1"/>
                  </a:solidFill>
                </a:rPr>
                <a:t>2</a:t>
              </a:r>
              <a:endParaRPr lang="nl-NL" altLang="en-US" i="0" dirty="0">
                <a:solidFill>
                  <a:schemeClr val="bg1"/>
                </a:solidFill>
              </a:endParaRPr>
            </a:p>
          </p:txBody>
        </p:sp>
        <p:sp>
          <p:nvSpPr>
            <p:cNvPr id="50195" name="Oval 2066"/>
            <p:cNvSpPr>
              <a:spLocks noChangeArrowheads="1"/>
            </p:cNvSpPr>
            <p:nvPr/>
          </p:nvSpPr>
          <p:spPr bwMode="auto">
            <a:xfrm>
              <a:off x="7651576" y="3352800"/>
              <a:ext cx="448816" cy="441176"/>
            </a:xfrm>
            <a:prstGeom prst="ellipse">
              <a:avLst/>
            </a:prstGeom>
            <a:solidFill>
              <a:srgbClr val="C00000"/>
            </a:solidFill>
            <a:ln>
              <a:headEnd/>
              <a:tailEnd/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r>
                <a:rPr lang="en-US" altLang="en-US" i="0" dirty="0">
                  <a:solidFill>
                    <a:schemeClr val="bg1"/>
                  </a:solidFill>
                </a:rPr>
                <a:t>3</a:t>
              </a:r>
              <a:endParaRPr lang="nl-NL" altLang="en-US" i="0" dirty="0">
                <a:solidFill>
                  <a:schemeClr val="bg1"/>
                </a:solidFill>
              </a:endParaRPr>
            </a:p>
          </p:txBody>
        </p:sp>
        <p:sp>
          <p:nvSpPr>
            <p:cNvPr id="50196" name="Oval 2067"/>
            <p:cNvSpPr>
              <a:spLocks noChangeArrowheads="1"/>
            </p:cNvSpPr>
            <p:nvPr/>
          </p:nvSpPr>
          <p:spPr bwMode="auto">
            <a:xfrm>
              <a:off x="7651576" y="4572000"/>
              <a:ext cx="448816" cy="441176"/>
            </a:xfrm>
            <a:prstGeom prst="ellipse">
              <a:avLst/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r>
                <a:rPr lang="en-US" altLang="en-US" i="0" dirty="0">
                  <a:solidFill>
                    <a:schemeClr val="bg1"/>
                  </a:solidFill>
                </a:rPr>
                <a:t>2</a:t>
              </a:r>
              <a:endParaRPr lang="nl-NL" altLang="en-US" i="0" dirty="0">
                <a:solidFill>
                  <a:schemeClr val="bg1"/>
                </a:solidFill>
              </a:endParaRPr>
            </a:p>
          </p:txBody>
        </p:sp>
        <p:sp>
          <p:nvSpPr>
            <p:cNvPr id="50197" name="Oval 2068"/>
            <p:cNvSpPr>
              <a:spLocks noChangeArrowheads="1"/>
            </p:cNvSpPr>
            <p:nvPr/>
          </p:nvSpPr>
          <p:spPr bwMode="auto">
            <a:xfrm>
              <a:off x="6356176" y="4419600"/>
              <a:ext cx="448816" cy="441176"/>
            </a:xfrm>
            <a:prstGeom prst="ellipse">
              <a:avLst/>
            </a:prstGeom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r>
                <a:rPr lang="en-US" altLang="en-US" i="0">
                  <a:solidFill>
                    <a:schemeClr val="bg1"/>
                  </a:solidFill>
                </a:rPr>
                <a:t>1</a:t>
              </a:r>
              <a:endParaRPr lang="nl-NL" altLang="en-US" i="0">
                <a:solidFill>
                  <a:schemeClr val="bg1"/>
                </a:solidFill>
              </a:endParaRPr>
            </a:p>
          </p:txBody>
        </p:sp>
        <p:sp>
          <p:nvSpPr>
            <p:cNvPr id="50198" name="Oval 2069"/>
            <p:cNvSpPr>
              <a:spLocks noChangeArrowheads="1"/>
            </p:cNvSpPr>
            <p:nvPr/>
          </p:nvSpPr>
          <p:spPr bwMode="auto">
            <a:xfrm>
              <a:off x="5746576" y="3581400"/>
              <a:ext cx="448816" cy="441176"/>
            </a:xfrm>
            <a:prstGeom prst="ellipse">
              <a:avLst/>
            </a:prstGeom>
            <a:solidFill>
              <a:srgbClr val="C00000"/>
            </a:solidFill>
            <a:ln>
              <a:headEnd/>
              <a:tailEnd/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r>
                <a:rPr lang="en-US" altLang="en-US" i="0" dirty="0">
                  <a:solidFill>
                    <a:schemeClr val="bg1"/>
                  </a:solidFill>
                </a:rPr>
                <a:t>3</a:t>
              </a:r>
              <a:endParaRPr lang="nl-NL" altLang="en-US" i="0" dirty="0">
                <a:solidFill>
                  <a:schemeClr val="bg1"/>
                </a:solidFill>
              </a:endParaRPr>
            </a:p>
          </p:txBody>
        </p:sp>
        <p:sp>
          <p:nvSpPr>
            <p:cNvPr id="50199" name="Oval 2070"/>
            <p:cNvSpPr>
              <a:spLocks noChangeArrowheads="1"/>
            </p:cNvSpPr>
            <p:nvPr/>
          </p:nvSpPr>
          <p:spPr bwMode="auto">
            <a:xfrm>
              <a:off x="6660976" y="3048000"/>
              <a:ext cx="448816" cy="441176"/>
            </a:xfrm>
            <a:prstGeom prst="ellipse">
              <a:avLst/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r>
                <a:rPr lang="en-US" altLang="en-US" i="0" dirty="0">
                  <a:solidFill>
                    <a:schemeClr val="bg1"/>
                  </a:solidFill>
                </a:rPr>
                <a:t>2</a:t>
              </a:r>
              <a:endParaRPr lang="nl-NL" altLang="en-US" i="0" dirty="0">
                <a:solidFill>
                  <a:schemeClr val="bg1"/>
                </a:solidFill>
              </a:endParaRPr>
            </a:p>
          </p:txBody>
        </p:sp>
        <p:cxnSp>
          <p:nvCxnSpPr>
            <p:cNvPr id="23" name="Straight Connector 22"/>
            <p:cNvCxnSpPr>
              <a:stCxn id="50195" idx="3"/>
              <a:endCxn id="50197" idx="7"/>
            </p:cNvCxnSpPr>
            <p:nvPr/>
          </p:nvCxnSpPr>
          <p:spPr bwMode="auto">
            <a:xfrm flipH="1">
              <a:off x="6739264" y="3729367"/>
              <a:ext cx="978040" cy="754842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" name="Straight Connector 24"/>
            <p:cNvCxnSpPr>
              <a:stCxn id="50195" idx="4"/>
              <a:endCxn id="50196" idx="0"/>
            </p:cNvCxnSpPr>
            <p:nvPr/>
          </p:nvCxnSpPr>
          <p:spPr bwMode="auto">
            <a:xfrm>
              <a:off x="7875984" y="3793976"/>
              <a:ext cx="0" cy="77802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" name="Straight Connector 27"/>
            <p:cNvCxnSpPr>
              <a:stCxn id="50197" idx="6"/>
              <a:endCxn id="50196" idx="2"/>
            </p:cNvCxnSpPr>
            <p:nvPr/>
          </p:nvCxnSpPr>
          <p:spPr bwMode="auto">
            <a:xfrm>
              <a:off x="6804992" y="4640188"/>
              <a:ext cx="846584" cy="1524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/>
              <a:t>Graph colouring</a:t>
            </a:r>
          </a:p>
        </p:txBody>
      </p:sp>
      <p:sp>
        <p:nvSpPr>
          <p:cNvPr id="1229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1-Colouring is easy in O(</a:t>
            </a:r>
            <a:r>
              <a:rPr lang="en-GB" i="1" dirty="0"/>
              <a:t>n</a:t>
            </a:r>
            <a:r>
              <a:rPr lang="en-GB" dirty="0"/>
              <a:t>) time (or O(</a:t>
            </a:r>
            <a:r>
              <a:rPr lang="en-GB" i="1" dirty="0"/>
              <a:t>1</a:t>
            </a:r>
            <a:r>
              <a:rPr lang="en-GB" dirty="0"/>
              <a:t>))</a:t>
            </a:r>
          </a:p>
          <a:p>
            <a:r>
              <a:rPr lang="en-GB" dirty="0"/>
              <a:t>2-Colouring is easy in O(</a:t>
            </a:r>
            <a:r>
              <a:rPr lang="en-GB" i="1" dirty="0" err="1"/>
              <a:t>n+m</a:t>
            </a:r>
            <a:r>
              <a:rPr lang="en-GB" dirty="0"/>
              <a:t>) time</a:t>
            </a:r>
          </a:p>
          <a:p>
            <a:r>
              <a:rPr lang="en-GB" dirty="0"/>
              <a:t>k-Colouring is NP-Complete for k </a:t>
            </a:r>
            <a:r>
              <a:rPr lang="en-GB" dirty="0">
                <a:latin typeface="cmsy10"/>
              </a:rPr>
              <a:t>¸</a:t>
            </a:r>
            <a:r>
              <a:rPr lang="en-GB" dirty="0"/>
              <a:t> 3</a:t>
            </a:r>
          </a:p>
          <a:p>
            <a:endParaRPr lang="en-GB" dirty="0"/>
          </a:p>
          <a:p>
            <a:r>
              <a:rPr lang="en-GB" dirty="0"/>
              <a:t>Applications:</a:t>
            </a:r>
          </a:p>
          <a:p>
            <a:pPr lvl="1"/>
            <a:r>
              <a:rPr lang="en-GB" dirty="0"/>
              <a:t>Scheduling</a:t>
            </a:r>
          </a:p>
          <a:p>
            <a:pPr lvl="1"/>
            <a:r>
              <a:rPr lang="en-GB" dirty="0"/>
              <a:t>Frequency assignment</a:t>
            </a:r>
          </a:p>
          <a:p>
            <a:pPr lvl="1"/>
            <a:r>
              <a:rPr lang="en-GB" dirty="0"/>
              <a:t>...</a:t>
            </a:r>
          </a:p>
          <a:p>
            <a:pPr lvl="1"/>
            <a:endParaRPr lang="en-GB" dirty="0"/>
          </a:p>
          <a:p>
            <a:r>
              <a:rPr lang="en-GB" dirty="0"/>
              <a:t>Practical problems are usually more complex variants of the standard graph colouring problem</a:t>
            </a:r>
          </a:p>
          <a:p>
            <a:pPr lvl="1"/>
            <a:endParaRPr lang="en-GB" dirty="0"/>
          </a:p>
          <a:p>
            <a:pPr eaLnBrk="1" hangingPunct="1"/>
            <a:endParaRPr lang="en-GB" dirty="0"/>
          </a:p>
          <a:p>
            <a:pPr eaLnBrk="1" hangingPunct="1"/>
            <a:endParaRPr lang="en-GB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3-Colouring</a:t>
            </a:r>
          </a:p>
        </p:txBody>
      </p:sp>
      <p:sp>
        <p:nvSpPr>
          <p:cNvPr id="13317" name="Rectangle 3"/>
          <p:cNvSpPr>
            <a:spLocks noGrp="1" noChangeArrowheads="1"/>
          </p:cNvSpPr>
          <p:nvPr>
            <p:ph idx="1"/>
          </p:nvPr>
        </p:nvSpPr>
        <p:spPr>
          <a:xfrm>
            <a:off x="1371600" y="1828800"/>
            <a:ext cx="7520880" cy="3962400"/>
          </a:xfrm>
        </p:spPr>
        <p:txBody>
          <a:bodyPr/>
          <a:lstStyle/>
          <a:p>
            <a:pPr eaLnBrk="1" hangingPunct="1"/>
            <a:r>
              <a:rPr lang="en-US" dirty="0"/>
              <a:t>O*(3</a:t>
            </a:r>
            <a:r>
              <a:rPr lang="en-US" i="1" baseline="30000" dirty="0"/>
              <a:t>n</a:t>
            </a:r>
            <a:r>
              <a:rPr lang="en-US" dirty="0"/>
              <a:t>) is trivial or can we do this faster?</a:t>
            </a:r>
          </a:p>
          <a:p>
            <a:pPr eaLnBrk="1" hangingPunct="1"/>
            <a:endParaRPr lang="en-US" dirty="0"/>
          </a:p>
          <a:p>
            <a:r>
              <a:rPr lang="en-US" dirty="0"/>
              <a:t>G is 3-colourable, if and only if, there is a set of vertices S with:</a:t>
            </a:r>
          </a:p>
          <a:p>
            <a:pPr lvl="1"/>
            <a:r>
              <a:rPr lang="en-US" dirty="0"/>
              <a:t>S is an independent set</a:t>
            </a:r>
          </a:p>
          <a:p>
            <a:pPr lvl="1"/>
            <a:r>
              <a:rPr lang="en-US" dirty="0"/>
              <a:t>G[V-S] is 2-colourable</a:t>
            </a:r>
          </a:p>
          <a:p>
            <a:pPr lvl="1"/>
            <a:endParaRPr lang="en-US" dirty="0"/>
          </a:p>
          <a:p>
            <a:r>
              <a:rPr lang="en-US" b="1" dirty="0">
                <a:solidFill>
                  <a:srgbClr val="C00000"/>
                </a:solidFill>
              </a:rPr>
              <a:t>Algorithm</a:t>
            </a:r>
            <a:r>
              <a:rPr lang="en-US" dirty="0"/>
              <a:t>: enumerate all sets and test these properties</a:t>
            </a:r>
          </a:p>
          <a:p>
            <a:pPr lvl="1"/>
            <a:r>
              <a:rPr lang="en-US" dirty="0"/>
              <a:t>2</a:t>
            </a:r>
            <a:r>
              <a:rPr lang="en-US" i="1" baseline="30000" dirty="0"/>
              <a:t>n</a:t>
            </a:r>
            <a:r>
              <a:rPr lang="en-US" dirty="0"/>
              <a:t> tests of O(</a:t>
            </a:r>
            <a:r>
              <a:rPr lang="en-US" i="1" dirty="0" err="1"/>
              <a:t>n</a:t>
            </a:r>
            <a:r>
              <a:rPr lang="en-US" dirty="0" err="1"/>
              <a:t>+</a:t>
            </a:r>
            <a:r>
              <a:rPr lang="en-US" i="1" dirty="0" err="1"/>
              <a:t>m</a:t>
            </a:r>
            <a:r>
              <a:rPr lang="en-US" dirty="0"/>
              <a:t>) time each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So, depending on how we define certificates, 3-colouring is ‘trivial’ to solve in O*(3</a:t>
            </a:r>
            <a:r>
              <a:rPr lang="en-US" baseline="30000" dirty="0"/>
              <a:t>n</a:t>
            </a:r>
            <a:r>
              <a:rPr lang="en-US" dirty="0"/>
              <a:t>) or O*(2</a:t>
            </a:r>
            <a:r>
              <a:rPr lang="en-US" baseline="30000" dirty="0"/>
              <a:t>n</a:t>
            </a:r>
            <a:r>
              <a:rPr lang="en-US" dirty="0"/>
              <a:t>) time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3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3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3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3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3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3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3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3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3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3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3-Colouring</a:t>
            </a:r>
          </a:p>
        </p:txBody>
      </p:sp>
      <p:sp>
        <p:nvSpPr>
          <p:cNvPr id="1536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b="1" dirty="0"/>
              <a:t>Lawler, 1976</a:t>
            </a:r>
            <a:r>
              <a:rPr lang="en-US" dirty="0"/>
              <a:t>: G is 3-colourable, if and only if, there is a set of vertices S with:</a:t>
            </a:r>
          </a:p>
          <a:p>
            <a:pPr lvl="1"/>
            <a:r>
              <a:rPr lang="en-US" dirty="0"/>
              <a:t>S is a </a:t>
            </a:r>
            <a:r>
              <a:rPr lang="en-US" b="1" dirty="0">
                <a:solidFill>
                  <a:srgbClr val="C00000"/>
                </a:solidFill>
              </a:rPr>
              <a:t>maximal</a:t>
            </a:r>
            <a:r>
              <a:rPr lang="en-US" dirty="0"/>
              <a:t> independent set</a:t>
            </a:r>
          </a:p>
          <a:p>
            <a:pPr lvl="1"/>
            <a:r>
              <a:rPr lang="en-US" dirty="0"/>
              <a:t>G[V-S] is 2-colourable</a:t>
            </a:r>
          </a:p>
          <a:p>
            <a:pPr lvl="1" eaLnBrk="1" hangingPunct="1"/>
            <a:endParaRPr lang="en-US" dirty="0"/>
          </a:p>
          <a:p>
            <a:r>
              <a:rPr lang="en-US" dirty="0"/>
              <a:t>Enumerating all maximal independent sets in O*(3</a:t>
            </a:r>
            <a:r>
              <a:rPr lang="en-US" i="1" baseline="30000" dirty="0"/>
              <a:t>n</a:t>
            </a:r>
            <a:r>
              <a:rPr lang="en-US" baseline="30000" dirty="0"/>
              <a:t>/3</a:t>
            </a:r>
            <a:r>
              <a:rPr lang="en-US" dirty="0"/>
              <a:t>) = O(1.4423</a:t>
            </a:r>
            <a:r>
              <a:rPr lang="en-US" i="1" baseline="30000" dirty="0"/>
              <a:t>n</a:t>
            </a:r>
            <a:r>
              <a:rPr lang="en-US" dirty="0"/>
              <a:t>) time</a:t>
            </a:r>
          </a:p>
          <a:p>
            <a:pPr lvl="1" eaLnBrk="1" hangingPunct="1"/>
            <a:r>
              <a:rPr lang="en-US" dirty="0"/>
              <a:t>Thus O(1.4423</a:t>
            </a:r>
            <a:r>
              <a:rPr lang="en-US" i="1" baseline="30000" dirty="0"/>
              <a:t>n</a:t>
            </a:r>
            <a:r>
              <a:rPr lang="en-US" dirty="0"/>
              <a:t>) time algorithm for 3-colouring</a:t>
            </a:r>
          </a:p>
          <a:p>
            <a:pPr lvl="1" eaLnBrk="1" hangingPunct="1"/>
            <a:endParaRPr lang="en-US" dirty="0"/>
          </a:p>
          <a:p>
            <a:pPr eaLnBrk="1" hangingPunct="1"/>
            <a:r>
              <a:rPr lang="en-US" dirty="0" err="1"/>
              <a:t>Schiermeyer</a:t>
            </a:r>
            <a:r>
              <a:rPr lang="en-US" dirty="0"/>
              <a:t>, 1994: O(1.398</a:t>
            </a:r>
            <a:r>
              <a:rPr lang="en-US" i="1" baseline="30000" dirty="0"/>
              <a:t>n</a:t>
            </a:r>
            <a:r>
              <a:rPr lang="en-US" dirty="0"/>
              <a:t>) time</a:t>
            </a:r>
          </a:p>
          <a:p>
            <a:pPr eaLnBrk="1" hangingPunct="1"/>
            <a:r>
              <a:rPr lang="en-US" dirty="0"/>
              <a:t>Beigel, </a:t>
            </a:r>
            <a:r>
              <a:rPr lang="en-US" dirty="0" err="1"/>
              <a:t>Eppstein</a:t>
            </a:r>
            <a:r>
              <a:rPr lang="en-US" dirty="0"/>
              <a:t>, 1995: O(1.3446</a:t>
            </a:r>
            <a:r>
              <a:rPr lang="en-US" i="1" baseline="30000" dirty="0"/>
              <a:t>n</a:t>
            </a:r>
            <a:r>
              <a:rPr lang="en-US" dirty="0"/>
              <a:t>) time</a:t>
            </a:r>
          </a:p>
          <a:p>
            <a:r>
              <a:rPr lang="en-US" dirty="0" err="1"/>
              <a:t>Beigel</a:t>
            </a:r>
            <a:r>
              <a:rPr lang="en-US" dirty="0"/>
              <a:t>, </a:t>
            </a:r>
            <a:r>
              <a:rPr lang="en-US" dirty="0" err="1"/>
              <a:t>Eppstein</a:t>
            </a:r>
            <a:r>
              <a:rPr lang="en-US" dirty="0"/>
              <a:t>, 2005: O(</a:t>
            </a:r>
            <a:r>
              <a:rPr lang="nl-NL" dirty="0"/>
              <a:t>1.3289</a:t>
            </a:r>
            <a:r>
              <a:rPr lang="nl-NL" baseline="30000" dirty="0"/>
              <a:t>n</a:t>
            </a:r>
            <a:r>
              <a:rPr lang="nl-NL" dirty="0"/>
              <a:t>) time</a:t>
            </a:r>
          </a:p>
          <a:p>
            <a:r>
              <a:rPr lang="nl-NL" dirty="0"/>
              <a:t>Lucas Meijer (PhD @ UU), 2023: O(</a:t>
            </a:r>
            <a:r>
              <a:rPr lang="en-NL" dirty="0">
                <a:effectLst/>
              </a:rPr>
              <a:t>1.3217</a:t>
            </a:r>
            <a:r>
              <a:rPr lang="en-US" baseline="30000" dirty="0">
                <a:effectLst/>
              </a:rPr>
              <a:t>n</a:t>
            </a:r>
            <a:r>
              <a:rPr lang="en-US" dirty="0">
                <a:effectLst/>
              </a:rPr>
              <a:t>) time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4-Colouring in O*(2</a:t>
            </a:r>
            <a:r>
              <a:rPr lang="en-US" i="1" baseline="30000" dirty="0"/>
              <a:t>n</a:t>
            </a:r>
            <a:r>
              <a:rPr lang="en-US" dirty="0"/>
              <a:t>) time</a:t>
            </a:r>
          </a:p>
        </p:txBody>
      </p:sp>
      <p:sp>
        <p:nvSpPr>
          <p:cNvPr id="1638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b="1" dirty="0"/>
              <a:t>Lawler, 1976</a:t>
            </a:r>
            <a:r>
              <a:rPr lang="en-GB" dirty="0"/>
              <a:t>:</a:t>
            </a:r>
            <a:r>
              <a:rPr lang="en-GB" b="1" dirty="0"/>
              <a:t> </a:t>
            </a:r>
            <a:r>
              <a:rPr lang="en-GB" dirty="0"/>
              <a:t>G is 4-colourable, if and only if, we can partition the vertices in two sets X and Y such that:</a:t>
            </a:r>
          </a:p>
          <a:p>
            <a:pPr lvl="1"/>
            <a:r>
              <a:rPr lang="en-GB" dirty="0"/>
              <a:t> G[X] and G[Y] are both 2-colorable</a:t>
            </a:r>
          </a:p>
          <a:p>
            <a:pPr eaLnBrk="1" hangingPunct="1"/>
            <a:endParaRPr lang="en-GB" dirty="0"/>
          </a:p>
          <a:p>
            <a:pPr eaLnBrk="1" hangingPunct="1"/>
            <a:r>
              <a:rPr lang="en-GB" dirty="0"/>
              <a:t>Enumerate all partitions in  O*(2</a:t>
            </a:r>
            <a:r>
              <a:rPr lang="en-GB" baseline="30000" dirty="0"/>
              <a:t>n</a:t>
            </a:r>
            <a:r>
              <a:rPr lang="en-GB" dirty="0"/>
              <a:t>) time</a:t>
            </a:r>
          </a:p>
          <a:p>
            <a:pPr lvl="1" eaLnBrk="1" hangingPunct="1"/>
            <a:r>
              <a:rPr lang="en-GB" dirty="0"/>
              <a:t>For each, check both halves in O(</a:t>
            </a:r>
            <a:r>
              <a:rPr lang="en-GB" i="1" dirty="0" err="1"/>
              <a:t>n</a:t>
            </a:r>
            <a:r>
              <a:rPr lang="en-GB" dirty="0" err="1"/>
              <a:t>+</a:t>
            </a:r>
            <a:r>
              <a:rPr lang="en-GB" i="1" dirty="0" err="1"/>
              <a:t>m</a:t>
            </a:r>
            <a:r>
              <a:rPr lang="en-GB" dirty="0"/>
              <a:t>) time</a:t>
            </a:r>
          </a:p>
          <a:p>
            <a:pPr lvl="1" eaLnBrk="1" hangingPunct="1"/>
            <a:endParaRPr lang="en-GB" dirty="0"/>
          </a:p>
          <a:p>
            <a:r>
              <a:rPr lang="en-GB" dirty="0"/>
              <a:t>k-colouring is ‘trivial’ to solve in O*( </a:t>
            </a:r>
            <a:r>
              <a:rPr lang="en-GB" dirty="0">
                <a:latin typeface="cmsy10"/>
              </a:rPr>
              <a:t>d</a:t>
            </a:r>
            <a:r>
              <a:rPr lang="en-GB" dirty="0"/>
              <a:t>k/2</a:t>
            </a:r>
            <a:r>
              <a:rPr lang="en-GB" dirty="0">
                <a:latin typeface="cmsy10"/>
              </a:rPr>
              <a:t>e</a:t>
            </a:r>
            <a:r>
              <a:rPr lang="en-GB" baseline="30000" dirty="0"/>
              <a:t>n</a:t>
            </a:r>
            <a:r>
              <a:rPr lang="en-GB" dirty="0"/>
              <a:t> ) time</a:t>
            </a:r>
          </a:p>
          <a:p>
            <a:pPr lvl="1"/>
            <a:r>
              <a:rPr lang="en-GB" dirty="0"/>
              <a:t>Enumerate all partitions into </a:t>
            </a:r>
            <a:r>
              <a:rPr lang="en-GB" dirty="0">
                <a:latin typeface="cmsy10"/>
              </a:rPr>
              <a:t>d</a:t>
            </a:r>
            <a:r>
              <a:rPr lang="en-GB" dirty="0"/>
              <a:t>k/2</a:t>
            </a:r>
            <a:r>
              <a:rPr lang="en-GB" dirty="0">
                <a:latin typeface="cmsy10"/>
              </a:rPr>
              <a:t>e </a:t>
            </a:r>
            <a:r>
              <a:rPr lang="en-GB" dirty="0"/>
              <a:t>disjoint sets</a:t>
            </a:r>
          </a:p>
          <a:p>
            <a:pPr lvl="1"/>
            <a:r>
              <a:rPr lang="en-GB" dirty="0"/>
              <a:t>Check that each partition is 2-colourable (if k is odd, for all but one partition)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3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3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38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38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Faster 4-colouring</a:t>
            </a:r>
          </a:p>
        </p:txBody>
      </p:sp>
      <p:sp>
        <p:nvSpPr>
          <p:cNvPr id="1741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dirty="0"/>
              <a:t>Using 3-Colouring:</a:t>
            </a:r>
          </a:p>
          <a:p>
            <a:pPr lvl="1" eaLnBrk="1" hangingPunct="1">
              <a:lnSpc>
                <a:spcPct val="90000"/>
              </a:lnSpc>
            </a:pPr>
            <a:r>
              <a:rPr lang="en-GB" dirty="0"/>
              <a:t>Enumerate all maximal independent sets S</a:t>
            </a:r>
          </a:p>
          <a:p>
            <a:pPr lvl="1" eaLnBrk="1" hangingPunct="1">
              <a:lnSpc>
                <a:spcPct val="90000"/>
              </a:lnSpc>
            </a:pPr>
            <a:r>
              <a:rPr lang="en-GB" dirty="0"/>
              <a:t>For each, check 3-colourability of G[V-S]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1.4423</a:t>
            </a:r>
            <a:r>
              <a:rPr lang="en-GB" i="1" baseline="30000" dirty="0"/>
              <a:t>n</a:t>
            </a:r>
            <a:r>
              <a:rPr lang="en-GB" baseline="30000" dirty="0"/>
              <a:t> </a:t>
            </a:r>
            <a:r>
              <a:rPr lang="en-GB" dirty="0"/>
              <a:t>* </a:t>
            </a:r>
            <a:r>
              <a:rPr lang="en-NL" dirty="0">
                <a:effectLst/>
              </a:rPr>
              <a:t>1.3217</a:t>
            </a:r>
            <a:r>
              <a:rPr lang="en-GB" i="1" baseline="30000" dirty="0"/>
              <a:t>n</a:t>
            </a:r>
            <a:r>
              <a:rPr lang="en-GB" baseline="30000" dirty="0"/>
              <a:t> </a:t>
            </a:r>
            <a:r>
              <a:rPr lang="en-GB" dirty="0"/>
              <a:t>= 1.9063</a:t>
            </a:r>
            <a:r>
              <a:rPr lang="en-GB" i="1" baseline="30000" dirty="0"/>
              <a:t>n</a:t>
            </a:r>
            <a:endParaRPr lang="en-GB" dirty="0"/>
          </a:p>
          <a:p>
            <a:pPr lvl="1" eaLnBrk="1" hangingPunct="1">
              <a:lnSpc>
                <a:spcPct val="90000"/>
              </a:lnSpc>
            </a:pPr>
            <a:endParaRPr lang="en-GB" i="1" dirty="0"/>
          </a:p>
          <a:p>
            <a:pPr eaLnBrk="1" hangingPunct="1">
              <a:lnSpc>
                <a:spcPct val="90000"/>
              </a:lnSpc>
            </a:pPr>
            <a:r>
              <a:rPr lang="en-GB" dirty="0"/>
              <a:t>Better: there is always a colour with at least </a:t>
            </a:r>
            <a:r>
              <a:rPr lang="en-GB" i="1" dirty="0"/>
              <a:t>n</a:t>
            </a:r>
            <a:r>
              <a:rPr lang="en-GB" dirty="0"/>
              <a:t>/4 vertices</a:t>
            </a:r>
          </a:p>
          <a:p>
            <a:pPr lvl="1" eaLnBrk="1" hangingPunct="1">
              <a:lnSpc>
                <a:spcPct val="90000"/>
              </a:lnSpc>
            </a:pPr>
            <a:r>
              <a:rPr lang="en-GB" dirty="0"/>
              <a:t>Enumerate all </a:t>
            </a:r>
            <a:r>
              <a:rPr lang="en-GB" dirty="0" err="1"/>
              <a:t>m.i.s</a:t>
            </a:r>
            <a:r>
              <a:rPr lang="en-GB" dirty="0"/>
              <a:t>. S with at least </a:t>
            </a:r>
            <a:r>
              <a:rPr lang="en-GB" i="1" dirty="0"/>
              <a:t>n</a:t>
            </a:r>
            <a:r>
              <a:rPr lang="en-GB" dirty="0"/>
              <a:t>/4 vertices</a:t>
            </a:r>
          </a:p>
          <a:p>
            <a:pPr lvl="1" eaLnBrk="1" hangingPunct="1">
              <a:lnSpc>
                <a:spcPct val="90000"/>
              </a:lnSpc>
            </a:pPr>
            <a:r>
              <a:rPr lang="en-GB" dirty="0"/>
              <a:t>For each, check 3-colourability of G[V-S]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1.4423</a:t>
            </a:r>
            <a:r>
              <a:rPr lang="en-GB" i="1" baseline="30000" dirty="0"/>
              <a:t>n</a:t>
            </a:r>
            <a:r>
              <a:rPr lang="en-GB" baseline="30000" dirty="0"/>
              <a:t> </a:t>
            </a:r>
            <a:r>
              <a:rPr lang="en-GB" dirty="0"/>
              <a:t>* </a:t>
            </a:r>
            <a:r>
              <a:rPr lang="en-NL" dirty="0">
                <a:effectLst/>
              </a:rPr>
              <a:t>1.3217 </a:t>
            </a:r>
            <a:r>
              <a:rPr lang="en-GB" baseline="30000" dirty="0"/>
              <a:t>3</a:t>
            </a:r>
            <a:r>
              <a:rPr lang="en-GB" i="1" baseline="30000" dirty="0"/>
              <a:t>n</a:t>
            </a:r>
            <a:r>
              <a:rPr lang="en-GB" baseline="30000" dirty="0"/>
              <a:t>/4 </a:t>
            </a:r>
            <a:r>
              <a:rPr lang="en-GB" dirty="0"/>
              <a:t>= 1.7779</a:t>
            </a:r>
            <a:r>
              <a:rPr lang="en-GB" i="1" baseline="30000" dirty="0"/>
              <a:t>n</a:t>
            </a:r>
          </a:p>
          <a:p>
            <a:pPr eaLnBrk="1" hangingPunct="1">
              <a:lnSpc>
                <a:spcPct val="90000"/>
              </a:lnSpc>
            </a:pPr>
            <a:endParaRPr lang="en-GB" dirty="0"/>
          </a:p>
          <a:p>
            <a:pPr eaLnBrk="1" hangingPunct="1">
              <a:lnSpc>
                <a:spcPct val="90000"/>
              </a:lnSpc>
            </a:pPr>
            <a:r>
              <a:rPr lang="en-GB" dirty="0" err="1"/>
              <a:t>Byskov</a:t>
            </a:r>
            <a:r>
              <a:rPr lang="en-GB" dirty="0"/>
              <a:t>, 2004: O(1.7504</a:t>
            </a:r>
            <a:r>
              <a:rPr lang="en-GB" i="1" baseline="30000" dirty="0"/>
              <a:t>n</a:t>
            </a:r>
            <a:r>
              <a:rPr lang="en-GB" dirty="0"/>
              <a:t>) time</a:t>
            </a:r>
          </a:p>
          <a:p>
            <a:pPr eaLnBrk="1" hangingPunct="1">
              <a:lnSpc>
                <a:spcPct val="90000"/>
              </a:lnSpc>
            </a:pPr>
            <a:r>
              <a:rPr lang="en-GB" dirty="0" err="1"/>
              <a:t>Fomin</a:t>
            </a:r>
            <a:r>
              <a:rPr lang="en-GB" dirty="0"/>
              <a:t>, Gaspers, Saurabh, 2007: O(1.7272</a:t>
            </a:r>
            <a:r>
              <a:rPr lang="en-GB" baseline="30000" dirty="0"/>
              <a:t>n</a:t>
            </a:r>
            <a:r>
              <a:rPr lang="en-GB" dirty="0"/>
              <a:t>) time</a:t>
            </a:r>
          </a:p>
          <a:p>
            <a:pPr lvl="1" eaLnBrk="1" hangingPunct="1">
              <a:lnSpc>
                <a:spcPct val="90000"/>
              </a:lnSpc>
            </a:pPr>
            <a:endParaRPr lang="en-GB" sz="2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DYNAMIC PROGRAMMING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Exponential-time algorithms </a:t>
            </a:r>
            <a:r>
              <a:rPr lang="en-GB" dirty="0"/>
              <a:t>– Advanced Algorithms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/>
              <a:t>Graph colouring with dynamic programming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61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90000"/>
                  </a:lnSpc>
                </a:pPr>
                <a:r>
                  <a:rPr lang="en-GB" dirty="0"/>
                  <a:t>Consider the graph colouring problem, not k-colouring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GB" dirty="0"/>
                  <a:t>(The number of colours is no longer fixed)</a:t>
                </a:r>
              </a:p>
              <a:p>
                <a:pPr eaLnBrk="1" hangingPunct="1">
                  <a:lnSpc>
                    <a:spcPct val="90000"/>
                  </a:lnSpc>
                </a:pPr>
                <a:endParaRPr lang="en-GB" dirty="0"/>
              </a:p>
              <a:p>
                <a:pPr eaLnBrk="1" hangingPunct="1">
                  <a:lnSpc>
                    <a:spcPct val="90000"/>
                  </a:lnSpc>
                </a:pPr>
                <a:r>
                  <a:rPr lang="en-GB" b="1" dirty="0"/>
                  <a:t>Lawler, 1976</a:t>
                </a:r>
                <a:r>
                  <a:rPr lang="en-GB" dirty="0"/>
                  <a:t>: using DP for solving graph colouring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GB" dirty="0">
                    <a:latin typeface="Symbol" pitchFamily="18" charset="2"/>
                  </a:rPr>
                  <a:t>C</a:t>
                </a:r>
                <a:r>
                  <a:rPr lang="en-GB" dirty="0"/>
                  <a:t>(G) = </a:t>
                </a:r>
                <a:r>
                  <a:rPr lang="en-GB" dirty="0" err="1"/>
                  <a:t>min</a:t>
                </a:r>
                <a:r>
                  <a:rPr lang="en-GB" baseline="-25000" dirty="0" err="1"/>
                  <a:t>S</a:t>
                </a:r>
                <a:r>
                  <a:rPr lang="en-GB" baseline="-25000" dirty="0"/>
                  <a:t> is </a:t>
                </a:r>
                <a:r>
                  <a:rPr lang="en-GB" baseline="-25000" dirty="0" err="1"/>
                  <a:t>m.i.s</a:t>
                </a:r>
                <a:r>
                  <a:rPr lang="en-GB" baseline="-25000" dirty="0"/>
                  <a:t>. in G</a:t>
                </a:r>
                <a:r>
                  <a:rPr lang="en-GB" dirty="0"/>
                  <a:t> 1 + X(G[V-S])</a:t>
                </a:r>
              </a:p>
              <a:p>
                <a:pPr eaLnBrk="1" hangingPunct="1">
                  <a:lnSpc>
                    <a:spcPct val="90000"/>
                  </a:lnSpc>
                </a:pPr>
                <a:endParaRPr lang="en-GB" dirty="0"/>
              </a:p>
              <a:p>
                <a:pPr eaLnBrk="1" hangingPunct="1">
                  <a:lnSpc>
                    <a:spcPct val="90000"/>
                  </a:lnSpc>
                </a:pPr>
                <a:r>
                  <a:rPr lang="en-GB" dirty="0"/>
                  <a:t>Tabulate chromatic number of G[W] over all subsets W:</a:t>
                </a:r>
              </a:p>
              <a:p>
                <a:pPr lvl="1" eaLnBrk="1" hangingPunct="1">
                  <a:lnSpc>
                    <a:spcPct val="90000"/>
                  </a:lnSpc>
                </a:pPr>
                <a:r>
                  <a:rPr lang="en-GB" dirty="0"/>
                  <a:t>In increasing size</a:t>
                </a:r>
              </a:p>
              <a:p>
                <a:pPr lvl="1" eaLnBrk="1" hangingPunct="1">
                  <a:lnSpc>
                    <a:spcPct val="90000"/>
                  </a:lnSpc>
                </a:pPr>
                <a:r>
                  <a:rPr lang="en-GB" dirty="0"/>
                  <a:t>Using formula above</a:t>
                </a:r>
              </a:p>
              <a:p>
                <a:pPr>
                  <a:lnSpc>
                    <a:spcPct val="90000"/>
                  </a:lnSpc>
                </a:pPr>
                <a:endParaRPr lang="en-GB" dirty="0"/>
              </a:p>
              <a:p>
                <a:pPr>
                  <a:lnSpc>
                    <a:spcPct val="90000"/>
                  </a:lnSpc>
                </a:pPr>
                <a:r>
                  <a:rPr lang="en-GB" dirty="0"/>
                  <a:t>Total time: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2.4423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  <a:p>
                <a:pPr lvl="1">
                  <a:lnSpc>
                    <a:spcPct val="90000"/>
                  </a:lnSpc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GB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den>
                            </m:f>
                          </m:e>
                        </m:d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1.4423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den>
                            </m:f>
                          </m:e>
                        </m:d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1.4423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1.4423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</m:oMath>
                </a14:m>
                <a:endParaRPr lang="en-GB" dirty="0"/>
              </a:p>
              <a:p>
                <a:pPr lvl="1">
                  <a:lnSpc>
                    <a:spcPct val="90000"/>
                  </a:lnSpc>
                </a:pPr>
                <a:endParaRPr lang="en-GB" dirty="0"/>
              </a:p>
              <a:p>
                <a:pPr>
                  <a:lnSpc>
                    <a:spcPct val="90000"/>
                  </a:lnSpc>
                </a:pPr>
                <a:r>
                  <a:rPr lang="en-GB" dirty="0"/>
                  <a:t>Total space: 2</a:t>
                </a:r>
                <a:r>
                  <a:rPr lang="en-GB" i="1" baseline="30000" dirty="0"/>
                  <a:t>n</a:t>
                </a:r>
              </a:p>
            </p:txBody>
          </p:sp>
        </mc:Choice>
        <mc:Fallback xmlns="">
          <p:sp>
            <p:nvSpPr>
              <p:cNvPr id="1946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65" t="-1385" b="-6154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6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6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46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46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46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46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Graph </a:t>
            </a:r>
            <a:r>
              <a:rPr lang="en-US" dirty="0" err="1"/>
              <a:t>colouring</a:t>
            </a:r>
            <a:endParaRPr lang="en-US" dirty="0"/>
          </a:p>
        </p:txBody>
      </p:sp>
      <p:sp>
        <p:nvSpPr>
          <p:cNvPr id="2048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Lawler 1976: O(2.4423</a:t>
            </a:r>
            <a:r>
              <a:rPr lang="en-US" i="1" baseline="30000" dirty="0"/>
              <a:t>n</a:t>
            </a:r>
            <a:r>
              <a:rPr lang="en-US" dirty="0"/>
              <a:t>) (improved analysis)</a:t>
            </a:r>
          </a:p>
          <a:p>
            <a:r>
              <a:rPr lang="en-US" dirty="0" err="1"/>
              <a:t>Eppstein</a:t>
            </a:r>
            <a:r>
              <a:rPr lang="en-US" dirty="0"/>
              <a:t>, 2003: O(2.4151</a:t>
            </a:r>
            <a:r>
              <a:rPr lang="en-US" i="1" baseline="30000" dirty="0"/>
              <a:t>n</a:t>
            </a:r>
            <a:r>
              <a:rPr lang="en-US" dirty="0"/>
              <a:t>)</a:t>
            </a:r>
            <a:endParaRPr lang="en-US" baseline="30000" dirty="0"/>
          </a:p>
          <a:p>
            <a:r>
              <a:rPr lang="en-US" dirty="0" err="1"/>
              <a:t>Byskov</a:t>
            </a:r>
            <a:r>
              <a:rPr lang="en-US" dirty="0"/>
              <a:t>, 2004: O(2.4023</a:t>
            </a:r>
            <a:r>
              <a:rPr lang="en-US" i="1" baseline="30000" dirty="0"/>
              <a:t>n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All using O</a:t>
            </a:r>
            <a:r>
              <a:rPr lang="en-US" baseline="30000" dirty="0"/>
              <a:t>*</a:t>
            </a:r>
            <a:r>
              <a:rPr lang="en-US" dirty="0"/>
              <a:t>(2</a:t>
            </a:r>
            <a:r>
              <a:rPr lang="en-US" i="1" baseline="30000" dirty="0"/>
              <a:t>n</a:t>
            </a:r>
            <a:r>
              <a:rPr lang="en-US" dirty="0"/>
              <a:t>) memory</a:t>
            </a:r>
          </a:p>
          <a:p>
            <a:pPr lvl="1"/>
            <a:r>
              <a:rPr lang="en-US" dirty="0"/>
              <a:t>Improvements on DP method</a:t>
            </a:r>
          </a:p>
          <a:p>
            <a:r>
              <a:rPr lang="en-US" dirty="0"/>
              <a:t>Björklund, </a:t>
            </a:r>
            <a:r>
              <a:rPr lang="en-US" dirty="0" err="1"/>
              <a:t>Husfeld</a:t>
            </a:r>
            <a:r>
              <a:rPr lang="en-US" dirty="0"/>
              <a:t>, 2005: O(2.3236</a:t>
            </a:r>
            <a:r>
              <a:rPr lang="en-US" i="1" baseline="30000" dirty="0"/>
              <a:t>n</a:t>
            </a:r>
            <a:r>
              <a:rPr lang="en-US" dirty="0"/>
              <a:t>)</a:t>
            </a:r>
            <a:endParaRPr lang="en-US" i="1" baseline="30000" dirty="0"/>
          </a:p>
          <a:p>
            <a:r>
              <a:rPr lang="en-US" dirty="0"/>
              <a:t>Björklund, </a:t>
            </a:r>
            <a:r>
              <a:rPr lang="en-US" dirty="0" err="1"/>
              <a:t>Husfeld</a:t>
            </a:r>
            <a:r>
              <a:rPr lang="en-US" dirty="0"/>
              <a:t>, 2006: Inclusion/Exclusion: O</a:t>
            </a:r>
            <a:r>
              <a:rPr lang="en-US" baseline="30000" dirty="0"/>
              <a:t>*</a:t>
            </a:r>
            <a:r>
              <a:rPr lang="en-US" dirty="0"/>
              <a:t>(</a:t>
            </a:r>
            <a:r>
              <a:rPr lang="en-US" dirty="0">
                <a:latin typeface="Verdana"/>
              </a:rPr>
              <a:t>2</a:t>
            </a:r>
            <a:r>
              <a:rPr lang="en-US" baseline="30000" dirty="0">
                <a:latin typeface="Verdana"/>
              </a:rPr>
              <a:t>n</a:t>
            </a:r>
            <a:r>
              <a:rPr lang="en-US" dirty="0"/>
              <a:t>)</a:t>
            </a:r>
            <a:endParaRPr lang="en-US" baseline="30000" dirty="0">
              <a:latin typeface="Verdana"/>
            </a:endParaRPr>
          </a:p>
          <a:p>
            <a:pPr eaLnBrk="1" hangingPunct="1"/>
            <a:endParaRPr lang="en-US" baseline="30000" dirty="0">
              <a:latin typeface="Verdana"/>
            </a:endParaRPr>
          </a:p>
          <a:p>
            <a:pPr eaLnBrk="1" hangingPunct="1"/>
            <a:r>
              <a:rPr lang="en-US" dirty="0"/>
              <a:t>The last algorithm will be in the next lecture!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Held-Karp algorithm for </a:t>
            </a:r>
            <a:br>
              <a:rPr lang="en-US" dirty="0"/>
            </a:br>
            <a:r>
              <a:rPr lang="en-US" dirty="0"/>
              <a:t>Travelling Salesman Problem</a:t>
            </a:r>
            <a:endParaRPr lang="nl-NL" dirty="0"/>
          </a:p>
        </p:txBody>
      </p:sp>
      <p:sp>
        <p:nvSpPr>
          <p:cNvPr id="8197" name="Rectangle 3"/>
          <p:cNvSpPr>
            <a:spLocks noGrp="1" noChangeArrowheads="1"/>
          </p:cNvSpPr>
          <p:nvPr>
            <p:ph idx="1"/>
          </p:nvPr>
        </p:nvSpPr>
        <p:spPr>
          <a:xfrm>
            <a:off x="1371600" y="1828800"/>
            <a:ext cx="7391400" cy="4192488"/>
          </a:xfrm>
        </p:spPr>
        <p:txBody>
          <a:bodyPr/>
          <a:lstStyle/>
          <a:p>
            <a:pPr eaLnBrk="1" hangingPunct="1"/>
            <a:r>
              <a:rPr lang="en-US" dirty="0"/>
              <a:t>Take one starting vertex </a:t>
            </a:r>
            <a:r>
              <a:rPr lang="en-US" i="1" dirty="0"/>
              <a:t>s </a:t>
            </a:r>
            <a:r>
              <a:rPr lang="en-US" dirty="0"/>
              <a:t>arbitrarily</a:t>
            </a:r>
          </a:p>
          <a:p>
            <a:pPr eaLnBrk="1" hangingPunct="1"/>
            <a:r>
              <a:rPr lang="en-US" dirty="0"/>
              <a:t>For set of vertices </a:t>
            </a:r>
            <a:r>
              <a:rPr lang="en-US" i="1" dirty="0"/>
              <a:t>S </a:t>
            </a:r>
            <a:r>
              <a:rPr lang="en-US" i="1" dirty="0">
                <a:latin typeface="cmsy10"/>
              </a:rPr>
              <a:t>µ</a:t>
            </a:r>
            <a:r>
              <a:rPr lang="en-US" i="1" dirty="0"/>
              <a:t> V\{s}</a:t>
            </a:r>
            <a:r>
              <a:rPr lang="en-US" dirty="0"/>
              <a:t> , vertex </a:t>
            </a:r>
            <a:r>
              <a:rPr lang="en-US" i="1" dirty="0"/>
              <a:t>v </a:t>
            </a:r>
            <a:r>
              <a:rPr lang="en-US" dirty="0">
                <a:latin typeface="Symbol" pitchFamily="18" charset="2"/>
              </a:rPr>
              <a:t>Î</a:t>
            </a:r>
            <a:r>
              <a:rPr lang="en-US" dirty="0"/>
              <a:t> S, let:</a:t>
            </a:r>
          </a:p>
          <a:p>
            <a:pPr eaLnBrk="1" hangingPunct="1">
              <a:buNone/>
            </a:pPr>
            <a:r>
              <a:rPr lang="en-US" i="1" dirty="0"/>
              <a:t>	</a:t>
            </a:r>
            <a:r>
              <a:rPr lang="en-US" dirty="0"/>
              <a:t>B(</a:t>
            </a:r>
            <a:r>
              <a:rPr lang="en-US" dirty="0" err="1"/>
              <a:t>S,v</a:t>
            </a:r>
            <a:r>
              <a:rPr lang="en-US" dirty="0"/>
              <a:t>) = minimum length of a path, that:</a:t>
            </a:r>
          </a:p>
          <a:p>
            <a:pPr lvl="1"/>
            <a:r>
              <a:rPr lang="en-US" dirty="0"/>
              <a:t>Starts in </a:t>
            </a:r>
            <a:r>
              <a:rPr lang="en-US" i="1" dirty="0"/>
              <a:t>s</a:t>
            </a:r>
          </a:p>
          <a:p>
            <a:pPr lvl="1"/>
            <a:r>
              <a:rPr lang="en-US" dirty="0"/>
              <a:t>Visits s and all vertices in </a:t>
            </a:r>
            <a:r>
              <a:rPr lang="en-US" i="1" dirty="0"/>
              <a:t>S</a:t>
            </a:r>
            <a:r>
              <a:rPr lang="en-US" dirty="0"/>
              <a:t> (and no other vertices)</a:t>
            </a:r>
          </a:p>
          <a:p>
            <a:pPr lvl="1"/>
            <a:r>
              <a:rPr lang="en-US" dirty="0"/>
              <a:t>Ends in </a:t>
            </a:r>
            <a:r>
              <a:rPr lang="en-US" i="1" dirty="0"/>
              <a:t>v</a:t>
            </a:r>
          </a:p>
          <a:p>
            <a:pPr lvl="1"/>
            <a:endParaRPr lang="en-US" i="1" dirty="0"/>
          </a:p>
          <a:p>
            <a:pPr>
              <a:buNone/>
            </a:pPr>
            <a:r>
              <a:rPr lang="en-US" b="1" dirty="0">
                <a:solidFill>
                  <a:srgbClr val="C00000"/>
                </a:solidFill>
              </a:rPr>
              <a:t>Algorithm:</a:t>
            </a:r>
          </a:p>
          <a:p>
            <a:pPr>
              <a:buFont typeface="+mj-lt"/>
              <a:buAutoNum type="arabicPeriod"/>
            </a:pPr>
            <a:r>
              <a:rPr lang="en-US" dirty="0"/>
              <a:t>B({v},v) = d(</a:t>
            </a:r>
            <a:r>
              <a:rPr lang="en-US" dirty="0" err="1"/>
              <a:t>s,v</a:t>
            </a:r>
            <a:r>
              <a:rPr lang="en-US" dirty="0"/>
              <a:t>)</a:t>
            </a:r>
          </a:p>
          <a:p>
            <a:pPr>
              <a:buFont typeface="+mj-lt"/>
              <a:buAutoNum type="arabicPeriod"/>
            </a:pPr>
            <a:r>
              <a:rPr lang="en-US" dirty="0"/>
              <a:t>For j = 2 to |V|-1:</a:t>
            </a:r>
          </a:p>
          <a:p>
            <a:pPr lvl="1"/>
            <a:r>
              <a:rPr lang="en-US" dirty="0"/>
              <a:t>For all sets S, |S| = j, for all v</a:t>
            </a:r>
            <a:r>
              <a:rPr lang="en-US" dirty="0">
                <a:latin typeface="Symbol" pitchFamily="18" charset="2"/>
              </a:rPr>
              <a:t> Î</a:t>
            </a:r>
            <a:r>
              <a:rPr lang="en-US" dirty="0"/>
              <a:t> S:</a:t>
            </a:r>
          </a:p>
          <a:p>
            <a:pPr lvl="1"/>
            <a:r>
              <a:rPr lang="en-US" dirty="0"/>
              <a:t>B(</a:t>
            </a:r>
            <a:r>
              <a:rPr lang="en-US" dirty="0" err="1"/>
              <a:t>S,</a:t>
            </a:r>
            <a:r>
              <a:rPr lang="en-US" i="1" dirty="0" err="1"/>
              <a:t>v</a:t>
            </a:r>
            <a:r>
              <a:rPr lang="en-US" dirty="0"/>
              <a:t>) = </a:t>
            </a:r>
            <a:r>
              <a:rPr lang="en-US" dirty="0" err="1"/>
              <a:t>min</a:t>
            </a:r>
            <a:r>
              <a:rPr lang="en-US" baseline="-25000" dirty="0" err="1"/>
              <a:t>w</a:t>
            </a:r>
            <a:r>
              <a:rPr lang="en-US" baseline="-25000" dirty="0" err="1">
                <a:latin typeface="Symbol" pitchFamily="18" charset="2"/>
              </a:rPr>
              <a:t>Î</a:t>
            </a:r>
            <a:r>
              <a:rPr lang="en-US" baseline="-25000" dirty="0" err="1"/>
              <a:t>S</a:t>
            </a:r>
            <a:r>
              <a:rPr lang="en-US" baseline="-25000" dirty="0"/>
              <a:t>\{v}</a:t>
            </a:r>
            <a:r>
              <a:rPr lang="en-US" dirty="0"/>
              <a:t>{ B(S\{</a:t>
            </a:r>
            <a:r>
              <a:rPr lang="en-US" i="1" dirty="0"/>
              <a:t>v</a:t>
            </a:r>
            <a:r>
              <a:rPr lang="en-US" dirty="0"/>
              <a:t>},</a:t>
            </a:r>
            <a:r>
              <a:rPr lang="en-US" i="1" dirty="0"/>
              <a:t>w</a:t>
            </a:r>
            <a:r>
              <a:rPr lang="en-US" dirty="0"/>
              <a:t>}) + d(</a:t>
            </a:r>
            <a:r>
              <a:rPr lang="en-US" i="1" dirty="0" err="1"/>
              <a:t>w,v</a:t>
            </a:r>
            <a:r>
              <a:rPr lang="en-US" dirty="0"/>
              <a:t>) }</a:t>
            </a:r>
          </a:p>
          <a:p>
            <a:pPr>
              <a:buFont typeface="+mj-lt"/>
              <a:buAutoNum type="arabicPeriod"/>
            </a:pPr>
            <a:r>
              <a:rPr lang="en-US" dirty="0"/>
              <a:t>Return min{ B(V\{s},</a:t>
            </a:r>
            <a:r>
              <a:rPr lang="en-US" i="1" dirty="0"/>
              <a:t>v</a:t>
            </a:r>
            <a:r>
              <a:rPr lang="en-US" dirty="0"/>
              <a:t>) + d(</a:t>
            </a:r>
            <a:r>
              <a:rPr lang="en-US" dirty="0" err="1"/>
              <a:t>v,s</a:t>
            </a:r>
            <a:r>
              <a:rPr lang="en-US" dirty="0"/>
              <a:t>) | v </a:t>
            </a:r>
            <a:r>
              <a:rPr lang="en-US" dirty="0">
                <a:latin typeface="Symbol" pitchFamily="18" charset="2"/>
              </a:rPr>
              <a:t>Î </a:t>
            </a:r>
            <a:r>
              <a:rPr lang="en-US" dirty="0"/>
              <a:t>V }</a:t>
            </a:r>
          </a:p>
          <a:p>
            <a:pPr lvl="2" eaLnBrk="1" hangingPunct="1"/>
            <a:endParaRPr lang="en-US" i="1" dirty="0"/>
          </a:p>
        </p:txBody>
      </p:sp>
      <p:grpSp>
        <p:nvGrpSpPr>
          <p:cNvPr id="4" name="Group 3"/>
          <p:cNvGrpSpPr/>
          <p:nvPr/>
        </p:nvGrpSpPr>
        <p:grpSpPr>
          <a:xfrm>
            <a:off x="6804248" y="3501008"/>
            <a:ext cx="2166987" cy="1828800"/>
            <a:chOff x="4853285" y="4965675"/>
            <a:chExt cx="2166987" cy="1828800"/>
          </a:xfrm>
        </p:grpSpPr>
        <p:sp>
          <p:nvSpPr>
            <p:cNvPr id="5" name="Line 32"/>
            <p:cNvSpPr>
              <a:spLocks noChangeShapeType="1"/>
            </p:cNvSpPr>
            <p:nvPr/>
          </p:nvSpPr>
          <p:spPr bwMode="auto">
            <a:xfrm flipH="1">
              <a:off x="5173960" y="5381600"/>
              <a:ext cx="990600" cy="106680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nl-NL"/>
            </a:p>
          </p:txBody>
        </p:sp>
        <p:sp>
          <p:nvSpPr>
            <p:cNvPr id="6" name="Line 33"/>
            <p:cNvSpPr>
              <a:spLocks noChangeShapeType="1"/>
            </p:cNvSpPr>
            <p:nvPr/>
          </p:nvSpPr>
          <p:spPr bwMode="auto">
            <a:xfrm>
              <a:off x="5173960" y="5381600"/>
              <a:ext cx="990600" cy="106680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nl-NL"/>
            </a:p>
          </p:txBody>
        </p:sp>
        <p:sp>
          <p:nvSpPr>
            <p:cNvPr id="7" name="Line 34"/>
            <p:cNvSpPr>
              <a:spLocks noChangeShapeType="1"/>
            </p:cNvSpPr>
            <p:nvPr/>
          </p:nvSpPr>
          <p:spPr bwMode="auto">
            <a:xfrm>
              <a:off x="6164560" y="5381600"/>
              <a:ext cx="0" cy="1066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nl-NL"/>
            </a:p>
          </p:txBody>
        </p:sp>
        <p:sp>
          <p:nvSpPr>
            <p:cNvPr id="8" name="Line 35"/>
            <p:cNvSpPr>
              <a:spLocks noChangeShapeType="1"/>
            </p:cNvSpPr>
            <p:nvPr/>
          </p:nvSpPr>
          <p:spPr bwMode="auto">
            <a:xfrm>
              <a:off x="5173960" y="5381600"/>
              <a:ext cx="0" cy="1066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nl-NL"/>
            </a:p>
          </p:txBody>
        </p:sp>
        <p:sp>
          <p:nvSpPr>
            <p:cNvPr id="9" name="Line 36"/>
            <p:cNvSpPr>
              <a:spLocks noChangeShapeType="1"/>
            </p:cNvSpPr>
            <p:nvPr/>
          </p:nvSpPr>
          <p:spPr bwMode="auto">
            <a:xfrm>
              <a:off x="5173960" y="6448400"/>
              <a:ext cx="10668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nl-NL"/>
            </a:p>
          </p:txBody>
        </p:sp>
        <p:sp>
          <p:nvSpPr>
            <p:cNvPr id="10" name="Line 37"/>
            <p:cNvSpPr>
              <a:spLocks noChangeShapeType="1"/>
            </p:cNvSpPr>
            <p:nvPr/>
          </p:nvSpPr>
          <p:spPr bwMode="auto">
            <a:xfrm>
              <a:off x="5173960" y="5381600"/>
              <a:ext cx="9906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nl-NL"/>
            </a:p>
          </p:txBody>
        </p:sp>
        <p:sp>
          <p:nvSpPr>
            <p:cNvPr id="11" name="Oval 38"/>
            <p:cNvSpPr>
              <a:spLocks noChangeArrowheads="1"/>
            </p:cNvSpPr>
            <p:nvPr/>
          </p:nvSpPr>
          <p:spPr bwMode="auto">
            <a:xfrm>
              <a:off x="5021560" y="5229200"/>
              <a:ext cx="304800" cy="304800"/>
            </a:xfrm>
            <a:prstGeom prst="ellipse">
              <a:avLst/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r>
                <a:rPr lang="en-US"/>
                <a:t>1</a:t>
              </a:r>
              <a:endParaRPr lang="nl-NL"/>
            </a:p>
          </p:txBody>
        </p:sp>
        <p:sp>
          <p:nvSpPr>
            <p:cNvPr id="12" name="Oval 39"/>
            <p:cNvSpPr>
              <a:spLocks noChangeArrowheads="1"/>
            </p:cNvSpPr>
            <p:nvPr/>
          </p:nvSpPr>
          <p:spPr bwMode="auto">
            <a:xfrm>
              <a:off x="6012160" y="5229200"/>
              <a:ext cx="304800" cy="304800"/>
            </a:xfrm>
            <a:prstGeom prst="ellipse">
              <a:avLst/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r>
                <a:rPr lang="en-US"/>
                <a:t>2</a:t>
              </a:r>
              <a:endParaRPr lang="nl-NL"/>
            </a:p>
          </p:txBody>
        </p:sp>
        <p:sp>
          <p:nvSpPr>
            <p:cNvPr id="13" name="Oval 40"/>
            <p:cNvSpPr>
              <a:spLocks noChangeArrowheads="1"/>
            </p:cNvSpPr>
            <p:nvPr/>
          </p:nvSpPr>
          <p:spPr bwMode="auto">
            <a:xfrm>
              <a:off x="5021560" y="6296000"/>
              <a:ext cx="304800" cy="304800"/>
            </a:xfrm>
            <a:prstGeom prst="ellipse">
              <a:avLst/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r>
                <a:rPr lang="en-US"/>
                <a:t>3</a:t>
              </a:r>
              <a:endParaRPr lang="nl-NL"/>
            </a:p>
          </p:txBody>
        </p:sp>
        <p:sp>
          <p:nvSpPr>
            <p:cNvPr id="14" name="Oval 41"/>
            <p:cNvSpPr>
              <a:spLocks noChangeArrowheads="1"/>
            </p:cNvSpPr>
            <p:nvPr/>
          </p:nvSpPr>
          <p:spPr bwMode="auto">
            <a:xfrm>
              <a:off x="6012160" y="6296000"/>
              <a:ext cx="304800" cy="304800"/>
            </a:xfrm>
            <a:prstGeom prst="ellipse">
              <a:avLst/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r>
                <a:rPr lang="en-US"/>
                <a:t>4</a:t>
              </a:r>
              <a:endParaRPr lang="nl-NL"/>
            </a:p>
          </p:txBody>
        </p:sp>
        <p:sp>
          <p:nvSpPr>
            <p:cNvPr id="15" name="Text Box 42"/>
            <p:cNvSpPr txBox="1">
              <a:spLocks noChangeArrowheads="1"/>
            </p:cNvSpPr>
            <p:nvPr/>
          </p:nvSpPr>
          <p:spPr bwMode="auto">
            <a:xfrm>
              <a:off x="5462885" y="4965675"/>
              <a:ext cx="33655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4</a:t>
              </a:r>
              <a:endParaRPr lang="nl-NL"/>
            </a:p>
          </p:txBody>
        </p:sp>
        <p:sp>
          <p:nvSpPr>
            <p:cNvPr id="16" name="Text Box 43"/>
            <p:cNvSpPr txBox="1">
              <a:spLocks noChangeArrowheads="1"/>
            </p:cNvSpPr>
            <p:nvPr/>
          </p:nvSpPr>
          <p:spPr bwMode="auto">
            <a:xfrm>
              <a:off x="6224885" y="5651475"/>
              <a:ext cx="33655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5</a:t>
              </a:r>
              <a:endParaRPr lang="nl-NL"/>
            </a:p>
          </p:txBody>
        </p:sp>
        <p:sp>
          <p:nvSpPr>
            <p:cNvPr id="17" name="Text Box 44"/>
            <p:cNvSpPr txBox="1">
              <a:spLocks noChangeArrowheads="1"/>
            </p:cNvSpPr>
            <p:nvPr/>
          </p:nvSpPr>
          <p:spPr bwMode="auto">
            <a:xfrm>
              <a:off x="5462885" y="6337275"/>
              <a:ext cx="33655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2</a:t>
              </a:r>
              <a:endParaRPr lang="nl-NL"/>
            </a:p>
          </p:txBody>
        </p:sp>
        <p:sp>
          <p:nvSpPr>
            <p:cNvPr id="18" name="Text Box 45"/>
            <p:cNvSpPr txBox="1">
              <a:spLocks noChangeArrowheads="1"/>
            </p:cNvSpPr>
            <p:nvPr/>
          </p:nvSpPr>
          <p:spPr bwMode="auto">
            <a:xfrm>
              <a:off x="4853285" y="5575275"/>
              <a:ext cx="33655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2</a:t>
              </a:r>
              <a:endParaRPr lang="nl-NL"/>
            </a:p>
          </p:txBody>
        </p:sp>
        <p:sp>
          <p:nvSpPr>
            <p:cNvPr id="19" name="Text Box 46"/>
            <p:cNvSpPr txBox="1">
              <a:spLocks noChangeArrowheads="1"/>
            </p:cNvSpPr>
            <p:nvPr/>
          </p:nvSpPr>
          <p:spPr bwMode="auto">
            <a:xfrm>
              <a:off x="5364088" y="5373216"/>
              <a:ext cx="33655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3</a:t>
              </a:r>
              <a:endParaRPr lang="nl-NL" dirty="0"/>
            </a:p>
          </p:txBody>
        </p:sp>
        <p:sp>
          <p:nvSpPr>
            <p:cNvPr id="20" name="Text Box 47"/>
            <p:cNvSpPr txBox="1">
              <a:spLocks noChangeArrowheads="1"/>
            </p:cNvSpPr>
            <p:nvPr/>
          </p:nvSpPr>
          <p:spPr bwMode="auto">
            <a:xfrm>
              <a:off x="5364088" y="5996136"/>
              <a:ext cx="33655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2</a:t>
              </a:r>
              <a:endParaRPr lang="nl-NL" dirty="0"/>
            </a:p>
          </p:txBody>
        </p:sp>
        <p:sp>
          <p:nvSpPr>
            <p:cNvPr id="21" name="Rounded Rectangle 20"/>
            <p:cNvSpPr/>
            <p:nvPr/>
          </p:nvSpPr>
          <p:spPr bwMode="auto">
            <a:xfrm>
              <a:off x="6444208" y="6237312"/>
              <a:ext cx="576064" cy="432048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nl-NL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Times" pitchFamily="18" charset="0"/>
                </a:rPr>
                <a:t>11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1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1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19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19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19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19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19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19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19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19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Held-Karp algorithm for TSP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828800"/>
            <a:ext cx="7391400" cy="4192488"/>
          </a:xfrm>
        </p:spPr>
        <p:txBody>
          <a:bodyPr/>
          <a:lstStyle/>
          <a:p>
            <a:pPr>
              <a:buNone/>
            </a:pPr>
            <a:r>
              <a:rPr lang="en-US" b="1" dirty="0">
                <a:solidFill>
                  <a:srgbClr val="C00000"/>
                </a:solidFill>
              </a:rPr>
              <a:t>Algorithm:</a:t>
            </a:r>
          </a:p>
          <a:p>
            <a:pPr>
              <a:buFont typeface="+mj-lt"/>
              <a:buAutoNum type="arabicPeriod"/>
            </a:pPr>
            <a:r>
              <a:rPr lang="en-US" dirty="0"/>
              <a:t>B({v},v) = d(</a:t>
            </a:r>
            <a:r>
              <a:rPr lang="en-US" dirty="0" err="1"/>
              <a:t>s,v</a:t>
            </a:r>
            <a:r>
              <a:rPr lang="en-US" dirty="0"/>
              <a:t>)</a:t>
            </a:r>
          </a:p>
          <a:p>
            <a:pPr>
              <a:buFont typeface="+mj-lt"/>
              <a:buAutoNum type="arabicPeriod"/>
            </a:pPr>
            <a:r>
              <a:rPr lang="en-US" dirty="0"/>
              <a:t>For j = 2 to |V|-1:</a:t>
            </a:r>
          </a:p>
          <a:p>
            <a:pPr lvl="1"/>
            <a:r>
              <a:rPr lang="en-US" dirty="0"/>
              <a:t>For all sets S, |S| = j: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sz="1600" dirty="0"/>
              <a:t>For all v</a:t>
            </a:r>
            <a:r>
              <a:rPr lang="en-US" sz="1600" dirty="0">
                <a:latin typeface="Symbol" pitchFamily="18" charset="2"/>
              </a:rPr>
              <a:t> Î</a:t>
            </a:r>
            <a:r>
              <a:rPr lang="en-US" sz="1600" dirty="0"/>
              <a:t> S:</a:t>
            </a:r>
          </a:p>
          <a:p>
            <a:pPr lvl="3">
              <a:buFont typeface="Wingdings" panose="05000000000000000000" pitchFamily="2" charset="2"/>
              <a:buChar char="Ø"/>
            </a:pPr>
            <a:r>
              <a:rPr lang="en-US" sz="1600" dirty="0"/>
              <a:t>B(</a:t>
            </a:r>
            <a:r>
              <a:rPr lang="en-US" sz="1600" dirty="0" err="1"/>
              <a:t>S,</a:t>
            </a:r>
            <a:r>
              <a:rPr lang="en-US" sz="1600" i="1" dirty="0" err="1"/>
              <a:t>v</a:t>
            </a:r>
            <a:r>
              <a:rPr lang="en-US" sz="1600" dirty="0"/>
              <a:t>) = </a:t>
            </a:r>
            <a:r>
              <a:rPr lang="en-US" sz="1600" dirty="0" err="1"/>
              <a:t>min</a:t>
            </a:r>
            <a:r>
              <a:rPr lang="en-US" sz="1600" baseline="-25000" dirty="0" err="1"/>
              <a:t>w</a:t>
            </a:r>
            <a:r>
              <a:rPr lang="en-US" sz="1600" baseline="-25000" dirty="0" err="1">
                <a:latin typeface="Symbol" pitchFamily="18" charset="2"/>
              </a:rPr>
              <a:t>Î</a:t>
            </a:r>
            <a:r>
              <a:rPr lang="en-US" sz="1600" baseline="-25000" dirty="0" err="1"/>
              <a:t>S</a:t>
            </a:r>
            <a:r>
              <a:rPr lang="en-US" sz="1600" baseline="-25000" dirty="0"/>
              <a:t>\{v}</a:t>
            </a:r>
            <a:r>
              <a:rPr lang="en-US" sz="1600" dirty="0"/>
              <a:t>{ B(S\{</a:t>
            </a:r>
            <a:r>
              <a:rPr lang="en-US" sz="1600" i="1" dirty="0"/>
              <a:t>v</a:t>
            </a:r>
            <a:r>
              <a:rPr lang="en-US" sz="1600" dirty="0"/>
              <a:t>},</a:t>
            </a:r>
            <a:r>
              <a:rPr lang="en-US" sz="1600" i="1" dirty="0"/>
              <a:t>w</a:t>
            </a:r>
            <a:r>
              <a:rPr lang="en-US" sz="1600" dirty="0"/>
              <a:t>}) + d(</a:t>
            </a:r>
            <a:r>
              <a:rPr lang="en-US" sz="1600" i="1" dirty="0" err="1"/>
              <a:t>w,v</a:t>
            </a:r>
            <a:r>
              <a:rPr lang="en-US" sz="1600" dirty="0"/>
              <a:t>) }</a:t>
            </a:r>
          </a:p>
          <a:p>
            <a:pPr>
              <a:buFont typeface="+mj-lt"/>
              <a:buAutoNum type="arabicPeriod"/>
            </a:pPr>
            <a:r>
              <a:rPr lang="en-US" dirty="0"/>
              <a:t>Return min{ B(V\{s},</a:t>
            </a:r>
            <a:r>
              <a:rPr lang="en-US" i="1" dirty="0"/>
              <a:t>v</a:t>
            </a:r>
            <a:r>
              <a:rPr lang="en-US" dirty="0"/>
              <a:t>) + d(</a:t>
            </a:r>
            <a:r>
              <a:rPr lang="en-US" dirty="0" err="1"/>
              <a:t>v,s</a:t>
            </a:r>
            <a:r>
              <a:rPr lang="en-US" dirty="0"/>
              <a:t>) | v </a:t>
            </a:r>
            <a:r>
              <a:rPr lang="en-US" dirty="0">
                <a:latin typeface="Symbol" pitchFamily="18" charset="2"/>
              </a:rPr>
              <a:t>Î </a:t>
            </a:r>
            <a:r>
              <a:rPr lang="en-US" dirty="0"/>
              <a:t>V }</a:t>
            </a:r>
          </a:p>
          <a:p>
            <a:endParaRPr lang="en-US" dirty="0"/>
          </a:p>
          <a:p>
            <a:r>
              <a:rPr lang="en-US" dirty="0"/>
              <a:t>This improves the trivial O*( n! ) algorithm</a:t>
            </a:r>
          </a:p>
          <a:p>
            <a:pPr lvl="1"/>
            <a:r>
              <a:rPr lang="en-US" dirty="0"/>
              <a:t>Time: O(</a:t>
            </a:r>
            <a:r>
              <a:rPr lang="en-US" i="1" dirty="0"/>
              <a:t>n</a:t>
            </a:r>
            <a:r>
              <a:rPr lang="en-US" baseline="30000" dirty="0"/>
              <a:t>2</a:t>
            </a:r>
            <a:r>
              <a:rPr lang="en-US" dirty="0"/>
              <a:t>2</a:t>
            </a:r>
            <a:r>
              <a:rPr lang="en-US" i="1" baseline="30000" dirty="0"/>
              <a:t>n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Space: O(n2</a:t>
            </a:r>
            <a:r>
              <a:rPr lang="en-US" baseline="30000" dirty="0"/>
              <a:t>n</a:t>
            </a:r>
            <a:r>
              <a:rPr lang="en-US" dirty="0"/>
              <a:t>)</a:t>
            </a:r>
            <a:endParaRPr lang="nl-NL" dirty="0"/>
          </a:p>
          <a:p>
            <a:pPr lvl="1"/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6588224" y="1268760"/>
            <a:ext cx="2166987" cy="1828800"/>
            <a:chOff x="4853285" y="4965675"/>
            <a:chExt cx="2166987" cy="1828800"/>
          </a:xfrm>
        </p:grpSpPr>
        <p:sp>
          <p:nvSpPr>
            <p:cNvPr id="5" name="Line 32"/>
            <p:cNvSpPr>
              <a:spLocks noChangeShapeType="1"/>
            </p:cNvSpPr>
            <p:nvPr/>
          </p:nvSpPr>
          <p:spPr bwMode="auto">
            <a:xfrm flipH="1">
              <a:off x="5173960" y="5381600"/>
              <a:ext cx="990600" cy="106680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nl-NL"/>
            </a:p>
          </p:txBody>
        </p:sp>
        <p:sp>
          <p:nvSpPr>
            <p:cNvPr id="6" name="Line 33"/>
            <p:cNvSpPr>
              <a:spLocks noChangeShapeType="1"/>
            </p:cNvSpPr>
            <p:nvPr/>
          </p:nvSpPr>
          <p:spPr bwMode="auto">
            <a:xfrm>
              <a:off x="5173960" y="5381600"/>
              <a:ext cx="990600" cy="106680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nl-NL"/>
            </a:p>
          </p:txBody>
        </p:sp>
        <p:sp>
          <p:nvSpPr>
            <p:cNvPr id="7" name="Line 34"/>
            <p:cNvSpPr>
              <a:spLocks noChangeShapeType="1"/>
            </p:cNvSpPr>
            <p:nvPr/>
          </p:nvSpPr>
          <p:spPr bwMode="auto">
            <a:xfrm>
              <a:off x="6164560" y="5381600"/>
              <a:ext cx="0" cy="1066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nl-NL"/>
            </a:p>
          </p:txBody>
        </p:sp>
        <p:sp>
          <p:nvSpPr>
            <p:cNvPr id="8" name="Line 35"/>
            <p:cNvSpPr>
              <a:spLocks noChangeShapeType="1"/>
            </p:cNvSpPr>
            <p:nvPr/>
          </p:nvSpPr>
          <p:spPr bwMode="auto">
            <a:xfrm>
              <a:off x="5173960" y="5381600"/>
              <a:ext cx="0" cy="1066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nl-NL"/>
            </a:p>
          </p:txBody>
        </p:sp>
        <p:sp>
          <p:nvSpPr>
            <p:cNvPr id="9" name="Line 36"/>
            <p:cNvSpPr>
              <a:spLocks noChangeShapeType="1"/>
            </p:cNvSpPr>
            <p:nvPr/>
          </p:nvSpPr>
          <p:spPr bwMode="auto">
            <a:xfrm>
              <a:off x="5173960" y="6448400"/>
              <a:ext cx="10668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nl-NL"/>
            </a:p>
          </p:txBody>
        </p:sp>
        <p:sp>
          <p:nvSpPr>
            <p:cNvPr id="10" name="Line 37"/>
            <p:cNvSpPr>
              <a:spLocks noChangeShapeType="1"/>
            </p:cNvSpPr>
            <p:nvPr/>
          </p:nvSpPr>
          <p:spPr bwMode="auto">
            <a:xfrm>
              <a:off x="5173960" y="5381600"/>
              <a:ext cx="9906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nl-NL"/>
            </a:p>
          </p:txBody>
        </p:sp>
        <p:sp>
          <p:nvSpPr>
            <p:cNvPr id="11" name="Oval 38"/>
            <p:cNvSpPr>
              <a:spLocks noChangeArrowheads="1"/>
            </p:cNvSpPr>
            <p:nvPr/>
          </p:nvSpPr>
          <p:spPr bwMode="auto">
            <a:xfrm>
              <a:off x="5021560" y="5229200"/>
              <a:ext cx="304800" cy="304800"/>
            </a:xfrm>
            <a:prstGeom prst="ellipse">
              <a:avLst/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r>
                <a:rPr lang="en-US"/>
                <a:t>1</a:t>
              </a:r>
              <a:endParaRPr lang="nl-NL"/>
            </a:p>
          </p:txBody>
        </p:sp>
        <p:sp>
          <p:nvSpPr>
            <p:cNvPr id="12" name="Oval 39"/>
            <p:cNvSpPr>
              <a:spLocks noChangeArrowheads="1"/>
            </p:cNvSpPr>
            <p:nvPr/>
          </p:nvSpPr>
          <p:spPr bwMode="auto">
            <a:xfrm>
              <a:off x="6012160" y="5229200"/>
              <a:ext cx="304800" cy="304800"/>
            </a:xfrm>
            <a:prstGeom prst="ellipse">
              <a:avLst/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r>
                <a:rPr lang="en-US"/>
                <a:t>2</a:t>
              </a:r>
              <a:endParaRPr lang="nl-NL"/>
            </a:p>
          </p:txBody>
        </p:sp>
        <p:sp>
          <p:nvSpPr>
            <p:cNvPr id="13" name="Oval 40"/>
            <p:cNvSpPr>
              <a:spLocks noChangeArrowheads="1"/>
            </p:cNvSpPr>
            <p:nvPr/>
          </p:nvSpPr>
          <p:spPr bwMode="auto">
            <a:xfrm>
              <a:off x="5021560" y="6296000"/>
              <a:ext cx="304800" cy="304800"/>
            </a:xfrm>
            <a:prstGeom prst="ellipse">
              <a:avLst/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r>
                <a:rPr lang="en-US"/>
                <a:t>3</a:t>
              </a:r>
              <a:endParaRPr lang="nl-NL"/>
            </a:p>
          </p:txBody>
        </p:sp>
        <p:sp>
          <p:nvSpPr>
            <p:cNvPr id="14" name="Oval 41"/>
            <p:cNvSpPr>
              <a:spLocks noChangeArrowheads="1"/>
            </p:cNvSpPr>
            <p:nvPr/>
          </p:nvSpPr>
          <p:spPr bwMode="auto">
            <a:xfrm>
              <a:off x="6012160" y="6296000"/>
              <a:ext cx="304800" cy="304800"/>
            </a:xfrm>
            <a:prstGeom prst="ellipse">
              <a:avLst/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r>
                <a:rPr lang="en-US"/>
                <a:t>4</a:t>
              </a:r>
              <a:endParaRPr lang="nl-NL"/>
            </a:p>
          </p:txBody>
        </p:sp>
        <p:sp>
          <p:nvSpPr>
            <p:cNvPr id="15" name="Text Box 42"/>
            <p:cNvSpPr txBox="1">
              <a:spLocks noChangeArrowheads="1"/>
            </p:cNvSpPr>
            <p:nvPr/>
          </p:nvSpPr>
          <p:spPr bwMode="auto">
            <a:xfrm>
              <a:off x="5462885" y="4965675"/>
              <a:ext cx="33655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4</a:t>
              </a:r>
              <a:endParaRPr lang="nl-NL"/>
            </a:p>
          </p:txBody>
        </p:sp>
        <p:sp>
          <p:nvSpPr>
            <p:cNvPr id="16" name="Text Box 43"/>
            <p:cNvSpPr txBox="1">
              <a:spLocks noChangeArrowheads="1"/>
            </p:cNvSpPr>
            <p:nvPr/>
          </p:nvSpPr>
          <p:spPr bwMode="auto">
            <a:xfrm>
              <a:off x="6224885" y="5651475"/>
              <a:ext cx="33655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5</a:t>
              </a:r>
              <a:endParaRPr lang="nl-NL"/>
            </a:p>
          </p:txBody>
        </p:sp>
        <p:sp>
          <p:nvSpPr>
            <p:cNvPr id="17" name="Text Box 44"/>
            <p:cNvSpPr txBox="1">
              <a:spLocks noChangeArrowheads="1"/>
            </p:cNvSpPr>
            <p:nvPr/>
          </p:nvSpPr>
          <p:spPr bwMode="auto">
            <a:xfrm>
              <a:off x="5462885" y="6337275"/>
              <a:ext cx="33655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2</a:t>
              </a:r>
              <a:endParaRPr lang="nl-NL"/>
            </a:p>
          </p:txBody>
        </p:sp>
        <p:sp>
          <p:nvSpPr>
            <p:cNvPr id="18" name="Text Box 45"/>
            <p:cNvSpPr txBox="1">
              <a:spLocks noChangeArrowheads="1"/>
            </p:cNvSpPr>
            <p:nvPr/>
          </p:nvSpPr>
          <p:spPr bwMode="auto">
            <a:xfrm>
              <a:off x="4853285" y="5575275"/>
              <a:ext cx="33655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2</a:t>
              </a:r>
              <a:endParaRPr lang="nl-NL"/>
            </a:p>
          </p:txBody>
        </p:sp>
        <p:sp>
          <p:nvSpPr>
            <p:cNvPr id="19" name="Text Box 46"/>
            <p:cNvSpPr txBox="1">
              <a:spLocks noChangeArrowheads="1"/>
            </p:cNvSpPr>
            <p:nvPr/>
          </p:nvSpPr>
          <p:spPr bwMode="auto">
            <a:xfrm>
              <a:off x="5364088" y="5373216"/>
              <a:ext cx="33655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3</a:t>
              </a:r>
              <a:endParaRPr lang="nl-NL" dirty="0"/>
            </a:p>
          </p:txBody>
        </p:sp>
        <p:sp>
          <p:nvSpPr>
            <p:cNvPr id="20" name="Text Box 47"/>
            <p:cNvSpPr txBox="1">
              <a:spLocks noChangeArrowheads="1"/>
            </p:cNvSpPr>
            <p:nvPr/>
          </p:nvSpPr>
          <p:spPr bwMode="auto">
            <a:xfrm>
              <a:off x="5364088" y="5996136"/>
              <a:ext cx="33655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2</a:t>
              </a:r>
              <a:endParaRPr lang="nl-NL" dirty="0"/>
            </a:p>
          </p:txBody>
        </p:sp>
        <p:sp>
          <p:nvSpPr>
            <p:cNvPr id="21" name="Rounded Rectangle 20"/>
            <p:cNvSpPr/>
            <p:nvPr/>
          </p:nvSpPr>
          <p:spPr bwMode="auto">
            <a:xfrm>
              <a:off x="6444208" y="6237312"/>
              <a:ext cx="576064" cy="432048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nl-NL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Times" pitchFamily="18" charset="0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BRANCHING ALGORITHMS</a:t>
            </a:r>
            <a:br>
              <a:rPr lang="en-GB" dirty="0"/>
            </a:br>
            <a:r>
              <a:rPr lang="en-GB" dirty="0"/>
              <a:t>(DIVIDE AND CONQUER)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Exponential-time algorithms </a:t>
            </a:r>
            <a:r>
              <a:rPr lang="en-GB" dirty="0"/>
              <a:t>– Advanced Algorithms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Branching algorithm: divide and conquer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371600" y="1828800"/>
            <a:ext cx="7520880" cy="4336504"/>
          </a:xfrm>
        </p:spPr>
        <p:txBody>
          <a:bodyPr/>
          <a:lstStyle/>
          <a:p>
            <a:r>
              <a:rPr lang="en-GB" dirty="0"/>
              <a:t>Branching Algorithm:</a:t>
            </a:r>
          </a:p>
          <a:p>
            <a:pPr lvl="1"/>
            <a:r>
              <a:rPr lang="en-GB" dirty="0"/>
              <a:t>Algorithm that splits the current problem instance into multiple easier </a:t>
            </a:r>
            <a:r>
              <a:rPr lang="en-GB" dirty="0" err="1"/>
              <a:t>subinstances</a:t>
            </a:r>
            <a:r>
              <a:rPr lang="en-GB" dirty="0"/>
              <a:t> that are solved recursively</a:t>
            </a:r>
          </a:p>
          <a:p>
            <a:pPr lvl="1"/>
            <a:r>
              <a:rPr lang="en-GB" dirty="0"/>
              <a:t>Earlier example: maximum/maximal independent set algorithm</a:t>
            </a:r>
          </a:p>
          <a:p>
            <a:pPr lvl="1"/>
            <a:endParaRPr lang="en-GB" dirty="0"/>
          </a:p>
          <a:p>
            <a:r>
              <a:rPr lang="en-GB" dirty="0"/>
              <a:t>Let </a:t>
            </a:r>
            <a:r>
              <a:rPr lang="en-GB" i="1" dirty="0"/>
              <a:t>T</a:t>
            </a:r>
            <a:r>
              <a:rPr lang="en-GB" dirty="0"/>
              <a:t>(</a:t>
            </a:r>
            <a:r>
              <a:rPr lang="en-GB" i="1" dirty="0"/>
              <a:t>n</a:t>
            </a:r>
            <a:r>
              <a:rPr lang="en-GB" dirty="0"/>
              <a:t>) be the number of subproblems generated on an instance of size </a:t>
            </a:r>
            <a:r>
              <a:rPr lang="en-GB" i="1" dirty="0"/>
              <a:t>n</a:t>
            </a:r>
            <a:endParaRPr lang="en-GB" dirty="0"/>
          </a:p>
          <a:p>
            <a:pPr lvl="1"/>
            <a:r>
              <a:rPr lang="en-GB" dirty="0"/>
              <a:t>Analysis of branching algorithm generating k </a:t>
            </a:r>
            <a:r>
              <a:rPr lang="en-GB" dirty="0" err="1"/>
              <a:t>subproblems</a:t>
            </a:r>
            <a:r>
              <a:rPr lang="en-GB" dirty="0"/>
              <a:t>, where </a:t>
            </a:r>
            <a:r>
              <a:rPr lang="en-GB" dirty="0" err="1"/>
              <a:t>subproblem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is </a:t>
            </a:r>
            <a:r>
              <a:rPr lang="en-GB" dirty="0" err="1">
                <a:latin typeface="Verdana"/>
              </a:rPr>
              <a:t>d</a:t>
            </a:r>
            <a:r>
              <a:rPr lang="en-GB" baseline="-25000" dirty="0" err="1">
                <a:latin typeface="Verdana"/>
              </a:rPr>
              <a:t>i</a:t>
            </a:r>
            <a:r>
              <a:rPr lang="en-GB" dirty="0"/>
              <a:t> smaller than the original instance:</a:t>
            </a:r>
          </a:p>
          <a:p>
            <a:pPr lvl="1"/>
            <a:r>
              <a:rPr lang="en-GB" i="1" dirty="0"/>
              <a:t>T</a:t>
            </a:r>
            <a:r>
              <a:rPr lang="en-GB" dirty="0"/>
              <a:t>( </a:t>
            </a:r>
            <a:r>
              <a:rPr lang="en-GB" i="1" dirty="0"/>
              <a:t>n</a:t>
            </a:r>
            <a:r>
              <a:rPr lang="en-GB" dirty="0"/>
              <a:t> ) </a:t>
            </a:r>
            <a:r>
              <a:rPr lang="en-GB" dirty="0">
                <a:latin typeface="cmsy10"/>
              </a:rPr>
              <a:t>·</a:t>
            </a:r>
            <a:r>
              <a:rPr lang="en-GB" dirty="0"/>
              <a:t> </a:t>
            </a:r>
            <a:r>
              <a:rPr lang="en-GB" i="1" dirty="0"/>
              <a:t>T</a:t>
            </a:r>
            <a:r>
              <a:rPr lang="en-GB" dirty="0"/>
              <a:t>( </a:t>
            </a:r>
            <a:r>
              <a:rPr lang="en-GB" i="1" dirty="0"/>
              <a:t>n</a:t>
            </a:r>
            <a:r>
              <a:rPr lang="en-GB" dirty="0"/>
              <a:t> –</a:t>
            </a:r>
            <a:r>
              <a:rPr lang="en-GB" i="1" dirty="0"/>
              <a:t> </a:t>
            </a:r>
            <a:r>
              <a:rPr lang="en-GB" i="1" dirty="0">
                <a:latin typeface="Verdana"/>
              </a:rPr>
              <a:t>d</a:t>
            </a:r>
            <a:r>
              <a:rPr lang="en-GB" i="1" baseline="-25000" dirty="0">
                <a:latin typeface="Verdana"/>
              </a:rPr>
              <a:t>1</a:t>
            </a:r>
            <a:r>
              <a:rPr lang="en-GB" dirty="0"/>
              <a:t> ) + </a:t>
            </a:r>
            <a:r>
              <a:rPr lang="en-GB" i="1" dirty="0"/>
              <a:t>T</a:t>
            </a:r>
            <a:r>
              <a:rPr lang="en-GB" dirty="0"/>
              <a:t>( </a:t>
            </a:r>
            <a:r>
              <a:rPr lang="en-GB" i="1" dirty="0"/>
              <a:t>n</a:t>
            </a:r>
            <a:r>
              <a:rPr lang="en-GB" dirty="0"/>
              <a:t> – </a:t>
            </a:r>
            <a:r>
              <a:rPr lang="en-GB" i="1" dirty="0">
                <a:latin typeface="Verdana"/>
              </a:rPr>
              <a:t>d</a:t>
            </a:r>
            <a:r>
              <a:rPr lang="en-GB" i="1" baseline="-25000" dirty="0">
                <a:latin typeface="Verdana"/>
              </a:rPr>
              <a:t>2</a:t>
            </a:r>
            <a:r>
              <a:rPr lang="en-GB" dirty="0"/>
              <a:t> ) + … + </a:t>
            </a:r>
            <a:r>
              <a:rPr lang="en-GB" i="1" dirty="0"/>
              <a:t>T</a:t>
            </a:r>
            <a:r>
              <a:rPr lang="en-GB" dirty="0"/>
              <a:t>( </a:t>
            </a:r>
            <a:r>
              <a:rPr lang="en-GB" i="1" dirty="0"/>
              <a:t>n</a:t>
            </a:r>
            <a:r>
              <a:rPr lang="en-GB" dirty="0"/>
              <a:t> – </a:t>
            </a:r>
            <a:r>
              <a:rPr lang="en-GB" i="1" dirty="0" err="1">
                <a:latin typeface="Verdana"/>
              </a:rPr>
              <a:t>d</a:t>
            </a:r>
            <a:r>
              <a:rPr lang="en-GB" i="1" baseline="-25000" dirty="0" err="1">
                <a:latin typeface="Verdana"/>
              </a:rPr>
              <a:t>k</a:t>
            </a:r>
            <a:r>
              <a:rPr lang="en-GB" dirty="0"/>
              <a:t> ) + 1</a:t>
            </a:r>
          </a:p>
          <a:p>
            <a:pPr lvl="1"/>
            <a:r>
              <a:rPr lang="en-GB" i="1" dirty="0"/>
              <a:t>T</a:t>
            </a:r>
            <a:r>
              <a:rPr lang="en-GB" dirty="0"/>
              <a:t>( 1 ) = 1</a:t>
            </a:r>
          </a:p>
          <a:p>
            <a:pPr>
              <a:buNone/>
            </a:pPr>
            <a:endParaRPr lang="en-GB" sz="800" dirty="0"/>
          </a:p>
          <a:p>
            <a:r>
              <a:rPr lang="en-GB" dirty="0"/>
              <a:t>Solution of this recurrence is </a:t>
            </a:r>
            <a:r>
              <a:rPr lang="en-GB" i="1" dirty="0"/>
              <a:t>O</a:t>
            </a:r>
            <a:r>
              <a:rPr lang="en-GB" dirty="0"/>
              <a:t>*( </a:t>
            </a:r>
            <a:r>
              <a:rPr lang="en-GB" i="1" dirty="0">
                <a:latin typeface="Verdana"/>
              </a:rPr>
              <a:t>a</a:t>
            </a:r>
            <a:r>
              <a:rPr lang="en-GB" i="1" baseline="30000" dirty="0">
                <a:latin typeface="Verdana"/>
              </a:rPr>
              <a:t>n</a:t>
            </a:r>
            <a:r>
              <a:rPr lang="en-GB" dirty="0"/>
              <a:t> ) where </a:t>
            </a:r>
            <a:r>
              <a:rPr lang="en-GB" i="1" dirty="0"/>
              <a:t>a</a:t>
            </a:r>
            <a:r>
              <a:rPr lang="en-GB" dirty="0"/>
              <a:t> is the solution to: </a:t>
            </a:r>
            <a:r>
              <a:rPr lang="en-GB" i="1" dirty="0" err="1">
                <a:latin typeface="Verdana"/>
              </a:rPr>
              <a:t>x</a:t>
            </a:r>
            <a:r>
              <a:rPr lang="en-GB" i="1" baseline="30000" dirty="0" err="1">
                <a:latin typeface="Verdana"/>
              </a:rPr>
              <a:t>n</a:t>
            </a:r>
            <a:r>
              <a:rPr lang="en-GB" i="1" dirty="0"/>
              <a:t> – </a:t>
            </a:r>
            <a:r>
              <a:rPr lang="en-GB" i="1" dirty="0">
                <a:latin typeface="Verdana"/>
              </a:rPr>
              <a:t>x</a:t>
            </a:r>
            <a:r>
              <a:rPr lang="en-GB" i="1" baseline="30000" dirty="0">
                <a:latin typeface="Verdana"/>
              </a:rPr>
              <a:t>n-d</a:t>
            </a:r>
            <a:r>
              <a:rPr lang="en-GB" i="1" baseline="15000" dirty="0">
                <a:latin typeface="Verdana"/>
              </a:rPr>
              <a:t>1</a:t>
            </a:r>
            <a:r>
              <a:rPr lang="en-GB" i="1" dirty="0"/>
              <a:t> – </a:t>
            </a:r>
            <a:r>
              <a:rPr lang="en-GB" i="1" dirty="0">
                <a:latin typeface="Verdana"/>
              </a:rPr>
              <a:t>x</a:t>
            </a:r>
            <a:r>
              <a:rPr lang="en-GB" i="1" baseline="30000" dirty="0">
                <a:latin typeface="Verdana"/>
              </a:rPr>
              <a:t>n-d</a:t>
            </a:r>
            <a:r>
              <a:rPr lang="en-GB" i="1" baseline="15000" dirty="0">
                <a:latin typeface="Verdana"/>
              </a:rPr>
              <a:t>2</a:t>
            </a:r>
            <a:r>
              <a:rPr lang="en-GB" i="1" dirty="0"/>
              <a:t> - … - </a:t>
            </a:r>
            <a:r>
              <a:rPr lang="en-GB" i="1" dirty="0" err="1">
                <a:latin typeface="Verdana"/>
              </a:rPr>
              <a:t>x</a:t>
            </a:r>
            <a:r>
              <a:rPr lang="en-GB" i="1" baseline="30000" dirty="0" err="1">
                <a:latin typeface="Verdana"/>
              </a:rPr>
              <a:t>n</a:t>
            </a:r>
            <a:r>
              <a:rPr lang="en-GB" i="1" baseline="30000" dirty="0">
                <a:latin typeface="Verdana"/>
              </a:rPr>
              <a:t>-d</a:t>
            </a:r>
            <a:r>
              <a:rPr lang="en-GB" i="1" baseline="15000" dirty="0">
                <a:latin typeface="Verdana"/>
              </a:rPr>
              <a:t>k</a:t>
            </a:r>
            <a:r>
              <a:rPr lang="en-GB" dirty="0"/>
              <a:t> = 0</a:t>
            </a:r>
          </a:p>
          <a:p>
            <a:pPr lvl="1"/>
            <a:r>
              <a:rPr lang="en-GB" i="1" dirty="0"/>
              <a:t>a</a:t>
            </a:r>
            <a:r>
              <a:rPr lang="en-GB" dirty="0"/>
              <a:t> often denoted as </a:t>
            </a:r>
            <a:r>
              <a:rPr lang="en-GB" dirty="0">
                <a:latin typeface="cmmi10"/>
              </a:rPr>
              <a:t>¿</a:t>
            </a:r>
            <a:r>
              <a:rPr lang="en-GB" dirty="0"/>
              <a:t>(</a:t>
            </a:r>
            <a:r>
              <a:rPr lang="en-GB" i="1" dirty="0"/>
              <a:t> </a:t>
            </a:r>
            <a:r>
              <a:rPr lang="en-GB" i="1" dirty="0">
                <a:latin typeface="Verdana"/>
              </a:rPr>
              <a:t>d</a:t>
            </a:r>
            <a:r>
              <a:rPr lang="en-GB" i="1" baseline="-25000" dirty="0">
                <a:latin typeface="Verdana"/>
              </a:rPr>
              <a:t>1</a:t>
            </a:r>
            <a:r>
              <a:rPr lang="en-GB" i="1" dirty="0"/>
              <a:t>, </a:t>
            </a:r>
            <a:r>
              <a:rPr lang="en-GB" i="1" dirty="0">
                <a:latin typeface="Verdana"/>
              </a:rPr>
              <a:t>d</a:t>
            </a:r>
            <a:r>
              <a:rPr lang="en-GB" i="1" baseline="-25000" dirty="0">
                <a:latin typeface="Verdana"/>
              </a:rPr>
              <a:t>2</a:t>
            </a:r>
            <a:r>
              <a:rPr lang="en-GB" i="1" dirty="0"/>
              <a:t>, …, </a:t>
            </a:r>
            <a:r>
              <a:rPr lang="en-GB" i="1" dirty="0">
                <a:latin typeface="Verdana"/>
              </a:rPr>
              <a:t>d</a:t>
            </a:r>
            <a:r>
              <a:rPr lang="en-GB" i="1" baseline="-25000" dirty="0">
                <a:latin typeface="Verdana"/>
              </a:rPr>
              <a:t>k</a:t>
            </a:r>
            <a:r>
              <a:rPr lang="en-GB" dirty="0"/>
              <a:t> )</a:t>
            </a:r>
          </a:p>
          <a:p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Branching</a:t>
            </a:r>
            <a:r>
              <a:rPr lang="nl-NL" dirty="0"/>
              <a:t> </a:t>
            </a:r>
            <a:r>
              <a:rPr lang="nl-NL" dirty="0" err="1"/>
              <a:t>algorithm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k-SAT</a:t>
            </a:r>
            <a:endParaRPr lang="nl-NL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k-SAT (k-</a:t>
            </a:r>
            <a:r>
              <a:rPr lang="en-GB" b="1" dirty="0" err="1"/>
              <a:t>Satisfiability</a:t>
            </a:r>
            <a:r>
              <a:rPr lang="en-GB" b="1" dirty="0"/>
              <a:t>):</a:t>
            </a:r>
          </a:p>
          <a:p>
            <a:pPr lvl="1">
              <a:tabLst>
                <a:tab pos="1790700" algn="l"/>
              </a:tabLst>
            </a:pPr>
            <a:r>
              <a:rPr lang="en-GB" u="sng" dirty="0"/>
              <a:t>Instance</a:t>
            </a:r>
            <a:r>
              <a:rPr lang="en-GB" dirty="0"/>
              <a:t>:	set of clauses C (logical formula in CNF format) 	where each clause contains at most k literals</a:t>
            </a:r>
          </a:p>
          <a:p>
            <a:pPr lvl="1">
              <a:tabLst>
                <a:tab pos="1790700" algn="l"/>
              </a:tabLst>
            </a:pPr>
            <a:r>
              <a:rPr lang="en-GB" u="sng" dirty="0"/>
              <a:t>Question</a:t>
            </a:r>
            <a:r>
              <a:rPr lang="en-GB" dirty="0"/>
              <a:t>:	does there exist a satisfying assignment to the 	variables in C, i.e., a truth assignment such that 	each clause has at least one literal set to true?</a:t>
            </a:r>
          </a:p>
          <a:p>
            <a:pPr lvl="1">
              <a:tabLst>
                <a:tab pos="1790700" algn="l"/>
              </a:tabLst>
            </a:pPr>
            <a:endParaRPr lang="en-GB" dirty="0"/>
          </a:p>
          <a:p>
            <a:pPr>
              <a:tabLst>
                <a:tab pos="1790700" algn="l"/>
              </a:tabLst>
            </a:pPr>
            <a:r>
              <a:rPr lang="en-GB" dirty="0"/>
              <a:t>Trivial algorithm: O*(2</a:t>
            </a:r>
            <a:r>
              <a:rPr lang="en-GB" baseline="30000" dirty="0"/>
              <a:t>n</a:t>
            </a:r>
            <a:r>
              <a:rPr lang="en-GB" dirty="0"/>
              <a:t>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Branching</a:t>
            </a:r>
            <a:r>
              <a:rPr lang="nl-NL" dirty="0"/>
              <a:t> </a:t>
            </a:r>
            <a:r>
              <a:rPr lang="nl-NL" dirty="0" err="1"/>
              <a:t>algorithm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k-SAT</a:t>
            </a:r>
            <a:endParaRPr lang="nl-NL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GB" b="1" dirty="0">
                <a:solidFill>
                  <a:srgbClr val="C00000"/>
                </a:solidFill>
              </a:rPr>
              <a:t>Algorithm </a:t>
            </a:r>
            <a:r>
              <a:rPr lang="en-GB" dirty="0"/>
              <a:t>(for k-SAT formula F):</a:t>
            </a:r>
          </a:p>
          <a:p>
            <a:pPr>
              <a:buFont typeface="+mj-lt"/>
              <a:buAutoNum type="arabicPeriod"/>
            </a:pPr>
            <a:r>
              <a:rPr lang="en-GB" dirty="0"/>
              <a:t>If F contains the empty clause: return false</a:t>
            </a:r>
          </a:p>
          <a:p>
            <a:pPr>
              <a:buFont typeface="+mj-lt"/>
              <a:buAutoNum type="arabicPeriod"/>
            </a:pPr>
            <a:r>
              <a:rPr lang="en-GB" dirty="0"/>
              <a:t>If F is the empty formula: return true</a:t>
            </a:r>
          </a:p>
          <a:p>
            <a:pPr>
              <a:buFont typeface="+mj-lt"/>
              <a:buAutoNum type="arabicPeriod"/>
            </a:pPr>
            <a:r>
              <a:rPr lang="en-GB" dirty="0"/>
              <a:t>Choose the smallest clause ( </a:t>
            </a:r>
            <a:r>
              <a:rPr lang="en-GB" dirty="0">
                <a:latin typeface="Verdana"/>
              </a:rPr>
              <a:t>l</a:t>
            </a:r>
            <a:r>
              <a:rPr lang="en-GB" baseline="-25000" dirty="0">
                <a:latin typeface="Verdana"/>
              </a:rPr>
              <a:t>1</a:t>
            </a:r>
            <a:r>
              <a:rPr lang="en-GB" dirty="0"/>
              <a:t>, </a:t>
            </a:r>
            <a:r>
              <a:rPr lang="en-GB" dirty="0">
                <a:latin typeface="Verdana"/>
              </a:rPr>
              <a:t>l</a:t>
            </a:r>
            <a:r>
              <a:rPr lang="en-GB" baseline="-25000" dirty="0">
                <a:latin typeface="Verdana"/>
              </a:rPr>
              <a:t>2</a:t>
            </a:r>
            <a:r>
              <a:rPr lang="en-GB" dirty="0"/>
              <a:t>, ..., </a:t>
            </a:r>
            <a:r>
              <a:rPr lang="en-GB" dirty="0">
                <a:latin typeface="Verdana"/>
              </a:rPr>
              <a:t>l</a:t>
            </a:r>
            <a:r>
              <a:rPr lang="en-GB" baseline="-25000" dirty="0">
                <a:latin typeface="Verdana"/>
              </a:rPr>
              <a:t>c</a:t>
            </a:r>
            <a:r>
              <a:rPr lang="en-GB" dirty="0"/>
              <a:t> ) from F</a:t>
            </a:r>
          </a:p>
          <a:p>
            <a:pPr>
              <a:buFont typeface="+mj-lt"/>
              <a:buAutoNum type="arabicPeriod"/>
            </a:pPr>
            <a:r>
              <a:rPr lang="en-GB" dirty="0"/>
              <a:t>Recursively solve: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F with </a:t>
            </a:r>
            <a:r>
              <a:rPr lang="en-GB" dirty="0">
                <a:latin typeface="Verdana"/>
              </a:rPr>
              <a:t>l</a:t>
            </a:r>
            <a:r>
              <a:rPr lang="en-GB" baseline="-25000" dirty="0">
                <a:latin typeface="Verdana"/>
              </a:rPr>
              <a:t>1</a:t>
            </a:r>
            <a:r>
              <a:rPr lang="en-GB" dirty="0"/>
              <a:t> = true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F with </a:t>
            </a:r>
            <a:r>
              <a:rPr lang="en-GB" dirty="0">
                <a:latin typeface="Verdana"/>
              </a:rPr>
              <a:t>l</a:t>
            </a:r>
            <a:r>
              <a:rPr lang="en-GB" baseline="-25000" dirty="0">
                <a:latin typeface="Verdana"/>
              </a:rPr>
              <a:t>1</a:t>
            </a:r>
            <a:r>
              <a:rPr lang="en-GB" dirty="0"/>
              <a:t> = false, </a:t>
            </a:r>
            <a:r>
              <a:rPr lang="en-GB" dirty="0">
                <a:latin typeface="Verdana"/>
              </a:rPr>
              <a:t>l</a:t>
            </a:r>
            <a:r>
              <a:rPr lang="en-GB" baseline="-25000" dirty="0">
                <a:latin typeface="Verdana"/>
              </a:rPr>
              <a:t>2</a:t>
            </a:r>
            <a:r>
              <a:rPr lang="en-GB" dirty="0"/>
              <a:t> = true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...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F with </a:t>
            </a:r>
            <a:r>
              <a:rPr lang="en-GB" dirty="0">
                <a:latin typeface="Verdana"/>
              </a:rPr>
              <a:t>l</a:t>
            </a:r>
            <a:r>
              <a:rPr lang="en-GB" baseline="-25000" dirty="0">
                <a:latin typeface="Verdana"/>
              </a:rPr>
              <a:t>1</a:t>
            </a:r>
            <a:r>
              <a:rPr lang="en-GB" dirty="0"/>
              <a:t> = false, </a:t>
            </a:r>
            <a:r>
              <a:rPr lang="en-GB" dirty="0">
                <a:latin typeface="Verdana"/>
              </a:rPr>
              <a:t>l</a:t>
            </a:r>
            <a:r>
              <a:rPr lang="en-GB" baseline="-25000" dirty="0">
                <a:latin typeface="Verdana"/>
              </a:rPr>
              <a:t>2</a:t>
            </a:r>
            <a:r>
              <a:rPr lang="en-GB" dirty="0"/>
              <a:t> = false, ..., </a:t>
            </a:r>
            <a:r>
              <a:rPr lang="en-GB" dirty="0">
                <a:latin typeface="Verdana"/>
              </a:rPr>
              <a:t>l</a:t>
            </a:r>
            <a:r>
              <a:rPr lang="en-GB" baseline="-25000" dirty="0">
                <a:latin typeface="Verdana"/>
              </a:rPr>
              <a:t>c-1</a:t>
            </a:r>
            <a:r>
              <a:rPr lang="en-GB" dirty="0"/>
              <a:t> = false, </a:t>
            </a:r>
            <a:r>
              <a:rPr lang="en-GB" dirty="0">
                <a:latin typeface="Verdana"/>
              </a:rPr>
              <a:t>l</a:t>
            </a:r>
            <a:r>
              <a:rPr lang="en-GB" baseline="-25000" dirty="0">
                <a:latin typeface="Verdana"/>
              </a:rPr>
              <a:t>c</a:t>
            </a:r>
            <a:r>
              <a:rPr lang="en-GB" dirty="0"/>
              <a:t> = true</a:t>
            </a:r>
          </a:p>
          <a:p>
            <a:pPr>
              <a:buFont typeface="+mj-lt"/>
              <a:buAutoNum type="arabicPeriod"/>
            </a:pPr>
            <a:r>
              <a:rPr lang="en-GB" dirty="0"/>
              <a:t>Return true if and only if any recursive call returned true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Branching algorithm for k-SAT: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828800"/>
            <a:ext cx="7391400" cy="4192488"/>
          </a:xfrm>
        </p:spPr>
        <p:txBody>
          <a:bodyPr/>
          <a:lstStyle/>
          <a:p>
            <a:r>
              <a:rPr lang="en-GB" dirty="0"/>
              <a:t>Algorithm is correct since in each clause at least one literal must be set to true</a:t>
            </a:r>
          </a:p>
          <a:p>
            <a:endParaRPr lang="en-GB" dirty="0"/>
          </a:p>
          <a:p>
            <a:r>
              <a:rPr lang="en-GB" dirty="0"/>
              <a:t>Recurrence relation describing the algorithm:</a:t>
            </a:r>
          </a:p>
          <a:p>
            <a:pPr>
              <a:buNone/>
            </a:pPr>
            <a:r>
              <a:rPr lang="en-GB" dirty="0"/>
              <a:t>	T( n ) </a:t>
            </a:r>
            <a:r>
              <a:rPr lang="en-GB" dirty="0">
                <a:latin typeface="cmsy10"/>
              </a:rPr>
              <a:t>·</a:t>
            </a:r>
            <a:r>
              <a:rPr lang="en-GB" dirty="0"/>
              <a:t> T( n – 1 ) + T( n – 2 ) + … + T( n – c )</a:t>
            </a:r>
          </a:p>
          <a:p>
            <a:pPr>
              <a:buNone/>
            </a:pPr>
            <a:endParaRPr lang="en-GB" dirty="0"/>
          </a:p>
          <a:p>
            <a:r>
              <a:rPr lang="en-GB" dirty="0"/>
              <a:t>Worst case:</a:t>
            </a:r>
          </a:p>
          <a:p>
            <a:pPr>
              <a:buNone/>
            </a:pPr>
            <a:r>
              <a:rPr lang="en-GB" dirty="0"/>
              <a:t>	T( n ) </a:t>
            </a:r>
            <a:r>
              <a:rPr lang="en-GB" dirty="0">
                <a:latin typeface="cmsy10"/>
              </a:rPr>
              <a:t>·</a:t>
            </a:r>
            <a:r>
              <a:rPr lang="en-GB" dirty="0"/>
              <a:t> T( n – 1 ) + T( n – 2 ) + … + T( n – k )</a:t>
            </a:r>
          </a:p>
          <a:p>
            <a:pPr>
              <a:buNone/>
            </a:pPr>
            <a:endParaRPr lang="en-GB" dirty="0"/>
          </a:p>
          <a:p>
            <a:r>
              <a:rPr lang="en-GB" dirty="0"/>
              <a:t>For different values of k, this leads to:</a:t>
            </a:r>
          </a:p>
          <a:p>
            <a:pPr lvl="1"/>
            <a:r>
              <a:rPr lang="en-GB" dirty="0"/>
              <a:t>k = 3: </a:t>
            </a:r>
            <a:r>
              <a:rPr lang="en-GB" dirty="0">
                <a:latin typeface="cmmi10"/>
              </a:rPr>
              <a:t>¿</a:t>
            </a:r>
            <a:r>
              <a:rPr lang="en-GB" dirty="0"/>
              <a:t>( 1,2,3 ) &lt; 1.8393		O( </a:t>
            </a:r>
            <a:r>
              <a:rPr lang="en-GB" dirty="0">
                <a:latin typeface="Verdana"/>
              </a:rPr>
              <a:t>1.8393</a:t>
            </a:r>
            <a:r>
              <a:rPr lang="en-GB" baseline="30000" dirty="0">
                <a:latin typeface="Verdana"/>
              </a:rPr>
              <a:t>n</a:t>
            </a:r>
            <a:r>
              <a:rPr lang="en-GB" dirty="0"/>
              <a:t> )</a:t>
            </a:r>
          </a:p>
          <a:p>
            <a:pPr lvl="1"/>
            <a:r>
              <a:rPr lang="en-GB" dirty="0"/>
              <a:t>k = 4: </a:t>
            </a:r>
            <a:r>
              <a:rPr lang="en-GB" dirty="0">
                <a:latin typeface="cmmi10"/>
              </a:rPr>
              <a:t>¿</a:t>
            </a:r>
            <a:r>
              <a:rPr lang="en-GB" dirty="0"/>
              <a:t>( 1,2,3,4 ) &lt; 1.9276		O( </a:t>
            </a:r>
            <a:r>
              <a:rPr lang="en-GB" dirty="0">
                <a:latin typeface="Verdana"/>
              </a:rPr>
              <a:t>1.9276</a:t>
            </a:r>
            <a:r>
              <a:rPr lang="en-GB" baseline="30000" dirty="0">
                <a:latin typeface="Verdana"/>
              </a:rPr>
              <a:t>n</a:t>
            </a:r>
            <a:r>
              <a:rPr lang="en-GB" dirty="0"/>
              <a:t> )</a:t>
            </a:r>
          </a:p>
          <a:p>
            <a:pPr lvl="1"/>
            <a:r>
              <a:rPr lang="en-GB" dirty="0"/>
              <a:t>k = 5: </a:t>
            </a:r>
            <a:r>
              <a:rPr lang="en-GB" dirty="0">
                <a:latin typeface="cmmi10"/>
              </a:rPr>
              <a:t>¿</a:t>
            </a:r>
            <a:r>
              <a:rPr lang="en-GB" dirty="0"/>
              <a:t>( 1,2,3,4,5 ) &lt; 1.9660	O( </a:t>
            </a:r>
            <a:r>
              <a:rPr lang="en-GB" dirty="0">
                <a:latin typeface="Verdana"/>
              </a:rPr>
              <a:t>1.9660</a:t>
            </a:r>
            <a:r>
              <a:rPr lang="en-GB" baseline="30000" dirty="0">
                <a:latin typeface="Verdana"/>
              </a:rPr>
              <a:t>n</a:t>
            </a:r>
            <a:r>
              <a:rPr lang="en-GB" dirty="0"/>
              <a:t> )</a:t>
            </a:r>
          </a:p>
          <a:p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Reduction rules for independent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Often, branching algorithms use reduction rules</a:t>
            </a:r>
          </a:p>
          <a:p>
            <a:pPr lvl="1"/>
            <a:r>
              <a:rPr lang="en-GB" dirty="0"/>
              <a:t>Rules that simplify the instance without branching</a:t>
            </a:r>
          </a:p>
          <a:p>
            <a:endParaRPr lang="en-GB" dirty="0"/>
          </a:p>
          <a:p>
            <a:r>
              <a:rPr lang="en-GB" dirty="0"/>
              <a:t>For Maximum Independent Set we can formulate the following rules for any v </a:t>
            </a:r>
            <a:r>
              <a:rPr lang="en-GB" dirty="0">
                <a:latin typeface="cmsy10"/>
              </a:rPr>
              <a:t>2</a:t>
            </a:r>
            <a:r>
              <a:rPr lang="en-GB" dirty="0"/>
              <a:t> V:</a:t>
            </a:r>
          </a:p>
          <a:p>
            <a:pPr>
              <a:buFont typeface="+mj-lt"/>
              <a:buAutoNum type="arabicPeriod"/>
            </a:pPr>
            <a:r>
              <a:rPr lang="en-GB" b="1" dirty="0">
                <a:solidFill>
                  <a:srgbClr val="C00000"/>
                </a:solidFill>
              </a:rPr>
              <a:t>Reduction rule 1</a:t>
            </a:r>
            <a:r>
              <a:rPr lang="en-GB" dirty="0"/>
              <a:t>: if </a:t>
            </a:r>
            <a:r>
              <a:rPr lang="en-GB" i="1" dirty="0"/>
              <a:t>v</a:t>
            </a:r>
            <a:r>
              <a:rPr lang="en-GB" dirty="0"/>
              <a:t> has degree 0, put </a:t>
            </a:r>
            <a:r>
              <a:rPr lang="en-GB" i="1" dirty="0"/>
              <a:t>v</a:t>
            </a:r>
            <a:r>
              <a:rPr lang="en-GB" dirty="0"/>
              <a:t> in the solution set and recursively solve on G-</a:t>
            </a:r>
            <a:r>
              <a:rPr lang="en-GB" i="1" dirty="0"/>
              <a:t>v</a:t>
            </a:r>
          </a:p>
          <a:p>
            <a:pPr>
              <a:buFont typeface="+mj-lt"/>
              <a:buAutoNum type="arabicPeriod"/>
            </a:pPr>
            <a:r>
              <a:rPr lang="en-GB" b="1" dirty="0">
                <a:solidFill>
                  <a:srgbClr val="C00000"/>
                </a:solidFill>
              </a:rPr>
              <a:t>Reduction rule 2</a:t>
            </a:r>
            <a:r>
              <a:rPr lang="en-GB" dirty="0"/>
              <a:t>: if </a:t>
            </a:r>
            <a:r>
              <a:rPr lang="en-GB" i="1" dirty="0"/>
              <a:t>v </a:t>
            </a:r>
            <a:r>
              <a:rPr lang="en-GB" dirty="0"/>
              <a:t>has degree 1, then put </a:t>
            </a:r>
            <a:r>
              <a:rPr lang="en-GB" i="1" dirty="0"/>
              <a:t>v</a:t>
            </a:r>
            <a:r>
              <a:rPr lang="en-GB" dirty="0"/>
              <a:t> in the solution set. Suppose </a:t>
            </a:r>
            <a:r>
              <a:rPr lang="en-GB" i="1" dirty="0"/>
              <a:t>v</a:t>
            </a:r>
            <a:r>
              <a:rPr lang="en-GB" dirty="0"/>
              <a:t> has neighbour </a:t>
            </a:r>
            <a:r>
              <a:rPr lang="en-GB" i="1" dirty="0"/>
              <a:t>w. </a:t>
            </a:r>
            <a:r>
              <a:rPr lang="en-GB" dirty="0"/>
              <a:t>Recursively solve G – {</a:t>
            </a:r>
            <a:r>
              <a:rPr lang="en-GB" i="1" dirty="0" err="1"/>
              <a:t>v,w</a:t>
            </a:r>
            <a:r>
              <a:rPr lang="en-GB" dirty="0"/>
              <a:t>}</a:t>
            </a:r>
          </a:p>
          <a:p>
            <a:pPr marL="800100" lvl="1" indent="-342900"/>
            <a:r>
              <a:rPr lang="en-GB" dirty="0"/>
              <a:t>If </a:t>
            </a:r>
            <a:r>
              <a:rPr lang="en-GB" i="1" dirty="0"/>
              <a:t>v </a:t>
            </a:r>
            <a:r>
              <a:rPr lang="en-GB" dirty="0"/>
              <a:t>has degree 1, then there is always a maximum independent set containing </a:t>
            </a:r>
            <a:r>
              <a:rPr lang="en-GB" i="1" dirty="0"/>
              <a:t>v</a:t>
            </a:r>
            <a:endParaRPr lang="en-GB" dirty="0"/>
          </a:p>
          <a:p>
            <a:pPr>
              <a:buFont typeface="+mj-lt"/>
              <a:buAutoNum type="arabicPeriod"/>
            </a:pPr>
            <a:r>
              <a:rPr lang="en-GB" b="1" dirty="0">
                <a:solidFill>
                  <a:srgbClr val="C00000"/>
                </a:solidFill>
              </a:rPr>
              <a:t>Reduction rule 3</a:t>
            </a:r>
            <a:r>
              <a:rPr lang="en-GB" dirty="0"/>
              <a:t>: if all vertices of G have degree at most two, solve the problem directly. (Easy in O(</a:t>
            </a:r>
            <a:r>
              <a:rPr lang="en-GB" i="1" dirty="0"/>
              <a:t>n</a:t>
            </a:r>
            <a:r>
              <a:rPr lang="en-GB" dirty="0"/>
              <a:t>) time.)</a:t>
            </a:r>
          </a:p>
          <a:p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A faster algorithm</a:t>
            </a:r>
          </a:p>
        </p:txBody>
      </p:sp>
      <p:sp>
        <p:nvSpPr>
          <p:cNvPr id="3482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New branching rule:</a:t>
            </a:r>
          </a:p>
          <a:p>
            <a:pPr lvl="1" eaLnBrk="1" hangingPunct="1"/>
            <a:r>
              <a:rPr lang="en-US" dirty="0"/>
              <a:t>Take vertex </a:t>
            </a:r>
            <a:r>
              <a:rPr lang="en-US" i="1" dirty="0"/>
              <a:t>v</a:t>
            </a:r>
            <a:r>
              <a:rPr lang="en-US" dirty="0"/>
              <a:t> of </a:t>
            </a:r>
            <a:r>
              <a:rPr lang="en-US" b="1" dirty="0"/>
              <a:t>maximum </a:t>
            </a:r>
            <a:r>
              <a:rPr lang="en-US" dirty="0"/>
              <a:t>degree</a:t>
            </a:r>
          </a:p>
          <a:p>
            <a:pPr lvl="1" eaLnBrk="1" hangingPunct="1"/>
            <a:r>
              <a:rPr lang="en-US" dirty="0"/>
              <a:t>Take best of two recursive steps:</a:t>
            </a:r>
          </a:p>
          <a:p>
            <a:pPr lvl="2" eaLnBrk="1" hangingPunct="1"/>
            <a:r>
              <a:rPr lang="en-US" i="1" dirty="0"/>
              <a:t>v </a:t>
            </a:r>
            <a:r>
              <a:rPr lang="en-US" dirty="0"/>
              <a:t>not in solution: </a:t>
            </a:r>
            <a:r>
              <a:rPr lang="en-US" dirty="0" err="1"/>
              <a:t>recurse</a:t>
            </a:r>
            <a:r>
              <a:rPr lang="en-US" dirty="0"/>
              <a:t> on G – {</a:t>
            </a:r>
            <a:r>
              <a:rPr lang="en-US" i="1" dirty="0"/>
              <a:t>v</a:t>
            </a:r>
            <a:r>
              <a:rPr lang="en-US" dirty="0"/>
              <a:t>}</a:t>
            </a:r>
          </a:p>
          <a:p>
            <a:pPr lvl="2" eaLnBrk="1" hangingPunct="1"/>
            <a:r>
              <a:rPr lang="en-US" i="1" dirty="0"/>
              <a:t>v </a:t>
            </a:r>
            <a:r>
              <a:rPr lang="en-US" dirty="0"/>
              <a:t>in solution: recurse on G – N[</a:t>
            </a:r>
            <a:r>
              <a:rPr lang="en-US" i="1" dirty="0"/>
              <a:t>v</a:t>
            </a:r>
            <a:r>
              <a:rPr lang="en-US" dirty="0"/>
              <a:t>]; add 1 to solution size</a:t>
            </a:r>
          </a:p>
          <a:p>
            <a:pPr lvl="2" eaLnBrk="1" hangingPunct="1"/>
            <a:endParaRPr lang="en-US" i="1" dirty="0"/>
          </a:p>
          <a:p>
            <a:r>
              <a:rPr lang="en-US" dirty="0"/>
              <a:t>Algorithm:</a:t>
            </a:r>
          </a:p>
          <a:p>
            <a:pPr lvl="1"/>
            <a:r>
              <a:rPr lang="en-US" dirty="0"/>
              <a:t>Exhaustively apply all reduction rules</a:t>
            </a:r>
          </a:p>
          <a:p>
            <a:pPr lvl="1"/>
            <a:r>
              <a:rPr lang="en-US" dirty="0"/>
              <a:t>Apply branching rule</a:t>
            </a:r>
          </a:p>
          <a:p>
            <a:pPr lvl="1"/>
            <a:endParaRPr lang="en-US" dirty="0"/>
          </a:p>
          <a:p>
            <a:r>
              <a:rPr lang="en-US" dirty="0"/>
              <a:t>Analysis:</a:t>
            </a:r>
          </a:p>
          <a:p>
            <a:pPr lvl="1">
              <a:lnSpc>
                <a:spcPct val="90000"/>
              </a:lnSpc>
              <a:defRPr/>
            </a:pPr>
            <a:r>
              <a:rPr lang="en-US" dirty="0"/>
              <a:t>T(</a:t>
            </a:r>
            <a:r>
              <a:rPr lang="en-US" i="1" dirty="0"/>
              <a:t>n</a:t>
            </a:r>
            <a:r>
              <a:rPr lang="en-US" dirty="0"/>
              <a:t>) </a:t>
            </a:r>
            <a:r>
              <a:rPr lang="en-US" dirty="0">
                <a:latin typeface="Symbol" pitchFamily="18" charset="2"/>
              </a:rPr>
              <a:t>£ </a:t>
            </a:r>
            <a:r>
              <a:rPr lang="en-US" dirty="0"/>
              <a:t>T(</a:t>
            </a:r>
            <a:r>
              <a:rPr lang="en-US" i="1" dirty="0"/>
              <a:t>n – </a:t>
            </a:r>
            <a:r>
              <a:rPr lang="en-US" dirty="0"/>
              <a:t>1) + T(</a:t>
            </a:r>
            <a:r>
              <a:rPr lang="en-US" i="1" dirty="0"/>
              <a:t>n – </a:t>
            </a:r>
            <a:r>
              <a:rPr lang="en-US" dirty="0"/>
              <a:t>4), as v has degree at least 3, we lose at least 4 vertices in the second case</a:t>
            </a:r>
          </a:p>
          <a:p>
            <a:pPr lvl="1">
              <a:lnSpc>
                <a:spcPct val="90000"/>
              </a:lnSpc>
              <a:defRPr/>
            </a:pPr>
            <a:r>
              <a:rPr lang="en-US" dirty="0"/>
              <a:t>O*( </a:t>
            </a:r>
            <a:r>
              <a:rPr lang="en-US" dirty="0">
                <a:latin typeface="cmmi10"/>
              </a:rPr>
              <a:t>¿</a:t>
            </a:r>
            <a:r>
              <a:rPr lang="en-US" dirty="0"/>
              <a:t>(</a:t>
            </a:r>
            <a:r>
              <a:rPr lang="en-US" dirty="0">
                <a:latin typeface="Verdana"/>
              </a:rPr>
              <a:t>1,4)</a:t>
            </a:r>
            <a:r>
              <a:rPr lang="en-US" baseline="30000" dirty="0">
                <a:latin typeface="Verdana"/>
              </a:rPr>
              <a:t>n</a:t>
            </a:r>
            <a:r>
              <a:rPr lang="en-US" dirty="0"/>
              <a:t> ) =  O(1.3803</a:t>
            </a:r>
            <a:r>
              <a:rPr lang="en-US" i="1" baseline="30000" dirty="0"/>
              <a:t>n</a:t>
            </a:r>
            <a:r>
              <a:rPr lang="en-US" dirty="0"/>
              <a:t>)</a:t>
            </a:r>
          </a:p>
          <a:p>
            <a:pPr lvl="1">
              <a:lnSpc>
                <a:spcPct val="90000"/>
              </a:lnSpc>
              <a:defRPr/>
            </a:pPr>
            <a:r>
              <a:rPr lang="en-US" dirty="0"/>
              <a:t>This is faster than the </a:t>
            </a:r>
            <a:r>
              <a:rPr lang="en-GB" dirty="0"/>
              <a:t>O(1.4423</a:t>
            </a:r>
            <a:r>
              <a:rPr lang="en-GB" baseline="30000" dirty="0"/>
              <a:t>n</a:t>
            </a:r>
            <a:r>
              <a:rPr lang="en-GB" dirty="0"/>
              <a:t>) enumeration algorithm</a:t>
            </a:r>
            <a:endParaRPr lang="en-US" dirty="0"/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82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82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482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482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482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482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82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82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Maximum independent set:</a:t>
            </a:r>
            <a:br>
              <a:rPr lang="en-US" dirty="0"/>
            </a:br>
            <a:r>
              <a:rPr lang="en-US" dirty="0"/>
              <a:t>final remarks</a:t>
            </a:r>
          </a:p>
        </p:txBody>
      </p:sp>
      <p:sp>
        <p:nvSpPr>
          <p:cNvPr id="3686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dirty="0"/>
              <a:t>More detailed analysis gives better bounds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Many possibilities for improvement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Many papers with huge case analyses exist</a:t>
            </a:r>
          </a:p>
          <a:p>
            <a:pPr lvl="1">
              <a:lnSpc>
                <a:spcPct val="80000"/>
              </a:lnSpc>
            </a:pPr>
            <a:endParaRPr lang="en-US" dirty="0"/>
          </a:p>
          <a:p>
            <a:pPr eaLnBrk="1" hangingPunct="1">
              <a:lnSpc>
                <a:spcPct val="80000"/>
              </a:lnSpc>
            </a:pPr>
            <a:r>
              <a:rPr lang="en-US" dirty="0"/>
              <a:t>Long time best known: O(1.1844</a:t>
            </a:r>
            <a:r>
              <a:rPr lang="en-US" baseline="30000" dirty="0"/>
              <a:t>n</a:t>
            </a:r>
            <a:r>
              <a:rPr lang="en-US" dirty="0"/>
              <a:t>) (Robson, 2001)</a:t>
            </a:r>
          </a:p>
          <a:p>
            <a:pPr lvl="1" eaLnBrk="1" hangingPunct="1">
              <a:lnSpc>
                <a:spcPct val="80000"/>
              </a:lnSpc>
            </a:pPr>
            <a:r>
              <a:rPr lang="en-US" dirty="0"/>
              <a:t>Extensive, computer-generated case analysis!</a:t>
            </a:r>
          </a:p>
          <a:p>
            <a:pPr lvl="1" eaLnBrk="1" hangingPunct="1">
              <a:lnSpc>
                <a:spcPct val="80000"/>
              </a:lnSpc>
            </a:pPr>
            <a:r>
              <a:rPr lang="en-US" dirty="0"/>
              <a:t>Includes memorization (DP)</a:t>
            </a:r>
          </a:p>
          <a:p>
            <a:pPr>
              <a:lnSpc>
                <a:spcPct val="80000"/>
              </a:lnSpc>
            </a:pPr>
            <a:r>
              <a:rPr lang="en-US" dirty="0"/>
              <a:t>Improved (I think), often discussions on correctness of such partially computer-generated algorithms</a:t>
            </a:r>
          </a:p>
          <a:p>
            <a:pPr lvl="1" eaLnBrk="1" hangingPunct="1">
              <a:lnSpc>
                <a:spcPct val="80000"/>
              </a:lnSpc>
            </a:pPr>
            <a:endParaRPr lang="en-US" dirty="0"/>
          </a:p>
          <a:p>
            <a:pPr eaLnBrk="1" hangingPunct="1">
              <a:lnSpc>
                <a:spcPct val="80000"/>
              </a:lnSpc>
            </a:pPr>
            <a:r>
              <a:rPr lang="en-US" dirty="0"/>
              <a:t>The measure-and-conquer technique allows for better analysis of branch and reduce algorithms (</a:t>
            </a:r>
            <a:r>
              <a:rPr lang="en-US" dirty="0" err="1"/>
              <a:t>Fomin</a:t>
            </a:r>
            <a:r>
              <a:rPr lang="en-US" dirty="0"/>
              <a:t>, </a:t>
            </a:r>
            <a:r>
              <a:rPr lang="en-US" dirty="0" err="1"/>
              <a:t>Grandoni</a:t>
            </a:r>
            <a:r>
              <a:rPr lang="en-US" dirty="0"/>
              <a:t>, Kratsch, 2005)</a:t>
            </a:r>
          </a:p>
          <a:p>
            <a:pPr lvl="1" eaLnBrk="1" hangingPunct="1">
              <a:lnSpc>
                <a:spcPct val="80000"/>
              </a:lnSpc>
            </a:pPr>
            <a:r>
              <a:rPr lang="en-US" dirty="0"/>
              <a:t>Much simpler algorithm and only slightly slower compared </a:t>
            </a:r>
            <a:r>
              <a:rPr lang="en-US"/>
              <a:t>to Robson</a:t>
            </a:r>
            <a:endParaRPr 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Back </a:t>
            </a:r>
            <a:r>
              <a:rPr lang="nl-NL" dirty="0" err="1"/>
              <a:t>to</a:t>
            </a:r>
            <a:r>
              <a:rPr lang="nl-NL" dirty="0"/>
              <a:t> 3-SAT:</a:t>
            </a:r>
            <a:br>
              <a:rPr lang="nl-NL" dirty="0"/>
            </a:br>
            <a:r>
              <a:rPr lang="nl-NL" dirty="0" err="1"/>
              <a:t>branching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local</a:t>
            </a:r>
            <a:r>
              <a:rPr lang="nl-NL" dirty="0"/>
              <a:t> search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371600" y="1828800"/>
            <a:ext cx="7520880" cy="3962400"/>
          </a:xfrm>
        </p:spPr>
        <p:txBody>
          <a:bodyPr/>
          <a:lstStyle/>
          <a:p>
            <a:r>
              <a:rPr lang="en-GB" dirty="0"/>
              <a:t>Idea: use an exponential-time branching algorithm to search a ‘local’ neighbourhood of possible solutions</a:t>
            </a:r>
          </a:p>
          <a:p>
            <a:endParaRPr lang="en-GB" dirty="0"/>
          </a:p>
          <a:p>
            <a:r>
              <a:rPr lang="en-GB" dirty="0"/>
              <a:t>Consider 3-Satisfiability</a:t>
            </a:r>
          </a:p>
          <a:p>
            <a:pPr lvl="1"/>
            <a:r>
              <a:rPr lang="en-GB" dirty="0"/>
              <a:t>For two truth assignment </a:t>
            </a:r>
            <a:r>
              <a:rPr lang="en-GB" i="1" dirty="0">
                <a:latin typeface="Verdana"/>
              </a:rPr>
              <a:t>a</a:t>
            </a:r>
            <a:r>
              <a:rPr lang="en-GB" i="1" baseline="-25000" dirty="0">
                <a:latin typeface="Verdana"/>
              </a:rPr>
              <a:t>1</a:t>
            </a:r>
            <a:r>
              <a:rPr lang="en-GB" dirty="0"/>
              <a:t> and </a:t>
            </a:r>
            <a:r>
              <a:rPr lang="en-GB" i="1" dirty="0">
                <a:latin typeface="Verdana"/>
              </a:rPr>
              <a:t>a</a:t>
            </a:r>
            <a:r>
              <a:rPr lang="en-GB" i="1" baseline="-25000" dirty="0">
                <a:latin typeface="Verdana"/>
              </a:rPr>
              <a:t>2</a:t>
            </a:r>
            <a:r>
              <a:rPr lang="en-GB" dirty="0"/>
              <a:t> that assign true/false to the variables </a:t>
            </a:r>
            <a:r>
              <a:rPr lang="en-GB" i="1" dirty="0">
                <a:latin typeface="Verdana"/>
              </a:rPr>
              <a:t>x</a:t>
            </a:r>
            <a:r>
              <a:rPr lang="en-GB" i="1" baseline="-25000" dirty="0">
                <a:latin typeface="Verdana"/>
              </a:rPr>
              <a:t>1</a:t>
            </a:r>
            <a:r>
              <a:rPr lang="en-GB" dirty="0"/>
              <a:t>, ..., </a:t>
            </a:r>
            <a:r>
              <a:rPr lang="en-GB" i="1" dirty="0" err="1">
                <a:latin typeface="Verdana"/>
              </a:rPr>
              <a:t>x</a:t>
            </a:r>
            <a:r>
              <a:rPr lang="en-GB" i="1" baseline="-25000" dirty="0" err="1">
                <a:latin typeface="Verdana"/>
              </a:rPr>
              <a:t>n</a:t>
            </a:r>
            <a:r>
              <a:rPr lang="en-GB" dirty="0"/>
              <a:t>, we define the </a:t>
            </a:r>
            <a:r>
              <a:rPr lang="en-GB" b="1" dirty="0"/>
              <a:t>Hamming distance </a:t>
            </a:r>
            <a:r>
              <a:rPr lang="en-GB" dirty="0"/>
              <a:t>to be the number of variables on which </a:t>
            </a:r>
            <a:r>
              <a:rPr lang="en-GB" i="1" dirty="0">
                <a:latin typeface="Verdana"/>
              </a:rPr>
              <a:t>a</a:t>
            </a:r>
            <a:r>
              <a:rPr lang="en-GB" i="1" baseline="-25000" dirty="0">
                <a:latin typeface="Verdana"/>
              </a:rPr>
              <a:t>1</a:t>
            </a:r>
            <a:r>
              <a:rPr lang="en-GB" dirty="0"/>
              <a:t> and </a:t>
            </a:r>
            <a:r>
              <a:rPr lang="en-GB" i="1" dirty="0">
                <a:latin typeface="Verdana"/>
              </a:rPr>
              <a:t>a</a:t>
            </a:r>
            <a:r>
              <a:rPr lang="en-GB" i="1" baseline="-25000" dirty="0">
                <a:latin typeface="Verdana"/>
              </a:rPr>
              <a:t>2</a:t>
            </a:r>
            <a:r>
              <a:rPr lang="en-GB" dirty="0"/>
              <a:t> differ</a:t>
            </a:r>
          </a:p>
          <a:p>
            <a:endParaRPr lang="en-GB" dirty="0"/>
          </a:p>
          <a:p>
            <a:pPr>
              <a:buNone/>
            </a:pPr>
            <a:r>
              <a:rPr lang="en-GB" b="1" dirty="0"/>
              <a:t>Lemma</a:t>
            </a:r>
            <a:r>
              <a:rPr lang="en-GB" dirty="0"/>
              <a:t>: </a:t>
            </a:r>
          </a:p>
          <a:p>
            <a:r>
              <a:rPr lang="en-GB" dirty="0"/>
              <a:t>Given any truth assignment </a:t>
            </a:r>
            <a:r>
              <a:rPr lang="en-GB" i="1" dirty="0"/>
              <a:t>a</a:t>
            </a:r>
            <a:r>
              <a:rPr lang="en-GB" dirty="0"/>
              <a:t> and a 3-SAT formula </a:t>
            </a:r>
            <a:r>
              <a:rPr lang="en-GB" i="1" dirty="0"/>
              <a:t>F</a:t>
            </a:r>
            <a:r>
              <a:rPr lang="en-GB" dirty="0"/>
              <a:t>, we can decide in O*(</a:t>
            </a:r>
            <a:r>
              <a:rPr lang="en-GB" i="1" dirty="0"/>
              <a:t>3</a:t>
            </a:r>
            <a:r>
              <a:rPr lang="en-GB" i="1" baseline="30000" dirty="0"/>
              <a:t>d</a:t>
            </a:r>
            <a:r>
              <a:rPr lang="en-GB" dirty="0"/>
              <a:t>) time whether there is an truth assign-</a:t>
            </a:r>
            <a:r>
              <a:rPr lang="en-GB" dirty="0" err="1"/>
              <a:t>ment</a:t>
            </a:r>
            <a:r>
              <a:rPr lang="en-GB" dirty="0"/>
              <a:t> that satisfies </a:t>
            </a:r>
            <a:r>
              <a:rPr lang="en-GB" i="1" dirty="0"/>
              <a:t>F</a:t>
            </a:r>
            <a:r>
              <a:rPr lang="en-GB" dirty="0"/>
              <a:t> at Hamming distance at most </a:t>
            </a:r>
            <a:r>
              <a:rPr lang="en-GB" i="1" dirty="0"/>
              <a:t>d</a:t>
            </a:r>
            <a:r>
              <a:rPr lang="en-GB" dirty="0"/>
              <a:t> from </a:t>
            </a:r>
            <a:r>
              <a:rPr lang="en-GB" i="1" dirty="0"/>
              <a:t>a</a:t>
            </a:r>
            <a:endParaRPr lang="en-GB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Searching</a:t>
            </a:r>
            <a:r>
              <a:rPr lang="nl-NL" dirty="0"/>
              <a:t> the </a:t>
            </a:r>
            <a:r>
              <a:rPr lang="nl-NL" dirty="0" err="1"/>
              <a:t>Hamming-ball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828800"/>
            <a:ext cx="7520880" cy="4192488"/>
          </a:xfrm>
        </p:spPr>
        <p:txBody>
          <a:bodyPr/>
          <a:lstStyle/>
          <a:p>
            <a:r>
              <a:rPr lang="en-GB" b="1" dirty="0"/>
              <a:t>Lemma</a:t>
            </a:r>
            <a:r>
              <a:rPr lang="en-GB" dirty="0"/>
              <a:t>: </a:t>
            </a:r>
          </a:p>
          <a:p>
            <a:pPr>
              <a:buNone/>
            </a:pPr>
            <a:r>
              <a:rPr lang="en-GB" dirty="0"/>
              <a:t>	Given any truth assignment </a:t>
            </a:r>
            <a:r>
              <a:rPr lang="en-GB" i="1" dirty="0"/>
              <a:t>a</a:t>
            </a:r>
            <a:r>
              <a:rPr lang="en-GB" dirty="0"/>
              <a:t> and a 3-SAT formula </a:t>
            </a:r>
            <a:r>
              <a:rPr lang="en-GB" i="1" dirty="0"/>
              <a:t>F</a:t>
            </a:r>
            <a:r>
              <a:rPr lang="en-GB" dirty="0"/>
              <a:t>, we can decide in O*(</a:t>
            </a:r>
            <a:r>
              <a:rPr lang="en-GB" i="1" dirty="0"/>
              <a:t>3</a:t>
            </a:r>
            <a:r>
              <a:rPr lang="en-GB" i="1" baseline="30000" dirty="0"/>
              <a:t>d</a:t>
            </a:r>
            <a:r>
              <a:rPr lang="en-GB" dirty="0"/>
              <a:t>) time whether there is an truth assign-</a:t>
            </a:r>
            <a:r>
              <a:rPr lang="en-GB" dirty="0" err="1"/>
              <a:t>ment</a:t>
            </a:r>
            <a:r>
              <a:rPr lang="en-GB" dirty="0"/>
              <a:t> that satisfies </a:t>
            </a:r>
            <a:r>
              <a:rPr lang="en-GB" i="1" dirty="0"/>
              <a:t>F</a:t>
            </a:r>
            <a:r>
              <a:rPr lang="en-GB" dirty="0"/>
              <a:t> at Hamming distance at most </a:t>
            </a:r>
            <a:r>
              <a:rPr lang="en-GB" i="1" dirty="0"/>
              <a:t>d</a:t>
            </a:r>
            <a:r>
              <a:rPr lang="en-GB" dirty="0"/>
              <a:t> from </a:t>
            </a:r>
            <a:r>
              <a:rPr lang="en-GB" i="1" dirty="0"/>
              <a:t>a</a:t>
            </a:r>
            <a:endParaRPr lang="en-GB" dirty="0"/>
          </a:p>
          <a:p>
            <a:pPr>
              <a:buNone/>
            </a:pPr>
            <a:endParaRPr lang="en-GB" sz="800" dirty="0"/>
          </a:p>
          <a:p>
            <a:r>
              <a:rPr lang="en-GB" b="1" dirty="0"/>
              <a:t>Proof</a:t>
            </a:r>
            <a:r>
              <a:rPr lang="en-GB" dirty="0"/>
              <a:t>:</a:t>
            </a:r>
          </a:p>
          <a:p>
            <a:pPr lvl="1"/>
            <a:r>
              <a:rPr lang="en-GB" dirty="0"/>
              <a:t>If truth assignment </a:t>
            </a:r>
            <a:r>
              <a:rPr lang="en-GB" i="1" dirty="0"/>
              <a:t>a</a:t>
            </a:r>
            <a:r>
              <a:rPr lang="en-GB" dirty="0"/>
              <a:t> is not a satisfying assignment, then there is a clause </a:t>
            </a:r>
            <a:r>
              <a:rPr lang="en-GB" i="1" dirty="0"/>
              <a:t>C</a:t>
            </a:r>
            <a:r>
              <a:rPr lang="en-GB" dirty="0"/>
              <a:t> that is not satisfied by </a:t>
            </a:r>
            <a:r>
              <a:rPr lang="en-GB" i="1" dirty="0"/>
              <a:t>a</a:t>
            </a:r>
            <a:endParaRPr lang="en-GB" dirty="0"/>
          </a:p>
          <a:p>
            <a:pPr lvl="1"/>
            <a:r>
              <a:rPr lang="en-GB" dirty="0"/>
              <a:t>In any satisfying assignment at least one of the literals in </a:t>
            </a:r>
            <a:r>
              <a:rPr lang="en-GB" i="1" dirty="0"/>
              <a:t>C</a:t>
            </a:r>
            <a:r>
              <a:rPr lang="en-GB" dirty="0"/>
              <a:t> must be flipped: we generate a subproblem for each literal in </a:t>
            </a:r>
            <a:r>
              <a:rPr lang="en-GB" i="1" dirty="0"/>
              <a:t>C</a:t>
            </a:r>
            <a:r>
              <a:rPr lang="en-GB" dirty="0"/>
              <a:t> where the value of the corresponding variable is flipped</a:t>
            </a:r>
          </a:p>
          <a:p>
            <a:pPr lvl="1"/>
            <a:r>
              <a:rPr lang="en-GB" dirty="0"/>
              <a:t>If there is a satisfying assignment at Hamming distance at most </a:t>
            </a:r>
            <a:r>
              <a:rPr lang="en-GB" i="1" dirty="0"/>
              <a:t>d</a:t>
            </a:r>
            <a:r>
              <a:rPr lang="en-GB" dirty="0"/>
              <a:t>, then we should find it after branching </a:t>
            </a:r>
            <a:r>
              <a:rPr lang="en-GB" i="1" dirty="0"/>
              <a:t>d</a:t>
            </a:r>
            <a:r>
              <a:rPr lang="en-GB" dirty="0"/>
              <a:t> times in this way</a:t>
            </a:r>
          </a:p>
          <a:p>
            <a:pPr lvl="1"/>
            <a:r>
              <a:rPr lang="en-GB" dirty="0"/>
              <a:t>So, this requires O*(</a:t>
            </a:r>
            <a:r>
              <a:rPr lang="en-GB" i="1" dirty="0"/>
              <a:t>3</a:t>
            </a:r>
            <a:r>
              <a:rPr lang="en-GB" i="1" baseline="30000" dirty="0"/>
              <a:t>d</a:t>
            </a:r>
            <a:r>
              <a:rPr lang="en-GB" dirty="0"/>
              <a:t>) time</a:t>
            </a:r>
          </a:p>
          <a:p>
            <a:r>
              <a:rPr lang="en-GB" dirty="0"/>
              <a:t>For </a:t>
            </a:r>
            <a:r>
              <a:rPr lang="en-GB" i="1" dirty="0"/>
              <a:t>k</a:t>
            </a:r>
            <a:r>
              <a:rPr lang="en-GB" dirty="0"/>
              <a:t>-SAT this can be done in O*(</a:t>
            </a:r>
            <a:r>
              <a:rPr lang="en-GB" i="1" dirty="0" err="1"/>
              <a:t>k</a:t>
            </a:r>
            <a:r>
              <a:rPr lang="en-GB" i="1" baseline="30000" dirty="0" err="1"/>
              <a:t>d</a:t>
            </a:r>
            <a:r>
              <a:rPr lang="en-GB" dirty="0"/>
              <a:t>) time</a:t>
            </a:r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simple local search algorithm for </a:t>
            </a:r>
            <a:br>
              <a:rPr lang="en-GB" dirty="0"/>
            </a:br>
            <a:r>
              <a:rPr lang="en-GB" dirty="0"/>
              <a:t>3-Satisfiability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Any truth assignment lies either at Hamming distance at most </a:t>
            </a:r>
            <a:r>
              <a:rPr lang="en-GB" i="1" dirty="0"/>
              <a:t>n/2</a:t>
            </a:r>
            <a:r>
              <a:rPr lang="en-GB" dirty="0"/>
              <a:t> from the all-true or the all-false assignment</a:t>
            </a:r>
          </a:p>
          <a:p>
            <a:endParaRPr lang="en-GB" dirty="0"/>
          </a:p>
          <a:p>
            <a:pPr>
              <a:buNone/>
            </a:pPr>
            <a:r>
              <a:rPr lang="en-GB" b="1" dirty="0">
                <a:solidFill>
                  <a:srgbClr val="C00000"/>
                </a:solidFill>
              </a:rPr>
              <a:t>Algorithm:</a:t>
            </a:r>
          </a:p>
          <a:p>
            <a:r>
              <a:rPr lang="en-GB" dirty="0"/>
              <a:t>Apply the local search algorithm and look within the Hamming-Balls of size n/2 from the all-true and all-false assignments</a:t>
            </a:r>
          </a:p>
          <a:p>
            <a:endParaRPr lang="en-GB" dirty="0"/>
          </a:p>
          <a:p>
            <a:r>
              <a:rPr lang="en-GB" dirty="0"/>
              <a:t>Running time: O*(</a:t>
            </a:r>
            <a:r>
              <a:rPr lang="en-GB" dirty="0">
                <a:latin typeface="Verdana"/>
              </a:rPr>
              <a:t>3</a:t>
            </a:r>
            <a:r>
              <a:rPr lang="en-GB" baseline="30000" dirty="0">
                <a:latin typeface="Verdana"/>
              </a:rPr>
              <a:t>n/2</a:t>
            </a:r>
            <a:r>
              <a:rPr lang="en-GB" dirty="0"/>
              <a:t>) = O(1.7321</a:t>
            </a:r>
            <a:r>
              <a:rPr lang="en-GB" baseline="30000" dirty="0"/>
              <a:t>n</a:t>
            </a:r>
            <a:r>
              <a:rPr lang="en-GB" dirty="0"/>
              <a:t>)</a:t>
            </a:r>
          </a:p>
          <a:p>
            <a:r>
              <a:rPr lang="en-GB" dirty="0"/>
              <a:t>This already improves the O(1.8393</a:t>
            </a:r>
            <a:r>
              <a:rPr lang="en-GB" baseline="30000" dirty="0"/>
              <a:t>n</a:t>
            </a:r>
            <a:r>
              <a:rPr lang="en-GB" dirty="0"/>
              <a:t>)-time branching algorithm we saw earlier</a:t>
            </a:r>
          </a:p>
          <a:p>
            <a:r>
              <a:rPr lang="en-GB" dirty="0"/>
              <a:t>Using randomisation this can be improved greatly…</a:t>
            </a:r>
          </a:p>
          <a:p>
            <a:pPr lvl="1"/>
            <a:r>
              <a:rPr lang="en-GB" dirty="0"/>
              <a:t>See Jesper’s lectures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MEET IN THE MIDDLE</a:t>
            </a:r>
            <a:br>
              <a:rPr lang="nl-NL" dirty="0"/>
            </a:br>
            <a:r>
              <a:rPr lang="nl-NL" dirty="0"/>
              <a:t>(OR SORT AND SEARCH)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Exponential-time algorithms </a:t>
            </a:r>
            <a:r>
              <a:rPr lang="en-GB" dirty="0"/>
              <a:t>– Advanced Algorithms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Subset Sum</a:t>
            </a:r>
            <a:endParaRPr lang="nl-NL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/>
              <a:t>Subset sum problem:</a:t>
            </a:r>
          </a:p>
          <a:p>
            <a:pPr lvl="1"/>
            <a:r>
              <a:rPr lang="en-US" altLang="en-US" u="sng" dirty="0"/>
              <a:t>Given</a:t>
            </a:r>
            <a:r>
              <a:rPr lang="en-US" altLang="en-US" dirty="0"/>
              <a:t>: set of positive integers S = {a</a:t>
            </a:r>
            <a:r>
              <a:rPr lang="en-US" altLang="en-US" baseline="-25000" dirty="0"/>
              <a:t>1</a:t>
            </a:r>
            <a:r>
              <a:rPr lang="en-US" altLang="en-US" dirty="0"/>
              <a:t>,a</a:t>
            </a:r>
            <a:r>
              <a:rPr lang="en-US" altLang="en-US" baseline="-25000" dirty="0"/>
              <a:t>2</a:t>
            </a:r>
            <a:r>
              <a:rPr lang="en-US" altLang="en-US" dirty="0"/>
              <a:t>,..,a</a:t>
            </a:r>
            <a:r>
              <a:rPr lang="en-US" altLang="en-US" baseline="-25000" dirty="0"/>
              <a:t>n</a:t>
            </a:r>
            <a:r>
              <a:rPr lang="en-US" altLang="en-US" dirty="0"/>
              <a:t>}, integer t</a:t>
            </a:r>
          </a:p>
          <a:p>
            <a:pPr lvl="1"/>
            <a:r>
              <a:rPr lang="en-US" altLang="en-US" u="sng" dirty="0"/>
              <a:t>Question</a:t>
            </a:r>
            <a:r>
              <a:rPr lang="en-US" altLang="en-US" dirty="0"/>
              <a:t>: Is there a subset of S with total sum t?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Example:</a:t>
            </a:r>
          </a:p>
          <a:p>
            <a:pPr lvl="1"/>
            <a:r>
              <a:rPr lang="en-US" altLang="en-US" dirty="0"/>
              <a:t>S = {1,2,3,8,12,15,27}</a:t>
            </a:r>
          </a:p>
          <a:p>
            <a:pPr lvl="1"/>
            <a:r>
              <a:rPr lang="en-US" altLang="en-US" dirty="0"/>
              <a:t>t = 34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Example 2:</a:t>
            </a:r>
          </a:p>
          <a:p>
            <a:pPr lvl="1"/>
            <a:r>
              <a:rPr lang="en-US" altLang="en-US" dirty="0"/>
              <a:t>S = {1,2,3,8,12,15,27}</a:t>
            </a:r>
          </a:p>
          <a:p>
            <a:pPr lvl="1"/>
            <a:r>
              <a:rPr lang="en-US" altLang="en-US" dirty="0"/>
              <a:t>t = 33</a:t>
            </a:r>
          </a:p>
          <a:p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Sort and Search: algorithm</a:t>
            </a:r>
            <a:br>
              <a:rPr lang="en-GB" dirty="0"/>
            </a:br>
            <a:r>
              <a:rPr lang="en-GB" sz="1600" dirty="0"/>
              <a:t>Split instance in two and let solutions ‘meet in the middle’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en-US" b="1" dirty="0">
                <a:solidFill>
                  <a:srgbClr val="C00000"/>
                </a:solidFill>
              </a:rPr>
              <a:t>Algorithm:</a:t>
            </a:r>
          </a:p>
          <a:p>
            <a:pPr>
              <a:buFont typeface="+mj-lt"/>
              <a:buAutoNum type="arabicPeriod"/>
            </a:pPr>
            <a:r>
              <a:rPr lang="en-US" altLang="en-US" dirty="0"/>
              <a:t>We split S into two subsets S</a:t>
            </a:r>
            <a:r>
              <a:rPr lang="en-US" altLang="en-US" baseline="-25000" dirty="0"/>
              <a:t>1</a:t>
            </a:r>
            <a:r>
              <a:rPr lang="en-US" altLang="en-US" dirty="0"/>
              <a:t> and S</a:t>
            </a:r>
            <a:r>
              <a:rPr lang="en-US" altLang="en-US" baseline="-25000" dirty="0"/>
              <a:t>2</a:t>
            </a:r>
            <a:r>
              <a:rPr lang="en-US" altLang="en-US" dirty="0"/>
              <a:t>:</a:t>
            </a:r>
            <a:br>
              <a:rPr lang="en-US" altLang="en-US" dirty="0"/>
            </a:br>
            <a:r>
              <a:rPr lang="en-US" altLang="en-US" dirty="0"/>
              <a:t>	S</a:t>
            </a:r>
            <a:r>
              <a:rPr lang="en-US" altLang="en-US" baseline="-25000" dirty="0"/>
              <a:t>1</a:t>
            </a:r>
            <a:r>
              <a:rPr lang="en-US" altLang="en-US" dirty="0"/>
              <a:t> = {a</a:t>
            </a:r>
            <a:r>
              <a:rPr lang="en-US" altLang="en-US" baseline="-25000" dirty="0"/>
              <a:t>1</a:t>
            </a:r>
            <a:r>
              <a:rPr lang="en-US" altLang="en-US" dirty="0"/>
              <a:t>,a</a:t>
            </a:r>
            <a:r>
              <a:rPr lang="en-US" altLang="en-US" baseline="-25000" dirty="0"/>
              <a:t>2</a:t>
            </a:r>
            <a:r>
              <a:rPr lang="en-US" altLang="en-US" dirty="0"/>
              <a:t>,…,a</a:t>
            </a:r>
            <a:r>
              <a:rPr lang="en-US" altLang="en-US" baseline="-25000" dirty="0"/>
              <a:t>n/2</a:t>
            </a:r>
            <a:r>
              <a:rPr lang="en-US" altLang="en-US" dirty="0"/>
              <a:t>}, S</a:t>
            </a:r>
            <a:r>
              <a:rPr lang="en-US" altLang="en-US" baseline="-25000" dirty="0"/>
              <a:t>2</a:t>
            </a:r>
            <a:r>
              <a:rPr lang="en-US" altLang="en-US" dirty="0"/>
              <a:t> = {a</a:t>
            </a:r>
            <a:r>
              <a:rPr lang="en-US" altLang="en-US" baseline="-25000" dirty="0"/>
              <a:t>n/2+1</a:t>
            </a:r>
            <a:r>
              <a:rPr lang="en-US" altLang="en-US" dirty="0"/>
              <a:t>,a</a:t>
            </a:r>
            <a:r>
              <a:rPr lang="en-US" altLang="en-US" baseline="-25000" dirty="0"/>
              <a:t>n/2+2</a:t>
            </a:r>
            <a:r>
              <a:rPr lang="en-US" altLang="en-US" dirty="0"/>
              <a:t>,…,a</a:t>
            </a:r>
            <a:r>
              <a:rPr lang="en-US" altLang="en-US" baseline="-25000" dirty="0"/>
              <a:t>n</a:t>
            </a:r>
            <a:r>
              <a:rPr lang="en-US" altLang="en-US" dirty="0"/>
              <a:t>}</a:t>
            </a:r>
          </a:p>
          <a:p>
            <a:pPr>
              <a:buFont typeface="+mj-lt"/>
              <a:buAutoNum type="arabicPeriod"/>
            </a:pPr>
            <a:r>
              <a:rPr lang="en-US" altLang="en-US" dirty="0"/>
              <a:t>For S</a:t>
            </a:r>
            <a:r>
              <a:rPr lang="en-US" altLang="en-US" baseline="-25000" dirty="0"/>
              <a:t>1</a:t>
            </a:r>
            <a:r>
              <a:rPr lang="en-US" altLang="en-US" dirty="0"/>
              <a:t> and S</a:t>
            </a:r>
            <a:r>
              <a:rPr lang="en-US" altLang="en-US" baseline="-25000" dirty="0"/>
              <a:t>2</a:t>
            </a:r>
            <a:r>
              <a:rPr lang="en-US" altLang="en-US" dirty="0"/>
              <a:t> we compute 2</a:t>
            </a:r>
            <a:r>
              <a:rPr lang="en-US" altLang="en-US" baseline="30000" dirty="0"/>
              <a:t>n/2</a:t>
            </a:r>
            <a:r>
              <a:rPr lang="en-US" altLang="en-US" dirty="0"/>
              <a:t> size tables containing all sums that can be made using elements from S</a:t>
            </a:r>
            <a:r>
              <a:rPr lang="en-US" altLang="en-US" baseline="-25000" dirty="0"/>
              <a:t>1</a:t>
            </a:r>
            <a:r>
              <a:rPr lang="en-US" altLang="en-US" dirty="0"/>
              <a:t> and S</a:t>
            </a:r>
            <a:r>
              <a:rPr lang="en-US" altLang="en-US" baseline="-25000" dirty="0"/>
              <a:t>2</a:t>
            </a:r>
            <a:r>
              <a:rPr lang="en-US" altLang="en-US" dirty="0"/>
              <a:t> respectively</a:t>
            </a:r>
          </a:p>
          <a:p>
            <a:pPr>
              <a:buFont typeface="+mj-lt"/>
              <a:buAutoNum type="arabicPeriod"/>
            </a:pPr>
            <a:r>
              <a:rPr lang="en-US" altLang="en-US" dirty="0"/>
              <a:t>Sort the two tables in O(2</a:t>
            </a:r>
            <a:r>
              <a:rPr lang="en-US" altLang="en-US" baseline="30000" dirty="0"/>
              <a:t>n/2 </a:t>
            </a:r>
            <a:r>
              <a:rPr lang="en-US" altLang="en-US" dirty="0"/>
              <a:t>log(2</a:t>
            </a:r>
            <a:r>
              <a:rPr lang="en-US" altLang="en-US" baseline="30000" dirty="0"/>
              <a:t>n/2</a:t>
            </a:r>
            <a:r>
              <a:rPr lang="en-US" altLang="en-US" dirty="0"/>
              <a:t>)) = O*(2</a:t>
            </a:r>
            <a:r>
              <a:rPr lang="en-US" altLang="en-US" baseline="30000" dirty="0"/>
              <a:t>n/2</a:t>
            </a:r>
            <a:r>
              <a:rPr lang="en-US" altLang="en-US" dirty="0"/>
              <a:t>) time</a:t>
            </a:r>
          </a:p>
          <a:p>
            <a:pPr>
              <a:buFont typeface="+mj-lt"/>
              <a:buAutoNum type="arabicPeriod"/>
            </a:pPr>
            <a:r>
              <a:rPr lang="en-US" altLang="en-US" dirty="0"/>
              <a:t>Start with the smallest value in S</a:t>
            </a:r>
            <a:r>
              <a:rPr lang="en-US" altLang="en-US" baseline="-25000" dirty="0"/>
              <a:t>1</a:t>
            </a:r>
            <a:r>
              <a:rPr lang="en-US" altLang="en-US" dirty="0"/>
              <a:t> and the largest value in S</a:t>
            </a:r>
            <a:r>
              <a:rPr lang="en-US" altLang="en-US" baseline="-25000" dirty="0"/>
              <a:t>2</a:t>
            </a:r>
            <a:r>
              <a:rPr lang="en-US" altLang="en-US" dirty="0"/>
              <a:t> and repeat these steps: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en-US" dirty="0"/>
              <a:t>Move one value further in S</a:t>
            </a:r>
            <a:r>
              <a:rPr lang="en-US" altLang="en-US" baseline="-25000" dirty="0"/>
              <a:t>1</a:t>
            </a:r>
            <a:r>
              <a:rPr lang="en-US" altLang="en-US" dirty="0"/>
              <a:t> if the sum is too small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en-US" dirty="0"/>
              <a:t>Move one value back in S</a:t>
            </a:r>
            <a:r>
              <a:rPr lang="en-US" altLang="en-US" baseline="-25000" dirty="0"/>
              <a:t>2</a:t>
            </a:r>
            <a:r>
              <a:rPr lang="en-US" altLang="en-US" dirty="0"/>
              <a:t> if the sum is too large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en-US" dirty="0"/>
              <a:t>Output ‘Yes’ if the sum is exactly t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en-US" dirty="0"/>
              <a:t>Output ‘No’ if we finished searching S</a:t>
            </a:r>
            <a:r>
              <a:rPr lang="en-US" altLang="en-US" baseline="-25000" dirty="0"/>
              <a:t>1</a:t>
            </a:r>
            <a:r>
              <a:rPr lang="en-US" altLang="en-US" dirty="0"/>
              <a:t> and S</a:t>
            </a:r>
            <a:r>
              <a:rPr lang="en-US" altLang="en-US" baseline="-25000" dirty="0"/>
              <a:t>2</a:t>
            </a:r>
            <a:endParaRPr lang="en-US" altLang="en-US" dirty="0"/>
          </a:p>
          <a:p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The </a:t>
            </a:r>
            <a:r>
              <a:rPr lang="nl-NL" dirty="0" err="1"/>
              <a:t>knapsack</a:t>
            </a:r>
            <a:r>
              <a:rPr lang="nl-NL" dirty="0"/>
              <a:t> </a:t>
            </a:r>
            <a:r>
              <a:rPr lang="nl-NL" dirty="0" err="1"/>
              <a:t>problem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 b="1" dirty="0"/>
              <a:t>Knapsack</a:t>
            </a:r>
          </a:p>
          <a:p>
            <a:pPr lvl="1"/>
            <a:r>
              <a:rPr lang="en-GB" altLang="en-US" u="sng" dirty="0"/>
              <a:t>Given</a:t>
            </a:r>
            <a:r>
              <a:rPr lang="en-GB" altLang="en-US" dirty="0"/>
              <a:t>: Set S of items, each with integer value v and integer weight w, integers W and V</a:t>
            </a:r>
          </a:p>
          <a:p>
            <a:pPr lvl="1"/>
            <a:r>
              <a:rPr lang="en-GB" altLang="en-US" u="sng" dirty="0"/>
              <a:t>Question</a:t>
            </a:r>
            <a:r>
              <a:rPr lang="en-GB" altLang="en-US" dirty="0"/>
              <a:t>: is there a subset of S of weight no more than W, with total value at least V?</a:t>
            </a:r>
          </a:p>
          <a:p>
            <a:endParaRPr lang="nl-NL" dirty="0"/>
          </a:p>
          <a:p>
            <a:r>
              <a:rPr lang="en-US" altLang="en-US" dirty="0"/>
              <a:t>We split S into two subsets S</a:t>
            </a:r>
            <a:r>
              <a:rPr lang="en-US" altLang="en-US" baseline="-25000" dirty="0"/>
              <a:t>1</a:t>
            </a:r>
            <a:r>
              <a:rPr lang="en-US" altLang="en-US" dirty="0"/>
              <a:t> and S</a:t>
            </a:r>
            <a:r>
              <a:rPr lang="en-US" altLang="en-US" baseline="-25000" dirty="0"/>
              <a:t>2</a:t>
            </a:r>
            <a:r>
              <a:rPr lang="en-US" altLang="en-US" dirty="0"/>
              <a:t>:</a:t>
            </a:r>
            <a:endParaRPr lang="en-US" altLang="en-US" baseline="-25000" dirty="0"/>
          </a:p>
          <a:p>
            <a:pPr lvl="1"/>
            <a:r>
              <a:rPr lang="en-US" altLang="en-US" dirty="0"/>
              <a:t>S</a:t>
            </a:r>
            <a:r>
              <a:rPr lang="en-US" altLang="en-US" baseline="-25000" dirty="0"/>
              <a:t>1</a:t>
            </a:r>
            <a:r>
              <a:rPr lang="en-US" altLang="en-US" dirty="0"/>
              <a:t> = {s</a:t>
            </a:r>
            <a:r>
              <a:rPr lang="en-US" altLang="en-US" baseline="-25000" dirty="0"/>
              <a:t>1</a:t>
            </a:r>
            <a:r>
              <a:rPr lang="en-US" altLang="en-US" dirty="0"/>
              <a:t>, s</a:t>
            </a:r>
            <a:r>
              <a:rPr lang="en-US" altLang="en-US" baseline="-25000" dirty="0"/>
              <a:t>2</a:t>
            </a:r>
            <a:r>
              <a:rPr lang="en-US" altLang="en-US" dirty="0"/>
              <a:t>,…, </a:t>
            </a:r>
            <a:r>
              <a:rPr lang="en-US" altLang="en-US" dirty="0" err="1"/>
              <a:t>s</a:t>
            </a:r>
            <a:r>
              <a:rPr lang="en-US" altLang="en-US" baseline="-25000" dirty="0" err="1"/>
              <a:t>n</a:t>
            </a:r>
            <a:r>
              <a:rPr lang="en-US" altLang="en-US" baseline="-25000" dirty="0"/>
              <a:t>/2</a:t>
            </a:r>
            <a:r>
              <a:rPr lang="en-US" altLang="en-US" dirty="0"/>
              <a:t>}, S</a:t>
            </a:r>
            <a:r>
              <a:rPr lang="en-US" altLang="en-US" baseline="-25000" dirty="0"/>
              <a:t>2</a:t>
            </a:r>
            <a:r>
              <a:rPr lang="en-US" altLang="en-US" dirty="0"/>
              <a:t> = {</a:t>
            </a:r>
            <a:r>
              <a:rPr lang="en-US" altLang="en-US" dirty="0" err="1"/>
              <a:t>s</a:t>
            </a:r>
            <a:r>
              <a:rPr lang="en-US" altLang="en-US" baseline="-25000" dirty="0" err="1"/>
              <a:t>n</a:t>
            </a:r>
            <a:r>
              <a:rPr lang="en-US" altLang="en-US" baseline="-25000" dirty="0"/>
              <a:t>/2+1</a:t>
            </a:r>
            <a:r>
              <a:rPr lang="en-US" altLang="en-US" dirty="0"/>
              <a:t>, </a:t>
            </a:r>
            <a:r>
              <a:rPr lang="en-US" altLang="en-US" dirty="0" err="1"/>
              <a:t>s</a:t>
            </a:r>
            <a:r>
              <a:rPr lang="en-US" altLang="en-US" baseline="-25000" dirty="0" err="1"/>
              <a:t>n</a:t>
            </a:r>
            <a:r>
              <a:rPr lang="en-US" altLang="en-US" baseline="-25000" dirty="0"/>
              <a:t>/2+2</a:t>
            </a:r>
            <a:r>
              <a:rPr lang="en-US" altLang="en-US" dirty="0"/>
              <a:t>,…,</a:t>
            </a:r>
            <a:r>
              <a:rPr lang="en-US" altLang="en-US" dirty="0" err="1"/>
              <a:t>s</a:t>
            </a:r>
            <a:r>
              <a:rPr lang="en-US" altLang="en-US" baseline="-25000" dirty="0" err="1"/>
              <a:t>n</a:t>
            </a:r>
            <a:r>
              <a:rPr lang="en-US" altLang="en-US" dirty="0"/>
              <a:t>}</a:t>
            </a:r>
          </a:p>
          <a:p>
            <a:endParaRPr lang="en-US" altLang="en-US" dirty="0"/>
          </a:p>
          <a:p>
            <a:endParaRPr lang="nl-NL" dirty="0"/>
          </a:p>
          <a:p>
            <a:endParaRPr lang="nl-NL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Sort and Search: knapsack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828800"/>
            <a:ext cx="7592888" cy="4408512"/>
          </a:xfrm>
        </p:spPr>
        <p:txBody>
          <a:bodyPr/>
          <a:lstStyle/>
          <a:p>
            <a:pPr>
              <a:buNone/>
            </a:pPr>
            <a:r>
              <a:rPr lang="en-US" altLang="en-US" b="1" dirty="0">
                <a:solidFill>
                  <a:srgbClr val="C00000"/>
                </a:solidFill>
              </a:rPr>
              <a:t>Algorithm:</a:t>
            </a:r>
          </a:p>
          <a:p>
            <a:pPr>
              <a:buFont typeface="+mj-lt"/>
              <a:buAutoNum type="arabicPeriod"/>
            </a:pPr>
            <a:r>
              <a:rPr lang="en-US" altLang="en-US" dirty="0"/>
              <a:t>For S</a:t>
            </a:r>
            <a:r>
              <a:rPr lang="en-US" altLang="en-US" baseline="-25000" dirty="0"/>
              <a:t>1</a:t>
            </a:r>
            <a:r>
              <a:rPr lang="en-US" altLang="en-US" dirty="0"/>
              <a:t> and S</a:t>
            </a:r>
            <a:r>
              <a:rPr lang="en-US" altLang="en-US" baseline="-25000" dirty="0"/>
              <a:t>2</a:t>
            </a:r>
            <a:r>
              <a:rPr lang="en-US" altLang="en-US" dirty="0"/>
              <a:t> we compute 2</a:t>
            </a:r>
            <a:r>
              <a:rPr lang="en-US" altLang="en-US" baseline="30000" dirty="0"/>
              <a:t>n/2</a:t>
            </a:r>
            <a:r>
              <a:rPr lang="en-US" altLang="en-US" dirty="0"/>
              <a:t> size tables containing all subsets of items that can be picked from S</a:t>
            </a:r>
            <a:r>
              <a:rPr lang="en-US" altLang="en-US" baseline="-25000" dirty="0"/>
              <a:t>1</a:t>
            </a:r>
            <a:r>
              <a:rPr lang="en-US" altLang="en-US" dirty="0"/>
              <a:t> or S</a:t>
            </a:r>
            <a:r>
              <a:rPr lang="en-US" altLang="en-US" baseline="-25000" dirty="0"/>
              <a:t>2</a:t>
            </a:r>
            <a:endParaRPr lang="en-US" altLang="en-US" dirty="0"/>
          </a:p>
          <a:p>
            <a:pPr lvl="1"/>
            <a:r>
              <a:rPr lang="en-US" altLang="en-US" dirty="0"/>
              <a:t>Sort the sets S</a:t>
            </a:r>
            <a:r>
              <a:rPr lang="en-US" altLang="en-US" baseline="-25000" dirty="0"/>
              <a:t>1</a:t>
            </a:r>
            <a:r>
              <a:rPr lang="en-US" altLang="en-US" dirty="0"/>
              <a:t> and S</a:t>
            </a:r>
            <a:r>
              <a:rPr lang="en-US" altLang="en-US" baseline="-25000" dirty="0"/>
              <a:t>2</a:t>
            </a:r>
            <a:r>
              <a:rPr lang="en-US" altLang="en-US" dirty="0"/>
              <a:t> by their weight</a:t>
            </a:r>
          </a:p>
          <a:p>
            <a:pPr>
              <a:buFont typeface="+mj-lt"/>
              <a:buAutoNum type="arabicPeriod"/>
            </a:pPr>
            <a:r>
              <a:rPr lang="en-US" altLang="en-US" dirty="0"/>
              <a:t>Remove all dominated subsets</a:t>
            </a:r>
          </a:p>
          <a:p>
            <a:pPr lvl="1"/>
            <a:r>
              <a:rPr lang="en-US" altLang="en-US" dirty="0"/>
              <a:t>Dominated subsets: subsets for which there exists another subset with more (or equal) value and less (or equal) weight</a:t>
            </a:r>
          </a:p>
          <a:p>
            <a:pPr lvl="1"/>
            <a:r>
              <a:rPr lang="en-US" altLang="en-US" dirty="0">
                <a:latin typeface="Verdana"/>
              </a:rPr>
              <a:t>S</a:t>
            </a:r>
            <a:r>
              <a:rPr lang="en-US" altLang="en-US" baseline="-25000" dirty="0">
                <a:latin typeface="Verdana"/>
              </a:rPr>
              <a:t>1</a:t>
            </a:r>
            <a:r>
              <a:rPr lang="en-US" altLang="en-US" dirty="0"/>
              <a:t> and </a:t>
            </a:r>
            <a:r>
              <a:rPr lang="en-US" altLang="en-US" dirty="0">
                <a:latin typeface="Verdana"/>
              </a:rPr>
              <a:t>S</a:t>
            </a:r>
            <a:r>
              <a:rPr lang="en-US" altLang="en-US" baseline="-25000" dirty="0">
                <a:latin typeface="Verdana"/>
              </a:rPr>
              <a:t>2</a:t>
            </a:r>
            <a:r>
              <a:rPr lang="en-US" altLang="en-US" dirty="0"/>
              <a:t> are now sorted increasingly on weight and value</a:t>
            </a:r>
          </a:p>
          <a:p>
            <a:pPr>
              <a:lnSpc>
                <a:spcPct val="80000"/>
              </a:lnSpc>
              <a:buFont typeface="+mj-lt"/>
              <a:buAutoNum type="arabicPeriod"/>
            </a:pPr>
            <a:r>
              <a:rPr lang="en-US" altLang="en-US" dirty="0"/>
              <a:t>Start with the smallest item in S</a:t>
            </a:r>
            <a:r>
              <a:rPr lang="en-US" altLang="en-US" baseline="-25000" dirty="0"/>
              <a:t>1</a:t>
            </a:r>
            <a:r>
              <a:rPr lang="en-US" altLang="en-US" dirty="0"/>
              <a:t> and the largest item in S</a:t>
            </a:r>
            <a:r>
              <a:rPr lang="en-US" altLang="en-US" baseline="-25000" dirty="0"/>
              <a:t>2</a:t>
            </a:r>
            <a:r>
              <a:rPr lang="en-US" altLang="en-US" dirty="0"/>
              <a:t> and keep track of the highest value combination found:</a:t>
            </a:r>
          </a:p>
          <a:p>
            <a:pPr marL="800100" lvl="1" indent="-342900">
              <a:lnSpc>
                <a:spcPct val="80000"/>
              </a:lnSpc>
              <a:buFont typeface="+mj-lt"/>
              <a:buAutoNum type="arabicPeriod"/>
            </a:pPr>
            <a:r>
              <a:rPr lang="en-US" altLang="en-US" dirty="0"/>
              <a:t>Update the highest value if the combination of the subset from S</a:t>
            </a:r>
            <a:r>
              <a:rPr lang="en-US" altLang="en-US" baseline="-25000" dirty="0"/>
              <a:t>1</a:t>
            </a:r>
            <a:r>
              <a:rPr lang="en-US" altLang="en-US" dirty="0"/>
              <a:t> and the subset from S</a:t>
            </a:r>
            <a:r>
              <a:rPr lang="en-US" altLang="en-US" baseline="-25000" dirty="0"/>
              <a:t>2</a:t>
            </a:r>
            <a:r>
              <a:rPr lang="en-US" altLang="en-US" dirty="0"/>
              <a:t> is not too large and more valuable as the current most valuable solution</a:t>
            </a:r>
          </a:p>
          <a:p>
            <a:pPr marL="800100" lvl="1" indent="-342900">
              <a:lnSpc>
                <a:spcPct val="80000"/>
              </a:lnSpc>
              <a:buFont typeface="+mj-lt"/>
              <a:buAutoNum type="arabicPeriod"/>
            </a:pPr>
            <a:r>
              <a:rPr lang="en-US" altLang="en-US" dirty="0"/>
              <a:t>Move one value further in S</a:t>
            </a:r>
            <a:r>
              <a:rPr lang="en-US" altLang="en-US" baseline="-25000" dirty="0"/>
              <a:t>1</a:t>
            </a:r>
            <a:r>
              <a:rPr lang="en-US" altLang="en-US" dirty="0"/>
              <a:t> if the sum of the sizes is too small</a:t>
            </a:r>
          </a:p>
          <a:p>
            <a:pPr marL="800100" lvl="1" indent="-342900">
              <a:lnSpc>
                <a:spcPct val="80000"/>
              </a:lnSpc>
              <a:buFont typeface="+mj-lt"/>
              <a:buAutoNum type="arabicPeriod"/>
            </a:pPr>
            <a:r>
              <a:rPr lang="en-US" altLang="en-US" dirty="0"/>
              <a:t>Move one value back in S</a:t>
            </a:r>
            <a:r>
              <a:rPr lang="en-US" altLang="en-US" baseline="-25000" dirty="0"/>
              <a:t>2</a:t>
            </a:r>
            <a:r>
              <a:rPr lang="en-US" altLang="en-US" dirty="0"/>
              <a:t> if the sum of the sizes is </a:t>
            </a:r>
            <a:r>
              <a:rPr lang="en-US" altLang="en-US" dirty="0" err="1"/>
              <a:t>is</a:t>
            </a:r>
            <a:r>
              <a:rPr lang="en-US" altLang="en-US" dirty="0"/>
              <a:t> too large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Sort and search space improvement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Both algorithms can be improved to use O*(2</a:t>
            </a:r>
            <a:r>
              <a:rPr lang="en-GB" baseline="30000" dirty="0"/>
              <a:t>n/2</a:t>
            </a:r>
            <a:r>
              <a:rPr lang="en-GB" dirty="0"/>
              <a:t>) time and O*(2</a:t>
            </a:r>
            <a:r>
              <a:rPr lang="en-GB" baseline="30000" dirty="0"/>
              <a:t>n/4</a:t>
            </a:r>
            <a:r>
              <a:rPr lang="en-GB" dirty="0"/>
              <a:t>) space (</a:t>
            </a:r>
            <a:r>
              <a:rPr lang="en-GB" dirty="0" err="1"/>
              <a:t>Schroeppel</a:t>
            </a:r>
            <a:r>
              <a:rPr lang="en-GB" dirty="0"/>
              <a:t>, Shamir, 1981)</a:t>
            </a:r>
          </a:p>
          <a:p>
            <a:pPr lvl="1"/>
            <a:r>
              <a:rPr lang="en-GB" dirty="0"/>
              <a:t>Compare to O*(2</a:t>
            </a:r>
            <a:r>
              <a:rPr lang="en-GB" baseline="30000" dirty="0"/>
              <a:t>n/2</a:t>
            </a:r>
            <a:r>
              <a:rPr lang="en-GB" dirty="0"/>
              <a:t>) time and space</a:t>
            </a:r>
          </a:p>
          <a:p>
            <a:endParaRPr lang="en-GB" sz="800" dirty="0"/>
          </a:p>
          <a:p>
            <a:pPr>
              <a:buNone/>
            </a:pPr>
            <a:r>
              <a:rPr lang="en-GB" b="1" dirty="0">
                <a:solidFill>
                  <a:srgbClr val="C00000"/>
                </a:solidFill>
              </a:rPr>
              <a:t>Algorithm:</a:t>
            </a:r>
          </a:p>
          <a:p>
            <a:pPr>
              <a:buFont typeface="+mj-lt"/>
              <a:buAutoNum type="arabicPeriod"/>
            </a:pPr>
            <a:r>
              <a:rPr lang="en-GB" dirty="0"/>
              <a:t>Split S</a:t>
            </a:r>
            <a:r>
              <a:rPr lang="en-GB" altLang="en-US" dirty="0"/>
              <a:t> into four subsets S</a:t>
            </a:r>
            <a:r>
              <a:rPr lang="en-GB" altLang="en-US" baseline="-25000" dirty="0"/>
              <a:t>1</a:t>
            </a:r>
            <a:r>
              <a:rPr lang="en-GB" altLang="en-US" dirty="0"/>
              <a:t>, S</a:t>
            </a:r>
            <a:r>
              <a:rPr lang="en-GB" altLang="en-US" baseline="-25000" dirty="0"/>
              <a:t>2</a:t>
            </a:r>
            <a:r>
              <a:rPr lang="en-GB" altLang="en-US" dirty="0"/>
              <a:t>, S</a:t>
            </a:r>
            <a:r>
              <a:rPr lang="en-GB" altLang="en-US" baseline="-25000" dirty="0"/>
              <a:t>3</a:t>
            </a:r>
            <a:r>
              <a:rPr lang="en-GB" altLang="en-US" dirty="0"/>
              <a:t>, S</a:t>
            </a:r>
            <a:r>
              <a:rPr lang="en-GB" altLang="en-US" baseline="-25000" dirty="0"/>
              <a:t>4</a:t>
            </a:r>
            <a:r>
              <a:rPr lang="en-GB" altLang="en-US" dirty="0"/>
              <a:t> of equal size</a:t>
            </a:r>
          </a:p>
          <a:p>
            <a:pPr>
              <a:buFont typeface="+mj-lt"/>
              <a:buAutoNum type="arabicPeriod"/>
            </a:pPr>
            <a:r>
              <a:rPr lang="en-GB" altLang="en-US" dirty="0"/>
              <a:t>For each subset create a sorted table with all possible sums that we can make using elements from that set</a:t>
            </a:r>
          </a:p>
          <a:p>
            <a:pPr>
              <a:buFont typeface="+mj-lt"/>
              <a:buAutoNum type="arabicPeriod"/>
            </a:pPr>
            <a:r>
              <a:rPr lang="en-GB" altLang="en-US" dirty="0"/>
              <a:t>We list all possible sums from elements from S</a:t>
            </a:r>
            <a:r>
              <a:rPr lang="en-GB" altLang="en-US" baseline="-25000" dirty="0"/>
              <a:t>1</a:t>
            </a:r>
            <a:r>
              <a:rPr lang="en-GB" altLang="en-US" dirty="0"/>
              <a:t> </a:t>
            </a:r>
            <a:r>
              <a:rPr lang="en-GB" altLang="en-US" dirty="0">
                <a:latin typeface="cmsy10"/>
              </a:rPr>
              <a:t>[</a:t>
            </a:r>
            <a:r>
              <a:rPr lang="en-GB" altLang="en-US" dirty="0"/>
              <a:t> S</a:t>
            </a:r>
            <a:r>
              <a:rPr lang="en-GB" altLang="en-US" baseline="-25000" dirty="0"/>
              <a:t>2</a:t>
            </a:r>
            <a:r>
              <a:rPr lang="en-GB" altLang="en-US" dirty="0"/>
              <a:t> in increasing order and all possible sums from elements from</a:t>
            </a:r>
            <a:br>
              <a:rPr lang="en-GB" altLang="en-US" dirty="0"/>
            </a:br>
            <a:r>
              <a:rPr lang="en-GB" altLang="en-US" dirty="0"/>
              <a:t>S</a:t>
            </a:r>
            <a:r>
              <a:rPr lang="en-GB" altLang="en-US" baseline="-25000" dirty="0"/>
              <a:t>3</a:t>
            </a:r>
            <a:r>
              <a:rPr lang="en-GB" altLang="en-US" dirty="0"/>
              <a:t> </a:t>
            </a:r>
            <a:r>
              <a:rPr lang="en-GB" altLang="en-US" dirty="0">
                <a:latin typeface="cmsy10"/>
              </a:rPr>
              <a:t>[</a:t>
            </a:r>
            <a:r>
              <a:rPr lang="en-GB" altLang="en-US" dirty="0"/>
              <a:t> S</a:t>
            </a:r>
            <a:r>
              <a:rPr lang="en-GB" altLang="en-US" baseline="-25000" dirty="0"/>
              <a:t>4</a:t>
            </a:r>
            <a:r>
              <a:rPr lang="en-GB" altLang="en-US" dirty="0"/>
              <a:t> in decreasing order</a:t>
            </a:r>
          </a:p>
          <a:p>
            <a:pPr lvl="1"/>
            <a:r>
              <a:rPr lang="en-GB" altLang="en-US" dirty="0"/>
              <a:t>How? Next Slides</a:t>
            </a:r>
          </a:p>
          <a:p>
            <a:pPr lvl="1"/>
            <a:r>
              <a:rPr lang="en-GB" altLang="en-US" dirty="0"/>
              <a:t>Combining values from the increasing list on S</a:t>
            </a:r>
            <a:r>
              <a:rPr lang="en-GB" altLang="en-US" baseline="-25000" dirty="0"/>
              <a:t>1</a:t>
            </a:r>
            <a:r>
              <a:rPr lang="en-GB" altLang="en-US" dirty="0"/>
              <a:t> </a:t>
            </a:r>
            <a:r>
              <a:rPr lang="en-GB" altLang="en-US" dirty="0">
                <a:latin typeface="cmsy10"/>
              </a:rPr>
              <a:t>[</a:t>
            </a:r>
            <a:r>
              <a:rPr lang="en-GB" altLang="en-US" dirty="0"/>
              <a:t> S</a:t>
            </a:r>
            <a:r>
              <a:rPr lang="en-GB" altLang="en-US" baseline="-25000" dirty="0"/>
              <a:t>2</a:t>
            </a:r>
            <a:r>
              <a:rPr lang="en-GB" altLang="en-US" dirty="0"/>
              <a:t> and the decreasing list on S</a:t>
            </a:r>
            <a:r>
              <a:rPr lang="en-GB" altLang="en-US" baseline="-25000" dirty="0"/>
              <a:t>3</a:t>
            </a:r>
            <a:r>
              <a:rPr lang="en-GB" altLang="en-US" dirty="0"/>
              <a:t> </a:t>
            </a:r>
            <a:r>
              <a:rPr lang="en-GB" altLang="en-US" dirty="0">
                <a:latin typeface="cmsy10"/>
              </a:rPr>
              <a:t>[</a:t>
            </a:r>
            <a:r>
              <a:rPr lang="en-GB" altLang="en-US" dirty="0"/>
              <a:t> S</a:t>
            </a:r>
            <a:r>
              <a:rPr lang="en-GB" altLang="en-US" baseline="-25000" dirty="0"/>
              <a:t>4</a:t>
            </a:r>
            <a:r>
              <a:rPr lang="en-GB" altLang="en-US" dirty="0"/>
              <a:t> is identical to the previous algorithms</a:t>
            </a:r>
          </a:p>
          <a:p>
            <a:endParaRPr lang="en-GB" dirty="0"/>
          </a:p>
          <a:p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Sort and search space improvement: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828800"/>
            <a:ext cx="7391400" cy="4192488"/>
          </a:xfrm>
        </p:spPr>
        <p:txBody>
          <a:bodyPr/>
          <a:lstStyle/>
          <a:p>
            <a:r>
              <a:rPr lang="en-GB" dirty="0"/>
              <a:t>Algorithm uses O*(2</a:t>
            </a:r>
            <a:r>
              <a:rPr lang="en-GB" baseline="30000" dirty="0"/>
              <a:t>n/4</a:t>
            </a:r>
            <a:r>
              <a:rPr lang="en-GB" dirty="0"/>
              <a:t>) space:</a:t>
            </a:r>
          </a:p>
          <a:p>
            <a:pPr lvl="1"/>
            <a:r>
              <a:rPr lang="en-GB" dirty="0"/>
              <a:t>Four tables of all values one can make using numbers in S</a:t>
            </a:r>
            <a:r>
              <a:rPr lang="en-GB" baseline="-25000" dirty="0"/>
              <a:t>i</a:t>
            </a:r>
            <a:endParaRPr lang="en-GB" dirty="0"/>
          </a:p>
          <a:p>
            <a:pPr lvl="1"/>
            <a:endParaRPr lang="en-GB" dirty="0"/>
          </a:p>
          <a:p>
            <a:r>
              <a:rPr lang="en-GB" dirty="0"/>
              <a:t>Algorithm uses O*(2</a:t>
            </a:r>
            <a:r>
              <a:rPr lang="en-GB" baseline="30000" dirty="0"/>
              <a:t>n/2</a:t>
            </a:r>
            <a:r>
              <a:rPr lang="en-GB" dirty="0"/>
              <a:t>) time:</a:t>
            </a:r>
          </a:p>
          <a:p>
            <a:pPr lvl="1"/>
            <a:r>
              <a:rPr lang="en-GB" dirty="0"/>
              <a:t>If we can list all values from </a:t>
            </a:r>
            <a:r>
              <a:rPr lang="en-GB" altLang="en-US" dirty="0"/>
              <a:t>S</a:t>
            </a:r>
            <a:r>
              <a:rPr lang="en-GB" altLang="en-US" baseline="-25000" dirty="0"/>
              <a:t>1</a:t>
            </a:r>
            <a:r>
              <a:rPr lang="en-GB" altLang="en-US" dirty="0"/>
              <a:t> </a:t>
            </a:r>
            <a:r>
              <a:rPr lang="en-GB" altLang="en-US" dirty="0">
                <a:latin typeface="cmsy10"/>
              </a:rPr>
              <a:t>[</a:t>
            </a:r>
            <a:r>
              <a:rPr lang="en-GB" altLang="en-US" dirty="0"/>
              <a:t> S</a:t>
            </a:r>
            <a:r>
              <a:rPr lang="en-GB" altLang="en-US" baseline="-25000" dirty="0"/>
              <a:t>2</a:t>
            </a:r>
            <a:r>
              <a:rPr lang="en-GB" altLang="en-US" dirty="0"/>
              <a:t> in increasing order within this amount of time, without using extra space</a:t>
            </a:r>
          </a:p>
          <a:p>
            <a:pPr lvl="1"/>
            <a:r>
              <a:rPr lang="en-GB" dirty="0"/>
              <a:t>Similarly for all values from </a:t>
            </a:r>
            <a:r>
              <a:rPr lang="en-GB" altLang="en-US" dirty="0"/>
              <a:t>S</a:t>
            </a:r>
            <a:r>
              <a:rPr lang="en-GB" altLang="en-US" baseline="-25000" dirty="0"/>
              <a:t>3</a:t>
            </a:r>
            <a:r>
              <a:rPr lang="en-GB" altLang="en-US" dirty="0"/>
              <a:t> </a:t>
            </a:r>
            <a:r>
              <a:rPr lang="en-GB" altLang="en-US" dirty="0">
                <a:latin typeface="cmsy10"/>
              </a:rPr>
              <a:t>[</a:t>
            </a:r>
            <a:r>
              <a:rPr lang="en-GB" altLang="en-US" dirty="0"/>
              <a:t> S</a:t>
            </a:r>
            <a:r>
              <a:rPr lang="en-GB" altLang="en-US" baseline="-25000" dirty="0"/>
              <a:t>4</a:t>
            </a:r>
            <a:r>
              <a:rPr lang="en-GB" altLang="en-US" dirty="0"/>
              <a:t> in decreasing order</a:t>
            </a:r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Sort and search space improvement: listing the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828800"/>
            <a:ext cx="7391400" cy="4048472"/>
          </a:xfrm>
        </p:spPr>
        <p:txBody>
          <a:bodyPr/>
          <a:lstStyle/>
          <a:p>
            <a:r>
              <a:rPr lang="en-GB" altLang="en-US" dirty="0"/>
              <a:t>How to list all elements from S</a:t>
            </a:r>
            <a:r>
              <a:rPr lang="en-GB" altLang="en-US" baseline="-25000" dirty="0"/>
              <a:t>1</a:t>
            </a:r>
            <a:r>
              <a:rPr lang="en-GB" altLang="en-US" dirty="0"/>
              <a:t> </a:t>
            </a:r>
            <a:r>
              <a:rPr lang="en-GB" altLang="en-US" dirty="0">
                <a:latin typeface="cmsy10"/>
              </a:rPr>
              <a:t>[</a:t>
            </a:r>
            <a:r>
              <a:rPr lang="en-GB" altLang="en-US" dirty="0"/>
              <a:t> S</a:t>
            </a:r>
            <a:r>
              <a:rPr lang="en-GB" altLang="en-US" baseline="-25000" dirty="0"/>
              <a:t>2</a:t>
            </a:r>
            <a:r>
              <a:rPr lang="en-GB" altLang="en-US" dirty="0"/>
              <a:t> in increasing order?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Select the smallest element e from S</a:t>
            </a:r>
            <a:r>
              <a:rPr lang="en-GB" baseline="-25000" dirty="0"/>
              <a:t>1</a:t>
            </a:r>
            <a:endParaRPr lang="en-GB" dirty="0"/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Make a priority queue with all e + s</a:t>
            </a:r>
            <a:r>
              <a:rPr lang="en-GB" baseline="-25000" dirty="0"/>
              <a:t>2</a:t>
            </a:r>
            <a:r>
              <a:rPr lang="en-GB" dirty="0"/>
              <a:t> with all elements s</a:t>
            </a:r>
            <a:r>
              <a:rPr lang="en-GB" baseline="-25000" dirty="0"/>
              <a:t>2 </a:t>
            </a:r>
            <a:r>
              <a:rPr lang="en-GB" dirty="0">
                <a:latin typeface="cmsy10"/>
              </a:rPr>
              <a:t>2 </a:t>
            </a:r>
            <a:r>
              <a:rPr lang="en-GB" dirty="0"/>
              <a:t>S</a:t>
            </a:r>
            <a:r>
              <a:rPr lang="en-GB" baseline="-25000" dirty="0"/>
              <a:t>2</a:t>
            </a:r>
            <a:endParaRPr lang="en-GB" dirty="0"/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Whenever we need the next element we take the smallest element from the priority queue e + s</a:t>
            </a:r>
            <a:r>
              <a:rPr lang="en-GB" baseline="-25000" dirty="0"/>
              <a:t>2</a:t>
            </a:r>
            <a:r>
              <a:rPr lang="en-GB" dirty="0"/>
              <a:t> and replace it by e’+s</a:t>
            </a:r>
            <a:r>
              <a:rPr lang="en-GB" baseline="-25000" dirty="0"/>
              <a:t>2</a:t>
            </a:r>
            <a:r>
              <a:rPr lang="en-GB" dirty="0"/>
              <a:t> (where e’ is the next biggest element after e in S</a:t>
            </a:r>
            <a:r>
              <a:rPr lang="en-GB" baseline="-25000" dirty="0"/>
              <a:t>1</a:t>
            </a:r>
            <a:r>
              <a:rPr lang="en-GB" dirty="0"/>
              <a:t>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Then, return the next smallest element of the priority queue</a:t>
            </a:r>
          </a:p>
          <a:p>
            <a:pPr>
              <a:buNone/>
            </a:pPr>
            <a:endParaRPr lang="en-GB" dirty="0"/>
          </a:p>
          <a:p>
            <a:r>
              <a:rPr lang="en-GB" dirty="0"/>
              <a:t>Priority queue holds tuples (</a:t>
            </a:r>
            <a:r>
              <a:rPr lang="en-GB" dirty="0" err="1"/>
              <a:t>e,s</a:t>
            </a:r>
            <a:r>
              <a:rPr lang="en-GB" baseline="-25000" dirty="0" err="1"/>
              <a:t>i</a:t>
            </a:r>
            <a:r>
              <a:rPr lang="en-GB" dirty="0"/>
              <a:t>) with priority e + </a:t>
            </a:r>
            <a:r>
              <a:rPr lang="en-GB" dirty="0" err="1"/>
              <a:t>s</a:t>
            </a:r>
            <a:r>
              <a:rPr lang="en-GB" baseline="-25000" dirty="0" err="1"/>
              <a:t>i</a:t>
            </a:r>
            <a:endParaRPr lang="en-GB" dirty="0"/>
          </a:p>
          <a:p>
            <a:pPr lvl="1"/>
            <a:r>
              <a:rPr lang="en-GB" dirty="0"/>
              <a:t>The priorities cause the numbers to be listed in increasing order</a:t>
            </a:r>
          </a:p>
          <a:p>
            <a:pPr lvl="1"/>
            <a:r>
              <a:rPr lang="en-GB" dirty="0"/>
              <a:t>The tuple representation allow (</a:t>
            </a:r>
            <a:r>
              <a:rPr lang="en-GB" dirty="0" err="1"/>
              <a:t>e,s</a:t>
            </a:r>
            <a:r>
              <a:rPr lang="en-GB" baseline="-25000" dirty="0" err="1"/>
              <a:t>i</a:t>
            </a:r>
            <a:r>
              <a:rPr lang="en-GB" dirty="0"/>
              <a:t>) to be replaced by (e,s</a:t>
            </a:r>
            <a:r>
              <a:rPr lang="en-GB" baseline="-25000" dirty="0"/>
              <a:t>i+1</a:t>
            </a:r>
            <a:r>
              <a:rPr lang="en-GB" dirty="0"/>
              <a:t>), causing all possible numbers from </a:t>
            </a:r>
            <a:r>
              <a:rPr lang="en-GB" altLang="en-US" dirty="0"/>
              <a:t>S</a:t>
            </a:r>
            <a:r>
              <a:rPr lang="en-GB" altLang="en-US" baseline="-25000" dirty="0"/>
              <a:t>1</a:t>
            </a:r>
            <a:r>
              <a:rPr lang="en-GB" altLang="en-US" dirty="0"/>
              <a:t> </a:t>
            </a:r>
            <a:r>
              <a:rPr lang="en-GB" altLang="en-US" dirty="0">
                <a:latin typeface="cmsy10"/>
              </a:rPr>
              <a:t>[</a:t>
            </a:r>
            <a:r>
              <a:rPr lang="en-GB" altLang="en-US" dirty="0"/>
              <a:t> S</a:t>
            </a:r>
            <a:r>
              <a:rPr lang="en-GB" altLang="en-US" baseline="-25000" dirty="0"/>
              <a:t>2</a:t>
            </a:r>
            <a:r>
              <a:rPr lang="en-GB" altLang="en-US" dirty="0"/>
              <a:t> to be generated</a:t>
            </a:r>
          </a:p>
          <a:p>
            <a:pPr lvl="1"/>
            <a:r>
              <a:rPr lang="en-GB" dirty="0"/>
              <a:t>2</a:t>
            </a:r>
            <a:r>
              <a:rPr lang="en-GB" baseline="30000" dirty="0"/>
              <a:t>n/2 </a:t>
            </a:r>
            <a:r>
              <a:rPr lang="en-GB" dirty="0"/>
              <a:t>updates, each in O*(log(2</a:t>
            </a:r>
            <a:r>
              <a:rPr lang="en-GB" baseline="30000" dirty="0"/>
              <a:t>n/4</a:t>
            </a:r>
            <a:r>
              <a:rPr lang="en-GB" dirty="0"/>
              <a:t>)) time gives O*(2</a:t>
            </a:r>
            <a:r>
              <a:rPr lang="en-GB" baseline="30000" dirty="0"/>
              <a:t>n/2</a:t>
            </a:r>
            <a:r>
              <a:rPr lang="en-GB" dirty="0"/>
              <a:t>) time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Exponential-time algorithms </a:t>
            </a:r>
            <a:r>
              <a:rPr lang="en-GB" dirty="0"/>
              <a:t>– Advanced Algorithms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discussed a few standard techniques in exact exponential-time algorithms:</a:t>
            </a:r>
          </a:p>
          <a:p>
            <a:pPr>
              <a:buFont typeface="+mj-lt"/>
              <a:buAutoNum type="arabicPeriod"/>
            </a:pPr>
            <a:r>
              <a:rPr lang="en-GB" dirty="0"/>
              <a:t>Clever enumeration</a:t>
            </a:r>
          </a:p>
          <a:p>
            <a:pPr lvl="1"/>
            <a:r>
              <a:rPr lang="en-GB" dirty="0"/>
              <a:t>Maximum independent set, k-colouring</a:t>
            </a:r>
          </a:p>
          <a:p>
            <a:pPr>
              <a:buFont typeface="+mj-lt"/>
              <a:buAutoNum type="arabicPeriod"/>
            </a:pPr>
            <a:r>
              <a:rPr lang="en-GB" dirty="0"/>
              <a:t>Dynamic programming</a:t>
            </a:r>
          </a:p>
          <a:p>
            <a:pPr lvl="1"/>
            <a:r>
              <a:rPr lang="en-GB" dirty="0"/>
              <a:t>Graph colouring, travelling salesman problem</a:t>
            </a:r>
          </a:p>
          <a:p>
            <a:pPr>
              <a:buFont typeface="+mj-lt"/>
              <a:buAutoNum type="arabicPeriod"/>
            </a:pPr>
            <a:r>
              <a:rPr lang="en-GB" dirty="0"/>
              <a:t>Branching algorithms</a:t>
            </a:r>
          </a:p>
          <a:p>
            <a:pPr lvl="1"/>
            <a:r>
              <a:rPr lang="en-GB" dirty="0"/>
              <a:t>For k-satisfiability and maximum independent set</a:t>
            </a:r>
          </a:p>
          <a:p>
            <a:pPr>
              <a:buFont typeface="+mj-lt"/>
              <a:buAutoNum type="arabicPeriod"/>
            </a:pPr>
            <a:r>
              <a:rPr lang="en-GB" dirty="0"/>
              <a:t>Sort and Search (a sort of meet in the middle)</a:t>
            </a:r>
          </a:p>
          <a:p>
            <a:pPr lvl="1"/>
            <a:r>
              <a:rPr lang="en-GB" dirty="0"/>
              <a:t>For subset sum and knapsack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6ED37-117A-AA07-571C-F8454D8F0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Further reading and exercises</a:t>
            </a:r>
            <a:br>
              <a:rPr lang="en-GB" dirty="0"/>
            </a:br>
            <a:r>
              <a:rPr lang="en-GB" sz="1800" dirty="0"/>
              <a:t>(basics of exact exponential-time algorithms)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6A5B4-E992-3D2A-549A-484034578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828800"/>
            <a:ext cx="4208512" cy="3962400"/>
          </a:xfrm>
        </p:spPr>
        <p:txBody>
          <a:bodyPr/>
          <a:lstStyle/>
          <a:p>
            <a:r>
              <a:rPr lang="en-US" dirty="0"/>
              <a:t>Fomin and Kratsch</a:t>
            </a:r>
            <a:br>
              <a:rPr lang="en-US" dirty="0"/>
            </a:br>
            <a:r>
              <a:rPr lang="en-US" i="1" dirty="0"/>
              <a:t>Exact Exponential Algorithms</a:t>
            </a:r>
            <a:br>
              <a:rPr lang="en-US" i="1" dirty="0"/>
            </a:br>
            <a:r>
              <a:rPr lang="nl-NL" sz="1400" dirty="0" err="1"/>
              <a:t>Chapters</a:t>
            </a:r>
            <a:r>
              <a:rPr lang="nl-NL" sz="1400" dirty="0"/>
              <a:t> 1, 2, 3 </a:t>
            </a:r>
            <a:endParaRPr lang="LID4096" sz="1400" dirty="0"/>
          </a:p>
        </p:txBody>
      </p:sp>
      <p:pic>
        <p:nvPicPr>
          <p:cNvPr id="9" name="Picture 8" descr="Graphical user interface&#10;&#10;Description automatically generated">
            <a:extLst>
              <a:ext uri="{FF2B5EF4-FFF2-40B4-BE49-F238E27FC236}">
                <a16:creationId xmlns:a16="http://schemas.microsoft.com/office/drawing/2014/main" id="{79DAB832-B51C-724B-F790-DE72CA2ACE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128" y="1604063"/>
            <a:ext cx="3110880" cy="4940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93349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Questions?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1844824"/>
            <a:ext cx="7816559" cy="34563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pPr eaLnBrk="1" hangingPunct="1"/>
            <a:r>
              <a:rPr lang="en-US" dirty="0"/>
              <a:t> Inclusion/Exclusion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nl-NL" dirty="0"/>
              <a:t>Advanced Algorithms 2025/2026</a:t>
            </a:r>
          </a:p>
          <a:p>
            <a:r>
              <a:rPr lang="en-US" altLang="nl-NL" dirty="0"/>
              <a:t>Johan M. M. van Rooij</a:t>
            </a:r>
          </a:p>
          <a:p>
            <a:r>
              <a:rPr lang="en-US" altLang="nl-NL" dirty="0"/>
              <a:t>Til Miltzow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Exact exponential-time algorithms </a:t>
            </a:r>
            <a:br>
              <a:rPr lang="en-US" dirty="0"/>
            </a:br>
            <a:r>
              <a:rPr lang="en-US" dirty="0"/>
              <a:t>in this course</a:t>
            </a:r>
          </a:p>
        </p:txBody>
      </p:sp>
      <p:sp>
        <p:nvSpPr>
          <p:cNvPr id="307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GB" b="1" dirty="0">
                <a:solidFill>
                  <a:srgbClr val="C00000"/>
                </a:solidFill>
              </a:rPr>
              <a:t>Three Topics</a:t>
            </a:r>
          </a:p>
          <a:p>
            <a:pPr>
              <a:buFont typeface="+mj-lt"/>
              <a:buAutoNum type="arabicPeriod"/>
            </a:pPr>
            <a:r>
              <a:rPr lang="en-GB" dirty="0"/>
              <a:t>Introduction to exponential-time algorithms</a:t>
            </a:r>
          </a:p>
          <a:p>
            <a:pPr>
              <a:buFont typeface="+mj-lt"/>
              <a:buAutoNum type="arabicPeriod"/>
            </a:pPr>
            <a:r>
              <a:rPr lang="en-GB" dirty="0"/>
              <a:t>Overview of some techniques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Inclusion/Exclusion</a:t>
            </a:r>
          </a:p>
          <a:p>
            <a:pPr>
              <a:buFont typeface="+mj-lt"/>
              <a:buAutoNum type="arabicPeriod"/>
            </a:pPr>
            <a:endParaRPr lang="en-GB" dirty="0"/>
          </a:p>
          <a:p>
            <a:pPr marL="0" indent="0">
              <a:buNone/>
            </a:pPr>
            <a:r>
              <a:rPr lang="en-GB" dirty="0"/>
              <a:t>Many ideas from exact exponential-time algorithms are also applicable to or are related to parameterised algorithms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Question...?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How many integers exist in the range [1,2,...,10.000] with the property that they are:</a:t>
            </a:r>
          </a:p>
          <a:p>
            <a:pPr lvl="1"/>
            <a:r>
              <a:rPr lang="en-GB" dirty="0"/>
              <a:t>Not divisible by 2</a:t>
            </a:r>
          </a:p>
          <a:p>
            <a:pPr lvl="1"/>
            <a:r>
              <a:rPr lang="en-GB" dirty="0"/>
              <a:t>Not divisible by 3</a:t>
            </a:r>
          </a:p>
          <a:p>
            <a:pPr lvl="1"/>
            <a:r>
              <a:rPr lang="en-GB" dirty="0"/>
              <a:t>Not divisible by 5</a:t>
            </a:r>
          </a:p>
          <a:p>
            <a:pPr lvl="1"/>
            <a:endParaRPr lang="en-GB" dirty="0"/>
          </a:p>
          <a:p>
            <a:r>
              <a:rPr lang="en-GB" dirty="0"/>
              <a:t>So:</a:t>
            </a:r>
          </a:p>
          <a:p>
            <a:pPr lvl="1"/>
            <a:r>
              <a:rPr lang="en-GB" dirty="0"/>
              <a:t>1,7,11,13,17,19,23,29,31,...</a:t>
            </a:r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Inclusion/exclusion and a Venn diagram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485456" y="1828800"/>
          <a:ext cx="4407024" cy="3962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933728" y="198884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i="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01880" y="4005064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i="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29472" y="3861048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i="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65576" y="3356992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i="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9672" y="4653136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i="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1760" y="3356992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i="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7664" y="3717032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i="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7" name="Content Placeholder 7"/>
          <p:cNvSpPr txBox="1">
            <a:spLocks/>
          </p:cNvSpPr>
          <p:nvPr/>
        </p:nvSpPr>
        <p:spPr bwMode="auto">
          <a:xfrm>
            <a:off x="1376057" y="1828800"/>
            <a:ext cx="73914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Webdings" charset="2"/>
              <a:buChar char="g"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en-GB" sz="1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integers divisible by x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ebdings" charset="2"/>
              <a:buChar char="g"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|P</a:t>
            </a:r>
            <a:r>
              <a:rPr kumimoji="0" lang="en-GB" sz="16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2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| = 5.000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ebdings" charset="2"/>
              <a:buChar char="g"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|P</a:t>
            </a:r>
            <a:r>
              <a:rPr kumimoji="0" lang="en-GB" sz="16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3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| = 3.333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ebdings" charset="2"/>
              <a:buChar char="g"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|P</a:t>
            </a:r>
            <a:r>
              <a:rPr kumimoji="0" lang="en-GB" sz="16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5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| = 2.000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Webdings" charset="2"/>
              <a:buChar char="g"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10.000 - |P</a:t>
            </a:r>
            <a:r>
              <a:rPr kumimoji="0" lang="en-GB" sz="1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 - |P</a:t>
            </a:r>
            <a:r>
              <a:rPr kumimoji="0" lang="en-GB" sz="1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 - |P</a:t>
            </a:r>
            <a:r>
              <a:rPr lang="en-GB" sz="1800" i="0" kern="0" baseline="-25000" dirty="0">
                <a:latin typeface="+mn-lt"/>
              </a:rPr>
              <a:t>5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 </a:t>
            </a:r>
            <a:b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 -333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ebdings" charset="2"/>
              <a:buChar char="g"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We subtracted </a:t>
            </a:r>
            <a:b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</a:b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too many!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ebdings" charset="2"/>
              <a:buChar char="g"/>
              <a:tabLst/>
              <a:defRPr/>
            </a:pPr>
            <a:endParaRPr kumimoji="0" lang="en-GB" sz="1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342900" lvl="0" indent="-342900" algn="l">
              <a:spcBef>
                <a:spcPct val="20000"/>
              </a:spcBef>
              <a:buClr>
                <a:schemeClr val="hlink"/>
              </a:buClr>
              <a:buSzPct val="90000"/>
              <a:buFont typeface="Webdings" charset="2"/>
              <a:buChar char="g"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How many </a:t>
            </a:r>
            <a:b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too many?</a:t>
            </a:r>
            <a:endParaRPr lang="en-GB" sz="1800" i="0" kern="0" dirty="0"/>
          </a:p>
          <a:p>
            <a:pPr marL="742950" lvl="1" indent="-285750" algn="l">
              <a:spcBef>
                <a:spcPct val="20000"/>
              </a:spcBef>
              <a:buClr>
                <a:schemeClr val="folHlink"/>
              </a:buClr>
              <a:buSzPct val="85000"/>
              <a:buFont typeface="Webdings" charset="2"/>
              <a:buChar char="g"/>
              <a:defRPr/>
            </a:pPr>
            <a:r>
              <a:rPr lang="en-GB" sz="1600" i="0" kern="0" dirty="0">
                <a:latin typeface="+mn-lt"/>
              </a:rPr>
              <a:t>Lets add some!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Webdings" charset="2"/>
              <a:buChar char="g"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Webdings" charset="2"/>
              <a:buChar char="g"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Webdings" charset="2"/>
              <a:buChar char="g"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Inclusion/exclusion and a Venn diagram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en-GB" dirty="0"/>
              <a:t>|P</a:t>
            </a:r>
            <a:r>
              <a:rPr lang="en-GB" baseline="-25000" dirty="0"/>
              <a:t>2</a:t>
            </a:r>
            <a:r>
              <a:rPr lang="en-GB" dirty="0"/>
              <a:t> </a:t>
            </a:r>
            <a:r>
              <a:rPr lang="en-GB" dirty="0">
                <a:latin typeface="cmsy10"/>
              </a:rPr>
              <a:t>Å</a:t>
            </a:r>
            <a:r>
              <a:rPr lang="en-GB" dirty="0"/>
              <a:t> P</a:t>
            </a:r>
            <a:r>
              <a:rPr lang="en-GB" baseline="-25000" dirty="0"/>
              <a:t>3</a:t>
            </a:r>
            <a:r>
              <a:rPr lang="en-GB" dirty="0"/>
              <a:t>| = 1.666</a:t>
            </a:r>
          </a:p>
          <a:p>
            <a:pPr lvl="0"/>
            <a:r>
              <a:rPr lang="en-GB" dirty="0"/>
              <a:t>|P</a:t>
            </a:r>
            <a:r>
              <a:rPr lang="en-GB" baseline="-25000" dirty="0"/>
              <a:t>2</a:t>
            </a:r>
            <a:r>
              <a:rPr lang="en-GB" dirty="0"/>
              <a:t> </a:t>
            </a:r>
            <a:r>
              <a:rPr lang="en-GB" dirty="0">
                <a:latin typeface="cmsy10"/>
              </a:rPr>
              <a:t>Å</a:t>
            </a:r>
            <a:r>
              <a:rPr lang="en-GB" dirty="0"/>
              <a:t> P</a:t>
            </a:r>
            <a:r>
              <a:rPr lang="en-GB" baseline="-25000" dirty="0"/>
              <a:t>5</a:t>
            </a:r>
            <a:r>
              <a:rPr lang="en-GB" dirty="0"/>
              <a:t>| = 1.000</a:t>
            </a:r>
          </a:p>
          <a:p>
            <a:pPr lvl="0"/>
            <a:r>
              <a:rPr lang="en-GB" dirty="0"/>
              <a:t>|P</a:t>
            </a:r>
            <a:r>
              <a:rPr lang="en-GB" baseline="-25000" dirty="0"/>
              <a:t>3</a:t>
            </a:r>
            <a:r>
              <a:rPr lang="en-GB" dirty="0"/>
              <a:t> </a:t>
            </a:r>
            <a:r>
              <a:rPr lang="en-GB" dirty="0">
                <a:latin typeface="cmsy10"/>
              </a:rPr>
              <a:t>Å</a:t>
            </a:r>
            <a:r>
              <a:rPr lang="en-GB" dirty="0"/>
              <a:t> P</a:t>
            </a:r>
            <a:r>
              <a:rPr lang="en-GB" baseline="-25000" dirty="0"/>
              <a:t>5</a:t>
            </a:r>
            <a:r>
              <a:rPr lang="en-GB" dirty="0"/>
              <a:t>| = 666</a:t>
            </a:r>
          </a:p>
          <a:p>
            <a:pPr lvl="1"/>
            <a:r>
              <a:rPr lang="en-GB" dirty="0"/>
              <a:t>Divisible by 6, 10, 15.</a:t>
            </a:r>
          </a:p>
          <a:p>
            <a:r>
              <a:rPr lang="en-GB" dirty="0"/>
              <a:t>10.000 - |P</a:t>
            </a:r>
            <a:r>
              <a:rPr lang="en-GB" baseline="-25000" dirty="0"/>
              <a:t>2</a:t>
            </a:r>
            <a:r>
              <a:rPr lang="en-GB" dirty="0"/>
              <a:t>| - |P</a:t>
            </a:r>
            <a:r>
              <a:rPr lang="en-GB" baseline="-25000" dirty="0"/>
              <a:t>3</a:t>
            </a:r>
            <a:r>
              <a:rPr lang="en-GB" dirty="0"/>
              <a:t>| - |P</a:t>
            </a:r>
            <a:r>
              <a:rPr lang="en-GB" baseline="-25000" dirty="0"/>
              <a:t>5</a:t>
            </a:r>
            <a:r>
              <a:rPr lang="en-GB" dirty="0"/>
              <a:t>| </a:t>
            </a:r>
          </a:p>
          <a:p>
            <a:pPr>
              <a:buNone/>
            </a:pPr>
            <a:r>
              <a:rPr lang="en-GB" dirty="0"/>
              <a:t>	+ |P</a:t>
            </a:r>
            <a:r>
              <a:rPr lang="en-GB" baseline="-25000" dirty="0"/>
              <a:t>2</a:t>
            </a:r>
            <a:r>
              <a:rPr lang="en-GB" dirty="0"/>
              <a:t> </a:t>
            </a:r>
            <a:r>
              <a:rPr lang="en-GB" dirty="0">
                <a:latin typeface="cmsy10"/>
              </a:rPr>
              <a:t>Å</a:t>
            </a:r>
            <a:r>
              <a:rPr lang="en-GB" dirty="0"/>
              <a:t> P</a:t>
            </a:r>
            <a:r>
              <a:rPr lang="en-GB" baseline="-25000" dirty="0"/>
              <a:t>3</a:t>
            </a:r>
            <a:r>
              <a:rPr lang="en-GB" dirty="0"/>
              <a:t>| + |P</a:t>
            </a:r>
            <a:r>
              <a:rPr lang="en-GB" baseline="-25000" dirty="0"/>
              <a:t>2</a:t>
            </a:r>
            <a:r>
              <a:rPr lang="en-GB" dirty="0"/>
              <a:t> </a:t>
            </a:r>
            <a:r>
              <a:rPr lang="en-GB" dirty="0">
                <a:latin typeface="cmsy10"/>
              </a:rPr>
              <a:t>Å</a:t>
            </a:r>
            <a:r>
              <a:rPr lang="en-GB" dirty="0"/>
              <a:t> P</a:t>
            </a:r>
            <a:r>
              <a:rPr lang="en-GB" baseline="-25000" dirty="0"/>
              <a:t>5</a:t>
            </a:r>
            <a:r>
              <a:rPr lang="en-GB" dirty="0"/>
              <a:t>|</a:t>
            </a:r>
            <a:br>
              <a:rPr lang="en-GB" dirty="0"/>
            </a:br>
            <a:r>
              <a:rPr lang="en-GB" dirty="0"/>
              <a:t>+ |P</a:t>
            </a:r>
            <a:r>
              <a:rPr lang="en-GB" baseline="-25000" dirty="0"/>
              <a:t>3</a:t>
            </a:r>
            <a:r>
              <a:rPr lang="en-GB" dirty="0"/>
              <a:t> </a:t>
            </a:r>
            <a:r>
              <a:rPr lang="en-GB" dirty="0">
                <a:latin typeface="cmsy10"/>
              </a:rPr>
              <a:t>Å</a:t>
            </a:r>
            <a:r>
              <a:rPr lang="en-GB" dirty="0"/>
              <a:t> P</a:t>
            </a:r>
            <a:r>
              <a:rPr lang="en-GB" baseline="-25000" dirty="0"/>
              <a:t>5</a:t>
            </a:r>
            <a:r>
              <a:rPr lang="en-GB" dirty="0"/>
              <a:t>| = 2.999</a:t>
            </a:r>
          </a:p>
          <a:p>
            <a:pPr lvl="1"/>
            <a:r>
              <a:rPr lang="en-GB" dirty="0"/>
              <a:t>We added too</a:t>
            </a:r>
            <a:br>
              <a:rPr lang="en-GB" dirty="0"/>
            </a:br>
            <a:r>
              <a:rPr lang="en-GB" dirty="0"/>
              <a:t>many!</a:t>
            </a:r>
          </a:p>
          <a:p>
            <a:pPr lvl="1"/>
            <a:endParaRPr lang="en-GB" dirty="0"/>
          </a:p>
          <a:p>
            <a:r>
              <a:rPr lang="en-GB" dirty="0"/>
              <a:t>How many?</a:t>
            </a:r>
          </a:p>
        </p:txBody>
      </p:sp>
      <p:graphicFrame>
        <p:nvGraphicFramePr>
          <p:cNvPr id="10" name="Content Placeholder 3"/>
          <p:cNvGraphicFramePr>
            <a:graphicFrameLocks/>
          </p:cNvGraphicFramePr>
          <p:nvPr/>
        </p:nvGraphicFramePr>
        <p:xfrm>
          <a:off x="4485456" y="1828800"/>
          <a:ext cx="4407024" cy="3962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948264" y="198884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i="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6416" y="4005064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i="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4008" y="3861048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i="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80112" y="3356992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i="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4208" y="4653136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i="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6296" y="3356992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i="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2200" y="3717032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i="0" dirty="0">
                <a:solidFill>
                  <a:schemeClr val="bg1"/>
                </a:solidFill>
              </a:rPr>
              <a:t>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Inclusion/exclusion and a Venn diagram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How many integers exist in the </a:t>
            </a:r>
            <a:br>
              <a:rPr lang="en-GB" dirty="0"/>
            </a:br>
            <a:r>
              <a:rPr lang="en-GB" dirty="0"/>
              <a:t>range [1,2,...,10.000] with </a:t>
            </a:r>
            <a:br>
              <a:rPr lang="en-GB" dirty="0"/>
            </a:br>
            <a:r>
              <a:rPr lang="en-GB" dirty="0"/>
              <a:t>the property that they are:</a:t>
            </a:r>
          </a:p>
          <a:p>
            <a:pPr lvl="1"/>
            <a:r>
              <a:rPr lang="en-GB" dirty="0"/>
              <a:t>Not divisible by 2</a:t>
            </a:r>
          </a:p>
          <a:p>
            <a:pPr lvl="1"/>
            <a:r>
              <a:rPr lang="en-GB" dirty="0"/>
              <a:t>Not divisible by 3</a:t>
            </a:r>
          </a:p>
          <a:p>
            <a:pPr lvl="1"/>
            <a:r>
              <a:rPr lang="en-GB" dirty="0"/>
              <a:t>Not divisible by 5</a:t>
            </a:r>
          </a:p>
          <a:p>
            <a:pPr lvl="0">
              <a:defRPr/>
            </a:pPr>
            <a:endParaRPr lang="en-GB" dirty="0"/>
          </a:p>
          <a:p>
            <a:pPr lvl="0">
              <a:defRPr/>
            </a:pPr>
            <a:r>
              <a:rPr lang="en-GB" dirty="0"/>
              <a:t>|P</a:t>
            </a:r>
            <a:r>
              <a:rPr lang="en-GB" baseline="-25000" dirty="0"/>
              <a:t>2</a:t>
            </a:r>
            <a:r>
              <a:rPr lang="en-GB" dirty="0"/>
              <a:t> </a:t>
            </a:r>
            <a:r>
              <a:rPr lang="en-GB" dirty="0">
                <a:latin typeface="cmsy10"/>
              </a:rPr>
              <a:t>Å</a:t>
            </a:r>
            <a:r>
              <a:rPr lang="en-GB" dirty="0"/>
              <a:t> P</a:t>
            </a:r>
            <a:r>
              <a:rPr lang="en-GB" baseline="-25000" dirty="0"/>
              <a:t>3</a:t>
            </a:r>
            <a:r>
              <a:rPr lang="en-GB" dirty="0"/>
              <a:t> </a:t>
            </a:r>
            <a:r>
              <a:rPr lang="en-GB" dirty="0">
                <a:latin typeface="cmsy10"/>
              </a:rPr>
              <a:t>Å</a:t>
            </a:r>
            <a:r>
              <a:rPr lang="en-GB" dirty="0"/>
              <a:t> P</a:t>
            </a:r>
            <a:r>
              <a:rPr lang="en-GB" baseline="-25000" dirty="0"/>
              <a:t>5</a:t>
            </a:r>
            <a:r>
              <a:rPr lang="en-GB" dirty="0"/>
              <a:t>| = 333</a:t>
            </a:r>
          </a:p>
          <a:p>
            <a:r>
              <a:rPr lang="en-GB" dirty="0"/>
              <a:t>10.000 </a:t>
            </a:r>
            <a:br>
              <a:rPr lang="en-GB" dirty="0"/>
            </a:br>
            <a:r>
              <a:rPr lang="en-GB" dirty="0"/>
              <a:t>- |P</a:t>
            </a:r>
            <a:r>
              <a:rPr lang="en-GB" baseline="-25000" dirty="0"/>
              <a:t>2</a:t>
            </a:r>
            <a:r>
              <a:rPr lang="en-GB" dirty="0"/>
              <a:t>| - |P</a:t>
            </a:r>
            <a:r>
              <a:rPr lang="en-GB" baseline="-25000" dirty="0"/>
              <a:t>3</a:t>
            </a:r>
            <a:r>
              <a:rPr lang="en-GB" dirty="0"/>
              <a:t>| - |P</a:t>
            </a:r>
            <a:r>
              <a:rPr lang="en-GB" baseline="-25000" dirty="0"/>
              <a:t>5</a:t>
            </a:r>
            <a:r>
              <a:rPr lang="en-GB" dirty="0"/>
              <a:t>| </a:t>
            </a:r>
            <a:br>
              <a:rPr lang="en-GB" dirty="0"/>
            </a:br>
            <a:r>
              <a:rPr lang="en-GB" dirty="0"/>
              <a:t>+ |P</a:t>
            </a:r>
            <a:r>
              <a:rPr lang="en-GB" baseline="-25000" dirty="0"/>
              <a:t>2</a:t>
            </a:r>
            <a:r>
              <a:rPr lang="en-GB" dirty="0"/>
              <a:t> </a:t>
            </a:r>
            <a:r>
              <a:rPr lang="en-GB" dirty="0">
                <a:latin typeface="cmsy10"/>
              </a:rPr>
              <a:t>Å</a:t>
            </a:r>
            <a:r>
              <a:rPr lang="en-GB" dirty="0"/>
              <a:t> P</a:t>
            </a:r>
            <a:r>
              <a:rPr lang="en-GB" baseline="-25000" dirty="0"/>
              <a:t>3</a:t>
            </a:r>
            <a:r>
              <a:rPr lang="en-GB" dirty="0"/>
              <a:t>| + |P</a:t>
            </a:r>
            <a:r>
              <a:rPr lang="en-GB" baseline="-25000" dirty="0"/>
              <a:t>2</a:t>
            </a:r>
            <a:r>
              <a:rPr lang="en-GB" dirty="0"/>
              <a:t> </a:t>
            </a:r>
            <a:r>
              <a:rPr lang="en-GB" dirty="0">
                <a:latin typeface="cmsy10"/>
              </a:rPr>
              <a:t>Å</a:t>
            </a:r>
            <a:r>
              <a:rPr lang="en-GB" dirty="0"/>
              <a:t> P</a:t>
            </a:r>
            <a:r>
              <a:rPr lang="en-GB" baseline="-25000" dirty="0"/>
              <a:t>5</a:t>
            </a:r>
            <a:r>
              <a:rPr lang="en-GB" dirty="0"/>
              <a:t>|</a:t>
            </a:r>
          </a:p>
          <a:p>
            <a:pPr>
              <a:buNone/>
            </a:pPr>
            <a:r>
              <a:rPr lang="en-GB" dirty="0"/>
              <a:t>	+ |P</a:t>
            </a:r>
            <a:r>
              <a:rPr lang="en-GB" baseline="-25000" dirty="0"/>
              <a:t>3</a:t>
            </a:r>
            <a:r>
              <a:rPr lang="en-GB" dirty="0"/>
              <a:t> </a:t>
            </a:r>
            <a:r>
              <a:rPr lang="en-GB" dirty="0">
                <a:latin typeface="cmsy10"/>
              </a:rPr>
              <a:t>Å</a:t>
            </a:r>
            <a:r>
              <a:rPr lang="en-GB" dirty="0"/>
              <a:t> P</a:t>
            </a:r>
            <a:r>
              <a:rPr lang="en-GB" baseline="-25000" dirty="0"/>
              <a:t>5</a:t>
            </a:r>
            <a:r>
              <a:rPr lang="en-GB" dirty="0"/>
              <a:t>|</a:t>
            </a:r>
            <a:br>
              <a:rPr lang="en-GB" dirty="0"/>
            </a:br>
            <a:r>
              <a:rPr lang="en-GB" dirty="0"/>
              <a:t>- |P</a:t>
            </a:r>
            <a:r>
              <a:rPr lang="en-GB" baseline="-25000" dirty="0"/>
              <a:t>2</a:t>
            </a:r>
            <a:r>
              <a:rPr lang="en-GB" dirty="0"/>
              <a:t> </a:t>
            </a:r>
            <a:r>
              <a:rPr lang="en-GB" dirty="0">
                <a:latin typeface="cmsy10"/>
              </a:rPr>
              <a:t>Å</a:t>
            </a:r>
            <a:r>
              <a:rPr lang="en-GB" dirty="0"/>
              <a:t> P</a:t>
            </a:r>
            <a:r>
              <a:rPr lang="en-GB" baseline="-25000" dirty="0"/>
              <a:t>3</a:t>
            </a:r>
            <a:r>
              <a:rPr lang="en-GB" dirty="0"/>
              <a:t> </a:t>
            </a:r>
            <a:r>
              <a:rPr lang="en-GB" dirty="0">
                <a:latin typeface="cmsy10"/>
              </a:rPr>
              <a:t>Å</a:t>
            </a:r>
            <a:r>
              <a:rPr lang="en-GB" dirty="0"/>
              <a:t> P</a:t>
            </a:r>
            <a:r>
              <a:rPr lang="en-GB" baseline="-25000" dirty="0"/>
              <a:t>5</a:t>
            </a:r>
            <a:r>
              <a:rPr lang="en-GB" dirty="0"/>
              <a:t>|</a:t>
            </a:r>
            <a:br>
              <a:rPr lang="en-GB" dirty="0"/>
            </a:br>
            <a:r>
              <a:rPr lang="en-GB" dirty="0"/>
              <a:t>= </a:t>
            </a:r>
            <a:r>
              <a:rPr lang="en-GB" b="1" dirty="0">
                <a:solidFill>
                  <a:srgbClr val="C00000"/>
                </a:solidFill>
              </a:rPr>
              <a:t>2.666</a:t>
            </a:r>
          </a:p>
          <a:p>
            <a:pPr lvl="0">
              <a:defRPr/>
            </a:pPr>
            <a:endParaRPr lang="en-GB" dirty="0"/>
          </a:p>
          <a:p>
            <a:endParaRPr lang="en-GB" dirty="0"/>
          </a:p>
        </p:txBody>
      </p:sp>
      <p:graphicFrame>
        <p:nvGraphicFramePr>
          <p:cNvPr id="9" name="Content Placeholder 3"/>
          <p:cNvGraphicFramePr>
            <a:graphicFrameLocks/>
          </p:cNvGraphicFramePr>
          <p:nvPr/>
        </p:nvGraphicFramePr>
        <p:xfrm>
          <a:off x="4485456" y="1828800"/>
          <a:ext cx="4407024" cy="3962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948264" y="198884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i="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16416" y="4005064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i="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4008" y="3861048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i="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0112" y="3356992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i="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4208" y="4653136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i="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6296" y="3356992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i="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00" y="3717032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i="0" dirty="0">
                <a:solidFill>
                  <a:schemeClr val="bg1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are we going to do in this lecture?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Apply the principle of inclusion/exclusion for faster algorithms</a:t>
            </a:r>
          </a:p>
          <a:p>
            <a:endParaRPr lang="en-GB" dirty="0"/>
          </a:p>
          <a:p>
            <a:pPr>
              <a:buFont typeface="+mj-lt"/>
              <a:buAutoNum type="arabicPeriod"/>
            </a:pPr>
            <a:r>
              <a:rPr lang="en-GB" dirty="0"/>
              <a:t>The inclusion/exclusion formula</a:t>
            </a:r>
          </a:p>
          <a:p>
            <a:pPr>
              <a:buFont typeface="+mj-lt"/>
              <a:buAutoNum type="arabicPeriod"/>
            </a:pPr>
            <a:r>
              <a:rPr lang="en-GB" dirty="0"/>
              <a:t>Algorithmic applications:</a:t>
            </a:r>
          </a:p>
          <a:p>
            <a:pPr lvl="1"/>
            <a:r>
              <a:rPr lang="en-GB" dirty="0"/>
              <a:t>Hamilton cycle</a:t>
            </a:r>
          </a:p>
          <a:p>
            <a:pPr lvl="1"/>
            <a:r>
              <a:rPr lang="en-GB"/>
              <a:t>Graph colouring</a:t>
            </a:r>
            <a:endParaRPr lang="en-GB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INCLUSION/EXCLUSION FORMULA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Exponential-time algorithms </a:t>
            </a:r>
            <a:r>
              <a:rPr lang="en-GB" dirty="0"/>
              <a:t>– Advanced Algorithms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inclusion/exclusion formula</a:t>
            </a:r>
            <a:br>
              <a:rPr lang="en-GB" dirty="0"/>
            </a:br>
            <a:r>
              <a:rPr lang="en-GB" dirty="0"/>
              <a:t>in its general 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828800"/>
            <a:ext cx="7592888" cy="4048472"/>
          </a:xfrm>
        </p:spPr>
        <p:txBody>
          <a:bodyPr/>
          <a:lstStyle/>
          <a:p>
            <a:r>
              <a:rPr lang="en-GB" dirty="0"/>
              <a:t>Let N be a collection of objects (anything)</a:t>
            </a:r>
          </a:p>
          <a:p>
            <a:r>
              <a:rPr lang="en-GB" dirty="0"/>
              <a:t>Let 1,2, ...,n be a series of requirements on objects.</a:t>
            </a:r>
          </a:p>
          <a:p>
            <a:r>
              <a:rPr lang="en-GB" dirty="0"/>
              <a:t>Finally, let for a subset R </a:t>
            </a:r>
            <a:r>
              <a:rPr lang="en-GB" dirty="0">
                <a:latin typeface="cmsy10"/>
              </a:rPr>
              <a:t>µ</a:t>
            </a:r>
            <a:r>
              <a:rPr lang="en-GB" dirty="0"/>
              <a:t> {1,2,...,n}, N(R) be the number of objects in N that </a:t>
            </a:r>
            <a:r>
              <a:rPr lang="en-GB" b="1" dirty="0"/>
              <a:t>do not</a:t>
            </a:r>
            <a:r>
              <a:rPr lang="en-GB" dirty="0"/>
              <a:t> satisfy the requirements in R</a:t>
            </a:r>
          </a:p>
          <a:p>
            <a:pPr lvl="1"/>
            <a:r>
              <a:rPr lang="en-GB" dirty="0"/>
              <a:t>N(</a:t>
            </a:r>
            <a:r>
              <a:rPr lang="en-GB" dirty="0">
                <a:latin typeface="cmsy10"/>
              </a:rPr>
              <a:t>;</a:t>
            </a:r>
            <a:r>
              <a:rPr lang="en-GB" dirty="0"/>
              <a:t>) = |N|</a:t>
            </a:r>
          </a:p>
          <a:p>
            <a:pPr lvl="1"/>
            <a:r>
              <a:rPr lang="en-GB" dirty="0"/>
              <a:t>N({1,2...n}) counts objects that satisfy no requirement at all</a:t>
            </a:r>
          </a:p>
          <a:p>
            <a:r>
              <a:rPr lang="en-GB" dirty="0"/>
              <a:t>Then, the number of objects X that satisfy all requirements is:</a:t>
            </a:r>
          </a:p>
          <a:p>
            <a:endParaRPr lang="en-GB" dirty="0"/>
          </a:p>
          <a:p>
            <a:endParaRPr lang="en-GB" dirty="0"/>
          </a:p>
          <a:p>
            <a:endParaRPr lang="en-GB" sz="1400" dirty="0"/>
          </a:p>
          <a:p>
            <a:r>
              <a:rPr lang="en-GB" dirty="0"/>
              <a:t>In the counting integers example:</a:t>
            </a:r>
          </a:p>
          <a:p>
            <a:pPr lvl="1"/>
            <a:r>
              <a:rPr lang="en-GB" dirty="0"/>
              <a:t>N = [1,2,....,10.000]</a:t>
            </a:r>
          </a:p>
          <a:p>
            <a:pPr lvl="1"/>
            <a:r>
              <a:rPr lang="en-GB" dirty="0"/>
              <a:t>Requirements: integer is not divisible by x, for x = 2, 3, 5</a:t>
            </a:r>
          </a:p>
          <a:p>
            <a:pPr lvl="1"/>
            <a:endParaRPr lang="en-GB" dirty="0"/>
          </a:p>
        </p:txBody>
      </p:sp>
      <p:graphicFrame>
        <p:nvGraphicFramePr>
          <p:cNvPr id="30722" name="Object 10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6612712"/>
              </p:ext>
            </p:extLst>
          </p:nvPr>
        </p:nvGraphicFramePr>
        <p:xfrm>
          <a:off x="2699792" y="4124300"/>
          <a:ext cx="4256087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ergelijking" r:id="rId3" imgW="1371600" imgH="355320" progId="Equation.3">
                  <p:embed/>
                </p:oleObj>
              </mc:Choice>
              <mc:Fallback>
                <p:oleObj name="Vergelijking" r:id="rId3" imgW="1371600" imgH="355320" progId="Equation.3">
                  <p:embed/>
                  <p:pic>
                    <p:nvPicPr>
                      <p:cNvPr id="0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9792" y="4124300"/>
                        <a:ext cx="4256087" cy="1104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Proof of the inclusion/exclusion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828800"/>
            <a:ext cx="7391400" cy="4264496"/>
          </a:xfrm>
        </p:spPr>
        <p:txBody>
          <a:bodyPr/>
          <a:lstStyle/>
          <a:p>
            <a:r>
              <a:rPr lang="en-GB" dirty="0"/>
              <a:t>The number of objects X that satisfy all requirements is:</a:t>
            </a:r>
          </a:p>
          <a:p>
            <a:endParaRPr lang="en-GB" dirty="0"/>
          </a:p>
          <a:p>
            <a:endParaRPr lang="en-GB" dirty="0"/>
          </a:p>
          <a:p>
            <a:pPr lvl="1">
              <a:buNone/>
            </a:pPr>
            <a:endParaRPr lang="en-GB" dirty="0"/>
          </a:p>
          <a:p>
            <a:endParaRPr lang="en-GB" dirty="0"/>
          </a:p>
          <a:p>
            <a:r>
              <a:rPr lang="en-GB" dirty="0"/>
              <a:t>Proof:</a:t>
            </a:r>
          </a:p>
          <a:p>
            <a:pPr lvl="1"/>
            <a:r>
              <a:rPr lang="en-GB" dirty="0"/>
              <a:t>An object that has all properties is only counted with R=</a:t>
            </a:r>
            <a:r>
              <a:rPr lang="en-GB" dirty="0">
                <a:latin typeface="cmsy10"/>
              </a:rPr>
              <a:t>;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Consider an object that does not have the properties in </a:t>
            </a:r>
          </a:p>
          <a:p>
            <a:pPr lvl="1">
              <a:buNone/>
            </a:pPr>
            <a:r>
              <a:rPr lang="en-GB" dirty="0"/>
              <a:t>	P </a:t>
            </a:r>
            <a:r>
              <a:rPr lang="en-GB" dirty="0">
                <a:latin typeface="cmsy10"/>
              </a:rPr>
              <a:t>µ</a:t>
            </a:r>
            <a:r>
              <a:rPr lang="en-GB" dirty="0"/>
              <a:t> {1,2,...,n} is counted once for all S </a:t>
            </a:r>
            <a:r>
              <a:rPr lang="en-GB" dirty="0">
                <a:latin typeface="cmsy10"/>
              </a:rPr>
              <a:t>µ</a:t>
            </a:r>
            <a:r>
              <a:rPr lang="en-GB" dirty="0"/>
              <a:t> P:</a:t>
            </a:r>
          </a:p>
          <a:p>
            <a:pPr lvl="1">
              <a:buNone/>
            </a:pPr>
            <a:endParaRPr lang="en-GB" dirty="0"/>
          </a:p>
          <a:p>
            <a:pPr lvl="1">
              <a:buNone/>
            </a:pPr>
            <a:endParaRPr lang="en-GB" dirty="0"/>
          </a:p>
          <a:p>
            <a:pPr lvl="1">
              <a:buNone/>
            </a:pPr>
            <a:endParaRPr lang="en-GB" dirty="0"/>
          </a:p>
          <a:p>
            <a:pPr lvl="1">
              <a:buNone/>
            </a:pPr>
            <a:endParaRPr lang="en-GB" dirty="0"/>
          </a:p>
          <a:p>
            <a:pPr lvl="1">
              <a:buNone/>
            </a:pPr>
            <a:r>
              <a:rPr lang="en-GB" dirty="0"/>
              <a:t>	By the binomial theorem.</a:t>
            </a:r>
          </a:p>
        </p:txBody>
      </p:sp>
      <p:graphicFrame>
        <p:nvGraphicFramePr>
          <p:cNvPr id="30722" name="Object 1028"/>
          <p:cNvGraphicFramePr>
            <a:graphicFrameLocks noChangeAspect="1"/>
          </p:cNvGraphicFramePr>
          <p:nvPr/>
        </p:nvGraphicFramePr>
        <p:xfrm>
          <a:off x="2627784" y="2276872"/>
          <a:ext cx="4256087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ergelijking" r:id="rId3" imgW="1371600" imgH="355320" progId="Equation.3">
                  <p:embed/>
                </p:oleObj>
              </mc:Choice>
              <mc:Fallback>
                <p:oleObj name="Vergelijking" r:id="rId3" imgW="1371600" imgH="355320" progId="Equation.3">
                  <p:embed/>
                  <p:pic>
                    <p:nvPicPr>
                      <p:cNvPr id="0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784" y="2276872"/>
                        <a:ext cx="4256087" cy="1104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0595" name="Object 1028"/>
              <p:cNvSpPr txBox="1"/>
              <p:nvPr/>
            </p:nvSpPr>
            <p:spPr bwMode="auto">
              <a:xfrm>
                <a:off x="2258715" y="4725144"/>
                <a:ext cx="5617170" cy="1060450"/>
              </a:xfrm>
              <a:prstGeom prst="rect">
                <a:avLst/>
              </a:prstGeom>
              <a:noFill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LID4096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LID4096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LID4096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⊆</m:t>
                          </m:r>
                          <m:r>
                            <a:rPr lang="LID4096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  <m:sup/>
                        <m:e>
                          <m:r>
                            <a:rPr lang="LID4096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(−1</m:t>
                          </m:r>
                          <m:sSup>
                            <m:sSupPr>
                              <m:ctrlPr>
                                <a:rPr lang="LID4096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ID4096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LID4096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LID4096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LID4096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sup>
                          </m:sSup>
                        </m:e>
                      </m:nary>
                      <m:r>
                        <a:rPr lang="LID4096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LID4096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LID4096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LID4096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LID4096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d>
                        </m:sup>
                        <m:e>
                          <m:d>
                            <m:dPr>
                              <m:ctrlPr>
                                <a:rPr lang="LID4096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LID4096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LID4096" b="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</m:d>
                                  </m:e>
                                </m:mr>
                                <m:mr>
                                  <m:e>
                                    <m:r>
                                      <a:rPr lang="LID4096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nary>
                      <m:r>
                        <a:rPr lang="LID4096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(−1</m:t>
                      </m:r>
                      <m:sSup>
                        <m:sSupPr>
                          <m:ctrlPr>
                            <a:rPr lang="LID4096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LID4096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LID4096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LID4096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nl-NL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−1+1</m:t>
                              </m:r>
                            </m:e>
                          </m:d>
                        </m:e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d>
                        </m:sup>
                      </m:sSup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LID4096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110595" name="Object 10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58715" y="4725144"/>
                <a:ext cx="5617170" cy="106045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inclusion/exclusion formula:</a:t>
            </a:r>
            <a:br>
              <a:rPr lang="en-GB" dirty="0"/>
            </a:br>
            <a:r>
              <a:rPr lang="en-GB" dirty="0"/>
              <a:t>alternative proof </a:t>
            </a:r>
            <a:br>
              <a:rPr lang="en-GB" dirty="0"/>
            </a:br>
            <a:r>
              <a:rPr lang="en-GB" dirty="0"/>
              <a:t>(that I find more intuitive)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828800"/>
            <a:ext cx="7772400" cy="3962400"/>
          </a:xfrm>
        </p:spPr>
        <p:txBody>
          <a:bodyPr/>
          <a:lstStyle/>
          <a:p>
            <a:r>
              <a:rPr lang="en-GB" dirty="0"/>
              <a:t>Consider a branching algorithm branching on a requirement: </a:t>
            </a:r>
            <a:br>
              <a:rPr lang="en-GB" dirty="0"/>
            </a:br>
            <a:endParaRPr lang="en-GB" dirty="0"/>
          </a:p>
          <a:p>
            <a:pPr marL="0" indent="0">
              <a:buNone/>
            </a:pPr>
            <a:r>
              <a:rPr lang="en-GB" dirty="0"/>
              <a:t>		   required = optional – forbidden</a:t>
            </a:r>
          </a:p>
          <a:p>
            <a:endParaRPr lang="en-GB" dirty="0"/>
          </a:p>
          <a:p>
            <a:r>
              <a:rPr lang="en-GB" dirty="0"/>
              <a:t>‘Not divisible by x’ = ‘can be divisible by x’ – ‘divisible by x’</a:t>
            </a:r>
          </a:p>
          <a:p>
            <a:endParaRPr lang="en-GB" dirty="0"/>
          </a:p>
          <a:p>
            <a:r>
              <a:rPr lang="en-GB" dirty="0"/>
              <a:t>The full branching tree has 2</a:t>
            </a:r>
            <a:r>
              <a:rPr lang="en-GB" baseline="30000" dirty="0"/>
              <a:t>|X|</a:t>
            </a:r>
            <a:r>
              <a:rPr lang="en-GB" dirty="0"/>
              <a:t> leaves</a:t>
            </a:r>
          </a:p>
          <a:p>
            <a:pPr lvl="1"/>
            <a:r>
              <a:rPr lang="en-GB" dirty="0"/>
              <a:t>Each corresponding to a set R</a:t>
            </a:r>
          </a:p>
          <a:p>
            <a:pPr lvl="1"/>
            <a:r>
              <a:rPr lang="en-GB" dirty="0"/>
              <a:t>Requirements not in R are ‘optional’ and can be violated</a:t>
            </a:r>
          </a:p>
          <a:p>
            <a:pPr lvl="1"/>
            <a:r>
              <a:rPr lang="en-GB" dirty="0"/>
              <a:t>Requirements in R are ‘forbidden’ and must be violated</a:t>
            </a:r>
          </a:p>
          <a:p>
            <a:r>
              <a:rPr lang="en-GB" dirty="0"/>
              <a:t>If we sum over all 2</a:t>
            </a:r>
            <a:r>
              <a:rPr lang="en-GB" baseline="30000" dirty="0"/>
              <a:t>|X|</a:t>
            </a:r>
            <a:r>
              <a:rPr lang="en-GB" dirty="0"/>
              <a:t> leaves, we get:</a:t>
            </a:r>
          </a:p>
          <a:p>
            <a:pPr lvl="1"/>
            <a:endParaRPr lang="en-GB" dirty="0"/>
          </a:p>
          <a:p>
            <a:endParaRPr lang="en-GB" dirty="0"/>
          </a:p>
        </p:txBody>
      </p:sp>
      <p:graphicFrame>
        <p:nvGraphicFramePr>
          <p:cNvPr id="5" name="Object 1028">
            <a:extLst>
              <a:ext uri="{FF2B5EF4-FFF2-40B4-BE49-F238E27FC236}">
                <a16:creationId xmlns:a16="http://schemas.microsoft.com/office/drawing/2014/main" id="{FF0C7616-6A83-4641-AA07-A2F97C2607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04689"/>
              </p:ext>
            </p:extLst>
          </p:nvPr>
        </p:nvGraphicFramePr>
        <p:xfrm>
          <a:off x="2607878" y="5445224"/>
          <a:ext cx="3928244" cy="1019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ergelijking" r:id="rId3" imgW="1371600" imgH="355320" progId="Equation.3">
                  <p:embed/>
                </p:oleObj>
              </mc:Choice>
              <mc:Fallback>
                <p:oleObj name="Vergelijking" r:id="rId3" imgW="1371600" imgH="355320" progId="Equation.3">
                  <p:embed/>
                  <p:pic>
                    <p:nvPicPr>
                      <p:cNvPr id="29698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7878" y="5445224"/>
                        <a:ext cx="3928244" cy="101979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INCLUSION/EXCLUSION FOR HAMILTON CYCLE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Exponential-time algorithms </a:t>
            </a:r>
            <a:r>
              <a:rPr lang="en-GB" dirty="0"/>
              <a:t>– Advanced Algorithms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Space improvement for </a:t>
            </a:r>
            <a:br>
              <a:rPr lang="en-GB" dirty="0"/>
            </a:br>
            <a:r>
              <a:rPr lang="en-GB" dirty="0"/>
              <a:t>Hamiltonian cycle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Dynamic programming algorithm for Hamiltonian cycle or TSP uses:</a:t>
            </a:r>
          </a:p>
          <a:p>
            <a:pPr lvl="1"/>
            <a:r>
              <a:rPr lang="en-GB" dirty="0"/>
              <a:t>O( </a:t>
            </a:r>
            <a:r>
              <a:rPr lang="en-GB" i="1" dirty="0"/>
              <a:t>n</a:t>
            </a:r>
            <a:r>
              <a:rPr lang="en-GB" baseline="30000" dirty="0"/>
              <a:t>2</a:t>
            </a:r>
            <a:r>
              <a:rPr lang="en-GB" dirty="0"/>
              <a:t>2</a:t>
            </a:r>
            <a:r>
              <a:rPr lang="en-GB" i="1" baseline="30000" dirty="0"/>
              <a:t>n </a:t>
            </a:r>
            <a:r>
              <a:rPr lang="en-GB" dirty="0"/>
              <a:t>) time</a:t>
            </a:r>
          </a:p>
          <a:p>
            <a:pPr lvl="1"/>
            <a:r>
              <a:rPr lang="en-GB" dirty="0"/>
              <a:t>O( n2</a:t>
            </a:r>
            <a:r>
              <a:rPr lang="en-GB" baseline="30000" dirty="0"/>
              <a:t>n </a:t>
            </a:r>
            <a:r>
              <a:rPr lang="en-GB" dirty="0"/>
              <a:t>) space</a:t>
            </a:r>
          </a:p>
          <a:p>
            <a:r>
              <a:rPr lang="en-GB" dirty="0"/>
              <a:t>In practice, space becomes a problem before time does</a:t>
            </a:r>
          </a:p>
          <a:p>
            <a:endParaRPr lang="en-GB" dirty="0"/>
          </a:p>
          <a:p>
            <a:r>
              <a:rPr lang="en-GB" dirty="0"/>
              <a:t>We now give an algorithm for Hamiltonian cycle that uses:</a:t>
            </a:r>
          </a:p>
          <a:p>
            <a:pPr lvl="1"/>
            <a:r>
              <a:rPr lang="en-GB" dirty="0"/>
              <a:t>O(</a:t>
            </a:r>
            <a:r>
              <a:rPr lang="en-GB" i="1" dirty="0"/>
              <a:t>n</a:t>
            </a:r>
            <a:r>
              <a:rPr lang="en-GB" baseline="30000" dirty="0"/>
              <a:t>3</a:t>
            </a:r>
            <a:r>
              <a:rPr lang="en-GB" dirty="0"/>
              <a:t>2</a:t>
            </a:r>
            <a:r>
              <a:rPr lang="en-GB" i="1" baseline="30000" dirty="0"/>
              <a:t>n</a:t>
            </a:r>
            <a:r>
              <a:rPr lang="en-GB" dirty="0"/>
              <a:t>) time</a:t>
            </a:r>
          </a:p>
          <a:p>
            <a:pPr lvl="1"/>
            <a:r>
              <a:rPr lang="en-GB" dirty="0"/>
              <a:t>O(n) space</a:t>
            </a:r>
          </a:p>
          <a:p>
            <a:r>
              <a:rPr lang="en-GB" dirty="0"/>
              <a:t>This algorithm counts Hamiltonian cycles using the principle of inclusion/exclusion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Counting (non-)Hamiltonian cycles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Computing/counting tours is much easier if we do not care about which cities are visited</a:t>
            </a:r>
          </a:p>
          <a:p>
            <a:pPr lvl="1"/>
            <a:r>
              <a:rPr lang="en-GB" dirty="0"/>
              <a:t>This uses exponential space in the DP algorithm</a:t>
            </a:r>
          </a:p>
          <a:p>
            <a:endParaRPr lang="en-GB" dirty="0"/>
          </a:p>
          <a:p>
            <a:r>
              <a:rPr lang="en-GB" dirty="0"/>
              <a:t>Define: Walks[ v</a:t>
            </a:r>
            <a:r>
              <a:rPr lang="en-GB" baseline="-25000" dirty="0"/>
              <a:t>i</a:t>
            </a:r>
            <a:r>
              <a:rPr lang="en-GB" dirty="0"/>
              <a:t>, k ] = the number of ways to travel from v</a:t>
            </a:r>
            <a:r>
              <a:rPr lang="en-GB" baseline="-25000" dirty="0"/>
              <a:t>1</a:t>
            </a:r>
            <a:r>
              <a:rPr lang="en-GB" dirty="0"/>
              <a:t> to v</a:t>
            </a:r>
            <a:r>
              <a:rPr lang="en-GB" baseline="-25000" dirty="0"/>
              <a:t>i</a:t>
            </a:r>
            <a:r>
              <a:rPr lang="en-GB" dirty="0"/>
              <a:t> traversing k times an edge</a:t>
            </a:r>
          </a:p>
          <a:p>
            <a:pPr lvl="1"/>
            <a:r>
              <a:rPr lang="en-GB" dirty="0"/>
              <a:t>We do not care whether nodes/edges are visited (or twice)</a:t>
            </a:r>
          </a:p>
          <a:p>
            <a:r>
              <a:rPr lang="en-GB" dirty="0"/>
              <a:t>Using Dynamic Programming:</a:t>
            </a:r>
          </a:p>
          <a:p>
            <a:pPr lvl="1"/>
            <a:r>
              <a:rPr lang="en-GB" dirty="0"/>
              <a:t>Walks[ v</a:t>
            </a:r>
            <a:r>
              <a:rPr lang="en-GB" baseline="-25000" dirty="0"/>
              <a:t>1</a:t>
            </a:r>
            <a:r>
              <a:rPr lang="en-GB" dirty="0"/>
              <a:t>, 0 ]	= 1	</a:t>
            </a:r>
          </a:p>
          <a:p>
            <a:pPr lvl="1"/>
            <a:r>
              <a:rPr lang="en-GB" dirty="0"/>
              <a:t>Walks[ v</a:t>
            </a:r>
            <a:r>
              <a:rPr lang="en-GB" baseline="-25000" dirty="0"/>
              <a:t>i</a:t>
            </a:r>
            <a:r>
              <a:rPr lang="en-GB" dirty="0"/>
              <a:t>, 0 ]	= 0	for all </a:t>
            </a:r>
            <a:r>
              <a:rPr lang="en-GB" dirty="0" err="1"/>
              <a:t>i</a:t>
            </a:r>
            <a:r>
              <a:rPr lang="en-GB" dirty="0"/>
              <a:t> &gt; 1.</a:t>
            </a:r>
          </a:p>
          <a:p>
            <a:pPr lvl="1"/>
            <a:r>
              <a:rPr lang="en-GB" dirty="0"/>
              <a:t>Walks[ v</a:t>
            </a:r>
            <a:r>
              <a:rPr lang="en-GB" baseline="-25000" dirty="0"/>
              <a:t>i</a:t>
            </a:r>
            <a:r>
              <a:rPr lang="en-GB" dirty="0"/>
              <a:t>, k ]	= </a:t>
            </a:r>
            <a:r>
              <a:rPr lang="en-GB" dirty="0">
                <a:latin typeface="Arial Unicode MS"/>
                <a:ea typeface="Arial Unicode MS"/>
                <a:cs typeface="Arial Unicode MS"/>
              </a:rPr>
              <a:t>∑</a:t>
            </a:r>
            <a:r>
              <a:rPr lang="en-GB" baseline="-25000" dirty="0" err="1">
                <a:latin typeface="Arial Unicode MS"/>
                <a:ea typeface="Arial Unicode MS"/>
                <a:cs typeface="Arial Unicode MS"/>
              </a:rPr>
              <a:t>vj</a:t>
            </a:r>
            <a:r>
              <a:rPr lang="en-GB" baseline="-25000" dirty="0">
                <a:latin typeface="Arial Unicode MS"/>
                <a:ea typeface="Arial Unicode MS"/>
                <a:cs typeface="Arial Unicode MS"/>
              </a:rPr>
              <a:t> ∈ N(vi)</a:t>
            </a:r>
            <a:r>
              <a:rPr lang="en-GB" dirty="0"/>
              <a:t> Walks[ </a:t>
            </a:r>
            <a:r>
              <a:rPr lang="en-GB" dirty="0" err="1"/>
              <a:t>v</a:t>
            </a:r>
            <a:r>
              <a:rPr lang="en-GB" baseline="-25000" dirty="0" err="1"/>
              <a:t>j</a:t>
            </a:r>
            <a:r>
              <a:rPr lang="en-GB" dirty="0"/>
              <a:t>, k – 1 ]</a:t>
            </a:r>
          </a:p>
          <a:p>
            <a:r>
              <a:rPr lang="nl-NL" dirty="0" err="1"/>
              <a:t>Walks</a:t>
            </a:r>
            <a:r>
              <a:rPr lang="nl-NL" dirty="0"/>
              <a:t>[ v</a:t>
            </a:r>
            <a:r>
              <a:rPr lang="nl-NL" baseline="-25000" dirty="0"/>
              <a:t>1</a:t>
            </a:r>
            <a:r>
              <a:rPr lang="nl-NL" dirty="0"/>
              <a:t>, n ] </a:t>
            </a:r>
            <a:r>
              <a:rPr lang="nl-NL" dirty="0" err="1"/>
              <a:t>counts</a:t>
            </a:r>
            <a:r>
              <a:rPr lang="nl-NL" dirty="0"/>
              <a:t> all </a:t>
            </a:r>
            <a:r>
              <a:rPr lang="nl-NL" dirty="0" err="1"/>
              <a:t>length</a:t>
            </a:r>
            <a:r>
              <a:rPr lang="nl-NL" dirty="0"/>
              <a:t> n </a:t>
            </a:r>
            <a:r>
              <a:rPr lang="nl-NL" dirty="0" err="1"/>
              <a:t>walks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return in v</a:t>
            </a:r>
            <a:r>
              <a:rPr lang="nl-NL" baseline="-25000" dirty="0"/>
              <a:t>1</a:t>
            </a:r>
            <a:endParaRPr lang="en-GB" baseline="-25000" dirty="0"/>
          </a:p>
          <a:p>
            <a:pPr lvl="1"/>
            <a:r>
              <a:rPr lang="en-GB" dirty="0"/>
              <a:t>This requires O(n</a:t>
            </a:r>
            <a:r>
              <a:rPr lang="en-GB" baseline="30000" dirty="0"/>
              <a:t>3</a:t>
            </a:r>
            <a:r>
              <a:rPr lang="en-GB" dirty="0"/>
              <a:t>) time and O(n) space</a:t>
            </a:r>
          </a:p>
          <a:p>
            <a:pPr lvl="1"/>
            <a:endParaRPr lang="en-GB" dirty="0"/>
          </a:p>
          <a:p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Apply the formula to every city:</a:t>
            </a:r>
            <a:br>
              <a:rPr lang="en-GB" dirty="0"/>
            </a:br>
            <a:r>
              <a:rPr lang="en-GB" dirty="0"/>
              <a:t>the inclusion/exclusion formula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Let </a:t>
            </a:r>
            <a:r>
              <a:rPr lang="en-GB" dirty="0" err="1"/>
              <a:t>CycleWalks</a:t>
            </a:r>
            <a:r>
              <a:rPr lang="en-GB" dirty="0"/>
              <a:t>( V’ ) be the number of walks of length n from v</a:t>
            </a:r>
            <a:r>
              <a:rPr lang="en-GB" baseline="-25000" dirty="0"/>
              <a:t>1</a:t>
            </a:r>
            <a:r>
              <a:rPr lang="en-GB" dirty="0"/>
              <a:t> to v</a:t>
            </a:r>
            <a:r>
              <a:rPr lang="en-GB" baseline="-25000" dirty="0"/>
              <a:t>1</a:t>
            </a:r>
            <a:r>
              <a:rPr lang="en-GB" dirty="0"/>
              <a:t> using only vertices in V’, then:</a:t>
            </a:r>
          </a:p>
          <a:p>
            <a:pPr lvl="1"/>
            <a:r>
              <a:rPr lang="en-GB" dirty="0"/>
              <a:t>Requirements: for each vertex v: visit the vertex v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Formula requires 2</a:t>
            </a:r>
            <a:r>
              <a:rPr lang="en-GB" baseline="30000" dirty="0"/>
              <a:t>n</a:t>
            </a:r>
            <a:r>
              <a:rPr lang="en-GB" dirty="0"/>
              <a:t> times the counting of cyclic walks through a graph: </a:t>
            </a:r>
          </a:p>
          <a:p>
            <a:pPr lvl="1"/>
            <a:r>
              <a:rPr lang="en-GB" dirty="0"/>
              <a:t>O(</a:t>
            </a:r>
            <a:r>
              <a:rPr lang="en-GB" i="1" dirty="0"/>
              <a:t>n</a:t>
            </a:r>
            <a:r>
              <a:rPr lang="en-GB" baseline="30000" dirty="0"/>
              <a:t>3</a:t>
            </a:r>
            <a:r>
              <a:rPr lang="en-GB" dirty="0"/>
              <a:t>2</a:t>
            </a:r>
            <a:r>
              <a:rPr lang="en-GB" i="1" baseline="30000" dirty="0"/>
              <a:t>n</a:t>
            </a:r>
            <a:r>
              <a:rPr lang="en-GB" dirty="0"/>
              <a:t>) time</a:t>
            </a:r>
          </a:p>
          <a:p>
            <a:pPr lvl="1"/>
            <a:r>
              <a:rPr lang="en-GB" dirty="0"/>
              <a:t>O(n) space</a:t>
            </a:r>
          </a:p>
          <a:p>
            <a:endParaRPr lang="nl-NL" dirty="0"/>
          </a:p>
        </p:txBody>
      </p:sp>
      <p:pic>
        <p:nvPicPr>
          <p:cNvPr id="7" name="Picture 6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 bwMode="auto">
          <a:xfrm>
            <a:off x="1224098" y="3068959"/>
            <a:ext cx="7740390" cy="720081"/>
          </a:xfrm>
          <a:prstGeom prst="rect">
            <a:avLst/>
          </a:prstGeom>
          <a:noFill/>
          <a:ln/>
          <a:effectLst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1028">
                <a:extLst>
                  <a:ext uri="{FF2B5EF4-FFF2-40B4-BE49-F238E27FC236}">
                    <a16:creationId xmlns:a16="http://schemas.microsoft.com/office/drawing/2014/main" id="{246081CD-005A-7126-1F35-AAC0D82BBCC5}"/>
                  </a:ext>
                </a:extLst>
              </p:cNvPr>
              <p:cNvSpPr txBox="1"/>
              <p:nvPr/>
            </p:nvSpPr>
            <p:spPr bwMode="auto">
              <a:xfrm>
                <a:off x="5724129" y="5789278"/>
                <a:ext cx="3419871" cy="1003002"/>
              </a:xfrm>
              <a:prstGeom prst="rect">
                <a:avLst/>
              </a:prstGeom>
              <a:solidFill>
                <a:srgbClr val="EEEEEE"/>
              </a:solidFill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nl-NL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nl-NL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nl-NL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⊆{1,2,...,</m:t>
                          </m:r>
                          <m:r>
                            <a:rPr lang="nl-NL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nl-NL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}</m:t>
                          </m:r>
                        </m:sub>
                        <m:sup/>
                        <m:e>
                          <m:r>
                            <a:rPr lang="nl-NL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(−1</m:t>
                          </m:r>
                          <m:sSup>
                            <m:sSupPr>
                              <m:ctrlPr>
                                <a:rPr lang="nl-NL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NL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nl-NL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nl-NL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nl-NL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sup>
                          </m:sSup>
                          <m:r>
                            <a:rPr lang="nl-NL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nl-NL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nl-NL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nl-NL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nl-NL" dirty="0"/>
              </a:p>
            </p:txBody>
          </p:sp>
        </mc:Choice>
        <mc:Fallback xmlns="">
          <p:sp>
            <p:nvSpPr>
              <p:cNvPr id="3" name="Object 1028">
                <a:extLst>
                  <a:ext uri="{FF2B5EF4-FFF2-40B4-BE49-F238E27FC236}">
                    <a16:creationId xmlns:a16="http://schemas.microsoft.com/office/drawing/2014/main" id="{246081CD-005A-7126-1F35-AAC0D82BBC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24129" y="5789278"/>
                <a:ext cx="3419871" cy="100300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INCLUSION/EXCLUSION FOR GRAPH COLOURING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Exponential-time algorithms </a:t>
            </a:r>
            <a:r>
              <a:rPr lang="en-GB" dirty="0"/>
              <a:t>– Advanced Algorithms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</a:t>
            </a:r>
            <a:r>
              <a:rPr lang="en-US" dirty="0" err="1"/>
              <a:t>colouring</a:t>
            </a:r>
            <a:r>
              <a:rPr lang="en-US" dirty="0"/>
              <a:t> with inclusion/exclusion</a:t>
            </a:r>
          </a:p>
        </p:txBody>
      </p:sp>
      <p:sp>
        <p:nvSpPr>
          <p:cNvPr id="2253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Björklund and </a:t>
            </a:r>
            <a:r>
              <a:rPr lang="en-US" dirty="0" err="1"/>
              <a:t>Husfeld</a:t>
            </a:r>
            <a:r>
              <a:rPr lang="en-US" dirty="0"/>
              <a:t>, and independently Koivisto, 2006</a:t>
            </a:r>
          </a:p>
          <a:p>
            <a:pPr lvl="1"/>
            <a:r>
              <a:rPr lang="en-US" dirty="0"/>
              <a:t>O*(2</a:t>
            </a:r>
            <a:r>
              <a:rPr lang="en-US" baseline="30000" dirty="0"/>
              <a:t>n</a:t>
            </a:r>
            <a:r>
              <a:rPr lang="en-US" dirty="0"/>
              <a:t>) time algorithm for graph </a:t>
            </a:r>
            <a:r>
              <a:rPr lang="en-US" dirty="0" err="1"/>
              <a:t>colouring</a:t>
            </a:r>
            <a:endParaRPr lang="en-US" dirty="0"/>
          </a:p>
          <a:p>
            <a:pPr lvl="1"/>
            <a:r>
              <a:rPr lang="en-US" dirty="0"/>
              <a:t>Covering G with independent sets</a:t>
            </a:r>
          </a:p>
          <a:p>
            <a:endParaRPr lang="en-US" sz="800" dirty="0"/>
          </a:p>
          <a:p>
            <a:r>
              <a:rPr lang="en-US" dirty="0"/>
              <a:t>Objects to count:</a:t>
            </a:r>
          </a:p>
          <a:p>
            <a:pPr lvl="1"/>
            <a:r>
              <a:rPr lang="en-US" dirty="0"/>
              <a:t>Sequences (I</a:t>
            </a:r>
            <a:r>
              <a:rPr lang="en-US" baseline="-25000" dirty="0"/>
              <a:t>1</a:t>
            </a:r>
            <a:r>
              <a:rPr lang="en-US" dirty="0"/>
              <a:t>,…,</a:t>
            </a:r>
            <a:r>
              <a:rPr lang="en-US" dirty="0" err="1"/>
              <a:t>I</a:t>
            </a:r>
            <a:r>
              <a:rPr lang="en-US" baseline="-25000" dirty="0" err="1"/>
              <a:t>k</a:t>
            </a:r>
            <a:r>
              <a:rPr lang="en-US" dirty="0"/>
              <a:t>) where each I</a:t>
            </a:r>
            <a:r>
              <a:rPr lang="en-US" baseline="-25000" dirty="0"/>
              <a:t>i</a:t>
            </a:r>
            <a:r>
              <a:rPr lang="en-US" dirty="0"/>
              <a:t> is an independent set</a:t>
            </a:r>
          </a:p>
          <a:p>
            <a:r>
              <a:rPr lang="en-US" dirty="0"/>
              <a:t>Requirements: </a:t>
            </a:r>
          </a:p>
          <a:p>
            <a:pPr lvl="1"/>
            <a:r>
              <a:rPr lang="en-US" dirty="0"/>
              <a:t>For every vertex v we require that v is contained in at least one independent set </a:t>
            </a:r>
            <a:r>
              <a:rPr lang="en-US" dirty="0" err="1"/>
              <a:t>I</a:t>
            </a:r>
            <a:r>
              <a:rPr lang="en-US" baseline="-25000" dirty="0" err="1"/>
              <a:t>i</a:t>
            </a:r>
            <a:endParaRPr lang="en-US" dirty="0"/>
          </a:p>
          <a:p>
            <a:endParaRPr lang="en-US" sz="800" dirty="0"/>
          </a:p>
          <a:p>
            <a:r>
              <a:rPr lang="en-US" dirty="0"/>
              <a:t>Let c</a:t>
            </a:r>
            <a:r>
              <a:rPr lang="en-US" baseline="-25000" dirty="0"/>
              <a:t>k</a:t>
            </a:r>
            <a:r>
              <a:rPr lang="en-US" dirty="0"/>
              <a:t>(G) be the number of ways we can cover all vertices in G with k independent sets, where the independent sets may be overlapping, or even the same</a:t>
            </a:r>
          </a:p>
          <a:p>
            <a:r>
              <a:rPr lang="en-US" b="1" dirty="0"/>
              <a:t>Lemma</a:t>
            </a:r>
            <a:r>
              <a:rPr lang="en-US" dirty="0"/>
              <a:t>: G is k-colorable, if and only if c</a:t>
            </a:r>
            <a:r>
              <a:rPr lang="en-US" baseline="-25000" dirty="0"/>
              <a:t>k</a:t>
            </a:r>
            <a:r>
              <a:rPr lang="en-US" dirty="0"/>
              <a:t>(G) &gt; 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5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5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25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5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5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5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53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53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253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253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Expressing c</a:t>
            </a:r>
            <a:r>
              <a:rPr lang="en-US" i="1" baseline="-25000"/>
              <a:t>k</a:t>
            </a:r>
            <a:r>
              <a:rPr lang="en-US"/>
              <a:t> in </a:t>
            </a:r>
            <a:r>
              <a:rPr lang="en-US" i="1"/>
              <a:t>s</a:t>
            </a:r>
            <a:endParaRPr lang="en-US" dirty="0"/>
          </a:p>
        </p:txBody>
      </p:sp>
      <p:graphicFrame>
        <p:nvGraphicFramePr>
          <p:cNvPr id="24582" name="Object 1028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7447647"/>
              </p:ext>
            </p:extLst>
          </p:nvPr>
        </p:nvGraphicFramePr>
        <p:xfrm>
          <a:off x="1860376" y="4869160"/>
          <a:ext cx="6096000" cy="126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ergelijking" r:id="rId3" imgW="1714320" imgH="355320" progId="Equation.3">
                  <p:embed/>
                </p:oleObj>
              </mc:Choice>
              <mc:Fallback>
                <p:oleObj name="Vergelijking" r:id="rId3" imgW="1714320" imgH="355320" progId="Equation.3">
                  <p:embed/>
                  <p:pic>
                    <p:nvPicPr>
                      <p:cNvPr id="0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0376" y="4869160"/>
                        <a:ext cx="6096000" cy="1263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581" name="Rectangle 1030"/>
              <p:cNvSpPr>
                <a:spLocks noGrp="1" noChangeArrowheads="1"/>
              </p:cNvSpPr>
              <p:nvPr>
                <p:ph type="body" idx="4294967295"/>
              </p:nvPr>
            </p:nvSpPr>
            <p:spPr>
              <a:xfrm>
                <a:off x="1043608" y="1340768"/>
                <a:ext cx="7920880" cy="3096343"/>
              </a:xfrm>
            </p:spPr>
            <p:txBody>
              <a:bodyPr/>
              <a:lstStyle/>
              <a:p>
                <a:r>
                  <a:rPr lang="en-US" dirty="0"/>
                  <a:t>Let </a:t>
                </a:r>
                <a:r>
                  <a:rPr lang="en-US" b="1" dirty="0">
                    <a:solidFill>
                      <a:srgbClr val="C00000"/>
                    </a:solidFill>
                  </a:rPr>
                  <a:t>c</a:t>
                </a:r>
                <a:r>
                  <a:rPr lang="en-US" b="1" i="1" baseline="-25000" dirty="0">
                    <a:solidFill>
                      <a:srgbClr val="C00000"/>
                    </a:solidFill>
                  </a:rPr>
                  <a:t>k</a:t>
                </a:r>
                <a:r>
                  <a:rPr lang="en-US" b="1" dirty="0">
                    <a:solidFill>
                      <a:srgbClr val="C00000"/>
                    </a:solidFill>
                  </a:rPr>
                  <a:t>(G) </a:t>
                </a:r>
                <a:r>
                  <a:rPr lang="en-US" dirty="0"/>
                  <a:t>be the number of ways we can cover all vertices in G with </a:t>
                </a:r>
                <a:r>
                  <a:rPr lang="en-US" i="1" dirty="0"/>
                  <a:t>k</a:t>
                </a:r>
                <a:r>
                  <a:rPr lang="en-US" dirty="0"/>
                  <a:t> independent sets, where the independent sets may be overlapping, or even the same</a:t>
                </a:r>
              </a:p>
              <a:p>
                <a:r>
                  <a:rPr lang="en-US" dirty="0"/>
                  <a:t>Let for S </a:t>
                </a:r>
                <a:r>
                  <a:rPr lang="en-US" dirty="0">
                    <a:latin typeface="cmsy10"/>
                  </a:rPr>
                  <a:t>µ</a:t>
                </a:r>
                <a:r>
                  <a:rPr lang="en-US" dirty="0"/>
                  <a:t> V, s(S) be the number of independent sets in G[S]</a:t>
                </a:r>
              </a:p>
              <a:p>
                <a:endParaRPr lang="en-US" sz="1100" dirty="0"/>
              </a:p>
              <a:p>
                <a:r>
                  <a:rPr lang="en-US" dirty="0"/>
                  <a:t>Objects to count:</a:t>
                </a:r>
              </a:p>
              <a:p>
                <a:pPr lvl="1"/>
                <a:r>
                  <a:rPr lang="en-US" dirty="0"/>
                  <a:t>Sequences (I</a:t>
                </a:r>
                <a:r>
                  <a:rPr lang="en-US" baseline="-25000" dirty="0"/>
                  <a:t>1</a:t>
                </a:r>
                <a:r>
                  <a:rPr lang="en-US" dirty="0"/>
                  <a:t>,…,</a:t>
                </a:r>
                <a:r>
                  <a:rPr lang="en-US" dirty="0" err="1"/>
                  <a:t>I</a:t>
                </a:r>
                <a:r>
                  <a:rPr lang="en-US" baseline="-25000" dirty="0" err="1"/>
                  <a:t>k</a:t>
                </a:r>
                <a:r>
                  <a:rPr lang="en-US" dirty="0"/>
                  <a:t>) where each I</a:t>
                </a:r>
                <a:r>
                  <a:rPr lang="en-US" baseline="-25000" dirty="0"/>
                  <a:t>i</a:t>
                </a:r>
                <a:r>
                  <a:rPr lang="en-US" dirty="0"/>
                  <a:t> is an independent set</a:t>
                </a:r>
              </a:p>
              <a:p>
                <a:pPr lvl="1"/>
                <a:r>
                  <a:rPr lang="en-US" dirty="0"/>
                  <a:t>Counting these can be done by counting independent sets. </a:t>
                </a:r>
              </a:p>
              <a:p>
                <a:pPr lvl="2">
                  <a:buFont typeface="Verdana" panose="020B0604030504040204" pitchFamily="34" charset="0"/>
                  <a:buChar char="‒"/>
                </a:pPr>
                <a:r>
                  <a:rPr lang="en-US" dirty="0"/>
                  <a:t>With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different independent sets, there are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dirty="0"/>
                  <a:t> such sequences</a:t>
                </a:r>
              </a:p>
              <a:p>
                <a:r>
                  <a:rPr lang="en-US" dirty="0"/>
                  <a:t>Requirements: </a:t>
                </a:r>
              </a:p>
              <a:p>
                <a:pPr lvl="1"/>
                <a:r>
                  <a:rPr lang="en-US" dirty="0"/>
                  <a:t>For every vertex v, we require that v is contained in at least one independent set </a:t>
                </a:r>
                <a:r>
                  <a:rPr lang="en-US" dirty="0" err="1"/>
                  <a:t>I</a:t>
                </a:r>
                <a:r>
                  <a:rPr lang="en-US" baseline="-25000" dirty="0" err="1"/>
                  <a:t>i</a:t>
                </a:r>
                <a:endParaRPr lang="en-US" dirty="0"/>
              </a:p>
              <a:p>
                <a:pPr eaLnBrk="1" hangingPunct="1">
                  <a:lnSpc>
                    <a:spcPct val="90000"/>
                  </a:lnSpc>
                </a:pPr>
                <a:endParaRPr lang="en-US" dirty="0"/>
              </a:p>
              <a:p>
                <a:pPr lvl="1" eaLnBrk="1" hangingPunct="1">
                  <a:lnSpc>
                    <a:spcPct val="90000"/>
                  </a:lnSpc>
                </a:pPr>
                <a:endParaRPr lang="en-US" sz="2000" dirty="0"/>
              </a:p>
            </p:txBody>
          </p:sp>
        </mc:Choice>
        <mc:Fallback xmlns="">
          <p:sp>
            <p:nvSpPr>
              <p:cNvPr id="24581" name="Rectangle 1030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1043608" y="1340768"/>
                <a:ext cx="7920880" cy="3096343"/>
              </a:xfrm>
              <a:blipFill>
                <a:blip r:embed="rId5"/>
                <a:stretch>
                  <a:fillRect l="-154" t="-1181" r="-462" b="-1515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584" name="Object 1028"/>
              <p:cNvSpPr txBox="1"/>
              <p:nvPr/>
            </p:nvSpPr>
            <p:spPr bwMode="auto">
              <a:xfrm>
                <a:off x="5724129" y="5792714"/>
                <a:ext cx="3419871" cy="1003002"/>
              </a:xfrm>
              <a:prstGeom prst="rect">
                <a:avLst/>
              </a:prstGeom>
              <a:solidFill>
                <a:srgbClr val="EEEEEE"/>
              </a:solidFill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nl-NL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nl-NL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nl-NL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⊆{1,2,...,</m:t>
                          </m:r>
                          <m:r>
                            <a:rPr lang="nl-NL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nl-NL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}</m:t>
                          </m:r>
                        </m:sub>
                        <m:sup/>
                        <m:e>
                          <m:r>
                            <a:rPr lang="nl-NL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(−1</m:t>
                          </m:r>
                          <m:sSup>
                            <m:sSupPr>
                              <m:ctrlPr>
                                <a:rPr lang="nl-NL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NL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nl-NL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nl-NL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nl-NL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sup>
                          </m:sSup>
                          <m:r>
                            <a:rPr lang="nl-NL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nl-NL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nl-NL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nl-NL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nl-NL" dirty="0"/>
              </a:p>
            </p:txBody>
          </p:sp>
        </mc:Choice>
        <mc:Fallback xmlns="">
          <p:sp>
            <p:nvSpPr>
              <p:cNvPr id="24584" name="Object 10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24129" y="5792714"/>
                <a:ext cx="3419871" cy="100300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Counting independent sets</a:t>
            </a:r>
          </a:p>
        </p:txBody>
      </p:sp>
      <p:sp>
        <p:nvSpPr>
          <p:cNvPr id="23557" name="Rectangle 3"/>
          <p:cNvSpPr>
            <a:spLocks noGrp="1" noChangeArrowheads="1"/>
          </p:cNvSpPr>
          <p:nvPr>
            <p:ph idx="1"/>
          </p:nvPr>
        </p:nvSpPr>
        <p:spPr>
          <a:xfrm>
            <a:off x="1371600" y="1828800"/>
            <a:ext cx="7772400" cy="3962400"/>
          </a:xfrm>
        </p:spPr>
        <p:txBody>
          <a:bodyPr/>
          <a:lstStyle/>
          <a:p>
            <a:r>
              <a:rPr lang="en-US" dirty="0"/>
              <a:t>Let for S</a:t>
            </a:r>
            <a:r>
              <a:rPr lang="en-US" dirty="0">
                <a:latin typeface="cmsy10"/>
              </a:rPr>
              <a:t>µ</a:t>
            </a:r>
            <a:r>
              <a:rPr lang="en-US" dirty="0"/>
              <a:t>V, s(S) be the number of independent sets in G[S]</a:t>
            </a:r>
          </a:p>
          <a:p>
            <a:pPr lvl="1"/>
            <a:r>
              <a:rPr lang="en-US" dirty="0"/>
              <a:t>s(S) = s( S\{</a:t>
            </a:r>
            <a:r>
              <a:rPr lang="en-US" i="1" dirty="0"/>
              <a:t>v</a:t>
            </a:r>
            <a:r>
              <a:rPr lang="en-US" dirty="0"/>
              <a:t>} ) + s( S\N[</a:t>
            </a:r>
            <a:r>
              <a:rPr lang="en-US" i="1" dirty="0"/>
              <a:t>v</a:t>
            </a:r>
            <a:r>
              <a:rPr lang="en-US" dirty="0"/>
              <a:t>] ) for some v </a:t>
            </a:r>
            <a:r>
              <a:rPr lang="en-US" dirty="0">
                <a:latin typeface="cmsy10"/>
              </a:rPr>
              <a:t>2</a:t>
            </a:r>
            <a:r>
              <a:rPr lang="en-US" dirty="0"/>
              <a:t> S</a:t>
            </a:r>
          </a:p>
          <a:p>
            <a:pPr lvl="1"/>
            <a:r>
              <a:rPr lang="en-US" dirty="0"/>
              <a:t>s(</a:t>
            </a:r>
            <a:r>
              <a:rPr lang="en-US" dirty="0">
                <a:latin typeface="cmsy10"/>
              </a:rPr>
              <a:t>;</a:t>
            </a:r>
            <a:r>
              <a:rPr lang="en-US" dirty="0"/>
              <a:t>) = 1</a:t>
            </a:r>
          </a:p>
          <a:p>
            <a:pPr lvl="1" eaLnBrk="1" hangingPunct="1">
              <a:buNone/>
            </a:pPr>
            <a:endParaRPr lang="en-US" dirty="0"/>
          </a:p>
          <a:p>
            <a:r>
              <a:rPr lang="en-US" dirty="0"/>
              <a:t>We can compute all values s(S) in O*(2</a:t>
            </a:r>
            <a:r>
              <a:rPr lang="en-US" i="1" baseline="30000" dirty="0"/>
              <a:t>n</a:t>
            </a:r>
            <a:r>
              <a:rPr lang="en-US" dirty="0"/>
              <a:t>) time</a:t>
            </a:r>
          </a:p>
          <a:p>
            <a:pPr lvl="1" eaLnBrk="1" hangingPunct="1"/>
            <a:r>
              <a:rPr lang="en-US" dirty="0"/>
              <a:t>Use bottom-up dynamic programming and store all values</a:t>
            </a:r>
          </a:p>
          <a:p>
            <a:pPr lvl="1" eaLnBrk="1" hangingPunct="1"/>
            <a:endParaRPr lang="en-US" dirty="0"/>
          </a:p>
          <a:p>
            <a:pPr>
              <a:buNone/>
            </a:pPr>
            <a:r>
              <a:rPr lang="en-US" b="1" dirty="0">
                <a:solidFill>
                  <a:srgbClr val="C00000"/>
                </a:solidFill>
              </a:rPr>
              <a:t>The algorithm:</a:t>
            </a:r>
          </a:p>
          <a:p>
            <a:pPr>
              <a:buFont typeface="+mj-lt"/>
              <a:buAutoNum type="arabicPeriod"/>
            </a:pPr>
            <a:r>
              <a:rPr lang="en-US" dirty="0"/>
              <a:t>Compute all s(S) for all S </a:t>
            </a:r>
            <a:r>
              <a:rPr lang="en-US" dirty="0">
                <a:latin typeface="cmsy10"/>
              </a:rPr>
              <a:t>µ</a:t>
            </a:r>
            <a:r>
              <a:rPr lang="en-US" dirty="0"/>
              <a:t> V by dynamic programming</a:t>
            </a:r>
          </a:p>
          <a:p>
            <a:pPr>
              <a:buFont typeface="+mj-lt"/>
              <a:buAutoNum type="arabicPeriod"/>
            </a:pPr>
            <a:r>
              <a:rPr lang="en-US" dirty="0"/>
              <a:t>For k = 1 up to n:</a:t>
            </a:r>
          </a:p>
          <a:p>
            <a:pPr lvl="1"/>
            <a:r>
              <a:rPr lang="en-US" dirty="0"/>
              <a:t>Compute the value c</a:t>
            </a:r>
            <a:r>
              <a:rPr lang="en-US" i="1" baseline="-25000" dirty="0"/>
              <a:t>k</a:t>
            </a:r>
            <a:r>
              <a:rPr lang="en-US" dirty="0"/>
              <a:t>(G) with the inclusion/exclusion formula</a:t>
            </a:r>
          </a:p>
          <a:p>
            <a:pPr lvl="1"/>
            <a:r>
              <a:rPr lang="en-US" dirty="0"/>
              <a:t>If c</a:t>
            </a:r>
            <a:r>
              <a:rPr lang="en-US" i="1" baseline="-25000" dirty="0"/>
              <a:t>k</a:t>
            </a:r>
            <a:r>
              <a:rPr lang="en-US" dirty="0"/>
              <a:t>(G) &gt; 0: return k</a:t>
            </a:r>
          </a:p>
          <a:p>
            <a:pPr lvl="1" eaLnBrk="1" hangingPunct="1"/>
            <a:endParaRPr lang="en-US" dirty="0"/>
          </a:p>
          <a:p>
            <a:pPr lvl="1" eaLnBrk="1" hangingPunct="1"/>
            <a:endParaRPr lang="en-US" dirty="0"/>
          </a:p>
        </p:txBody>
      </p:sp>
      <p:sp>
        <p:nvSpPr>
          <p:cNvPr id="4" name="Rectangle 3"/>
          <p:cNvSpPr/>
          <p:nvPr/>
        </p:nvSpPr>
        <p:spPr bwMode="auto">
          <a:xfrm>
            <a:off x="2051720" y="5733256"/>
            <a:ext cx="5256584" cy="72008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defRPr/>
            </a:pPr>
            <a:r>
              <a:rPr lang="nl-NL" sz="3200" dirty="0">
                <a:solidFill>
                  <a:schemeClr val="bg1"/>
                </a:solidFill>
              </a:rPr>
              <a:t>O*</a:t>
            </a:r>
            <a:r>
              <a:rPr lang="nl-NL" sz="3200" i="0" dirty="0">
                <a:solidFill>
                  <a:schemeClr val="bg1"/>
                </a:solidFill>
              </a:rPr>
              <a:t>(2</a:t>
            </a:r>
            <a:r>
              <a:rPr lang="nl-NL" sz="3200" baseline="30000" dirty="0">
                <a:solidFill>
                  <a:schemeClr val="bg1"/>
                </a:solidFill>
              </a:rPr>
              <a:t>n</a:t>
            </a:r>
            <a:r>
              <a:rPr lang="nl-NL" sz="3200" i="0" dirty="0">
                <a:solidFill>
                  <a:schemeClr val="bg1"/>
                </a:solidFill>
              </a:rPr>
              <a:t>) time and </a:t>
            </a:r>
            <a:r>
              <a:rPr lang="nl-NL" sz="3200" i="0" dirty="0" err="1">
                <a:solidFill>
                  <a:schemeClr val="bg1"/>
                </a:solidFill>
              </a:rPr>
              <a:t>space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5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5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55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55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55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55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55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55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55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55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note on the algorithm</a:t>
            </a:r>
            <a:endParaRPr lang="en-US" dirty="0"/>
          </a:p>
        </p:txBody>
      </p:sp>
      <p:sp>
        <p:nvSpPr>
          <p:cNvPr id="2662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Polynomial space algorithm is also possible</a:t>
            </a:r>
          </a:p>
          <a:p>
            <a:pPr lvl="1"/>
            <a:r>
              <a:rPr lang="en-US" dirty="0"/>
              <a:t>Then we need to compute s(X) each time again</a:t>
            </a:r>
          </a:p>
          <a:p>
            <a:pPr lvl="1"/>
            <a:r>
              <a:rPr lang="en-US" dirty="0"/>
              <a:t>This requires additional exponential time</a:t>
            </a:r>
          </a:p>
          <a:p>
            <a:pPr lvl="1"/>
            <a:r>
              <a:rPr lang="en-US" dirty="0"/>
              <a:t>Running time depends on how fast we count independent sets</a:t>
            </a:r>
          </a:p>
          <a:p>
            <a:pPr lvl="1"/>
            <a:r>
              <a:rPr lang="en-GB" dirty="0"/>
              <a:t>O(1.4423</a:t>
            </a:r>
            <a:r>
              <a:rPr lang="en-GB" baseline="30000" dirty="0"/>
              <a:t>n</a:t>
            </a:r>
            <a:r>
              <a:rPr lang="en-GB" dirty="0"/>
              <a:t>) time enumeration, then O(2.4423</a:t>
            </a:r>
            <a:r>
              <a:rPr lang="en-GB" baseline="30000" dirty="0"/>
              <a:t>n</a:t>
            </a:r>
            <a:r>
              <a:rPr lang="en-GB" dirty="0"/>
              <a:t>) time total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Gaspers and Lee 2016: O(2.2356</a:t>
            </a:r>
            <a:r>
              <a:rPr lang="en-US" baseline="30000" dirty="0"/>
              <a:t>n</a:t>
            </a:r>
            <a:r>
              <a:rPr lang="en-US" dirty="0"/>
              <a:t>)</a:t>
            </a:r>
          </a:p>
          <a:p>
            <a:r>
              <a:rPr lang="en-US" dirty="0"/>
              <a:t>Lots of techniques:</a:t>
            </a:r>
          </a:p>
          <a:p>
            <a:pPr lvl="1"/>
            <a:r>
              <a:rPr lang="en-US" dirty="0"/>
              <a:t>Measure and conquer</a:t>
            </a:r>
          </a:p>
          <a:p>
            <a:pPr lvl="1"/>
            <a:r>
              <a:rPr lang="en-US" dirty="0"/>
              <a:t>Potentials</a:t>
            </a:r>
          </a:p>
          <a:p>
            <a:pPr lvl="1"/>
            <a:r>
              <a:rPr lang="en-US" dirty="0"/>
              <a:t>Compound measures</a:t>
            </a:r>
          </a:p>
          <a:p>
            <a:pPr lvl="1"/>
            <a:r>
              <a:rPr lang="en-US" dirty="0"/>
              <a:t>Branching to separate the graph</a:t>
            </a:r>
          </a:p>
          <a:p>
            <a:pPr lvl="1"/>
            <a:r>
              <a:rPr lang="en-US" dirty="0"/>
              <a:t>Out of scope for this lecture...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GB" b="1" dirty="0"/>
              <a:t>Today we discussed: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inclusion/exclusion formula</a:t>
            </a:r>
          </a:p>
          <a:p>
            <a:pPr>
              <a:buFont typeface="+mj-lt"/>
              <a:buAutoNum type="arabicPeriod"/>
            </a:pPr>
            <a:r>
              <a:rPr lang="en-GB" dirty="0"/>
              <a:t>Algorithmic applications:</a:t>
            </a:r>
          </a:p>
          <a:p>
            <a:pPr lvl="1"/>
            <a:r>
              <a:rPr lang="en-GB" dirty="0"/>
              <a:t>Hamilton cycle</a:t>
            </a:r>
          </a:p>
          <a:p>
            <a:pPr lvl="1"/>
            <a:r>
              <a:rPr lang="en-GB" dirty="0"/>
              <a:t>Graph colouring</a:t>
            </a:r>
          </a:p>
          <a:p>
            <a:pPr marL="457200" lvl="1" indent="0">
              <a:buNone/>
            </a:pPr>
            <a:endParaRPr lang="en-GB" dirty="0"/>
          </a:p>
          <a:p>
            <a:r>
              <a:rPr lang="en-GB" dirty="0"/>
              <a:t>Many more applications</a:t>
            </a:r>
          </a:p>
          <a:p>
            <a:pPr lvl="1"/>
            <a:r>
              <a:rPr lang="en-GB" dirty="0" err="1"/>
              <a:t>Streiner</a:t>
            </a:r>
            <a:r>
              <a:rPr lang="en-GB" dirty="0"/>
              <a:t> Tree</a:t>
            </a:r>
          </a:p>
          <a:p>
            <a:pPr lvl="1"/>
            <a:r>
              <a:rPr lang="en-GB" dirty="0"/>
              <a:t>Different fields of math</a:t>
            </a:r>
            <a:br>
              <a:rPr lang="en-GB" dirty="0"/>
            </a:br>
            <a:r>
              <a:rPr lang="en-GB" dirty="0"/>
              <a:t>and/of algorithms</a:t>
            </a:r>
          </a:p>
          <a:p>
            <a:pPr lvl="1"/>
            <a:r>
              <a:rPr lang="en-GB" dirty="0"/>
              <a:t>FPT algorithms</a:t>
            </a:r>
          </a:p>
          <a:p>
            <a:pPr lvl="1"/>
            <a:r>
              <a:rPr lang="en-GB" dirty="0"/>
              <a:t>Fast subset convolution</a:t>
            </a:r>
          </a:p>
          <a:p>
            <a:pPr lvl="1"/>
            <a:endParaRPr lang="en-GB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/>
        </p:nvGraphicFramePr>
        <p:xfrm>
          <a:off x="5292080" y="2492896"/>
          <a:ext cx="3542928" cy="33703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C9037-E678-6255-7D23-81A4FD252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208BB-2886-36F9-3BF4-28571044B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Further reading and exercises</a:t>
            </a:r>
            <a:br>
              <a:rPr lang="en-GB" dirty="0"/>
            </a:br>
            <a:endParaRPr lang="LID4096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C9F1F-0728-2D1B-D42F-4FD4BCD9D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828800"/>
            <a:ext cx="4208512" cy="3962400"/>
          </a:xfrm>
        </p:spPr>
        <p:txBody>
          <a:bodyPr/>
          <a:lstStyle/>
          <a:p>
            <a:r>
              <a:rPr lang="en-US" dirty="0"/>
              <a:t>Fomin and Kratsch</a:t>
            </a:r>
            <a:br>
              <a:rPr lang="en-US" dirty="0"/>
            </a:br>
            <a:r>
              <a:rPr lang="en-US" i="1" dirty="0"/>
              <a:t>Exact Exponential Algorithms</a:t>
            </a:r>
            <a:br>
              <a:rPr lang="en-US" i="1" dirty="0"/>
            </a:br>
            <a:r>
              <a:rPr lang="nl-NL" sz="1400" dirty="0" err="1"/>
              <a:t>Chapters</a:t>
            </a:r>
            <a:r>
              <a:rPr lang="nl-NL" sz="1400" dirty="0"/>
              <a:t> 4</a:t>
            </a:r>
          </a:p>
          <a:p>
            <a:endParaRPr lang="nl-NL" sz="1400" dirty="0"/>
          </a:p>
          <a:p>
            <a:r>
              <a:rPr lang="nl-NL" dirty="0"/>
              <a:t>Cygan, Fomin, </a:t>
            </a:r>
            <a:r>
              <a:rPr lang="nl-NL" dirty="0" err="1"/>
              <a:t>Kowalik</a:t>
            </a:r>
            <a:r>
              <a:rPr lang="nl-NL" dirty="0"/>
              <a:t>, </a:t>
            </a:r>
            <a:r>
              <a:rPr lang="nl-NL" dirty="0" err="1"/>
              <a:t>Lokshtanov</a:t>
            </a:r>
            <a:r>
              <a:rPr lang="nl-NL" dirty="0"/>
              <a:t>, Marx, Pilipczuk, Pilipczuk, </a:t>
            </a:r>
            <a:r>
              <a:rPr lang="nl-NL" dirty="0" err="1"/>
              <a:t>Saurabh</a:t>
            </a:r>
            <a:br>
              <a:rPr lang="nl-NL" dirty="0"/>
            </a:br>
            <a:r>
              <a:rPr lang="nl-NL" i="1" dirty="0" err="1"/>
              <a:t>Parameterized</a:t>
            </a:r>
            <a:r>
              <a:rPr lang="nl-NL" i="1" dirty="0"/>
              <a:t> </a:t>
            </a:r>
            <a:r>
              <a:rPr lang="nl-NL" i="1" dirty="0" err="1"/>
              <a:t>Algorithms</a:t>
            </a:r>
            <a:br>
              <a:rPr lang="en-GB" i="1" dirty="0"/>
            </a:br>
            <a:r>
              <a:rPr lang="en-GB" sz="1400" dirty="0"/>
              <a:t>Section 10.1</a:t>
            </a:r>
            <a:endParaRPr lang="nl-NL" dirty="0"/>
          </a:p>
        </p:txBody>
      </p:sp>
      <p:pic>
        <p:nvPicPr>
          <p:cNvPr id="9" name="Picture 8" descr="Graphical user interface&#10;&#10;Description automatically generated">
            <a:extLst>
              <a:ext uri="{FF2B5EF4-FFF2-40B4-BE49-F238E27FC236}">
                <a16:creationId xmlns:a16="http://schemas.microsoft.com/office/drawing/2014/main" id="{32DC9E23-5BB7-A05F-BC9A-44B44DE6EA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2067365"/>
            <a:ext cx="1783772" cy="2833049"/>
          </a:xfrm>
          <a:prstGeom prst="rect">
            <a:avLst/>
          </a:prstGeom>
        </p:spPr>
      </p:pic>
      <p:pic>
        <p:nvPicPr>
          <p:cNvPr id="5" name="Picture 4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78E8A5BA-02E6-7BAE-DDE2-34D39BF8CFD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9680" y="2067364"/>
            <a:ext cx="1880829" cy="2833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95367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RSTVRJ@CJFKMONFUVWZY5H8" val="544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DDENFONTSHAPE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&#10;\usepackage{amsmath}&#10;\usepackage{amssymb}&#10;\usepackage[usenames]{color}&#10;&#10;\pagestyle{empty}&#10;\begin{document}&#10;%&#10;\color[rgb]{0,0,0}&#10;&#10;\begin{equation*}&#10;\textrm{\# HamiltonianCycles}&#10; = \sum_{X \subseteq V} (-1)^{|X|} \; \mathrm{CycleWalks}( V \setminus X )&#10;\end{equation*}&#10;&#10;\end{document}"/>
  <p:tag name="FILENAME" val="TP_tmp"/>
  <p:tag name="FORMAT" val="pngmono"/>
  <p:tag name="RES" val="1200"/>
  <p:tag name="BLEND" val="0"/>
  <p:tag name="TRANSPARENT" val="1"/>
  <p:tag name="TBUG" val="0"/>
  <p:tag name="ALLOWFS" val="0"/>
  <p:tag name="ORIGWIDTH" val="247"/>
  <p:tag name="PICTUREFILESIZE" val="12528"/>
</p:tagLst>
</file>

<file path=ppt/theme/theme1.xml><?xml version="1.0" encoding="utf-8"?>
<a:theme xmlns:a="http://schemas.openxmlformats.org/drawingml/2006/main" name="InformationENG">
  <a:themeElements>
    <a:clrScheme name="">
      <a:dk1>
        <a:srgbClr val="000000"/>
      </a:dk1>
      <a:lt1>
        <a:srgbClr val="FFFFFF"/>
      </a:lt1>
      <a:dk2>
        <a:srgbClr val="000000"/>
      </a:dk2>
      <a:lt2>
        <a:srgbClr val="89014C"/>
      </a:lt2>
      <a:accent1>
        <a:srgbClr val="008AA3"/>
      </a:accent1>
      <a:accent2>
        <a:srgbClr val="008C6B"/>
      </a:accent2>
      <a:accent3>
        <a:srgbClr val="FFFFFF"/>
      </a:accent3>
      <a:accent4>
        <a:srgbClr val="000000"/>
      </a:accent4>
      <a:accent5>
        <a:srgbClr val="AAC4CE"/>
      </a:accent5>
      <a:accent6>
        <a:srgbClr val="007E60"/>
      </a:accent6>
      <a:hlink>
        <a:srgbClr val="AA1328"/>
      </a:hlink>
      <a:folHlink>
        <a:srgbClr val="7F7F7F"/>
      </a:folHlink>
    </a:clrScheme>
    <a:fontScheme name="InformationENG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InformationEN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formationENG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formationENG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formationENG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formationENG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formationENG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formationENG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formationENG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formationENG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formationENG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formationENG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formationENG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lecture_modelling</Template>
  <TotalTime>129506</TotalTime>
  <Words>6823</Words>
  <Application>Microsoft Office PowerPoint</Application>
  <PresentationFormat>On-screen Show (4:3)</PresentationFormat>
  <Paragraphs>891</Paragraphs>
  <Slides>75</Slides>
  <Notes>36</Notes>
  <HiddenSlides>0</HiddenSlides>
  <MMClips>0</MMClips>
  <ScaleCrop>false</ScaleCrop>
  <HeadingPairs>
    <vt:vector size="8" baseType="variant">
      <vt:variant>
        <vt:lpstr>Fonts Used</vt:lpstr>
      </vt:variant>
      <vt:variant>
        <vt:i4>19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96" baseType="lpstr">
      <vt:lpstr>Wingdings</vt:lpstr>
      <vt:lpstr>CMR10</vt:lpstr>
      <vt:lpstr>Verdana</vt:lpstr>
      <vt:lpstr>CMMI10</vt:lpstr>
      <vt:lpstr>cmsy10</vt:lpstr>
      <vt:lpstr>Symbol</vt:lpstr>
      <vt:lpstr>CMSY7</vt:lpstr>
      <vt:lpstr>Webdings</vt:lpstr>
      <vt:lpstr>CMR5</vt:lpstr>
      <vt:lpstr>Times</vt:lpstr>
      <vt:lpstr>CMSY10ORIG</vt:lpstr>
      <vt:lpstr>CMMI7</vt:lpstr>
      <vt:lpstr>Arial</vt:lpstr>
      <vt:lpstr>CMMI10</vt:lpstr>
      <vt:lpstr>Cambria Math</vt:lpstr>
      <vt:lpstr>CMEX10</vt:lpstr>
      <vt:lpstr>Arial Unicode MS</vt:lpstr>
      <vt:lpstr>Times New Roman</vt:lpstr>
      <vt:lpstr>CMR7</vt:lpstr>
      <vt:lpstr>InformationENG</vt:lpstr>
      <vt:lpstr>Vergelijking</vt:lpstr>
      <vt:lpstr> Exact Exponential-Time Algorithms</vt:lpstr>
      <vt:lpstr>PowerPoint Presentation</vt:lpstr>
      <vt:lpstr>PowerPoint Presentation</vt:lpstr>
      <vt:lpstr>What to do if a problem is  NP-complete?</vt:lpstr>
      <vt:lpstr>Exact exponential-time algorithms  in this course</vt:lpstr>
      <vt:lpstr>INTRODUCTION</vt:lpstr>
      <vt:lpstr>Good exponential-time algorithms</vt:lpstr>
      <vt:lpstr>Good exponential-time algorithms improve upon the trivial algorithm</vt:lpstr>
      <vt:lpstr>P and NP</vt:lpstr>
      <vt:lpstr>Certificates</vt:lpstr>
      <vt:lpstr>Good exponential-time algorithms improve upon the trivial algorithm</vt:lpstr>
      <vt:lpstr>Time and space</vt:lpstr>
      <vt:lpstr>OVERVIEW OF SOME TECHNIQUES</vt:lpstr>
      <vt:lpstr>Content of this lecture</vt:lpstr>
      <vt:lpstr>CLEVER ENUMERATION</vt:lpstr>
      <vt:lpstr>Enumeration for  maximum independent set</vt:lpstr>
      <vt:lpstr>Analysis of enumeration for  maximum independent set</vt:lpstr>
      <vt:lpstr>Maximum and maximal independent sets</vt:lpstr>
      <vt:lpstr>The enumeration algorithm</vt:lpstr>
      <vt:lpstr>Graph colouring</vt:lpstr>
      <vt:lpstr>Graph colouring</vt:lpstr>
      <vt:lpstr>3-Colouring</vt:lpstr>
      <vt:lpstr>3-Colouring</vt:lpstr>
      <vt:lpstr>4-Colouring in O*(2n) time</vt:lpstr>
      <vt:lpstr>Faster 4-colouring</vt:lpstr>
      <vt:lpstr>DYNAMIC PROGRAMMING</vt:lpstr>
      <vt:lpstr>Graph colouring with dynamic programming</vt:lpstr>
      <vt:lpstr>Graph colouring</vt:lpstr>
      <vt:lpstr>Held-Karp algorithm for  Travelling Salesman Problem</vt:lpstr>
      <vt:lpstr>Held-Karp algorithm for TSP</vt:lpstr>
      <vt:lpstr>BRANCHING ALGORITHMS (DIVIDE AND CONQUER)</vt:lpstr>
      <vt:lpstr>Branching algorithm: divide and conquer</vt:lpstr>
      <vt:lpstr>Branching algorithm for k-SAT</vt:lpstr>
      <vt:lpstr>Branching algorithm for k-SAT</vt:lpstr>
      <vt:lpstr>Branching algorithm for k-SAT: analysis</vt:lpstr>
      <vt:lpstr>Reduction rules for independent set</vt:lpstr>
      <vt:lpstr>A faster algorithm</vt:lpstr>
      <vt:lpstr>Maximum independent set: final remarks</vt:lpstr>
      <vt:lpstr>Back to 3-SAT: branching and local search</vt:lpstr>
      <vt:lpstr>Searching the Hamming-ball</vt:lpstr>
      <vt:lpstr>A simple local search algorithm for  3-Satisfiability</vt:lpstr>
      <vt:lpstr>MEET IN THE MIDDLE (OR SORT AND SEARCH)</vt:lpstr>
      <vt:lpstr>Subset Sum</vt:lpstr>
      <vt:lpstr>Sort and Search: algorithm Split instance in two and let solutions ‘meet in the middle’</vt:lpstr>
      <vt:lpstr>The knapsack problem</vt:lpstr>
      <vt:lpstr>Sort and Search: knapsack</vt:lpstr>
      <vt:lpstr>Sort and search space improvement</vt:lpstr>
      <vt:lpstr>Sort and search space improvement: analysis</vt:lpstr>
      <vt:lpstr>Sort and search space improvement: listing the numbers</vt:lpstr>
      <vt:lpstr>CONCLUSION</vt:lpstr>
      <vt:lpstr>Conclusion</vt:lpstr>
      <vt:lpstr>Further reading and exercises (basics of exact exponential-time algorithms)</vt:lpstr>
      <vt:lpstr>Questions?</vt:lpstr>
      <vt:lpstr> Inclusion/Exclusion</vt:lpstr>
      <vt:lpstr>Exact exponential-time algorithms  in this course</vt:lpstr>
      <vt:lpstr>Question...?</vt:lpstr>
      <vt:lpstr>Inclusion/exclusion and a Venn diagram</vt:lpstr>
      <vt:lpstr>Inclusion/exclusion and a Venn diagram</vt:lpstr>
      <vt:lpstr>Inclusion/exclusion and a Venn diagram</vt:lpstr>
      <vt:lpstr>What are we going to do in this lecture?</vt:lpstr>
      <vt:lpstr>INCLUSION/EXCLUSION FORMULA</vt:lpstr>
      <vt:lpstr>The inclusion/exclusion formula in its general form</vt:lpstr>
      <vt:lpstr>Proof of the inclusion/exclusion formula</vt:lpstr>
      <vt:lpstr>The inclusion/exclusion formula: alternative proof  (that I find more intuitive)</vt:lpstr>
      <vt:lpstr>INCLUSION/EXCLUSION FOR HAMILTON CYCLE</vt:lpstr>
      <vt:lpstr>Space improvement for  Hamiltonian cycle </vt:lpstr>
      <vt:lpstr>Counting (non-)Hamiltonian cycles</vt:lpstr>
      <vt:lpstr>Apply the formula to every city: the inclusion/exclusion formula</vt:lpstr>
      <vt:lpstr>INCLUSION/EXCLUSION FOR GRAPH COLOURING</vt:lpstr>
      <vt:lpstr>Graph colouring with inclusion/exclusion</vt:lpstr>
      <vt:lpstr>Expressing ck in s</vt:lpstr>
      <vt:lpstr>Counting independent sets</vt:lpstr>
      <vt:lpstr>A note on the algorithm</vt:lpstr>
      <vt:lpstr>Conclusion</vt:lpstr>
      <vt:lpstr>Further reading and exercises </vt:lpstr>
    </vt:vector>
  </TitlesOfParts>
  <Company>Universiteit Utrecht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Algorithms and Networks: Exponential time algorithms</dc:title>
  <dc:creator>Hans Bodlaender</dc:creator>
  <cp:lastModifiedBy>Johan van Rooij</cp:lastModifiedBy>
  <cp:revision>592</cp:revision>
  <dcterms:created xsi:type="dcterms:W3CDTF">2001-10-17T14:53:20Z</dcterms:created>
  <dcterms:modified xsi:type="dcterms:W3CDTF">2026-03-03T10:09:59Z</dcterms:modified>
</cp:coreProperties>
</file>